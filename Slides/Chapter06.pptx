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9" r:id="rId1"/>
  </p:sldMasterIdLst>
  <p:notesMasterIdLst>
    <p:notesMasterId r:id="rId62"/>
  </p:notesMasterIdLst>
  <p:sldIdLst>
    <p:sldId id="256" r:id="rId2"/>
    <p:sldId id="275" r:id="rId3"/>
    <p:sldId id="257" r:id="rId4"/>
    <p:sldId id="258" r:id="rId5"/>
    <p:sldId id="259" r:id="rId6"/>
    <p:sldId id="260" r:id="rId7"/>
    <p:sldId id="262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29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FFC25-7D9C-3148-BAE3-9461709ECBC8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3015E-46F7-BA42-920D-B0F9D08B09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293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315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434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257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539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303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851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23015E-46F7-BA42-920D-B0F9D08B091E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887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38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6" y="2983610"/>
            <a:ext cx="7609479" cy="1009561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3243196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FD3C3453-6596-1340-01B9-8877C1567E49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31-Oct-25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026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ate Placeholder 2">
            <a:extLst>
              <a:ext uri="{FF2B5EF4-FFF2-40B4-BE49-F238E27FC236}">
                <a16:creationId xmlns:a16="http://schemas.microsoft.com/office/drawing/2014/main" id="{9887BBEB-32D5-2D50-07CA-3F51A75FA0E8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31-Oct-25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31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7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7DDEEDF1-8A77-85F3-9C93-920E453307BB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31-Oct-25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987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BC7257D9-CFE4-6187-731B-973A817958BF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31-Oct-25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7325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81808" y="6308726"/>
            <a:ext cx="8605793" cy="487680"/>
          </a:xfrm>
        </p:spPr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346DE585-182D-C90D-7BFC-E67326368F83}"/>
              </a:ext>
            </a:extLst>
          </p:cNvPr>
          <p:cNvSpPr txBox="1">
            <a:spLocks/>
          </p:cNvSpPr>
          <p:nvPr/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defPPr>
              <a:defRPr lang="en-US"/>
            </a:defPPr>
            <a:lvl1pPr marL="0" algn="ctr" defTabSz="914400" rtl="0" eaLnBrk="1" latinLnBrk="0" hangingPunct="1"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9E145AF-2465-1345-A673-F2664B07CED8}" type="datetime5">
              <a:rPr lang="en-US" smtClean="0"/>
              <a:pPr/>
              <a:t>31-Oct-25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9268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957222" y="6308726"/>
            <a:ext cx="8605793" cy="487680"/>
          </a:xfrm>
        </p:spPr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5942" y="6308726"/>
            <a:ext cx="879777" cy="487680"/>
          </a:xfrm>
        </p:spPr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2" name="Date Placeholder 2">
            <a:extLst>
              <a:ext uri="{FF2B5EF4-FFF2-40B4-BE49-F238E27FC236}">
                <a16:creationId xmlns:a16="http://schemas.microsoft.com/office/drawing/2014/main" id="{ED4BD15D-B8F3-E5F7-61A8-F1581CE5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F7714C69-287E-E443-97C2-5C868A5EEBBE}" type="datetime1">
              <a:rPr lang="en-US" smtClean="0"/>
              <a:t>10/28/25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034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B955B-3757-0FEC-8150-652A2829B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921168"/>
            <a:ext cx="9144000" cy="1015663"/>
          </a:xfrm>
        </p:spPr>
        <p:txBody>
          <a:bodyPr anchor="ctr" anchorCtr="0">
            <a:sp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Section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23134-95A2-6423-76C0-9D75A168C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90ECD-9D68-3C44-AA7C-041F4B4B3003}" type="datetime1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F5F4-E2F3-BFD8-53AA-6A6F195F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B90BEB-A9D1-FF29-0E8C-A755B6F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994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16423"/>
            <a:ext cx="10972800" cy="4525963"/>
          </a:xfrm>
          <a:prstGeom prst="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8" y="6308726"/>
            <a:ext cx="8605793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95113" y="6308726"/>
            <a:ext cx="987287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E08FFA-7F03-3A4E-B3F8-2C550F8B5FDD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6"/>
            <a:ext cx="1169155" cy="487680"/>
          </a:xfrm>
          <a:prstGeom prst="rect">
            <a:avLst/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9C9125FC-FC67-7140-8E1A-D6FB4D8643C9}" type="datetime1">
              <a:rPr lang="en-US" smtClean="0"/>
              <a:t>10/28/25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471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 dt="0"/>
  <p:txStyles>
    <p:titleStyle>
      <a:lvl1pPr algn="ctr" defTabSz="6095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609570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51" indent="-380982" algn="l" defTabSz="609570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23" indent="-304784" algn="l" defTabSz="60957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93" indent="-304784" algn="l" defTabSz="609570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063" indent="-304784" algn="l" defTabSz="609570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63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202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77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341" indent="-304784" algn="l" defTabSz="609570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3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6095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ve.org/CVERecord?id=CVE-2005-0036" TargetMode="External"/><Relationship Id="rId2" Type="http://schemas.openxmlformats.org/officeDocument/2006/relationships/hyperlink" Target="https://www.cve.org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ve.org/CVERecord?id=CVE-2005-0038" TargetMode="External"/><Relationship Id="rId4" Type="http://schemas.openxmlformats.org/officeDocument/2006/relationships/hyperlink" Target="https://www.cve.org/CVERecord?id=CVE-2005-0037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nCanCommunity/cancanca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host:3000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letsencrypt.org/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A05B8C-6186-B60F-D2F7-55F7D9AB9C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Chapter 06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CC15E8-55B0-490D-9B7C-56EBF7423C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Security</a:t>
            </a:r>
          </a:p>
        </p:txBody>
      </p:sp>
    </p:spTree>
    <p:extLst>
      <p:ext uri="{BB962C8B-B14F-4D97-AF65-F5344CB8AC3E}">
        <p14:creationId xmlns:p14="http://schemas.microsoft.com/office/powerpoint/2010/main" val="251380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4557B-5361-1B39-F626-E97F0892D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D3968-A9BB-3125-6BCD-B9EFF98B1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Ruby code in fixed-width font and indented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root "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items#index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”</a:t>
            </a:r>
          </a:p>
          <a:p>
            <a:r>
              <a:rPr lang="en-US" dirty="0"/>
              <a:t>Command lines start with '$', are in a fixed-width font, and are not indented</a:t>
            </a:r>
          </a:p>
          <a:p>
            <a:pPr marL="0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ls -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lta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40A3A-AA91-EBAA-A854-779D0A630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523C5-967E-63C5-E5B7-80CA16918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1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D3117-E483-89A2-21D0-BAD47287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Sun Tzu, The Art of War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C530C-7AD7-410F-0385-897B89C32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If you know the enemy and know yourself, you need not fear the result of a hundred battles</a:t>
            </a:r>
          </a:p>
          <a:p>
            <a:r>
              <a:rPr lang="en-US" dirty="0"/>
              <a:t> If you know yourself but not the enemy, for every victory gained you will also suffer a defeat</a:t>
            </a:r>
          </a:p>
          <a:p>
            <a:r>
              <a:rPr lang="en-US" dirty="0"/>
              <a:t>If you know neither the enemy nor yourself, you will succumb in every battle.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F14D98-AB19-A2BF-A086-8A0732984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21FF1-A5B0-4DDC-C0DA-7ACE840D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056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9C6A-F22A-996E-F8BF-C06A8023F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Security 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F3C4C-F40F-7197-4EE7-2599BEF3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Common Vulnerabilities and Exposures (CVE) database (</a:t>
            </a:r>
            <a:r>
              <a:rPr lang="en-US" dirty="0">
                <a:hlinkClick r:id="rId2"/>
              </a:rPr>
              <a:t>https://www.cve.org/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40,077 a year = ~110</a:t>
            </a:r>
            <a:r>
              <a:rPr lang="en-US" b="1" dirty="0"/>
              <a:t> </a:t>
            </a:r>
            <a:r>
              <a:rPr lang="en-US" dirty="0"/>
              <a:t>new vulnerabilities per day</a:t>
            </a:r>
          </a:p>
          <a:p>
            <a:pPr lvl="1"/>
            <a:r>
              <a:rPr lang="en-US" dirty="0"/>
              <a:t>19,600 SQL vulnerabilities</a:t>
            </a:r>
          </a:p>
          <a:p>
            <a:pPr lvl="1"/>
            <a:r>
              <a:rPr lang="en-US" dirty="0"/>
              <a:t>39,497 cross-site scripting exposures</a:t>
            </a:r>
          </a:p>
          <a:p>
            <a:pPr lvl="1"/>
            <a:r>
              <a:rPr lang="en-US" dirty="0"/>
              <a:t>Everyone’s favorites</a:t>
            </a:r>
          </a:p>
          <a:p>
            <a:pPr lvl="2"/>
            <a:r>
              <a:rPr lang="en-US" dirty="0">
                <a:hlinkClick r:id="rId3"/>
              </a:rPr>
              <a:t>https://www.cve.org/CVERecord?id=CVE-2005-0036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https://www.cve.org/CVERecord?id=CVE-2005-0037</a:t>
            </a:r>
            <a:r>
              <a:rPr lang="en-US" dirty="0"/>
              <a:t>  </a:t>
            </a:r>
            <a:r>
              <a:rPr lang="en-US" dirty="0">
                <a:hlinkClick r:id="rId5"/>
              </a:rPr>
              <a:t>https://www.cve.org/CVERecord?id=CVE-2005-0038</a:t>
            </a:r>
            <a:r>
              <a:rPr lang="en-US" dirty="0"/>
              <a:t> </a:t>
            </a:r>
          </a:p>
          <a:p>
            <a:r>
              <a:rPr lang="en-US" dirty="0"/>
              <a:t>As more IoT devices have built-in web servers, our attack surface increases along with our responsibility.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9E92E2-E6DA-700B-892B-102F9CD90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25C7F5-0E11-2F3F-235B-DFEE11C84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74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69ED-864A-03AD-1DAD-C2256D6F8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C2419-3487-7FE5-29AD-5DBA54CED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By the end of this chapter, you will be able to</a:t>
            </a:r>
          </a:p>
          <a:p>
            <a:pPr lvl="1"/>
            <a:r>
              <a:rPr lang="en-US" dirty="0"/>
              <a:t>Create secure applications resistant to SQL and XSS injections</a:t>
            </a:r>
          </a:p>
          <a:p>
            <a:pPr lvl="1"/>
            <a:r>
              <a:rPr lang="en-US" dirty="0"/>
              <a:t>Generate applications requiring authentication and authorization</a:t>
            </a:r>
          </a:p>
          <a:p>
            <a:pPr lvl="1"/>
            <a:r>
              <a:rPr lang="en-US" dirty="0"/>
              <a:t>Construct applications with data encrypted at rest and in flight</a:t>
            </a:r>
          </a:p>
          <a:p>
            <a:pPr lvl="1"/>
            <a:r>
              <a:rPr lang="en-US" dirty="0"/>
              <a:t>Augment your server with CORS directives</a:t>
            </a:r>
          </a:p>
          <a:p>
            <a:pPr lvl="1"/>
            <a:r>
              <a:rPr lang="en-US" dirty="0"/>
              <a:t>Browse the dark web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ECD8FA-FC73-A918-5C58-BD29B4585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36E0D-5AA6-9E6B-B874-ACA40E6DF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731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E35F-AF90-4874-CF02-8163003F9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Key Terms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FA994-C83D-93F3-790A-AA489136E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Authentication - Proving who you are</a:t>
            </a:r>
          </a:p>
          <a:p>
            <a:r>
              <a:rPr lang="en-US" dirty="0"/>
              <a:t>Authorization - What you're allowed to do</a:t>
            </a:r>
          </a:p>
          <a:p>
            <a:r>
              <a:rPr lang="en-US" dirty="0"/>
              <a:t>Encryption at rest and in transit - Data protection</a:t>
            </a:r>
          </a:p>
          <a:p>
            <a:r>
              <a:rPr lang="en-US" dirty="0"/>
              <a:t>Static and dynamic code analysis - Security testing</a:t>
            </a:r>
          </a:p>
          <a:p>
            <a:r>
              <a:rPr lang="en-US" dirty="0"/>
              <a:t>Injections - Malicious input attacks</a:t>
            </a:r>
          </a:p>
          <a:p>
            <a:r>
              <a:rPr lang="en-US" dirty="0"/>
              <a:t>The dark web - Anonymous internet overlay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CCFD76-5CEC-5619-DAFC-EA569657F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BCDD7C-80B8-CEBB-E78D-3FD708B6B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017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9CA5821-FA9A-12FC-194F-080515A14D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DB Encryption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02DF12-412E-291B-C9DE-569A2DF73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CCB634-527C-2EC8-909B-41DA05436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4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B33E0-81C4-1E99-B59E-BFCCD18C2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Active Record Encryption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352FE-2C67-B33A-0AD4-B097B937E6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Sensitive data should be encrypted so that when exfiltrated, it cannot be read.</a:t>
            </a:r>
          </a:p>
          <a:p>
            <a:r>
              <a:rPr lang="en-US" dirty="0"/>
              <a:t>Two Types of Encryption: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Non-deterministic - Same text produces different encrypted output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Deterministic - Same text always produces the same encrypted output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A5C554-7114-1A51-9EF8-33A235D0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DEE946-9DA9-90C9-BC97-E727C8BDB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8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0DD1-BD27-7F0D-3CC6-1D650D79E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Choosing Encryption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BEC01-2B69-9166-7EF2-61DD6D5B0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Non-Deterministic</a:t>
            </a:r>
          </a:p>
          <a:p>
            <a:pPr lvl="1"/>
            <a:r>
              <a:rPr lang="en-US" dirty="0"/>
              <a:t>Stronger security</a:t>
            </a:r>
          </a:p>
          <a:p>
            <a:pPr lvl="1"/>
            <a:r>
              <a:rPr lang="en-US" dirty="0"/>
              <a:t>Cannot search encrypted fields</a:t>
            </a:r>
          </a:p>
          <a:p>
            <a:r>
              <a:rPr lang="en-US" dirty="0"/>
              <a:t>Deterministic:</a:t>
            </a:r>
          </a:p>
          <a:p>
            <a:pPr lvl="1"/>
            <a:r>
              <a:rPr lang="en-US" dirty="0"/>
              <a:t>Allows searching</a:t>
            </a:r>
          </a:p>
          <a:p>
            <a:pPr lvl="1"/>
            <a:r>
              <a:rPr lang="en-US" dirty="0"/>
              <a:t>Slightly weaker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237FD-FA8D-ECA1-CAAD-13F8072BA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1A9206-2BEE-A5B4-E553-33FC658A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86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8C1F7-ECA8-1C60-F783-AF5F898A0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Encryption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09041-09CB-0737-BDA1-FD09D2499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bin/rails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db:encryption:init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Output</a:t>
            </a:r>
          </a:p>
          <a:p>
            <a:pPr marL="609569" lvl="1" indent="0">
              <a:buNone/>
            </a:pP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active_record_encryption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primary_key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a77fQ0lBeMehQtOaDy0m0vWVTLRBvInQ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deterministic_key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cXf5O9hIpZuySQDuAxY4H8pk6aL3aduk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key_derivation_salt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LbZooLJhrUCdqWliVxlwgcqmOtPsQnRN</a:t>
            </a:r>
            <a:endParaRPr lang="en-US" sz="26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Warning: Don't use these exact keys in production of course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70E68-733E-7AFF-21E8-393635815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20A783-D808-A9F8-D61F-7910E78F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906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0851B-E41D-8E69-6900-9C4CFF25C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Configure Credentials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2FFD01-A86B-2945-A352-E094D0272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Add the encryption keys to your credentials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bin/rails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credentials:edit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Add the four lines from initialization output</a:t>
            </a:r>
          </a:p>
          <a:p>
            <a:r>
              <a:rPr lang="en-US" dirty="0"/>
              <a:t>Now ready to encrypt model fields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DD0904-D986-19A8-286F-60DFCEDD8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7AF77C-FC2E-3A75-F568-546781CFB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004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4111E-EA82-9E3C-32C2-9DBE1F6C9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Encrypt Model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7C9EA-E69A-5E61-868F-0DF42F01B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app/models/</a:t>
            </a:r>
            <a:r>
              <a:rPr lang="en-US" dirty="0" err="1"/>
              <a:t>item.rb</a:t>
            </a:r>
            <a:endParaRPr lang="en-US" dirty="0"/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encrypts :what</a:t>
            </a:r>
          </a:p>
          <a:p>
            <a:r>
              <a:rPr lang="en-US" dirty="0"/>
              <a:t>Or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encrypts :what, deterministic: true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0DB2FE-002A-E4B5-4FFD-AA4CBCDCD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B7F947-4CF1-D52D-F3C2-B5B315E33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827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15FA0-E2E9-12DF-44AE-BB82BF32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Encrypted Data Looks Like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F1FC27-EDD2-5C1D-994D-DC3CA47D1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INSERT INTO items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VALUES(1,'{"p":"pe8n","h":{"iv":"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yFiXHOKTlDoMTszy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"at":"1HVSccg9M2qzSla/</a:t>
            </a: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sdD+lQ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=="}}',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'2023-04-19','2023-04-19 10:46:30.880533',</a:t>
            </a:r>
          </a:p>
          <a:p>
            <a:pPr marL="609569" lvl="1" indent="0">
              <a:buNone/>
            </a:pP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'2023-04-19 10:46:30.880533');</a:t>
            </a:r>
          </a:p>
          <a:p>
            <a:r>
              <a:rPr lang="en-US" dirty="0"/>
              <a:t>Data are now protected even when the database is compromised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A94DEF-BE94-70C6-B5DB-49A0BEC45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5A7FE-36D3-3D5B-F7BA-0A33B6BE2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2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5E333-ADDD-534E-7F37-87EDC4B8F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Fix Tests with Encrypted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2D6C2-AB07-6433-F97B-D6D2C4D12F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Tests assume unencrypted fixture data</a:t>
            </a:r>
          </a:p>
          <a:p>
            <a:r>
              <a:rPr lang="en-US" dirty="0"/>
              <a:t>Add to `config/environments/</a:t>
            </a:r>
            <a:r>
              <a:rPr lang="en-US" dirty="0" err="1"/>
              <a:t>test.rb</a:t>
            </a:r>
            <a:r>
              <a:rPr lang="en-US" dirty="0"/>
              <a:t>`</a:t>
            </a:r>
          </a:p>
          <a:p>
            <a:pPr marL="609569" lvl="1" indent="0">
              <a:buNone/>
            </a:pPr>
            <a:r>
              <a:rPr lang="en-US" sz="24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config.active_record.encryption.encrypt_fixtures</a:t>
            </a:r>
            <a:r>
              <a:rPr lang="en-US" sz="24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true</a:t>
            </a:r>
          </a:p>
          <a:p>
            <a:r>
              <a:rPr lang="en-US" dirty="0"/>
              <a:t>This makes tests work with encrypted fixtures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E3D42F-8729-CF36-81CE-2474AD1B5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B769C-9303-D331-0517-5EF4DD477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22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59098ED-5E87-53E3-32BC-0850E6436E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Authentication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C91F63-632F-4882-993C-EC49B13C1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BBF9B-6267-321B-9CC1-99A888C41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947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291C2F-38DD-4DD1-5284-46FBC3146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Auth/n vs Auth/z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349B94-66C5-8569-2687-BFF9EF30C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Authentication (auth/n):</a:t>
            </a:r>
          </a:p>
          <a:p>
            <a:pPr lvl="1"/>
            <a:r>
              <a:rPr lang="en-US" dirty="0"/>
              <a:t>Proving who you are</a:t>
            </a:r>
          </a:p>
          <a:p>
            <a:r>
              <a:rPr lang="en-US" dirty="0"/>
              <a:t>Authorization (auth/z):</a:t>
            </a:r>
          </a:p>
          <a:p>
            <a:pPr lvl="1"/>
            <a:r>
              <a:rPr lang="en-US" dirty="0"/>
              <a:t>What you're allowed to do</a:t>
            </a:r>
          </a:p>
          <a:p>
            <a:r>
              <a:rPr lang="en-US" dirty="0"/>
              <a:t>Important: These are different concepts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BB07BA-5C8A-69CD-2F11-28A6696B7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F9251-774C-084F-AD1E-53F71DB1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665E7-12F8-E6B6-FCFA-C679A655C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Three Authentication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A3A0A-9AD4-4721-B57F-BADF692D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know</a:t>
            </a:r>
          </a:p>
          <a:p>
            <a:pPr marL="1276324" lvl="1" indent="-742950"/>
            <a:r>
              <a:rPr lang="en-US" dirty="0"/>
              <a:t>Passwords, PINs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have</a:t>
            </a:r>
          </a:p>
          <a:p>
            <a:pPr marL="1276324" lvl="1" indent="-742950"/>
            <a:r>
              <a:rPr lang="en-US" dirty="0"/>
              <a:t>Phone, passport, driver's license</a:t>
            </a:r>
          </a:p>
          <a:p>
            <a:pPr marL="742950" indent="-742950">
              <a:buFont typeface="+mj-lt"/>
              <a:buAutoNum type="arabicPeriod"/>
            </a:pPr>
            <a:r>
              <a:rPr lang="en-US" dirty="0"/>
              <a:t>Something you are</a:t>
            </a:r>
          </a:p>
          <a:p>
            <a:pPr marL="1276324" lvl="1" indent="-742950"/>
            <a:r>
              <a:rPr lang="en-US" dirty="0"/>
              <a:t>Biometrics: fingerprint, facial recognition</a:t>
            </a:r>
          </a:p>
          <a:p>
            <a:r>
              <a:rPr lang="en-US" dirty="0"/>
              <a:t>MFA/2FA: Uses more than one factor (e.g., password + text message)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2EDFA4-C2AF-3040-17E5-1E7C719A9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4FA5E1-50C9-1989-3458-D0196A3C0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330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BAD8C-4C5F-4DFF-F3BF-008BD077C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Devise Authentication Gem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3DF48-FDF8-EEBD-A9F2-0A66CB0002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GitHub: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heartcombo</a:t>
            </a:r>
            <a:r>
              <a:rPr lang="en-US" dirty="0"/>
              <a:t>/devise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Local database storage OR external authenticators (</a:t>
            </a:r>
            <a:r>
              <a:rPr lang="en-US" dirty="0" err="1"/>
              <a:t>OmniAuth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Email confirmation and password recovery</a:t>
            </a:r>
          </a:p>
          <a:p>
            <a:pPr lvl="1"/>
            <a:r>
              <a:rPr lang="en-US" dirty="0"/>
              <a:t>Login tracking and failed attempt locking</a:t>
            </a:r>
          </a:p>
          <a:p>
            <a:pPr lvl="1"/>
            <a:r>
              <a:rPr lang="en-US" dirty="0"/>
              <a:t>Session timeout configuration</a:t>
            </a:r>
          </a:p>
          <a:p>
            <a:r>
              <a:rPr lang="en-US" dirty="0"/>
              <a:t>Best practice: Use external authenticators to avoid storing credentials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6170D4-EC81-B765-1532-35EC01124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8D113-7490-64CD-F6D8-8C6B88076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504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825F8-361C-004A-80B3-32E2EF20F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 Setting Up Devise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9CDAB-6804-F622-EFC5-F88664682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bundle add devise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rails generate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devise:install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rails generate devise User</a:t>
            </a:r>
          </a:p>
          <a:p>
            <a:r>
              <a:rPr lang="en-US" dirty="0"/>
              <a:t>Configure features in:</a:t>
            </a:r>
          </a:p>
          <a:p>
            <a:pPr lvl="1"/>
            <a:r>
              <a:rPr lang="en-US" dirty="0"/>
              <a:t>app/models/</a:t>
            </a:r>
            <a:r>
              <a:rPr lang="en-US" dirty="0" err="1"/>
              <a:t>user.rb</a:t>
            </a:r>
            <a:endParaRPr lang="en-US" dirty="0"/>
          </a:p>
          <a:p>
            <a:pPr lvl="1"/>
            <a:r>
              <a:rPr lang="en-US" dirty="0" err="1"/>
              <a:t>db</a:t>
            </a:r>
            <a:r>
              <a:rPr lang="en-US" dirty="0"/>
              <a:t>/migrate/[...]_</a:t>
            </a:r>
            <a:r>
              <a:rPr lang="en-US" dirty="0" err="1"/>
              <a:t>devise_create_users.rb</a:t>
            </a:r>
            <a:endParaRPr lang="en-US" dirty="0"/>
          </a:p>
          <a:p>
            <a:pPr lvl="1"/>
            <a:r>
              <a:rPr lang="en-US" dirty="0"/>
              <a:t>config/initializers/</a:t>
            </a:r>
            <a:r>
              <a:rPr lang="en-US" dirty="0" err="1"/>
              <a:t>devise.rb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949F85-643A-6129-E7F1-D42A072CE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98F97B-81F0-E172-97F5-84CBC893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629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C2EE-2CAA-3D50-A67D-2B7863EEC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Devise Route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2D102-1021-0779-B169-7C973AF61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Must have default route in ‘config/</a:t>
            </a:r>
            <a:r>
              <a:rPr lang="en-US" dirty="0" err="1"/>
              <a:t>routes.rb</a:t>
            </a:r>
            <a:r>
              <a:rPr lang="en-US" dirty="0"/>
              <a:t>’</a:t>
            </a:r>
          </a:p>
          <a:p>
            <a:pPr marL="609569" lvl="1" indent="0">
              <a:buNone/>
            </a:pP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root "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items#index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</a:t>
            </a:r>
          </a:p>
          <a:p>
            <a:r>
              <a:rPr lang="en-US" dirty="0"/>
              <a:t>In controllers requiring authentication:</a:t>
            </a:r>
          </a:p>
          <a:p>
            <a:pPr marL="609569" lvl="1" indent="0">
              <a:buNone/>
            </a:pP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authenticate_user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!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243874-257E-5A91-E372-5A220A35F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36FF0C-82C7-2721-C892-60F90AF0C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3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9D37B-D5F3-42A3-707F-808E26BF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Adding Logout Functionality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5BA55-CD37-7609-ACA3-1AA3D9F01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your HTML/ERB files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link_to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"Log out",</a:t>
            </a:r>
          </a:p>
          <a:p>
            <a:pPr marL="609569" lvl="1" indent="0">
              <a:buNone/>
            </a:pP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destroy_user_session_path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data: { "turbo-method": :delete }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%&gt;</a:t>
            </a:r>
          </a:p>
          <a:p>
            <a:r>
              <a:rPr lang="en-US" dirty="0"/>
              <a:t>This creates a logout link that properly destroys the session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0F2E92-F0CC-3FE8-1C8B-1142C8BA9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99B79E-FBCA-D036-8CD0-02DA35147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10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423A7-C0C6-5BF3-49D9-BD15F15E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Devise Test Helpers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A9CE9-4BDE-16DB-090C-2C506216D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At the top of controller tests: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class </a:t>
            </a:r>
            <a:r>
              <a:rPr lang="en-US" dirty="0" err="1">
                <a:solidFill>
                  <a:schemeClr val="accent1"/>
                </a:solidFill>
              </a:rPr>
              <a:t>ItemsControllerTest</a:t>
            </a:r>
            <a:r>
              <a:rPr lang="en-US" dirty="0">
                <a:solidFill>
                  <a:schemeClr val="accent1"/>
                </a:solidFill>
              </a:rPr>
              <a:t> &lt; </a:t>
            </a:r>
            <a:r>
              <a:rPr lang="en-US" dirty="0" err="1">
                <a:solidFill>
                  <a:schemeClr val="accent1"/>
                </a:solidFill>
              </a:rPr>
              <a:t>ActionDispatch</a:t>
            </a:r>
            <a:r>
              <a:rPr lang="en-US" dirty="0">
                <a:solidFill>
                  <a:schemeClr val="accent1"/>
                </a:solidFill>
              </a:rPr>
              <a:t>::</a:t>
            </a:r>
            <a:r>
              <a:rPr lang="en-US" dirty="0" err="1">
                <a:solidFill>
                  <a:schemeClr val="accent1"/>
                </a:solidFill>
              </a:rPr>
              <a:t>IntegrationTest</a:t>
            </a:r>
            <a:endParaRPr lang="en-US" dirty="0">
              <a:solidFill>
                <a:schemeClr val="accent1"/>
              </a:solidFill>
            </a:endParaRP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  include Devise::Test::</a:t>
            </a:r>
            <a:r>
              <a:rPr lang="en-US" dirty="0" err="1">
                <a:solidFill>
                  <a:schemeClr val="accent1"/>
                </a:solidFill>
              </a:rPr>
              <a:t>IntegrationHelpers</a:t>
            </a:r>
            <a:endParaRPr lang="en-US" dirty="0">
              <a:solidFill>
                <a:schemeClr val="accent1"/>
              </a:solidFill>
            </a:endParaRPr>
          </a:p>
          <a:p>
            <a:pPr marL="609569" lvl="1" indent="0">
              <a:buNone/>
            </a:pP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  setup do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    </a:t>
            </a:r>
            <a:r>
              <a:rPr lang="en-US" dirty="0" err="1">
                <a:solidFill>
                  <a:schemeClr val="accent1"/>
                </a:solidFill>
              </a:rPr>
              <a:t>sign_in</a:t>
            </a:r>
            <a:r>
              <a:rPr lang="en-US" dirty="0">
                <a:solidFill>
                  <a:schemeClr val="accent1"/>
                </a:solidFill>
              </a:rPr>
              <a:t> users(:one)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    @item = items(:one)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</a:rPr>
              <a:t>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737BC5-D5BF-5A77-787B-FBC0173D5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893B91-E27C-5EEC-A1F7-2CEF603E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08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5902F46-6252-78AA-5799-7681655D8B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Authorization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50C68F-56C5-8335-D8C6-019133E91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C16334-8AF2-7F89-3D01-E33A8A607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93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85A962-916B-B05A-AE4C-2FB851B18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CanCanCan</a:t>
            </a:r>
            <a:r>
              <a:rPr lang="en-US" dirty="0"/>
              <a:t> Authorization Gem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930211-EE14-81CB-52AA-DAEDE193C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GitHub: </a:t>
            </a:r>
            <a:r>
              <a:rPr lang="en-US" dirty="0">
                <a:hlinkClick r:id="rId2"/>
              </a:rPr>
              <a:t>https://github.com/CanCanCommunity/cancancan</a:t>
            </a:r>
            <a:endParaRPr lang="en-US" dirty="0"/>
          </a:p>
          <a:p>
            <a:r>
              <a:rPr lang="en-US" dirty="0"/>
              <a:t>Ability-Based Approach</a:t>
            </a:r>
          </a:p>
          <a:p>
            <a:pPr lvl="1"/>
            <a:r>
              <a:rPr lang="en-US" dirty="0"/>
              <a:t>Decouples users from permissions</a:t>
            </a:r>
          </a:p>
          <a:p>
            <a:pPr lvl="1"/>
            <a:r>
              <a:rPr lang="en-US" dirty="0"/>
              <a:t>More flexible than role-based</a:t>
            </a:r>
          </a:p>
          <a:p>
            <a:pPr lvl="1"/>
            <a:r>
              <a:rPr lang="en-US" dirty="0"/>
              <a:t>Integrates well with Devise</a:t>
            </a:r>
          </a:p>
          <a:p>
            <a:pPr lvl="1"/>
            <a:r>
              <a:rPr lang="en-US" dirty="0"/>
              <a:t>Decisions based on many factors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6D423C-DD1A-1130-1627-0C0C74430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3392D-F194-751D-2FBD-9340E9002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71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1D64-F391-E73A-A5A6-552350E88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Setting Up </a:t>
            </a:r>
            <a:r>
              <a:rPr lang="en-US" dirty="0" err="1"/>
              <a:t>CanCanCan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86F9E-F299-383F-D29B-3AC19642E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Assuming Devise is already installed: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$ bundle install </a:t>
            </a:r>
            <a:r>
              <a:rPr lang="en-US" dirty="0" err="1">
                <a:solidFill>
                  <a:schemeClr val="accent3"/>
                </a:solidFill>
              </a:rPr>
              <a:t>cancancan</a:t>
            </a:r>
            <a:endParaRPr lang="en-US" dirty="0">
              <a:solidFill>
                <a:schemeClr val="accent3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$ rails generate </a:t>
            </a:r>
            <a:r>
              <a:rPr lang="en-US" dirty="0" err="1">
                <a:solidFill>
                  <a:schemeClr val="accent3"/>
                </a:solidFill>
              </a:rPr>
              <a:t>cancan:ability</a:t>
            </a:r>
            <a:endParaRPr lang="en-US" dirty="0">
              <a:solidFill>
                <a:schemeClr val="accent3"/>
              </a:solidFill>
            </a:endParaRPr>
          </a:p>
          <a:p>
            <a:r>
              <a:rPr lang="en-US" dirty="0"/>
              <a:t>Creates `app/models/</a:t>
            </a:r>
            <a:r>
              <a:rPr lang="en-US" dirty="0" err="1"/>
              <a:t>ability.rb</a:t>
            </a:r>
            <a:r>
              <a:rPr lang="en-US" dirty="0"/>
              <a:t>` for defining permissions.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BE06D-6276-072C-40C1-14EBCA454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AD106E-4C15-289B-B276-7BF8FFDB0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27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0B8E3-88AA-5305-C62E-5E3C63433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Basic Ability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40ED3-04E1-E64F-0480-FC050A529C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In `app/models/</a:t>
            </a:r>
            <a:r>
              <a:rPr lang="en-US" dirty="0" err="1"/>
              <a:t>ability.rb</a:t>
            </a:r>
            <a:r>
              <a:rPr lang="en-US" dirty="0"/>
              <a:t>`: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Ability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include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CanCan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::Ability</a:t>
            </a:r>
          </a:p>
          <a:p>
            <a:pPr marL="609569" lvl="1" indent="0">
              <a:buNone/>
            </a:pPr>
            <a:endParaRPr lang="en-US" dirty="0">
              <a:solidFill>
                <a:schemeClr val="accent1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def initialize(user)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return unless </a:t>
            </a:r>
            <a:r>
              <a:rPr lang="en-US" dirty="0" err="1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user.present</a:t>
            </a: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?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  can :read, :all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end</a:t>
            </a:r>
          </a:p>
          <a:p>
            <a:pPr marL="609569" lvl="1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  <a:p>
            <a:r>
              <a:rPr lang="en-US" dirty="0"/>
              <a:t>Only allows reading if user is logged in.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5FF00C-E806-2409-F0AB-18B4B1CB3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C51BE9-EABD-0BA3-1ABA-8B74F134C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588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B001D-587D-3FF3-D2A0-04EE60785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Using </a:t>
            </a:r>
            <a:r>
              <a:rPr lang="en-US" dirty="0" err="1"/>
              <a:t>CanCanCan</a:t>
            </a:r>
            <a:r>
              <a:rPr lang="en-US" dirty="0"/>
              <a:t> in Controllers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AF690-50CF-19F1-DCDF-AF85F52ADC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‘app/controllers/</a:t>
            </a:r>
            <a:r>
              <a:rPr lang="en-US" dirty="0" err="1"/>
              <a:t>posts_controller.rb</a:t>
            </a:r>
            <a:r>
              <a:rPr lang="en-US" dirty="0"/>
              <a:t>’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PostsController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&lt;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ApplicationController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authenticate_user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!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before_action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: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set_post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only: %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</a:t>
            </a: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[show edit update destroy]</a:t>
            </a: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load_and_authorize_resource</a:t>
            </a:r>
            <a:endParaRPr lang="en-US" sz="2000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marL="609569" lvl="1" indent="0">
              <a:buNone/>
            </a:pPr>
            <a:r>
              <a:rPr lang="en-US" sz="2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end</a:t>
            </a:r>
          </a:p>
          <a:p>
            <a:r>
              <a:rPr lang="en-US" dirty="0"/>
              <a:t>This is a simplistic example - </a:t>
            </a:r>
            <a:r>
              <a:rPr lang="en-US" dirty="0" err="1"/>
              <a:t>CanCanCan</a:t>
            </a:r>
            <a:r>
              <a:rPr lang="en-US" dirty="0"/>
              <a:t> allows much more flexibility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0FF7F-1E68-9D31-3E37-C47AAAF75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CDE2-8F4D-2F86-1421-7C094DF51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7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5310909-4B21-90D2-6DC7-0A5C47EB4E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HTTPS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DB7B2B-955F-2868-0CDE-73B5BAAE4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656B7-52D8-D1C2-CC1A-67FB1C816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642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E4E3939-36B6-A165-0C81-AC3DC010D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Securing Data in Transit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E6BE99-283E-C687-D3FD-10FAD852A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Never use HTTP for production applications</a:t>
            </a:r>
          </a:p>
          <a:p>
            <a:r>
              <a:rPr lang="en-US" dirty="0"/>
              <a:t>HTTPS keeps all data secure during transmission.</a:t>
            </a:r>
          </a:p>
          <a:p>
            <a:r>
              <a:rPr lang="en-US" dirty="0"/>
              <a:t>Need</a:t>
            </a:r>
          </a:p>
          <a:p>
            <a:pPr lvl="1"/>
            <a:r>
              <a:rPr lang="en-US" dirty="0"/>
              <a:t>Public/private key pair</a:t>
            </a:r>
          </a:p>
          <a:p>
            <a:pPr lvl="1"/>
            <a:r>
              <a:rPr lang="en-US" dirty="0"/>
              <a:t>Certificate </a:t>
            </a:r>
          </a:p>
          <a:p>
            <a:pPr lvl="1"/>
            <a:r>
              <a:rPr lang="en-US" dirty="0"/>
              <a:t>Self-signed for dev, CA-signed for production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92B319-B562-B685-BBA0-580A430E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4868C-4B33-E014-2132-5A07CC693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61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A4CAD-1FAD-7D03-4FEF-12921443B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 SSL Certificate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528D7-700E-7C32-9E36-FF300FD90E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Using OpenSSL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openssl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req -x509 -sha256 -nodes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newkey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rsa:2048 -days 365 \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-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keyout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localhost.key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-out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localhost.crt</a:t>
            </a:r>
            <a:endParaRPr lang="en-US" dirty="0">
              <a:solidFill>
                <a:schemeClr val="accent3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/>
              <a:t>‘.key’ file = private key (keep secret)</a:t>
            </a:r>
          </a:p>
          <a:p>
            <a:r>
              <a:rPr lang="en-US" dirty="0"/>
              <a:t>‘.</a:t>
            </a:r>
            <a:r>
              <a:rPr lang="en-US" dirty="0" err="1"/>
              <a:t>crt</a:t>
            </a:r>
            <a:r>
              <a:rPr lang="en-US" dirty="0"/>
              <a:t>’ file = self-signed certificate</a:t>
            </a:r>
          </a:p>
          <a:p>
            <a:r>
              <a:rPr lang="en-US" dirty="0"/>
              <a:t>Warning: Never commit private key to public repositories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2388C-3BC8-C44F-B8AC-3A3C3F0B7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E5A9E8-EA3C-136D-E731-9B3C48D0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066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58A76-247A-D37C-2D6E-945016898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Certificate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DBA47-2787-FA03-80E2-8C3E97392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creating certificate, answer these questions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Country Name (2 letter code)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State or Province Name (full name)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Locality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city)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Organization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company)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Organizational Unit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section)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Common Name (</a:t>
            </a:r>
            <a:r>
              <a:rPr lang="en-US" dirty="0" err="1">
                <a:solidFill>
                  <a:schemeClr val="accent3"/>
                </a:solidFill>
              </a:rPr>
              <a:t>eg</a:t>
            </a:r>
            <a:r>
              <a:rPr lang="en-US" dirty="0">
                <a:solidFill>
                  <a:schemeClr val="accent3"/>
                </a:solidFill>
              </a:rPr>
              <a:t>, fully qualified host name) []: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Email Address []:</a:t>
            </a:r>
          </a:p>
          <a:p>
            <a:r>
              <a:rPr lang="en-US" dirty="0"/>
              <a:t>For local development, accuracy doesn't matter much.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4A97-6D29-684C-7579-1015D325C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ADC21C-936B-E6CB-DA5F-7F7496C6E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038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A5C-EF84-428E-ABA2-8377473F3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Run Rails with SSL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13F9E-6F37-3D47-5222-728232B46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3"/>
                </a:solidFill>
              </a:rPr>
              <a:t>$ rails s -b '</a:t>
            </a:r>
            <a:r>
              <a:rPr lang="en-US" sz="2800" dirty="0" err="1">
                <a:solidFill>
                  <a:schemeClr val="accent3"/>
                </a:solidFill>
              </a:rPr>
              <a:t>ssl</a:t>
            </a:r>
            <a:r>
              <a:rPr lang="en-US" sz="2800" dirty="0">
                <a:solidFill>
                  <a:schemeClr val="accent3"/>
                </a:solidFill>
              </a:rPr>
              <a:t>://localhost:3000?key=</a:t>
            </a:r>
            <a:r>
              <a:rPr lang="en-US" sz="2800" dirty="0" err="1">
                <a:solidFill>
                  <a:schemeClr val="accent3"/>
                </a:solidFill>
              </a:rPr>
              <a:t>localhost.key&amp;cert</a:t>
            </a:r>
            <a:r>
              <a:rPr lang="en-US" sz="2800" dirty="0">
                <a:solidFill>
                  <a:schemeClr val="accent3"/>
                </a:solidFill>
              </a:rPr>
              <a:t>=</a:t>
            </a:r>
            <a:r>
              <a:rPr lang="en-US" sz="2800" dirty="0" err="1">
                <a:solidFill>
                  <a:schemeClr val="accent3"/>
                </a:solidFill>
              </a:rPr>
              <a:t>localhost.crt</a:t>
            </a:r>
            <a:r>
              <a:rPr lang="en-US" sz="2800" dirty="0">
                <a:solidFill>
                  <a:schemeClr val="accent3"/>
                </a:solidFill>
              </a:rPr>
              <a:t>'</a:t>
            </a:r>
          </a:p>
          <a:p>
            <a:r>
              <a:rPr lang="en-US" dirty="0"/>
              <a:t>‘-b’ binds to a specific port</a:t>
            </a:r>
          </a:p>
          <a:p>
            <a:r>
              <a:rPr lang="en-US" dirty="0"/>
              <a:t>Processes key and certificate files</a:t>
            </a:r>
          </a:p>
          <a:p>
            <a:r>
              <a:rPr lang="en-US" dirty="0"/>
              <a:t>Now accessible at `https://localhost:3000/`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7E8AA8-95A1-7681-0ED9-8CF5F426C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25F050-FE2D-0BFF-1579-18F9BF79F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322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CDF08-CEEF-ECD7-6307-09182872F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Certificate Trust Warning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877603-A800-F3B2-2312-B8749FF19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When visiting </a:t>
            </a:r>
            <a:r>
              <a:rPr lang="en-US" dirty="0">
                <a:hlinkClick r:id="rId3"/>
              </a:rPr>
              <a:t>https://localhost:3000/</a:t>
            </a:r>
            <a:endParaRPr lang="en-US" dirty="0"/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Your connection is not private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Attackers might be trying to steal your information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2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NET::ERR_CERT_AUTHORITY_INVALID</a:t>
            </a:r>
          </a:p>
          <a:p>
            <a:r>
              <a:rPr lang="en-US" dirty="0"/>
              <a:t>Why? Browser doesn't trust self-signed certificates</a:t>
            </a:r>
          </a:p>
          <a:p>
            <a:r>
              <a:rPr lang="en-US" dirty="0"/>
              <a:t>Solution: Click "Advanced" and proceed (dev only)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E79738-A573-658E-819A-616054FB9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AEC4B4-690B-33C0-FC3E-68D764E86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518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68CAB-F18B-8A53-1AE2-0FACD340B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B481A-9429-7544-E32E-83CFC9D6C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Connection is Actually Encrypted</a:t>
            </a:r>
          </a:p>
          <a:p>
            <a:r>
              <a:rPr lang="en-US" dirty="0"/>
              <a:t>Even with the warning, connection uses:</a:t>
            </a:r>
          </a:p>
          <a:p>
            <a:pPr lvl="1"/>
            <a:r>
              <a:rPr lang="en-US" dirty="0"/>
              <a:t>TLS_AES_256_GCM_SHA384</a:t>
            </a:r>
          </a:p>
          <a:p>
            <a:pPr lvl="1"/>
            <a:r>
              <a:rPr lang="en-US" dirty="0"/>
              <a:t>256-bit keys</a:t>
            </a:r>
          </a:p>
          <a:p>
            <a:pPr lvl="1"/>
            <a:r>
              <a:rPr lang="en-US" dirty="0"/>
              <a:t>TLS 1.3</a:t>
            </a:r>
          </a:p>
          <a:p>
            <a:r>
              <a:rPr lang="en-US" dirty="0"/>
              <a:t>Data are encrypted, just not validated by Certificate Authority.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5B535B-5A6E-A8A2-6F0C-90773B8C2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AB66E1-ABD9-9D15-B48A-50770B663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15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4F022-EFC1-041C-60E5-6ECA07D3E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Certificate Authorities (CA)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301FD-C626-7AB3-BEBF-98DA88FF25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For production, need CA-signed certificate</a:t>
            </a:r>
          </a:p>
          <a:p>
            <a:r>
              <a:rPr lang="en-US" dirty="0"/>
              <a:t>Let's Encrypt</a:t>
            </a:r>
          </a:p>
          <a:p>
            <a:pPr lvl="1"/>
            <a:r>
              <a:rPr lang="en-US" dirty="0"/>
              <a:t>Free, trusted certificates</a:t>
            </a:r>
          </a:p>
          <a:p>
            <a:pPr lvl="1"/>
            <a:r>
              <a:rPr lang="en-US" dirty="0">
                <a:hlinkClick r:id="rId2"/>
              </a:rPr>
              <a:t>https://letsencrypt.org/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No reason to deploy unencrypted</a:t>
            </a:r>
          </a:p>
          <a:p>
            <a:r>
              <a:rPr lang="en-US" dirty="0"/>
              <a:t>Each server/deployment has a different setup approach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1167E8-B08A-790F-4558-1454A8B55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18D848-2D54-1199-E295-6D8ABDD1F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507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2D730DB-CAEF-2740-6D1A-246AA7550F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Browser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BC4092-FD4F-A1F8-A33D-329D536A7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6C2B38-AB6B-CC8B-77AB-84329046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9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DD88F4-9B72-182E-CD2B-B25F1271F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Same-Origin Policy (SOP)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F2E230-5EAD-8523-03BD-96AB24746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Browsers trust content from sites they explicitly visit</a:t>
            </a:r>
          </a:p>
          <a:p>
            <a:r>
              <a:rPr lang="en-US" dirty="0"/>
              <a:t>Origin = scheme + host + port</a:t>
            </a:r>
          </a:p>
          <a:p>
            <a:r>
              <a:rPr lang="en-US" dirty="0"/>
              <a:t>Example: http://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endParaRPr lang="en-US" dirty="0"/>
          </a:p>
          <a:p>
            <a:r>
              <a:rPr lang="en-US" dirty="0"/>
              <a:t>Matches</a:t>
            </a:r>
          </a:p>
          <a:p>
            <a:pPr lvl="1"/>
            <a:r>
              <a:rPr lang="en-US" dirty="0"/>
              <a:t>http://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pathB</a:t>
            </a:r>
            <a:endParaRPr lang="en-US" dirty="0"/>
          </a:p>
          <a:p>
            <a:r>
              <a:rPr lang="en-US" dirty="0"/>
              <a:t>Does not Match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www.example.com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r>
              <a:rPr lang="en-US" dirty="0"/>
              <a:t> (different scheme)</a:t>
            </a:r>
          </a:p>
          <a:p>
            <a:pPr lvl="1"/>
            <a:r>
              <a:rPr lang="en-US" dirty="0"/>
              <a:t>http://</a:t>
            </a:r>
            <a:r>
              <a:rPr lang="en-US" dirty="0" err="1"/>
              <a:t>host.example.com</a:t>
            </a:r>
            <a:r>
              <a:rPr lang="en-US" dirty="0"/>
              <a:t>/</a:t>
            </a:r>
            <a:r>
              <a:rPr lang="en-US" dirty="0" err="1"/>
              <a:t>pathA</a:t>
            </a:r>
            <a:r>
              <a:rPr lang="en-US" dirty="0"/>
              <a:t> (different host)</a:t>
            </a:r>
          </a:p>
          <a:p>
            <a:pPr lvl="1"/>
            <a:r>
              <a:rPr lang="en-US" dirty="0"/>
              <a:t>http://www.example.com:3000/</a:t>
            </a:r>
            <a:r>
              <a:rPr lang="en-US" dirty="0" err="1"/>
              <a:t>pathA</a:t>
            </a:r>
            <a:r>
              <a:rPr lang="en-US" dirty="0"/>
              <a:t> (different port)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983D8C-A4AA-831E-5B84-667FA6EF5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067F6-83C8-A3B0-D46B-89A162C1E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677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98306-B5EB-DA06-E96D-D56EA335E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SOP Allows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3A5F2-E4F0-45EE-068E-4F3085C6B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Scripts: `&lt;script </a:t>
            </a:r>
            <a:r>
              <a:rPr lang="en-US" dirty="0" err="1"/>
              <a:t>src</a:t>
            </a:r>
            <a:r>
              <a:rPr lang="en-US" dirty="0"/>
              <a:t>="..."&gt;&lt;/script&gt;`</a:t>
            </a:r>
          </a:p>
          <a:p>
            <a:r>
              <a:rPr lang="en-US" dirty="0"/>
              <a:t>CSS: `&lt;link </a:t>
            </a:r>
            <a:r>
              <a:rPr lang="en-US" dirty="0" err="1"/>
              <a:t>rel</a:t>
            </a:r>
            <a:r>
              <a:rPr lang="en-US" dirty="0"/>
              <a:t>="stylesheet" ...&gt;`</a:t>
            </a:r>
          </a:p>
          <a:p>
            <a:r>
              <a:rPr lang="en-US" dirty="0"/>
              <a:t>Media: `&lt;</a:t>
            </a:r>
            <a:r>
              <a:rPr lang="en-US" dirty="0" err="1"/>
              <a:t>img</a:t>
            </a:r>
            <a:r>
              <a:rPr lang="en-US" dirty="0"/>
              <a:t>&gt;`, `&lt;video&gt;`, `&lt;audio&gt;`</a:t>
            </a:r>
          </a:p>
          <a:p>
            <a:r>
              <a:rPr lang="en-US" dirty="0"/>
              <a:t>Form submission with complete URL</a:t>
            </a:r>
          </a:p>
          <a:p>
            <a:r>
              <a:rPr lang="en-US" dirty="0"/>
              <a:t>Why allow these?</a:t>
            </a:r>
          </a:p>
          <a:p>
            <a:pPr lvl="1"/>
            <a:r>
              <a:rPr lang="en-US" dirty="0"/>
              <a:t>Pervasive use (and CDNs) - blocking would break the web.</a:t>
            </a:r>
          </a:p>
          <a:p>
            <a:r>
              <a:rPr lang="en-US" dirty="0"/>
              <a:t>What's blocked? Scripts from different origins.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64A7D-1999-4E4B-F032-081DB0A8E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EFB4E-9BAE-768D-6442-EE8491A9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31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01592-BD76-7836-C017-573DB0559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SOP Can Block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E15AF-0237-877F-B542-18855EF42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Example: SPA at `localhost:3001` requests data from `localhost:3000`</a:t>
            </a:r>
          </a:p>
          <a:p>
            <a:r>
              <a:rPr lang="en-US" dirty="0"/>
              <a:t>Browser console error</a:t>
            </a:r>
          </a:p>
          <a:p>
            <a:pPr marL="609569" lvl="1" indent="0">
              <a:buNone/>
            </a:pPr>
            <a:r>
              <a:rPr lang="en-US" dirty="0"/>
              <a:t>Cross-Origin Request Blocked: The Same Origin Policy disallows</a:t>
            </a:r>
          </a:p>
          <a:p>
            <a:pPr marL="609569" lvl="1" indent="0">
              <a:buNone/>
            </a:pPr>
            <a:r>
              <a:rPr lang="en-US" dirty="0"/>
              <a:t>reading the remote resource at http://localhost:3000/</a:t>
            </a:r>
            <a:r>
              <a:rPr lang="en-US" dirty="0" err="1"/>
              <a:t>items.json</a:t>
            </a:r>
            <a:r>
              <a:rPr lang="en-US" dirty="0"/>
              <a:t>.</a:t>
            </a:r>
          </a:p>
          <a:p>
            <a:pPr marL="609569" lvl="1" indent="0">
              <a:buNone/>
            </a:pPr>
            <a:r>
              <a:rPr lang="en-US" dirty="0"/>
              <a:t>(Reason: CORS header 'Access-Control-Allow-Origin' missing).</a:t>
            </a:r>
          </a:p>
          <a:p>
            <a:r>
              <a:rPr lang="en-US" dirty="0"/>
              <a:t>Note: SOP is a browser restriction, not a server restriction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7BEB2E-B9E4-72A6-DB4C-1E7FF4A96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9E34F-E0A7-DB6D-87B8-8FCEA776C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63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FAEA0-E9DA-C7DA-CB6C-7F9AFF7D0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Cross-Origin Resource Sharing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7125E-9502-9313-1B56-F76B6F0DB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HTTP header-based approach for servers to share trusted resources with browsers</a:t>
            </a:r>
          </a:p>
          <a:p>
            <a:r>
              <a:rPr lang="en-US" dirty="0"/>
              <a:t>Purpose: Allow controlled violations of SOP</a:t>
            </a:r>
          </a:p>
          <a:p>
            <a:r>
              <a:rPr lang="en-US" dirty="0"/>
              <a:t>For Rails: Rack CORS gem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cyu</a:t>
            </a:r>
            <a:r>
              <a:rPr lang="en-US" dirty="0"/>
              <a:t>/rack-</a:t>
            </a:r>
            <a:r>
              <a:rPr lang="en-US" dirty="0" err="1"/>
              <a:t>cors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5EE6D-1D1F-2695-809F-5D7C9ECA2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C921F-6FC7-CE1A-C352-BE0B9F9F6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162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691B8-8B57-A5F5-0A07-32B05DFF7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Setting Up CORS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13A10-4031-BD6E-F6BB-0D8A245DB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$ bundle install rack-</a:t>
            </a:r>
            <a:r>
              <a:rPr lang="en-US" dirty="0" err="1">
                <a:solidFill>
                  <a:schemeClr val="accent1"/>
                </a:solidFill>
              </a:rPr>
              <a:t>cors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/>
              <a:t>Create configuration in `config/initializers/</a:t>
            </a:r>
            <a:r>
              <a:rPr lang="en-US" dirty="0" err="1"/>
              <a:t>cors.rb</a:t>
            </a:r>
            <a:r>
              <a:rPr lang="en-US" dirty="0"/>
              <a:t>`:</a:t>
            </a:r>
          </a:p>
          <a:p>
            <a:pPr marL="533374" lvl="1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Rails.application.config.middleware.insert_before</a:t>
            </a:r>
            <a:r>
              <a:rPr lang="en-US" dirty="0">
                <a:solidFill>
                  <a:schemeClr val="accent3"/>
                </a:solidFill>
              </a:rPr>
              <a:t> 0, Rack::</a:t>
            </a:r>
            <a:r>
              <a:rPr lang="en-US" dirty="0" err="1">
                <a:solidFill>
                  <a:schemeClr val="accent3"/>
                </a:solidFill>
              </a:rPr>
              <a:t>Cors</a:t>
            </a:r>
            <a:r>
              <a:rPr lang="en-US" dirty="0">
                <a:solidFill>
                  <a:schemeClr val="accent3"/>
                </a:solidFill>
              </a:rPr>
              <a:t> do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allow do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origins "localhost:3001"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resource "*",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  headers: :any,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    methods: [:get, :post, :put, :patch, :delete, :options, :head]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  end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</a:rPr>
              <a:t>end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0A9AA0-9707-199C-94F0-10D59608A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E87CA0-BF07-F36C-BD33-6B5ED0C4E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56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7BC8-F62C-A25E-E9A8-0589BDA74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CORS Security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6568B-63C3-4F36-2E52-80808DF8E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21467"/>
            <a:ext cx="10972800" cy="4525963"/>
          </a:xfrm>
        </p:spPr>
        <p:txBody>
          <a:bodyPr>
            <a:normAutofit fontScale="92500"/>
          </a:bodyPr>
          <a:lstStyle/>
          <a:p>
            <a:r>
              <a:rPr lang="en-US" dirty="0"/>
              <a:t>Don't wildcard origins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origins "*"  # BAD Allows scripts from anywhere</a:t>
            </a:r>
          </a:p>
          <a:p>
            <a:r>
              <a:rPr lang="en-US" dirty="0"/>
              <a:t>Do specify exact origins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origins "localhost:3001", "</a:t>
            </a:r>
            <a:r>
              <a:rPr lang="en-US" dirty="0" err="1">
                <a:solidFill>
                  <a:schemeClr val="accent3"/>
                </a:solidFill>
              </a:rPr>
              <a:t>example.com</a:t>
            </a:r>
            <a:r>
              <a:rPr lang="en-US" dirty="0">
                <a:solidFill>
                  <a:schemeClr val="accent3"/>
                </a:solidFill>
              </a:rPr>
              <a:t>"  #  GOOD</a:t>
            </a:r>
            <a:endParaRPr lang="en-US" dirty="0"/>
          </a:p>
          <a:p>
            <a:r>
              <a:rPr lang="en-US" dirty="0"/>
              <a:t>Tighten access to specific resources and methods as needed.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97FC17-788B-77A9-0810-65E477BA6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E15F0-D445-9F52-4056-3E25AC23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95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5BD81-ADDE-94BE-F2E1-7F7480C4D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CORS Headers in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90B29-0BF4-6DF8-D954-DE5F6868D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Request	</a:t>
            </a:r>
          </a:p>
          <a:p>
            <a:pPr marL="609569" lvl="1" indent="0">
              <a:buNone/>
            </a:pPr>
            <a:r>
              <a:rPr lang="en-US" sz="2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GET /</a:t>
            </a:r>
            <a:r>
              <a:rPr lang="en-US" sz="28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items.json</a:t>
            </a:r>
            <a:r>
              <a:rPr lang="en-US" sz="2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HTTP/1.1</a:t>
            </a:r>
          </a:p>
          <a:p>
            <a:pPr marL="609569" lvl="1" indent="0">
              <a:buNone/>
            </a:pPr>
            <a:r>
              <a:rPr lang="en-US" sz="2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Host: localhost:3000</a:t>
            </a:r>
          </a:p>
          <a:p>
            <a:pPr marL="609569" lvl="1" indent="0">
              <a:buNone/>
            </a:pPr>
            <a:r>
              <a:rPr lang="en-US" sz="28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Origin: http://localhost:3001</a:t>
            </a:r>
          </a:p>
          <a:p>
            <a:r>
              <a:rPr lang="en-US" dirty="0"/>
              <a:t>Response</a:t>
            </a:r>
          </a:p>
          <a:p>
            <a:pPr marL="609569" lvl="1" indent="0">
              <a:buNone/>
            </a:pPr>
            <a:r>
              <a:rPr lang="en-US" sz="3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HTTP/1.1 200 OK</a:t>
            </a:r>
          </a:p>
          <a:p>
            <a:pPr marL="609569" lvl="1" indent="0">
              <a:buNone/>
            </a:pPr>
            <a:r>
              <a:rPr lang="en-US" sz="3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access-control-allow-origin: http://localhost:3001</a:t>
            </a:r>
          </a:p>
          <a:p>
            <a:pPr marL="609569" lvl="1" indent="0">
              <a:buNone/>
            </a:pPr>
            <a:r>
              <a:rPr lang="en-US" sz="30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access-control-allow-methods: GET, POST, PUT, PATCH, DELETE, OPTIONS, HEAD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603A1C-5832-1011-0537-83895C1DA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3BCE0-8E1C-AA67-E756-08A408FC7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7F229-F2CB-35C5-EAF7-A0F6F79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Avoiding CORS 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3A9AB-05CA-76C3-455B-C8EB3F1EA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Place scripts in:</a:t>
            </a:r>
          </a:p>
          <a:p>
            <a:r>
              <a:rPr lang="en-US" dirty="0"/>
              <a:t>- ‘public’ directory</a:t>
            </a:r>
          </a:p>
          <a:p>
            <a:r>
              <a:rPr lang="en-US" dirty="0"/>
              <a:t>- ‘app/</a:t>
            </a:r>
            <a:r>
              <a:rPr lang="en-US" dirty="0" err="1"/>
              <a:t>javascript</a:t>
            </a:r>
            <a:r>
              <a:rPr lang="en-US" dirty="0"/>
              <a:t>/’ directory</a:t>
            </a:r>
          </a:p>
          <a:p>
            <a:r>
              <a:rPr lang="en-US" dirty="0"/>
              <a:t>Scripts don't cross origins, no CORS errors.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6652F5-80BB-C871-7391-4ECB78E17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8E421E-76F9-92D6-6889-2991FAC7D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51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397F59B-0B69-9102-1AE1-171B543F01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Injections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DB396D-85FF-17A3-C683-B0E70CEE1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04B222-0725-6608-19EB-6B3B2840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10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660BC4-73EC-96BD-8945-A59E9078E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Injection Attacks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E32164-1386-3EC8-1A14-6C419BA01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Use specially crafted input to:</a:t>
            </a:r>
          </a:p>
          <a:p>
            <a:pPr lvl="1"/>
            <a:r>
              <a:rPr lang="en-US" dirty="0"/>
              <a:t>Expose data</a:t>
            </a:r>
          </a:p>
          <a:p>
            <a:pPr lvl="1"/>
            <a:r>
              <a:rPr lang="en-US" dirty="0"/>
              <a:t>Trick users into entering personal information</a:t>
            </a:r>
          </a:p>
          <a:p>
            <a:r>
              <a:rPr lang="en-US" dirty="0"/>
              <a:t>Types</a:t>
            </a:r>
          </a:p>
          <a:p>
            <a:pPr lvl="1"/>
            <a:r>
              <a:rPr lang="en-US" dirty="0"/>
              <a:t>SQL Injection (SQLi)</a:t>
            </a:r>
          </a:p>
          <a:p>
            <a:pPr lvl="1"/>
            <a:r>
              <a:rPr lang="en-US" dirty="0"/>
              <a:t>Cross-Site Scripting (XSS)</a:t>
            </a:r>
          </a:p>
          <a:p>
            <a:pPr lvl="1"/>
            <a:r>
              <a:rPr lang="en-US" dirty="0"/>
              <a:t>Cross-Site Request Forgery (CSRF)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A4DB87-7398-2C9E-DEE1-6E38D744D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BC2C2-FA29-6447-ABC9-47B9AB6E3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125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6BAC3-8B1B-ADDB-F824-82CAFC509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Injection (SQLi)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B9E67-63DA-1590-F3D1-850EF4B07B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Works against many databases, not just SQL.</a:t>
            </a:r>
          </a:p>
          <a:p>
            <a:r>
              <a:rPr lang="en-US" dirty="0"/>
              <a:t>Normal Query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 * FROM person WHERE email='</a:t>
            </a:r>
            <a:r>
              <a:rPr lang="en-US" sz="2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alice@example.com</a:t>
            </a: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'</a:t>
            </a:r>
          </a:p>
          <a:p>
            <a:r>
              <a:rPr lang="en-US" dirty="0"/>
              <a:t>Injected Query</a:t>
            </a:r>
          </a:p>
          <a:p>
            <a:pPr marL="609569" lvl="1" indent="0">
              <a:buNone/>
            </a:pPr>
            <a:r>
              <a:rPr lang="en-US" sz="2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SELECT * FROM person WHERE email='foo' OR '1' = '1'</a:t>
            </a:r>
          </a:p>
          <a:p>
            <a:r>
              <a:rPr lang="en-US" dirty="0"/>
              <a:t>Returns ALL records</a:t>
            </a:r>
          </a:p>
          <a:p>
            <a:pPr lvl="1"/>
            <a:r>
              <a:rPr lang="en-US" dirty="0"/>
              <a:t>Tautology '1' = '1' is always true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ECB5A-EBF0-54C6-4153-007F7861C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1A056E-3AEC-7E15-E7DD-3E9A84B27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60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A3779-BB07-E4B0-3ADB-3315CFC59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 Real-World SQLi Attack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E87AF-99CA-3FDF-A980-C769DF6BD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</a:rPr>
              <a:t>&lt;%= </a:t>
            </a:r>
            <a:r>
              <a:rPr lang="en-US" dirty="0" err="1">
                <a:solidFill>
                  <a:schemeClr val="accent3"/>
                </a:solidFill>
              </a:rPr>
              <a:t>form.search_field</a:t>
            </a:r>
            <a:r>
              <a:rPr lang="en-US" dirty="0">
                <a:solidFill>
                  <a:schemeClr val="accent3"/>
                </a:solidFill>
              </a:rPr>
              <a:t>(:query, value: params[:query]) %&gt;</a:t>
            </a:r>
          </a:p>
          <a:p>
            <a:r>
              <a:rPr lang="en-US" dirty="0"/>
              <a:t>Vulnerable controller:</a:t>
            </a:r>
          </a:p>
          <a:p>
            <a:pPr marL="0" indent="0">
              <a:buNone/>
            </a:pPr>
            <a:r>
              <a:rPr lang="en-US" dirty="0" err="1">
                <a:solidFill>
                  <a:schemeClr val="accent3"/>
                </a:solidFill>
              </a:rPr>
              <a:t>Person.where</a:t>
            </a:r>
            <a:r>
              <a:rPr lang="en-US" dirty="0">
                <a:solidFill>
                  <a:schemeClr val="accent3"/>
                </a:solidFill>
              </a:rPr>
              <a:t>("email LIKE '%#{params[:query]}%'")</a:t>
            </a:r>
          </a:p>
          <a:p>
            <a:r>
              <a:rPr lang="en-US" dirty="0"/>
              <a:t>Attacker enters foo' OR '%' = '</a:t>
            </a:r>
          </a:p>
          <a:p>
            <a:r>
              <a:rPr lang="en-US" dirty="0"/>
              <a:t>Resulting query:</a:t>
            </a:r>
          </a:p>
          <a:p>
            <a:pPr marL="0" indent="0">
              <a:buNone/>
            </a:pPr>
            <a:r>
              <a:rPr lang="en-US" sz="3800" dirty="0">
                <a:solidFill>
                  <a:schemeClr val="accent3"/>
                </a:solidFill>
              </a:rPr>
              <a:t>SELECT * FROM people WHERE (email LIKE '%foo' OR '%' = '%')</a:t>
            </a:r>
          </a:p>
          <a:p>
            <a:r>
              <a:rPr lang="en-US" dirty="0"/>
              <a:t>All people returned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B98AEA-49C7-E394-CF4D-9DE185A71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09B216-8635-8CB8-2994-DC48D8227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650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D5E3-916F-6B7C-5249-D8E40AD48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SQLi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FDC4A-7EB2-915B-A593-7D10A9810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Use ? placeholder in queries:</a:t>
            </a:r>
          </a:p>
          <a:p>
            <a:r>
              <a:rPr lang="en-US" dirty="0"/>
              <a:t>Vulnerable</a:t>
            </a:r>
          </a:p>
          <a:p>
            <a:pPr marL="0" indent="0">
              <a:buNone/>
            </a:pPr>
            <a:r>
              <a:rPr lang="en-US" sz="3900" dirty="0" err="1">
                <a:solidFill>
                  <a:schemeClr val="accent3"/>
                </a:solidFill>
              </a:rPr>
              <a:t>Person.where</a:t>
            </a:r>
            <a:r>
              <a:rPr lang="en-US" sz="3900" dirty="0">
                <a:solidFill>
                  <a:schemeClr val="accent3"/>
                </a:solidFill>
              </a:rPr>
              <a:t>("email LIKE '%#{params[:query]}%'")</a:t>
            </a:r>
          </a:p>
          <a:p>
            <a:r>
              <a:rPr lang="en-US" dirty="0"/>
              <a:t>Protected</a:t>
            </a:r>
          </a:p>
          <a:p>
            <a:pPr marL="0" indent="0">
              <a:buNone/>
            </a:pPr>
            <a:r>
              <a:rPr lang="en-US" sz="3900" dirty="0" err="1">
                <a:solidFill>
                  <a:schemeClr val="accent3"/>
                </a:solidFill>
              </a:rPr>
              <a:t>Person.where</a:t>
            </a:r>
            <a:r>
              <a:rPr lang="en-US" sz="3900" dirty="0">
                <a:solidFill>
                  <a:schemeClr val="accent3"/>
                </a:solidFill>
              </a:rPr>
              <a:t>("email LIKE ?", "%#{params[:query]}%")</a:t>
            </a:r>
          </a:p>
          <a:p>
            <a:r>
              <a:rPr lang="en-US" dirty="0"/>
              <a:t>The `?` invokes Rails' built-in SQLi protection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E3AAF5-C1B5-76B2-3255-1A71E5EFD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7B4B05-DFBA-89CB-C591-9BAB4A14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882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4497B9C-BEAC-0C86-58B3-AB158A7F8D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Code Analysis Tools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382D0-AD0A-A447-909E-A84A4EA8B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4306D-6C1F-F709-5236-0D358B6A1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75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5FD27B7-4C5C-95A5-15F9-5203BDC7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Program Analysis Tools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72CCC4-6B7C-702C-21B3-B96B4C4BC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Static Analysis</a:t>
            </a:r>
          </a:p>
          <a:p>
            <a:pPr lvl="1"/>
            <a:r>
              <a:rPr lang="en-US" dirty="0"/>
              <a:t>Analyzes code before running</a:t>
            </a:r>
          </a:p>
          <a:p>
            <a:pPr lvl="1"/>
            <a:r>
              <a:rPr lang="en-US" dirty="0"/>
              <a:t>Looks at written code for typical errors</a:t>
            </a:r>
          </a:p>
          <a:p>
            <a:pPr lvl="1"/>
            <a:r>
              <a:rPr lang="en-US" dirty="0"/>
              <a:t>Brakeman, </a:t>
            </a:r>
            <a:r>
              <a:rPr lang="en-US" dirty="0" err="1"/>
              <a:t>Rubocop</a:t>
            </a:r>
            <a:endParaRPr lang="en-US" dirty="0"/>
          </a:p>
          <a:p>
            <a:r>
              <a:rPr lang="en-US" dirty="0"/>
              <a:t>Dynamic Analysis</a:t>
            </a:r>
          </a:p>
          <a:p>
            <a:pPr lvl="1"/>
            <a:r>
              <a:rPr lang="en-US" dirty="0"/>
              <a:t>Analyzes while program runs</a:t>
            </a:r>
          </a:p>
          <a:p>
            <a:pPr lvl="1"/>
            <a:r>
              <a:rPr lang="en-US" dirty="0"/>
              <a:t>Traces execution of instructions</a:t>
            </a:r>
          </a:p>
          <a:p>
            <a:pPr lvl="1"/>
            <a:r>
              <a:rPr lang="en-US" dirty="0"/>
              <a:t>Emphasizes memory, performance issues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ADEBBE-42FF-BDA6-0163-B089EA94D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6995F-A53F-E006-209C-DC702770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918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9067-7047-3FBE-333E-2ABA6D8EF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Brakeman Static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AFE44-9C08-E333-79E1-6A013E88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Rails-specific security analysis tool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gem install brakeman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$ brakeman  # Run in application directory</a:t>
            </a:r>
          </a:p>
          <a:p>
            <a:r>
              <a:rPr lang="en-US" dirty="0"/>
              <a:t>Example Output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Confidence: High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Category: SQL Injection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Message: Possible SQL injection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Code: </a:t>
            </a:r>
            <a:r>
              <a:rPr lang="en-US" dirty="0" err="1">
                <a:solidFill>
                  <a:schemeClr val="accent1"/>
                </a:solidFill>
              </a:rPr>
              <a:t>Person.where</a:t>
            </a:r>
            <a:r>
              <a:rPr lang="en-US" dirty="0">
                <a:solidFill>
                  <a:schemeClr val="accent1"/>
                </a:solidFill>
              </a:rPr>
              <a:t>("email LIKE '%#{params[:query]}%'")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File: app/controllers/</a:t>
            </a:r>
            <a:r>
              <a:rPr lang="en-US" dirty="0" err="1">
                <a:solidFill>
                  <a:schemeClr val="accent1"/>
                </a:solidFill>
              </a:rPr>
              <a:t>people_controller.rb</a:t>
            </a: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Line: 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4D8F03-5FEE-49D2-FD05-FC8A7B8C4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85FB09-030E-4609-7481-21921CDD5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570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BA73E-7DB2-B3DC-1597-2EEAC951A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RuboCop</a:t>
            </a:r>
            <a:r>
              <a:rPr lang="en-US" dirty="0"/>
              <a:t> for 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2E0AB-DFC9-A349-E960-DF98F4E6E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GitHub: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rubocop</a:t>
            </a:r>
            <a:r>
              <a:rPr lang="en-US" dirty="0"/>
              <a:t>/</a:t>
            </a:r>
            <a:r>
              <a:rPr lang="en-US" dirty="0" err="1"/>
              <a:t>rubocop</a:t>
            </a:r>
            <a:r>
              <a:rPr lang="en-US" dirty="0"/>
              <a:t>-rails</a:t>
            </a:r>
          </a:p>
          <a:p>
            <a:r>
              <a:rPr lang="en-US" dirty="0"/>
              <a:t>Analyzes wide variety of Ruby and Rails concerns:</a:t>
            </a:r>
          </a:p>
          <a:p>
            <a:pPr lvl="1"/>
            <a:r>
              <a:rPr lang="en-US" dirty="0"/>
              <a:t>Code style</a:t>
            </a:r>
          </a:p>
          <a:p>
            <a:pPr lvl="1"/>
            <a:r>
              <a:rPr lang="en-US" dirty="0"/>
              <a:t>Security issues</a:t>
            </a:r>
          </a:p>
          <a:p>
            <a:pPr lvl="1"/>
            <a:r>
              <a:rPr lang="en-US" dirty="0"/>
              <a:t>Performance problems</a:t>
            </a:r>
          </a:p>
          <a:p>
            <a:pPr lvl="1"/>
            <a:r>
              <a:rPr lang="en-US" dirty="0"/>
              <a:t>Best practices</a:t>
            </a:r>
          </a:p>
          <a:p>
            <a:r>
              <a:rPr lang="en-US" dirty="0"/>
              <a:t>Include in CI/CD </a:t>
            </a:r>
            <a:r>
              <a:rPr lang="en-US" dirty="0" err="1"/>
              <a:t>workflowsj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A2A1D7-635A-C422-F90B-42808324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852A87-4E32-EDF5-9290-FC261DE7C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04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29B84-BF9B-A701-AA04-63F05D333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Protecting User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7159C-DD9D-9FAB-9E4E-B8EA6B407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Web applications gather Personally Identifiable Information (PII).</a:t>
            </a:r>
          </a:p>
          <a:p>
            <a:r>
              <a:rPr lang="en-US" dirty="0"/>
              <a:t>We are morally bound to protect that data to the best of our ability.</a:t>
            </a:r>
          </a:p>
          <a:p>
            <a:r>
              <a:rPr lang="en-US" dirty="0"/>
              <a:t>Learn More</a:t>
            </a:r>
          </a:p>
          <a:p>
            <a:pPr lvl="1"/>
            <a:r>
              <a:rPr lang="en-US" dirty="0"/>
              <a:t>ZAP: https://</a:t>
            </a:r>
            <a:r>
              <a:rPr lang="en-US" dirty="0" err="1"/>
              <a:t>www.zaproxy.org</a:t>
            </a:r>
            <a:r>
              <a:rPr lang="en-US" dirty="0"/>
              <a:t>/</a:t>
            </a:r>
          </a:p>
          <a:p>
            <a:pPr lvl="1"/>
            <a:r>
              <a:rPr lang="en-US" dirty="0" err="1"/>
              <a:t>WebGoat</a:t>
            </a:r>
            <a:r>
              <a:rPr lang="en-US" dirty="0"/>
              <a:t>: https://</a:t>
            </a:r>
            <a:r>
              <a:rPr lang="en-US" dirty="0" err="1"/>
              <a:t>owasp.org</a:t>
            </a:r>
            <a:r>
              <a:rPr lang="en-US" dirty="0"/>
              <a:t>/www-project-</a:t>
            </a:r>
            <a:r>
              <a:rPr lang="en-US" dirty="0" err="1"/>
              <a:t>webgoat</a:t>
            </a:r>
            <a:r>
              <a:rPr lang="en-US" dirty="0"/>
              <a:t>/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F5BDA5-A06E-F2A8-37CD-C82D407A2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DDA0B-AEFA-94C4-B711-6C3AE341A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796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60A-AC7D-B3EE-CC85-4438BA057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Cross-Site Scripting (XSS)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AF118-674D-6C18-24CA-A7162A77D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Bad actor injects script into text field.</a:t>
            </a:r>
          </a:p>
          <a:p>
            <a:r>
              <a:rPr lang="en-US" dirty="0"/>
              <a:t>When another user displays the text, script runs in their browser.</a:t>
            </a:r>
          </a:p>
          <a:p>
            <a:r>
              <a:rPr lang="en-US" dirty="0"/>
              <a:t>Why it works</a:t>
            </a:r>
          </a:p>
          <a:p>
            <a:pPr lvl="1"/>
            <a:r>
              <a:rPr lang="en-US" dirty="0"/>
              <a:t>Browsers trust content from sites via Same-Origin Policy (SOP)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0843CD-F64E-6B35-1A44-0A353BB2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911252-10A7-5561-4849-46F9CE2AE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323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BED3D-0663-3C90-AD84-F4816F5BB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XSS Attack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B4E4C-C306-221C-A516-1C208D829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User enters in comment field: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&lt;script&gt;alert("XSS!")&lt;/script&gt;</a:t>
            </a:r>
          </a:p>
          <a:p>
            <a:r>
              <a:rPr lang="en-US" dirty="0"/>
              <a:t>When someone else reads the comment, the script executes</a:t>
            </a:r>
          </a:p>
          <a:p>
            <a:r>
              <a:rPr lang="en-US" dirty="0"/>
              <a:t>What scripts can do</a:t>
            </a:r>
          </a:p>
          <a:p>
            <a:pPr lvl="1"/>
            <a:r>
              <a:rPr lang="en-US" dirty="0"/>
              <a:t>Modify all page content</a:t>
            </a:r>
          </a:p>
          <a:p>
            <a:pPr lvl="1"/>
            <a:r>
              <a:rPr lang="en-US" dirty="0"/>
              <a:t>Access site history</a:t>
            </a:r>
          </a:p>
          <a:p>
            <a:pPr lvl="1"/>
            <a:r>
              <a:rPr lang="en-US" dirty="0"/>
              <a:t>Redirect to different sites</a:t>
            </a:r>
          </a:p>
          <a:p>
            <a:pPr lvl="1"/>
            <a:r>
              <a:rPr lang="en-US" dirty="0"/>
              <a:t>Steal credentials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19C71-E53F-1B0F-9EEE-4242C8D7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33DFE9-BD30-B062-3EBA-FA133C922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752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A2FFB-C0E5-E1CA-92BF-200FCE19D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Built-In XSS Defense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9E9E5-BD6C-E069-474E-E126122AC0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Rails automatically escapes XSS scripts before displaying</a:t>
            </a:r>
          </a:p>
          <a:p>
            <a:r>
              <a:rPr lang="en-US" dirty="0"/>
              <a:t>Scripts persist in database but are escaped in views</a:t>
            </a:r>
          </a:p>
          <a:p>
            <a:r>
              <a:rPr lang="en-US" dirty="0"/>
              <a:t>How to Subvert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&lt;%==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person.name.html_safe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&lt;%= raw </a:t>
            </a:r>
            <a:r>
              <a:rPr lang="en-US" sz="3000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person.name</a:t>
            </a:r>
            <a:r>
              <a:rPr lang="en-US" sz="3000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%&gt;</a:t>
            </a:r>
            <a:endParaRPr lang="en-US" sz="43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23DF3E-96C6-67EE-AA6E-294966D94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E5AE2-7EB1-2073-0DA4-10B5B492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75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FDCFDF-D9F0-BF9F-4C65-CBE65CA7B6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CSRF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C17F4A-9AF2-E285-025C-BA3FAAA3D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468F8-E423-CF5F-4A93-5D55422F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60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0581FFE-9796-73DA-7439-F8912025B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Cross-Site Request Forgery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8C5DA6-AD4A-8513-0002-046079DD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One webpage sends a request to another website</a:t>
            </a:r>
          </a:p>
          <a:p>
            <a:r>
              <a:rPr lang="en-US" dirty="0"/>
              <a:t>Typically relies on the user being logged in to target site</a:t>
            </a:r>
          </a:p>
          <a:p>
            <a:r>
              <a:rPr lang="en-US" dirty="0"/>
              <a:t>Two Types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Web bugs (GET requests) - tracking</a:t>
            </a:r>
          </a:p>
          <a:p>
            <a:pPr marL="1352519" lvl="1" indent="-742950">
              <a:buFont typeface="+mj-lt"/>
              <a:buAutoNum type="arabicPeriod"/>
            </a:pPr>
            <a:r>
              <a:rPr lang="en-US" dirty="0"/>
              <a:t>Malicious actions (POST/PUT/PATCH/DELETE)</a:t>
            </a:r>
          </a:p>
          <a:p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F90CD4-5D92-E66E-8824-35683286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AE552-FC32-6672-A8B6-69D8E9EF1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700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6815-1F70-675D-FE34-FDD4E5C01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Bug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EB81-0B62-1154-7520-68F10FE7F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HTML page with invisible image: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&lt;!DOCTYPE HTML&gt;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&lt;html&gt;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&lt;head&gt;&lt;title&gt;Web bug demo&lt;/title&gt;&lt;/head&gt;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&lt;body&gt;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 &lt;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img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dirty="0" err="1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src</a:t>
            </a: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="http://localhost:3000/people/1"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       width="0" height="0" border="0"&gt;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&lt;/body&gt;</a:t>
            </a:r>
          </a:p>
          <a:p>
            <a:pPr marL="533374" lvl="1" indent="0">
              <a:buNone/>
            </a:pPr>
            <a:r>
              <a:rPr lang="en-US" dirty="0">
                <a:solidFill>
                  <a:schemeClr val="accent3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&lt;/html&gt;</a:t>
            </a:r>
            <a:endParaRPr lang="en-US" dirty="0"/>
          </a:p>
          <a:p>
            <a:r>
              <a:rPr lang="en-US" dirty="0"/>
              <a:t>Request is sent with all identifying information (IP, cookies, etc.)</a:t>
            </a:r>
          </a:p>
          <a:p>
            <a:r>
              <a:rPr lang="en-US" dirty="0"/>
              <a:t>Used for tracking users across websites for </a:t>
            </a:r>
            <a:r>
              <a:rPr lang="en-US"/>
              <a:t>targeted ads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66F8A-2030-5D3F-6A4F-849252427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1BB706-B114-E08C-2FB5-3AD9D46F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E08FFA-7F03-3A4E-B3F8-2C550F8B5FDD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008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6" id="{19DD2CDB-A181-F945-ADD9-05B41BED0346}" vid="{739F90C6-ACCF-9945-B1AA-B9555E82DD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WebAppDev</Template>
  <TotalTime>3630</TotalTime>
  <Words>2942</Words>
  <Application>Microsoft Macintosh PowerPoint</Application>
  <PresentationFormat>Widescreen</PresentationFormat>
  <Paragraphs>505</Paragraphs>
  <Slides>60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5" baseType="lpstr">
      <vt:lpstr>Aptos</vt:lpstr>
      <vt:lpstr>Arial</vt:lpstr>
      <vt:lpstr>Calibri</vt:lpstr>
      <vt:lpstr>Menlo</vt:lpstr>
      <vt:lpstr>MSU Denver 16x9</vt:lpstr>
      <vt:lpstr>Chapter 06</vt:lpstr>
      <vt:lpstr>Text Conventions</vt:lpstr>
      <vt:lpstr>Sun Tzu, The Art of War</vt:lpstr>
      <vt:lpstr>The Security Challenge</vt:lpstr>
      <vt:lpstr>Learning Outcomes</vt:lpstr>
      <vt:lpstr>Key Terms</vt:lpstr>
      <vt:lpstr>DB Encryption</vt:lpstr>
      <vt:lpstr>Active Record Encryption</vt:lpstr>
      <vt:lpstr>Choosing Encryption Types</vt:lpstr>
      <vt:lpstr>Initialize Encryption Keys</vt:lpstr>
      <vt:lpstr>Configure Credentials</vt:lpstr>
      <vt:lpstr>Encrypt Model Attributes</vt:lpstr>
      <vt:lpstr>What Encrypted Data Looks Like</vt:lpstr>
      <vt:lpstr>Fix Tests with Encrypted Data</vt:lpstr>
      <vt:lpstr>Authentication</vt:lpstr>
      <vt:lpstr>Auth/n vs Auth/z</vt:lpstr>
      <vt:lpstr>Three Authentication Factors</vt:lpstr>
      <vt:lpstr>Devise Authentication Gem</vt:lpstr>
      <vt:lpstr> Setting Up Devise</vt:lpstr>
      <vt:lpstr>Devise Route Setup</vt:lpstr>
      <vt:lpstr>Adding Logout Functionality</vt:lpstr>
      <vt:lpstr>Devise Test Helpers</vt:lpstr>
      <vt:lpstr>Authorization</vt:lpstr>
      <vt:lpstr>CanCanCan Authorization Gem</vt:lpstr>
      <vt:lpstr>Setting Up CanCanCan</vt:lpstr>
      <vt:lpstr>Basic Ability Configuration</vt:lpstr>
      <vt:lpstr>Using CanCanCan in Controllers</vt:lpstr>
      <vt:lpstr>HTTPS</vt:lpstr>
      <vt:lpstr>Securing Data in Transit</vt:lpstr>
      <vt:lpstr>Generate SSL Certificate</vt:lpstr>
      <vt:lpstr>Certificate Information</vt:lpstr>
      <vt:lpstr>Run Rails with SSL</vt:lpstr>
      <vt:lpstr>Certificate Trust Warning</vt:lpstr>
      <vt:lpstr>PowerPoint Presentation</vt:lpstr>
      <vt:lpstr>Certificate Authorities (CA)</vt:lpstr>
      <vt:lpstr>Browser Security</vt:lpstr>
      <vt:lpstr>Same-Origin Policy (SOP)</vt:lpstr>
      <vt:lpstr>What SOP Allows</vt:lpstr>
      <vt:lpstr>SOP Can Block APIs</vt:lpstr>
      <vt:lpstr>Cross-Origin Resource Sharing</vt:lpstr>
      <vt:lpstr>Setting Up CORS</vt:lpstr>
      <vt:lpstr>CORS Security Tips</vt:lpstr>
      <vt:lpstr>CORS Headers in Action</vt:lpstr>
      <vt:lpstr>Avoiding CORS Issues</vt:lpstr>
      <vt:lpstr>Injections</vt:lpstr>
      <vt:lpstr>Injection Attacks</vt:lpstr>
      <vt:lpstr>SQL Injection (SQLi)</vt:lpstr>
      <vt:lpstr> Real-World SQLi Attack</vt:lpstr>
      <vt:lpstr>Rails SQLi Protection</vt:lpstr>
      <vt:lpstr>Code Analysis Tools</vt:lpstr>
      <vt:lpstr>Program Analysis Tools</vt:lpstr>
      <vt:lpstr>Brakeman Static Analysis</vt:lpstr>
      <vt:lpstr>RuboCop for Rails</vt:lpstr>
      <vt:lpstr>Protecting User Data</vt:lpstr>
      <vt:lpstr>Cross-Site Scripting (XSS)</vt:lpstr>
      <vt:lpstr>XSS Attack Scenario</vt:lpstr>
      <vt:lpstr>Built-In XSS Defense</vt:lpstr>
      <vt:lpstr>CSRF</vt:lpstr>
      <vt:lpstr>Cross-Site Request Forgery</vt:lpstr>
      <vt:lpstr>Web Bug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33</cp:revision>
  <dcterms:created xsi:type="dcterms:W3CDTF">2025-10-29T01:48:04Z</dcterms:created>
  <dcterms:modified xsi:type="dcterms:W3CDTF">2025-10-31T14:19:01Z</dcterms:modified>
</cp:coreProperties>
</file>