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65" r:id="rId5"/>
    <p:sldId id="266" r:id="rId6"/>
    <p:sldId id="267" r:id="rId7"/>
    <p:sldId id="268" r:id="rId8"/>
    <p:sldId id="269" r:id="rId9"/>
    <p:sldId id="259" r:id="rId10"/>
    <p:sldId id="260" r:id="rId11"/>
    <p:sldId id="261" r:id="rId12"/>
    <p:sldId id="262" r:id="rId13"/>
    <p:sldId id="263" r:id="rId14"/>
    <p:sldId id="264" r:id="rId15"/>
    <p:sldId id="270" r:id="rId16"/>
    <p:sldId id="271" r:id="rId17"/>
    <p:sldId id="272" r:id="rId18"/>
    <p:sldId id="273" r:id="rId19"/>
    <p:sldId id="274" r:id="rId20"/>
    <p:sldId id="275" r:id="rId21"/>
    <p:sldId id="276" r:id="rId22"/>
    <p:sldId id="277" r:id="rId23"/>
    <p:sldId id="278" r:id="rId24"/>
    <p:sldId id="279" r:id="rId25"/>
    <p:sldId id="281" r:id="rId26"/>
    <p:sldId id="280" r:id="rId27"/>
    <p:sldId id="28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06"/>
  </p:normalViewPr>
  <p:slideViewPr>
    <p:cSldViewPr snapToGrid="0">
      <p:cViewPr varScale="1">
        <p:scale>
          <a:sx n="119" d="100"/>
          <a:sy n="119" d="100"/>
        </p:scale>
        <p:origin x="856"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914400" y="1058940"/>
            <a:ext cx="10363200" cy="1470025"/>
          </a:xfrm>
          <a:solidFill>
            <a:schemeClr val="bg1">
              <a:alpha val="95000"/>
            </a:schemeClr>
          </a:solidFill>
          <a:effectLst>
            <a:softEdge rad="63500"/>
          </a:effectLst>
        </p:spPr>
        <p:txBody>
          <a:bodyPr/>
          <a:lstStyle>
            <a:lvl1pPr>
              <a:defRPr baseline="0">
                <a:solidFill>
                  <a:schemeClr val="tx1"/>
                </a:solidFill>
              </a:defRPr>
            </a:lvl1pPr>
          </a:lstStyle>
          <a:p>
            <a:r>
              <a:rPr lang="en-US" baseline="0" dirty="0">
                <a:solidFill>
                  <a:schemeClr val="tx1"/>
                </a:solidFill>
              </a:rPr>
              <a:t>Click to edit title</a:t>
            </a:r>
            <a:endParaRPr lang="en-US" dirty="0">
              <a:solidFill>
                <a:schemeClr val="bg1"/>
              </a:solidFill>
            </a:endParaRPr>
          </a:p>
        </p:txBody>
      </p:sp>
      <p:sp>
        <p:nvSpPr>
          <p:cNvPr id="3" name="Text Placeholder 2"/>
          <p:cNvSpPr>
            <a:spLocks noGrp="1"/>
          </p:cNvSpPr>
          <p:nvPr>
            <p:ph type="body" sz="quarter" idx="10" hasCustomPrompt="1"/>
          </p:nvPr>
        </p:nvSpPr>
        <p:spPr>
          <a:xfrm>
            <a:off x="2281187" y="2983612"/>
            <a:ext cx="7609479" cy="1009561"/>
          </a:xfrm>
          <a:prstGeom prst="roundRect">
            <a:avLst>
              <a:gd name="adj" fmla="val 37895"/>
            </a:avLst>
          </a:prstGeom>
          <a:solidFill>
            <a:schemeClr val="bg1">
              <a:alpha val="95000"/>
            </a:schemeClr>
          </a:solidFill>
          <a:effectLst>
            <a:softEdge rad="63500"/>
          </a:effectLst>
        </p:spPr>
        <p:txBody>
          <a:bodyPr anchor="ctr" anchorCtr="0"/>
          <a:lstStyle>
            <a:lvl1pPr marL="0" indent="0" algn="ctr">
              <a:buNone/>
              <a:defRPr baseline="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subtitle</a:t>
            </a:r>
          </a:p>
        </p:txBody>
      </p:sp>
      <p:sp>
        <p:nvSpPr>
          <p:cNvPr id="2" name="Date Placeholder 1">
            <a:extLst>
              <a:ext uri="{FF2B5EF4-FFF2-40B4-BE49-F238E27FC236}">
                <a16:creationId xmlns:a16="http://schemas.microsoft.com/office/drawing/2014/main" id="{9B409C91-6E3E-5409-2F44-4E770C50190C}"/>
              </a:ext>
            </a:extLst>
          </p:cNvPr>
          <p:cNvSpPr>
            <a:spLocks noGrp="1"/>
          </p:cNvSpPr>
          <p:nvPr>
            <p:ph type="dt" sz="half" idx="11"/>
          </p:nvPr>
        </p:nvSpPr>
        <p:spPr/>
        <p:txBody>
          <a:bodyPr/>
          <a:lstStyle/>
          <a:p>
            <a:fld id="{330CFCBA-F318-6745-AB5D-A684A602A02E}" type="datetimeFigureOut">
              <a:rPr lang="en-US" smtClean="0"/>
              <a:t>10/13/26</a:t>
            </a:fld>
            <a:endParaRPr lang="en-US"/>
          </a:p>
        </p:txBody>
      </p:sp>
      <p:sp>
        <p:nvSpPr>
          <p:cNvPr id="4" name="Footer Placeholder 3">
            <a:extLst>
              <a:ext uri="{FF2B5EF4-FFF2-40B4-BE49-F238E27FC236}">
                <a16:creationId xmlns:a16="http://schemas.microsoft.com/office/drawing/2014/main" id="{594118C6-B924-AA1F-AEFC-17607998D78C}"/>
              </a:ext>
            </a:extLst>
          </p:cNvPr>
          <p:cNvSpPr>
            <a:spLocks noGrp="1"/>
          </p:cNvSpPr>
          <p:nvPr>
            <p:ph type="ftr" sz="quarter" idx="12"/>
          </p:nvPr>
        </p:nvSpPr>
        <p:spPr/>
        <p:txBody>
          <a:bodyPr/>
          <a:lstStyle/>
          <a:p>
            <a:endParaRPr lang="en-US"/>
          </a:p>
        </p:txBody>
      </p:sp>
      <p:sp>
        <p:nvSpPr>
          <p:cNvPr id="5" name="Slide Number Placeholder 4">
            <a:extLst>
              <a:ext uri="{FF2B5EF4-FFF2-40B4-BE49-F238E27FC236}">
                <a16:creationId xmlns:a16="http://schemas.microsoft.com/office/drawing/2014/main" id="{29E93608-8881-8010-4D06-440F9FBB6BE8}"/>
              </a:ext>
            </a:extLst>
          </p:cNvPr>
          <p:cNvSpPr>
            <a:spLocks noGrp="1"/>
          </p:cNvSpPr>
          <p:nvPr>
            <p:ph type="sldNum" sz="quarter" idx="13"/>
          </p:nvPr>
        </p:nvSpPr>
        <p:spPr/>
        <p:txBody>
          <a:bodyPr/>
          <a:lstStyle/>
          <a:p>
            <a:fld id="{12FAF872-C383-B543-8F06-0C1BE9593523}" type="slidenum">
              <a:rPr lang="en-US" smtClean="0"/>
              <a:t>‹#›</a:t>
            </a:fld>
            <a:endParaRPr lang="en-US"/>
          </a:p>
        </p:txBody>
      </p:sp>
    </p:spTree>
    <p:extLst>
      <p:ext uri="{BB962C8B-B14F-4D97-AF65-F5344CB8AC3E}">
        <p14:creationId xmlns:p14="http://schemas.microsoft.com/office/powerpoint/2010/main" val="261894323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0201"/>
            <a:ext cx="10972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DB39033B-5031-2DE5-AF8A-E269BDEE889F}"/>
              </a:ext>
            </a:extLst>
          </p:cNvPr>
          <p:cNvSpPr>
            <a:spLocks noGrp="1"/>
          </p:cNvSpPr>
          <p:nvPr>
            <p:ph type="dt" sz="half" idx="10"/>
          </p:nvPr>
        </p:nvSpPr>
        <p:spPr/>
        <p:txBody>
          <a:bodyPr/>
          <a:lstStyle/>
          <a:p>
            <a:fld id="{330CFCBA-F318-6745-AB5D-A684A602A02E}" type="datetimeFigureOut">
              <a:rPr lang="en-US" smtClean="0"/>
              <a:t>10/13/26</a:t>
            </a:fld>
            <a:endParaRPr lang="en-US"/>
          </a:p>
        </p:txBody>
      </p:sp>
      <p:sp>
        <p:nvSpPr>
          <p:cNvPr id="9" name="Footer Placeholder 8">
            <a:extLst>
              <a:ext uri="{FF2B5EF4-FFF2-40B4-BE49-F238E27FC236}">
                <a16:creationId xmlns:a16="http://schemas.microsoft.com/office/drawing/2014/main" id="{8CC0AD20-1FAB-5697-725E-A23B4E11A490}"/>
              </a:ext>
            </a:extLst>
          </p:cNvPr>
          <p:cNvSpPr>
            <a:spLocks noGrp="1"/>
          </p:cNvSpPr>
          <p:nvPr>
            <p:ph type="ftr" sz="quarter" idx="11"/>
          </p:nvPr>
        </p:nvSpPr>
        <p:spPr/>
        <p:txBody>
          <a:bodyPr/>
          <a:lstStyle/>
          <a:p>
            <a:endParaRPr lang="en-US"/>
          </a:p>
        </p:txBody>
      </p:sp>
      <p:sp>
        <p:nvSpPr>
          <p:cNvPr id="10" name="SlideNumberWithTotal">
            <a:extLst>
              <a:ext uri="{FF2B5EF4-FFF2-40B4-BE49-F238E27FC236}">
                <a16:creationId xmlns:a16="http://schemas.microsoft.com/office/drawing/2014/main" id="{C85ADDAF-31A4-85DD-32A3-DD43B60F68C2}"/>
              </a:ext>
            </a:extLst>
          </p:cNvPr>
          <p:cNvSpPr>
            <a:spLocks noGrp="1"/>
          </p:cNvSpPr>
          <p:nvPr>
            <p:ph type="sldNum" sz="quarter" idx="12"/>
          </p:nvPr>
        </p:nvSpPr>
        <p:spPr/>
        <p:txBody>
          <a:bodyPr/>
          <a:lstStyle/>
          <a:p>
            <a:fld id="{12FAF872-C383-B543-8F06-0C1BE9593523}" type="slidenum">
              <a:rPr lang="en-US" smtClean="0"/>
              <a:t>‹#›</a:t>
            </a:fld>
            <a:endParaRPr lang="en-US"/>
          </a:p>
        </p:txBody>
      </p:sp>
    </p:spTree>
    <p:extLst>
      <p:ext uri="{BB962C8B-B14F-4D97-AF65-F5344CB8AC3E}">
        <p14:creationId xmlns:p14="http://schemas.microsoft.com/office/powerpoint/2010/main" val="40448740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0201"/>
            <a:ext cx="10972800" cy="4525963"/>
          </a:xfrm>
          <a:ln w="25400">
            <a:solidFill>
              <a:schemeClr val="tx1"/>
            </a:solidFill>
          </a:ln>
        </p:spPr>
        <p:txBody>
          <a:bodyPr tIns="228600">
            <a:normAutofit/>
          </a:bodyPr>
          <a:lstStyle>
            <a:lvl1pPr marL="0" indent="0">
              <a:buNone/>
              <a:defRPr sz="2667" b="0" i="0">
                <a:latin typeface="Menlo" panose="020B0609030804020204" pitchFamily="49" charset="0"/>
                <a:ea typeface="Menlo" panose="020B0609030804020204" pitchFamily="49" charset="0"/>
                <a:cs typeface="Menlo" panose="020B0609030804020204" pitchFamily="49" charset="0"/>
              </a:defRPr>
            </a:lvl1pPr>
          </a:lstStyle>
          <a:p>
            <a:pPr lvl="0"/>
            <a:r>
              <a:rPr lang="en-US"/>
              <a:t>Click to edit Master text styles</a:t>
            </a:r>
          </a:p>
        </p:txBody>
      </p:sp>
      <p:sp>
        <p:nvSpPr>
          <p:cNvPr id="8" name="Date Placeholder 7">
            <a:extLst>
              <a:ext uri="{FF2B5EF4-FFF2-40B4-BE49-F238E27FC236}">
                <a16:creationId xmlns:a16="http://schemas.microsoft.com/office/drawing/2014/main" id="{DEEF9C46-CD18-5177-41DC-5A44F050BB88}"/>
              </a:ext>
            </a:extLst>
          </p:cNvPr>
          <p:cNvSpPr>
            <a:spLocks noGrp="1"/>
          </p:cNvSpPr>
          <p:nvPr>
            <p:ph type="dt" sz="half" idx="10"/>
          </p:nvPr>
        </p:nvSpPr>
        <p:spPr/>
        <p:txBody>
          <a:bodyPr/>
          <a:lstStyle/>
          <a:p>
            <a:fld id="{330CFCBA-F318-6745-AB5D-A684A602A02E}" type="datetimeFigureOut">
              <a:rPr lang="en-US" smtClean="0"/>
              <a:t>10/13/26</a:t>
            </a:fld>
            <a:endParaRPr lang="en-US"/>
          </a:p>
        </p:txBody>
      </p:sp>
      <p:sp>
        <p:nvSpPr>
          <p:cNvPr id="9" name="Footer Placeholder 8">
            <a:extLst>
              <a:ext uri="{FF2B5EF4-FFF2-40B4-BE49-F238E27FC236}">
                <a16:creationId xmlns:a16="http://schemas.microsoft.com/office/drawing/2014/main" id="{A6447FE1-5C78-6FAD-D883-46A9B247C887}"/>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3BEAED22-447D-B036-C934-3337B57F57F0}"/>
              </a:ext>
            </a:extLst>
          </p:cNvPr>
          <p:cNvSpPr>
            <a:spLocks noGrp="1"/>
          </p:cNvSpPr>
          <p:nvPr>
            <p:ph type="sldNum" sz="quarter" idx="12"/>
          </p:nvPr>
        </p:nvSpPr>
        <p:spPr/>
        <p:txBody>
          <a:bodyPr/>
          <a:lstStyle/>
          <a:p>
            <a:fld id="{12FAF872-C383-B543-8F06-0C1BE9593523}" type="slidenum">
              <a:rPr lang="en-US" smtClean="0"/>
              <a:t>‹#›</a:t>
            </a:fld>
            <a:endParaRPr lang="en-US"/>
          </a:p>
        </p:txBody>
      </p:sp>
    </p:spTree>
    <p:extLst>
      <p:ext uri="{BB962C8B-B14F-4D97-AF65-F5344CB8AC3E}">
        <p14:creationId xmlns:p14="http://schemas.microsoft.com/office/powerpoint/2010/main" val="351488793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Two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609600" y="1602488"/>
            <a:ext cx="5321600" cy="4525963"/>
          </a:xfrm>
          <a:ln w="25400" cap="flat">
            <a:solidFill>
              <a:schemeClr val="tx1"/>
            </a:solidFill>
            <a:round/>
          </a:ln>
        </p:spPr>
        <p:txBody>
          <a:bodyPr tIns="228600">
            <a:normAutofit/>
          </a:bodyPr>
          <a:lstStyle>
            <a:lvl1pPr marL="0" indent="0">
              <a:buNone/>
              <a:defRPr sz="2667" b="0" i="0">
                <a:latin typeface="Menlo" panose="020B0609030804020204" pitchFamily="49" charset="0"/>
                <a:ea typeface="Menlo" panose="020B0609030804020204" pitchFamily="49" charset="0"/>
                <a:cs typeface="Menlo" panose="020B0609030804020204" pitchFamily="49" charset="0"/>
              </a:defRPr>
            </a:lvl1pPr>
          </a:lstStyle>
          <a:p>
            <a:pPr lvl="0"/>
            <a:r>
              <a:rPr lang="en-US"/>
              <a:t>Click to edit Master text styles</a:t>
            </a:r>
          </a:p>
        </p:txBody>
      </p:sp>
      <p:sp>
        <p:nvSpPr>
          <p:cNvPr id="7" name="Content Placeholder 2">
            <a:extLst>
              <a:ext uri="{FF2B5EF4-FFF2-40B4-BE49-F238E27FC236}">
                <a16:creationId xmlns:a16="http://schemas.microsoft.com/office/drawing/2014/main" id="{EF3C3831-60B9-204A-AB0D-53E619F83C5B}"/>
              </a:ext>
            </a:extLst>
          </p:cNvPr>
          <p:cNvSpPr>
            <a:spLocks noGrp="1"/>
          </p:cNvSpPr>
          <p:nvPr>
            <p:ph idx="13"/>
          </p:nvPr>
        </p:nvSpPr>
        <p:spPr>
          <a:xfrm>
            <a:off x="6260800" y="1592837"/>
            <a:ext cx="5321600" cy="4525963"/>
          </a:xfrm>
          <a:ln w="25400">
            <a:solidFill>
              <a:schemeClr val="tx1"/>
            </a:solidFill>
          </a:ln>
        </p:spPr>
        <p:txBody>
          <a:bodyPr tIns="228600">
            <a:normAutofit/>
          </a:bodyPr>
          <a:lstStyle>
            <a:lvl1pPr marL="0" indent="0">
              <a:buNone/>
              <a:defRPr sz="2667" b="0" i="0">
                <a:latin typeface="Menlo" panose="020B0609030804020204" pitchFamily="49" charset="0"/>
                <a:ea typeface="Menlo" panose="020B0609030804020204" pitchFamily="49" charset="0"/>
                <a:cs typeface="Menlo" panose="020B0609030804020204" pitchFamily="49" charset="0"/>
              </a:defRPr>
            </a:lvl1pPr>
          </a:lstStyle>
          <a:p>
            <a:pPr lvl="0"/>
            <a:r>
              <a:rPr lang="en-US"/>
              <a:t>Click to edit Master text styles</a:t>
            </a:r>
          </a:p>
        </p:txBody>
      </p:sp>
      <p:sp>
        <p:nvSpPr>
          <p:cNvPr id="9" name="Date Placeholder 8">
            <a:extLst>
              <a:ext uri="{FF2B5EF4-FFF2-40B4-BE49-F238E27FC236}">
                <a16:creationId xmlns:a16="http://schemas.microsoft.com/office/drawing/2014/main" id="{71D19512-769A-1A2D-AE4B-615827F538DF}"/>
              </a:ext>
            </a:extLst>
          </p:cNvPr>
          <p:cNvSpPr>
            <a:spLocks noGrp="1"/>
          </p:cNvSpPr>
          <p:nvPr>
            <p:ph type="dt" sz="half" idx="14"/>
          </p:nvPr>
        </p:nvSpPr>
        <p:spPr/>
        <p:txBody>
          <a:bodyPr/>
          <a:lstStyle/>
          <a:p>
            <a:fld id="{330CFCBA-F318-6745-AB5D-A684A602A02E}" type="datetimeFigureOut">
              <a:rPr lang="en-US" smtClean="0"/>
              <a:t>10/13/26</a:t>
            </a:fld>
            <a:endParaRPr lang="en-US"/>
          </a:p>
        </p:txBody>
      </p:sp>
      <p:sp>
        <p:nvSpPr>
          <p:cNvPr id="10" name="Footer Placeholder 9">
            <a:extLst>
              <a:ext uri="{FF2B5EF4-FFF2-40B4-BE49-F238E27FC236}">
                <a16:creationId xmlns:a16="http://schemas.microsoft.com/office/drawing/2014/main" id="{88537417-0F7B-4AB8-2913-FC8911CF4DFA}"/>
              </a:ext>
            </a:extLst>
          </p:cNvPr>
          <p:cNvSpPr>
            <a:spLocks noGrp="1"/>
          </p:cNvSpPr>
          <p:nvPr>
            <p:ph type="ftr" sz="quarter" idx="15"/>
          </p:nvPr>
        </p:nvSpPr>
        <p:spPr/>
        <p:txBody>
          <a:bodyPr/>
          <a:lstStyle/>
          <a:p>
            <a:endParaRPr lang="en-US"/>
          </a:p>
        </p:txBody>
      </p:sp>
      <p:sp>
        <p:nvSpPr>
          <p:cNvPr id="11" name="Slide Number Placeholder 10">
            <a:extLst>
              <a:ext uri="{FF2B5EF4-FFF2-40B4-BE49-F238E27FC236}">
                <a16:creationId xmlns:a16="http://schemas.microsoft.com/office/drawing/2014/main" id="{6C508543-3E8A-F349-1E14-7A34163E0A10}"/>
              </a:ext>
            </a:extLst>
          </p:cNvPr>
          <p:cNvSpPr>
            <a:spLocks noGrp="1"/>
          </p:cNvSpPr>
          <p:nvPr>
            <p:ph type="sldNum" sz="quarter" idx="16"/>
          </p:nvPr>
        </p:nvSpPr>
        <p:spPr/>
        <p:txBody>
          <a:bodyPr/>
          <a:lstStyle/>
          <a:p>
            <a:fld id="{12FAF872-C383-B543-8F06-0C1BE9593523}" type="slidenum">
              <a:rPr lang="en-US" smtClean="0"/>
              <a:t>‹#›</a:t>
            </a:fld>
            <a:endParaRPr lang="en-US"/>
          </a:p>
        </p:txBody>
      </p:sp>
    </p:spTree>
    <p:extLst>
      <p:ext uri="{BB962C8B-B14F-4D97-AF65-F5344CB8AC3E}">
        <p14:creationId xmlns:p14="http://schemas.microsoft.com/office/powerpoint/2010/main" val="62412309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406052" y="6308727"/>
            <a:ext cx="1169155" cy="485424"/>
          </a:xfrm>
          <a:prstGeom prst="rect">
            <a:avLst/>
          </a:prstGeom>
        </p:spPr>
        <p:txBody>
          <a:bodyPr/>
          <a:lstStyle/>
          <a:p>
            <a:fld id="{330CFCBA-F318-6745-AB5D-A684A602A02E}" type="datetimeFigureOut">
              <a:rPr lang="en-US" smtClean="0"/>
              <a:t>10/13/26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FAF872-C383-B543-8F06-0C1BE9593523}" type="slidenum">
              <a:rPr lang="en-US" smtClean="0"/>
              <a:t>‹#›</a:t>
            </a:fld>
            <a:endParaRPr lang="en-US"/>
          </a:p>
        </p:txBody>
      </p:sp>
    </p:spTree>
    <p:extLst>
      <p:ext uri="{BB962C8B-B14F-4D97-AF65-F5344CB8AC3E}">
        <p14:creationId xmlns:p14="http://schemas.microsoft.com/office/powerpoint/2010/main" val="423122499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Date Placeholder 6">
            <a:extLst>
              <a:ext uri="{FF2B5EF4-FFF2-40B4-BE49-F238E27FC236}">
                <a16:creationId xmlns:a16="http://schemas.microsoft.com/office/drawing/2014/main" id="{CD92DC31-8A1B-D6EF-9DCB-F31748611FEA}"/>
              </a:ext>
            </a:extLst>
          </p:cNvPr>
          <p:cNvSpPr>
            <a:spLocks noGrp="1"/>
          </p:cNvSpPr>
          <p:nvPr>
            <p:ph type="dt" sz="half" idx="10"/>
          </p:nvPr>
        </p:nvSpPr>
        <p:spPr/>
        <p:txBody>
          <a:bodyPr/>
          <a:lstStyle/>
          <a:p>
            <a:fld id="{330CFCBA-F318-6745-AB5D-A684A602A02E}" type="datetimeFigureOut">
              <a:rPr lang="en-US" smtClean="0"/>
              <a:t>10/13/26</a:t>
            </a:fld>
            <a:endParaRPr lang="en-US"/>
          </a:p>
        </p:txBody>
      </p:sp>
      <p:sp>
        <p:nvSpPr>
          <p:cNvPr id="8" name="Footer Placeholder 7">
            <a:extLst>
              <a:ext uri="{FF2B5EF4-FFF2-40B4-BE49-F238E27FC236}">
                <a16:creationId xmlns:a16="http://schemas.microsoft.com/office/drawing/2014/main" id="{3E733F8A-5589-31C8-DB78-246D75351B3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F4200DB-D3DA-2D0A-8CD3-6E48E32FC594}"/>
              </a:ext>
            </a:extLst>
          </p:cNvPr>
          <p:cNvSpPr>
            <a:spLocks noGrp="1"/>
          </p:cNvSpPr>
          <p:nvPr>
            <p:ph type="sldNum" sz="quarter" idx="12"/>
          </p:nvPr>
        </p:nvSpPr>
        <p:spPr/>
        <p:txBody>
          <a:bodyPr/>
          <a:lstStyle/>
          <a:p>
            <a:fld id="{12FAF872-C383-B543-8F06-0C1BE9593523}" type="slidenum">
              <a:rPr lang="en-US" smtClean="0"/>
              <a:t>‹#›</a:t>
            </a:fld>
            <a:endParaRPr lang="en-US"/>
          </a:p>
        </p:txBody>
      </p:sp>
    </p:spTree>
    <p:extLst>
      <p:ext uri="{BB962C8B-B14F-4D97-AF65-F5344CB8AC3E}">
        <p14:creationId xmlns:p14="http://schemas.microsoft.com/office/powerpoint/2010/main" val="195043583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Date Placeholder 5">
            <a:extLst>
              <a:ext uri="{FF2B5EF4-FFF2-40B4-BE49-F238E27FC236}">
                <a16:creationId xmlns:a16="http://schemas.microsoft.com/office/drawing/2014/main" id="{5C487D0D-A6BE-50D0-4804-465FF9AE0F65}"/>
              </a:ext>
            </a:extLst>
          </p:cNvPr>
          <p:cNvSpPr>
            <a:spLocks noGrp="1"/>
          </p:cNvSpPr>
          <p:nvPr>
            <p:ph type="dt" sz="half" idx="10"/>
          </p:nvPr>
        </p:nvSpPr>
        <p:spPr/>
        <p:txBody>
          <a:bodyPr/>
          <a:lstStyle/>
          <a:p>
            <a:fld id="{330CFCBA-F318-6745-AB5D-A684A602A02E}" type="datetimeFigureOut">
              <a:rPr lang="en-US" smtClean="0"/>
              <a:t>10/13/26</a:t>
            </a:fld>
            <a:endParaRPr lang="en-US"/>
          </a:p>
        </p:txBody>
      </p:sp>
      <p:sp>
        <p:nvSpPr>
          <p:cNvPr id="7" name="Footer Placeholder 6">
            <a:extLst>
              <a:ext uri="{FF2B5EF4-FFF2-40B4-BE49-F238E27FC236}">
                <a16:creationId xmlns:a16="http://schemas.microsoft.com/office/drawing/2014/main" id="{FF4343B0-C3EA-68AB-7293-4C580E1ED630}"/>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498496D9-0557-9109-1A11-35D97D8FDD5A}"/>
              </a:ext>
            </a:extLst>
          </p:cNvPr>
          <p:cNvSpPr>
            <a:spLocks noGrp="1"/>
          </p:cNvSpPr>
          <p:nvPr>
            <p:ph type="sldNum" sz="quarter" idx="12"/>
          </p:nvPr>
        </p:nvSpPr>
        <p:spPr/>
        <p:txBody>
          <a:bodyPr/>
          <a:lstStyle/>
          <a:p>
            <a:fld id="{12FAF872-C383-B543-8F06-0C1BE9593523}" type="slidenum">
              <a:rPr lang="en-US" smtClean="0"/>
              <a:t>‹#›</a:t>
            </a:fld>
            <a:endParaRPr lang="en-US"/>
          </a:p>
        </p:txBody>
      </p:sp>
    </p:spTree>
    <p:extLst>
      <p:ext uri="{BB962C8B-B14F-4D97-AF65-F5344CB8AC3E}">
        <p14:creationId xmlns:p14="http://schemas.microsoft.com/office/powerpoint/2010/main" val="77594558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BE112-D36A-6FAA-B976-462247D96D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13F93B1-8C85-EAB6-F372-BD92B9D093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955E9C7-38FB-0837-F1BA-DDE9B3F58549}"/>
              </a:ext>
            </a:extLst>
          </p:cNvPr>
          <p:cNvSpPr>
            <a:spLocks noGrp="1"/>
          </p:cNvSpPr>
          <p:nvPr>
            <p:ph type="dt" sz="half" idx="10"/>
          </p:nvPr>
        </p:nvSpPr>
        <p:spPr/>
        <p:txBody>
          <a:bodyPr/>
          <a:lstStyle/>
          <a:p>
            <a:fld id="{330CFCBA-F318-6745-AB5D-A684A602A02E}" type="datetimeFigureOut">
              <a:rPr lang="en-US" smtClean="0"/>
              <a:t>10/13/26</a:t>
            </a:fld>
            <a:endParaRPr lang="en-US"/>
          </a:p>
        </p:txBody>
      </p:sp>
      <p:sp>
        <p:nvSpPr>
          <p:cNvPr id="5" name="Footer Placeholder 4">
            <a:extLst>
              <a:ext uri="{FF2B5EF4-FFF2-40B4-BE49-F238E27FC236}">
                <a16:creationId xmlns:a16="http://schemas.microsoft.com/office/drawing/2014/main" id="{242B32BE-E000-0F01-E8D7-E10D92E90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EA99E0-6E9C-DB78-FC73-958B20A16D6B}"/>
              </a:ext>
            </a:extLst>
          </p:cNvPr>
          <p:cNvSpPr>
            <a:spLocks noGrp="1"/>
          </p:cNvSpPr>
          <p:nvPr>
            <p:ph type="sldNum" sz="quarter" idx="12"/>
          </p:nvPr>
        </p:nvSpPr>
        <p:spPr/>
        <p:txBody>
          <a:bodyPr/>
          <a:lstStyle/>
          <a:p>
            <a:fld id="{12FAF872-C383-B543-8F06-0C1BE9593523}" type="slidenum">
              <a:rPr lang="en-US" smtClean="0"/>
              <a:t>‹#›</a:t>
            </a:fld>
            <a:endParaRPr lang="en-US"/>
          </a:p>
        </p:txBody>
      </p:sp>
    </p:spTree>
    <p:extLst>
      <p:ext uri="{BB962C8B-B14F-4D97-AF65-F5344CB8AC3E}">
        <p14:creationId xmlns:p14="http://schemas.microsoft.com/office/powerpoint/2010/main" val="40638664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9"/>
            <a:ext cx="10972800" cy="1143000"/>
          </a:xfrm>
          <a:prstGeom prst="roundRect">
            <a:avLst>
              <a:gd name="adj" fmla="val 44167"/>
            </a:avLst>
          </a:prstGeom>
          <a:solidFill>
            <a:schemeClr val="bg1">
              <a:alpha val="95000"/>
            </a:schemeClr>
          </a:solidFill>
          <a:effectLst>
            <a:softEdge rad="0"/>
          </a:effectLst>
          <a:scene3d>
            <a:camera prst="orthographicFront"/>
            <a:lightRig rig="threePt" dir="t"/>
          </a:scene3d>
          <a:sp3d>
            <a:bevelT/>
          </a:sp3d>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oundRect">
            <a:avLst/>
          </a:prstGeom>
          <a:solidFill>
            <a:schemeClr val="bg1">
              <a:alpha val="95000"/>
            </a:schemeClr>
          </a:solidFill>
          <a:effectLst>
            <a:softEdge rad="63500"/>
          </a:effectLst>
          <a:scene3d>
            <a:camera prst="orthographicFront"/>
            <a:lightRig rig="threePt" dir="t"/>
          </a:scene3d>
          <a:sp3d>
            <a:bevelT/>
          </a:sp3d>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881809" y="6308727"/>
            <a:ext cx="7945363" cy="487680"/>
          </a:xfrm>
          <a:prstGeom prst="roundRect">
            <a:avLst>
              <a:gd name="adj" fmla="val 48894"/>
            </a:avLst>
          </a:prstGeom>
          <a:solidFill>
            <a:schemeClr val="bg1"/>
          </a:solidFill>
          <a:effectLst>
            <a:softEdge rad="63500"/>
          </a:effectLst>
        </p:spPr>
        <p:txBody>
          <a:bodyPr vert="horz" lIns="91440" tIns="45720" rIns="91440" bIns="45720" rtlCol="0" anchor="ctr"/>
          <a:lstStyle>
            <a:lvl1pPr algn="ctr">
              <a:defRPr sz="1600">
                <a:solidFill>
                  <a:schemeClr val="tx1"/>
                </a:solidFill>
              </a:defRPr>
            </a:lvl1pPr>
          </a:lstStyle>
          <a:p>
            <a:endParaRPr lang="en-US"/>
          </a:p>
        </p:txBody>
      </p:sp>
      <p:sp>
        <p:nvSpPr>
          <p:cNvPr id="6" name="Slide Number Placeholder 5"/>
          <p:cNvSpPr>
            <a:spLocks noGrp="1"/>
          </p:cNvSpPr>
          <p:nvPr>
            <p:ph type="sldNum" sz="quarter" idx="4"/>
          </p:nvPr>
        </p:nvSpPr>
        <p:spPr>
          <a:xfrm>
            <a:off x="9934686" y="6308727"/>
            <a:ext cx="879777" cy="487680"/>
          </a:xfrm>
          <a:prstGeom prst="roundRect">
            <a:avLst>
              <a:gd name="adj" fmla="val 43034"/>
            </a:avLst>
          </a:prstGeom>
          <a:solidFill>
            <a:schemeClr val="bg1"/>
          </a:solidFill>
          <a:effectLst>
            <a:softEdge rad="63500"/>
          </a:effectLst>
        </p:spPr>
        <p:txBody>
          <a:bodyPr vert="horz" lIns="91440" tIns="45720" rIns="91440" bIns="45720" rtlCol="0" anchor="ctr"/>
          <a:lstStyle>
            <a:lvl1pPr algn="ctr">
              <a:defRPr sz="1600">
                <a:solidFill>
                  <a:schemeClr val="tx1">
                    <a:tint val="75000"/>
                  </a:schemeClr>
                </a:solidFill>
              </a:defRPr>
            </a:lvl1pPr>
          </a:lstStyle>
          <a:p>
            <a:fld id="{12FAF872-C383-B543-8F06-0C1BE9593523}" type="slidenum">
              <a:rPr lang="en-US" smtClean="0"/>
              <a:t>‹#›</a:t>
            </a:fld>
            <a:endParaRPr lang="en-US"/>
          </a:p>
        </p:txBody>
      </p:sp>
      <p:sp>
        <p:nvSpPr>
          <p:cNvPr id="4" name="Date Placeholder 2">
            <a:extLst>
              <a:ext uri="{FF2B5EF4-FFF2-40B4-BE49-F238E27FC236}">
                <a16:creationId xmlns:a16="http://schemas.microsoft.com/office/drawing/2014/main" id="{B6740CB2-DC30-5DDB-24B8-219C9C3F5967}"/>
              </a:ext>
            </a:extLst>
          </p:cNvPr>
          <p:cNvSpPr>
            <a:spLocks noGrp="1"/>
          </p:cNvSpPr>
          <p:nvPr>
            <p:ph type="dt" sz="half" idx="2"/>
          </p:nvPr>
        </p:nvSpPr>
        <p:spPr>
          <a:xfrm>
            <a:off x="605141" y="6308727"/>
            <a:ext cx="1169155" cy="487680"/>
          </a:xfrm>
          <a:prstGeom prst="roundRect">
            <a:avLst>
              <a:gd name="adj" fmla="val 48894"/>
            </a:avLst>
          </a:prstGeom>
          <a:solidFill>
            <a:schemeClr val="bg1"/>
          </a:solidFill>
          <a:effectLst>
            <a:softEdge rad="63500"/>
          </a:effectLst>
        </p:spPr>
        <p:txBody>
          <a:bodyPr anchor="ctr" anchorCtr="0"/>
          <a:lstStyle>
            <a:lvl1pPr algn="ctr">
              <a:defRPr sz="1600"/>
            </a:lvl1pPr>
          </a:lstStyle>
          <a:p>
            <a:fld id="{330CFCBA-F318-6745-AB5D-A684A602A02E}" type="datetimeFigureOut">
              <a:rPr lang="en-US" smtClean="0"/>
              <a:t>10/13/26</a:t>
            </a:fld>
            <a:endParaRPr lang="en-US"/>
          </a:p>
        </p:txBody>
      </p:sp>
      <p:sp>
        <p:nvSpPr>
          <p:cNvPr id="7" name="SlideTotal">
            <a:extLst>
              <a:ext uri="{FF2B5EF4-FFF2-40B4-BE49-F238E27FC236}">
                <a16:creationId xmlns:a16="http://schemas.microsoft.com/office/drawing/2014/main" id="{B74D5B4B-3C60-FF6A-4438-A067B7DE7333}"/>
              </a:ext>
            </a:extLst>
          </p:cNvPr>
          <p:cNvSpPr txBox="1">
            <a:spLocks/>
          </p:cNvSpPr>
          <p:nvPr/>
        </p:nvSpPr>
        <p:spPr>
          <a:xfrm>
            <a:off x="10702624" y="6308727"/>
            <a:ext cx="879777" cy="487680"/>
          </a:xfrm>
          <a:prstGeom prst="roundRect">
            <a:avLst>
              <a:gd name="adj" fmla="val 43034"/>
            </a:avLst>
          </a:prstGeom>
          <a:solidFill>
            <a:schemeClr val="bg1"/>
          </a:solidFill>
          <a:effectLst>
            <a:softEdge rad="63500"/>
          </a:effectLst>
        </p:spPr>
        <p:txBody>
          <a:bodyPr vert="horz" lIns="121920" tIns="60960" rIns="121920" bIns="6096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t>52</a:t>
            </a:r>
          </a:p>
        </p:txBody>
      </p:sp>
    </p:spTree>
    <p:extLst>
      <p:ext uri="{BB962C8B-B14F-4D97-AF65-F5344CB8AC3E}">
        <p14:creationId xmlns:p14="http://schemas.microsoft.com/office/powerpoint/2010/main" val="14632767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Lst>
  <mc:AlternateContent xmlns:mc="http://schemas.openxmlformats.org/markup-compatibility/2006" xmlns:p14="http://schemas.microsoft.com/office/powerpoint/2010/main">
    <mc:Choice Requires="p14">
      <p:transition spd="slow" p14:dur="1200">
        <p14:prism/>
      </p:transition>
    </mc:Choice>
    <mc:Fallback xmlns="">
      <p:transition xmlns:p14="http://schemas.microsoft.com/office/powerpoint/2010/main" spd="slow">
        <p:fade/>
      </p:transition>
    </mc:Fallback>
  </mc:AlternateContent>
  <p:txStyles>
    <p:titleStyle>
      <a:lvl1pPr algn="ctr" defTabSz="609555" rtl="0" eaLnBrk="1" latinLnBrk="0" hangingPunct="1">
        <a:spcBef>
          <a:spcPct val="0"/>
        </a:spcBef>
        <a:buNone/>
        <a:defRPr sz="5867" kern="1200">
          <a:solidFill>
            <a:schemeClr val="tx1"/>
          </a:solidFill>
          <a:latin typeface="+mj-lt"/>
          <a:ea typeface="+mj-ea"/>
          <a:cs typeface="+mj-cs"/>
        </a:defRPr>
      </a:lvl1pPr>
    </p:titleStyle>
    <p:bodyStyle>
      <a:lvl1pPr marL="457166" indent="-457166" algn="l" defTabSz="609555" rtl="0" eaLnBrk="1" latinLnBrk="0" hangingPunct="1">
        <a:spcBef>
          <a:spcPct val="20000"/>
        </a:spcBef>
        <a:buFont typeface="Arial"/>
        <a:buChar char="•"/>
        <a:defRPr sz="4267" kern="1200">
          <a:solidFill>
            <a:schemeClr val="tx1"/>
          </a:solidFill>
          <a:latin typeface="+mn-lt"/>
          <a:ea typeface="+mn-ea"/>
          <a:cs typeface="+mn-cs"/>
        </a:defRPr>
      </a:lvl1pPr>
      <a:lvl2pPr marL="990526" indent="-380973" algn="l" defTabSz="609555" rtl="0" eaLnBrk="1" latinLnBrk="0" hangingPunct="1">
        <a:spcBef>
          <a:spcPct val="20000"/>
        </a:spcBef>
        <a:buFont typeface="Arial"/>
        <a:buChar char="–"/>
        <a:defRPr sz="3733" kern="1200">
          <a:solidFill>
            <a:schemeClr val="tx1"/>
          </a:solidFill>
          <a:latin typeface="+mn-lt"/>
          <a:ea typeface="+mn-ea"/>
          <a:cs typeface="+mn-cs"/>
        </a:defRPr>
      </a:lvl2pPr>
      <a:lvl3pPr marL="1523885" indent="-304776" algn="l" defTabSz="609555" rtl="0" eaLnBrk="1" latinLnBrk="0" hangingPunct="1">
        <a:spcBef>
          <a:spcPct val="20000"/>
        </a:spcBef>
        <a:buFont typeface="Arial"/>
        <a:buChar char="•"/>
        <a:defRPr sz="3200" kern="1200">
          <a:solidFill>
            <a:schemeClr val="tx1"/>
          </a:solidFill>
          <a:latin typeface="+mn-lt"/>
          <a:ea typeface="+mn-ea"/>
          <a:cs typeface="+mn-cs"/>
        </a:defRPr>
      </a:lvl3pPr>
      <a:lvl4pPr marL="2133440" indent="-304776" algn="l" defTabSz="609555" rtl="0" eaLnBrk="1" latinLnBrk="0" hangingPunct="1">
        <a:spcBef>
          <a:spcPct val="20000"/>
        </a:spcBef>
        <a:buFont typeface="Arial"/>
        <a:buChar char="–"/>
        <a:defRPr sz="2667" kern="1200">
          <a:solidFill>
            <a:schemeClr val="tx1"/>
          </a:solidFill>
          <a:latin typeface="+mn-lt"/>
          <a:ea typeface="+mn-ea"/>
          <a:cs typeface="+mn-cs"/>
        </a:defRPr>
      </a:lvl4pPr>
      <a:lvl5pPr marL="2742994" indent="-304776" algn="l" defTabSz="609555" rtl="0" eaLnBrk="1" latinLnBrk="0" hangingPunct="1">
        <a:spcBef>
          <a:spcPct val="20000"/>
        </a:spcBef>
        <a:buFont typeface="Arial"/>
        <a:buChar char="»"/>
        <a:defRPr sz="2667" kern="1200">
          <a:solidFill>
            <a:schemeClr val="tx1"/>
          </a:solidFill>
          <a:latin typeface="+mn-lt"/>
          <a:ea typeface="+mn-ea"/>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6"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08"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6"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turbo.hotwired.dev/"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5531434-03EC-BFE2-7FB8-30A4429A18AD}"/>
              </a:ext>
            </a:extLst>
          </p:cNvPr>
          <p:cNvSpPr>
            <a:spLocks noGrp="1"/>
          </p:cNvSpPr>
          <p:nvPr>
            <p:ph type="ctrTitle"/>
          </p:nvPr>
        </p:nvSpPr>
        <p:spPr/>
        <p:txBody>
          <a:bodyPr/>
          <a:lstStyle/>
          <a:p>
            <a:r>
              <a:rPr lang="en-US" dirty="0"/>
              <a:t>Turbo</a:t>
            </a:r>
          </a:p>
        </p:txBody>
      </p:sp>
      <p:sp>
        <p:nvSpPr>
          <p:cNvPr id="5" name="Text Placeholder 4">
            <a:extLst>
              <a:ext uri="{FF2B5EF4-FFF2-40B4-BE49-F238E27FC236}">
                <a16:creationId xmlns:a16="http://schemas.microsoft.com/office/drawing/2014/main" id="{39D34CF6-362D-B09C-7CC2-230F26376203}"/>
              </a:ext>
            </a:extLst>
          </p:cNvPr>
          <p:cNvSpPr>
            <a:spLocks noGrp="1"/>
          </p:cNvSpPr>
          <p:nvPr>
            <p:ph type="body" sz="quarter" idx="10"/>
          </p:nvPr>
        </p:nvSpPr>
        <p:spPr/>
        <p:txBody>
          <a:bodyPr/>
          <a:lstStyle/>
          <a:p>
            <a:r>
              <a:rPr lang="en-US" dirty="0"/>
              <a:t>SPA without writing JavaScript</a:t>
            </a:r>
          </a:p>
        </p:txBody>
      </p:sp>
    </p:spTree>
    <p:extLst>
      <p:ext uri="{BB962C8B-B14F-4D97-AF65-F5344CB8AC3E}">
        <p14:creationId xmlns:p14="http://schemas.microsoft.com/office/powerpoint/2010/main" val="391076545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D239C5-1A63-3FD1-7FCD-839680B46947}"/>
              </a:ext>
            </a:extLst>
          </p:cNvPr>
          <p:cNvSpPr>
            <a:spLocks noGrp="1"/>
          </p:cNvSpPr>
          <p:nvPr>
            <p:ph idx="1"/>
          </p:nvPr>
        </p:nvSpPr>
        <p:spPr>
          <a:xfrm>
            <a:off x="609600" y="1589443"/>
            <a:ext cx="10972800" cy="4525963"/>
          </a:xfrm>
        </p:spPr>
        <p:txBody>
          <a:bodyPr>
            <a:normAutofit fontScale="62500" lnSpcReduction="20000"/>
          </a:bodyPr>
          <a:lstStyle/>
          <a:p>
            <a:r>
              <a:rPr lang="en-US" dirty="0">
                <a:hlinkClick r:id="rId2"/>
              </a:rPr>
              <a:t>https://turbo.hotwired.dev/</a:t>
            </a:r>
            <a:endParaRPr lang="en-US" dirty="0"/>
          </a:p>
          <a:p>
            <a:r>
              <a:rPr lang="en-US" dirty="0"/>
              <a:t>Turbo uses complementary techniques to dramatically reduce the amount of custom JavaScript that most web applications will need to write:</a:t>
            </a:r>
          </a:p>
          <a:p>
            <a:pPr lvl="1"/>
            <a:r>
              <a:rPr lang="en-US" dirty="0"/>
              <a:t>Turbo Drive accelerates links and form submissions by negating the need for full page reloads.</a:t>
            </a:r>
          </a:p>
          <a:p>
            <a:pPr lvl="1"/>
            <a:r>
              <a:rPr lang="en-US" dirty="0"/>
              <a:t>Turbo Frames decompose pages into independent contexts, which scope navigation and can be lazily loaded.</a:t>
            </a:r>
          </a:p>
          <a:p>
            <a:pPr lvl="1"/>
            <a:r>
              <a:rPr lang="en-US" dirty="0"/>
              <a:t>Turbo Streams deliver page changes over WebSocket, SSE or in response to form submissions using just HTML and a set of CRUD-like actions</a:t>
            </a:r>
          </a:p>
          <a:p>
            <a:pPr lvl="1"/>
            <a:r>
              <a:rPr lang="en-US" dirty="0"/>
              <a:t>Turbo Native lets your majestic monolith form the center of your native iOS and Android apps, with seamless transitions between web and native sections</a:t>
            </a:r>
          </a:p>
        </p:txBody>
      </p:sp>
      <p:sp>
        <p:nvSpPr>
          <p:cNvPr id="2" name="Title 1">
            <a:extLst>
              <a:ext uri="{FF2B5EF4-FFF2-40B4-BE49-F238E27FC236}">
                <a16:creationId xmlns:a16="http://schemas.microsoft.com/office/drawing/2014/main" id="{6FBBF9A5-0EF4-A331-97C5-EA2FD4438456}"/>
              </a:ext>
            </a:extLst>
          </p:cNvPr>
          <p:cNvSpPr>
            <a:spLocks noGrp="1"/>
          </p:cNvSpPr>
          <p:nvPr>
            <p:ph type="title"/>
          </p:nvPr>
        </p:nvSpPr>
        <p:spPr/>
        <p:txBody>
          <a:bodyPr>
            <a:normAutofit fontScale="90000"/>
          </a:bodyPr>
          <a:lstStyle/>
          <a:p>
            <a:r>
              <a:rPr lang="en-US" dirty="0"/>
              <a:t>Hotwired</a:t>
            </a:r>
          </a:p>
        </p:txBody>
      </p:sp>
    </p:spTree>
    <p:extLst>
      <p:ext uri="{BB962C8B-B14F-4D97-AF65-F5344CB8AC3E}">
        <p14:creationId xmlns:p14="http://schemas.microsoft.com/office/powerpoint/2010/main" val="375996577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EF922E-EBEE-246F-F347-A722A58F5371}"/>
              </a:ext>
            </a:extLst>
          </p:cNvPr>
          <p:cNvSpPr>
            <a:spLocks noGrp="1"/>
          </p:cNvSpPr>
          <p:nvPr>
            <p:ph type="title"/>
          </p:nvPr>
        </p:nvSpPr>
        <p:spPr/>
        <p:txBody>
          <a:bodyPr>
            <a:normAutofit fontScale="90000"/>
          </a:bodyPr>
          <a:lstStyle/>
          <a:p>
            <a:r>
              <a:rPr lang="en-US" dirty="0"/>
              <a:t>Hotwired</a:t>
            </a:r>
          </a:p>
        </p:txBody>
      </p:sp>
      <p:sp>
        <p:nvSpPr>
          <p:cNvPr id="3" name="Content Placeholder 2">
            <a:extLst>
              <a:ext uri="{FF2B5EF4-FFF2-40B4-BE49-F238E27FC236}">
                <a16:creationId xmlns:a16="http://schemas.microsoft.com/office/drawing/2014/main" id="{6C9325A9-DDD0-ED80-7B85-86692E33E904}"/>
              </a:ext>
            </a:extLst>
          </p:cNvPr>
          <p:cNvSpPr>
            <a:spLocks noGrp="1"/>
          </p:cNvSpPr>
          <p:nvPr>
            <p:ph idx="1"/>
          </p:nvPr>
        </p:nvSpPr>
        <p:spPr/>
        <p:txBody>
          <a:bodyPr/>
          <a:lstStyle/>
          <a:p>
            <a:r>
              <a:rPr lang="en-US" dirty="0"/>
              <a:t>It's all done by sending HTML over the wire. And for those instances when that's not enough, you can reach for the other side of Hotwire, and finish the job with Stimulus. </a:t>
            </a:r>
          </a:p>
        </p:txBody>
      </p:sp>
    </p:spTree>
    <p:extLst>
      <p:ext uri="{BB962C8B-B14F-4D97-AF65-F5344CB8AC3E}">
        <p14:creationId xmlns:p14="http://schemas.microsoft.com/office/powerpoint/2010/main" val="384576937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BA7DF-664C-C774-67C0-72C4B8C492D8}"/>
              </a:ext>
            </a:extLst>
          </p:cNvPr>
          <p:cNvSpPr>
            <a:spLocks noGrp="1"/>
          </p:cNvSpPr>
          <p:nvPr>
            <p:ph type="title"/>
          </p:nvPr>
        </p:nvSpPr>
        <p:spPr/>
        <p:txBody>
          <a:bodyPr>
            <a:normAutofit fontScale="90000"/>
          </a:bodyPr>
          <a:lstStyle/>
          <a:p>
            <a:r>
              <a:rPr lang="en-US" dirty="0"/>
              <a:t>Turbo Frames</a:t>
            </a:r>
          </a:p>
        </p:txBody>
      </p:sp>
      <p:sp>
        <p:nvSpPr>
          <p:cNvPr id="3" name="Content Placeholder 2">
            <a:extLst>
              <a:ext uri="{FF2B5EF4-FFF2-40B4-BE49-F238E27FC236}">
                <a16:creationId xmlns:a16="http://schemas.microsoft.com/office/drawing/2014/main" id="{8C0891C9-860B-BFCA-8847-0A7D6F742A61}"/>
              </a:ext>
            </a:extLst>
          </p:cNvPr>
          <p:cNvSpPr>
            <a:spLocks noGrp="1"/>
          </p:cNvSpPr>
          <p:nvPr>
            <p:ph idx="1"/>
          </p:nvPr>
        </p:nvSpPr>
        <p:spPr/>
        <p:txBody>
          <a:bodyPr>
            <a:normAutofit fontScale="70000" lnSpcReduction="20000"/>
          </a:bodyPr>
          <a:lstStyle/>
          <a:p>
            <a:r>
              <a:rPr lang="en-US" dirty="0"/>
              <a:t>"Turbo Frames allow predefined parts of a page to be updated on request.</a:t>
            </a:r>
          </a:p>
          <a:p>
            <a:r>
              <a:rPr lang="en-US" dirty="0"/>
              <a:t>Any links and forms inside a frame are captured, and the frame contents automatically update after receiving a response.</a:t>
            </a:r>
          </a:p>
          <a:p>
            <a:r>
              <a:rPr lang="en-US" dirty="0"/>
              <a:t>Regardless of whether the server provides a full document, or just a fragment containing an updated version of the requested frame, only that particular frame will be extracted from the response to replace the existing content."</a:t>
            </a:r>
          </a:p>
        </p:txBody>
      </p:sp>
    </p:spTree>
    <p:extLst>
      <p:ext uri="{BB962C8B-B14F-4D97-AF65-F5344CB8AC3E}">
        <p14:creationId xmlns:p14="http://schemas.microsoft.com/office/powerpoint/2010/main" val="210881137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248CC13-7141-1FF6-E197-629B3D7B9528}"/>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DA211CC2-D3E0-C94B-666B-D0D9DCDCADDD}"/>
              </a:ext>
            </a:extLst>
          </p:cNvPr>
          <p:cNvSpPr>
            <a:spLocks noGrp="1"/>
          </p:cNvSpPr>
          <p:nvPr>
            <p:ph idx="1"/>
          </p:nvPr>
        </p:nvSpPr>
        <p:spPr/>
        <p:txBody>
          <a:bodyPr>
            <a:normAutofit fontScale="55000" lnSpcReduction="20000"/>
          </a:bodyPr>
          <a:lstStyle/>
          <a:p>
            <a:r>
              <a:rPr lang="en-US" dirty="0"/>
              <a:t>&lt;body&gt;</a:t>
            </a:r>
          </a:p>
          <a:p>
            <a:r>
              <a:rPr lang="en-US" dirty="0"/>
              <a:t>  &lt;div id="navigation"&gt;Links targeting the entire page&lt;/div&gt;</a:t>
            </a:r>
          </a:p>
          <a:p>
            <a:endParaRPr lang="en-US" dirty="0"/>
          </a:p>
          <a:p>
            <a:r>
              <a:rPr lang="en-US" dirty="0"/>
              <a:t>  &lt;turbo-frame id="message_1"&gt;</a:t>
            </a:r>
          </a:p>
          <a:p>
            <a:r>
              <a:rPr lang="en-US" dirty="0"/>
              <a:t>    &lt;h1&gt;My message title&lt;/h1&gt;</a:t>
            </a:r>
          </a:p>
          <a:p>
            <a:r>
              <a:rPr lang="en-US" dirty="0"/>
              <a:t>    &lt;p&gt;My message content&lt;/p&gt;</a:t>
            </a:r>
          </a:p>
          <a:p>
            <a:r>
              <a:rPr lang="en-US" dirty="0"/>
              <a:t>    &lt;a </a:t>
            </a:r>
            <a:r>
              <a:rPr lang="en-US" dirty="0" err="1"/>
              <a:t>href</a:t>
            </a:r>
            <a:r>
              <a:rPr lang="en-US" dirty="0"/>
              <a:t>="/messages/1/edit"&gt;Edit this message&lt;/a&gt;</a:t>
            </a:r>
          </a:p>
          <a:p>
            <a:r>
              <a:rPr lang="en-US" dirty="0"/>
              <a:t>  &lt;/turbo-frame&gt;</a:t>
            </a:r>
          </a:p>
          <a:p>
            <a:endParaRPr lang="en-US" dirty="0"/>
          </a:p>
          <a:p>
            <a:r>
              <a:rPr lang="en-US" dirty="0"/>
              <a:t>  &lt;turbo-frame id="comments"&gt;</a:t>
            </a:r>
          </a:p>
          <a:p>
            <a:r>
              <a:rPr lang="en-US" dirty="0"/>
              <a:t>    &lt;div id="comment_1"&gt;One comment&lt;/div&gt;</a:t>
            </a:r>
          </a:p>
          <a:p>
            <a:r>
              <a:rPr lang="en-US" dirty="0"/>
              <a:t>    &lt;div id="comment_2"&gt;Two comments&lt;/div&gt;</a:t>
            </a:r>
          </a:p>
          <a:p>
            <a:endParaRPr lang="en-US" dirty="0"/>
          </a:p>
          <a:p>
            <a:r>
              <a:rPr lang="en-US" dirty="0"/>
              <a:t>    &lt;form action="/messages/comments"&gt;...&lt;/form&gt;</a:t>
            </a:r>
          </a:p>
          <a:p>
            <a:r>
              <a:rPr lang="en-US" dirty="0"/>
              <a:t>  &lt;/turbo-frame&gt;</a:t>
            </a:r>
          </a:p>
          <a:p>
            <a:r>
              <a:rPr lang="en-US" dirty="0"/>
              <a:t>&lt;/body&gt;</a:t>
            </a:r>
          </a:p>
        </p:txBody>
      </p:sp>
    </p:spTree>
    <p:extLst>
      <p:ext uri="{BB962C8B-B14F-4D97-AF65-F5344CB8AC3E}">
        <p14:creationId xmlns:p14="http://schemas.microsoft.com/office/powerpoint/2010/main" val="225440927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F54BB-32CF-5E40-8313-41E03F7708D8}"/>
              </a:ext>
            </a:extLst>
          </p:cNvPr>
          <p:cNvSpPr>
            <a:spLocks noGrp="1"/>
          </p:cNvSpPr>
          <p:nvPr>
            <p:ph type="title"/>
          </p:nvPr>
        </p:nvSpPr>
        <p:spPr/>
        <p:txBody>
          <a:bodyPr>
            <a:normAutofit fontScale="90000"/>
          </a:bodyPr>
          <a:lstStyle/>
          <a:p>
            <a:r>
              <a:rPr lang="en-US" dirty="0"/>
              <a:t>Possible Reply</a:t>
            </a:r>
          </a:p>
        </p:txBody>
      </p:sp>
      <p:sp>
        <p:nvSpPr>
          <p:cNvPr id="3" name="Content Placeholder 2">
            <a:extLst>
              <a:ext uri="{FF2B5EF4-FFF2-40B4-BE49-F238E27FC236}">
                <a16:creationId xmlns:a16="http://schemas.microsoft.com/office/drawing/2014/main" id="{4FFB6E71-7E62-0984-B9E7-2019630F7BEB}"/>
              </a:ext>
            </a:extLst>
          </p:cNvPr>
          <p:cNvSpPr>
            <a:spLocks noGrp="1"/>
          </p:cNvSpPr>
          <p:nvPr>
            <p:ph idx="1"/>
          </p:nvPr>
        </p:nvSpPr>
        <p:spPr/>
        <p:txBody>
          <a:bodyPr>
            <a:normAutofit fontScale="85000" lnSpcReduction="20000"/>
          </a:bodyPr>
          <a:lstStyle/>
          <a:p>
            <a:r>
              <a:rPr lang="en-US" dirty="0"/>
              <a:t>&lt;body&gt;</a:t>
            </a:r>
          </a:p>
          <a:p>
            <a:r>
              <a:rPr lang="en-US" dirty="0"/>
              <a:t>  &lt;turbo-frame id="message_1"&gt;</a:t>
            </a:r>
          </a:p>
          <a:p>
            <a:r>
              <a:rPr lang="en-US" dirty="0"/>
              <a:t>    &lt;form action="/messages/1"&gt;</a:t>
            </a:r>
          </a:p>
          <a:p>
            <a:r>
              <a:rPr lang="en-US" dirty="0"/>
              <a:t>      &lt;input name="message[name]" type="text" value="My message title"&gt;</a:t>
            </a:r>
          </a:p>
          <a:p>
            <a:r>
              <a:rPr lang="en-US" dirty="0"/>
              <a:t>      &lt;</a:t>
            </a:r>
            <a:r>
              <a:rPr lang="en-US" dirty="0" err="1"/>
              <a:t>textarea</a:t>
            </a:r>
            <a:r>
              <a:rPr lang="en-US" dirty="0"/>
              <a:t> name="message[content]"&gt;My message content&lt;/</a:t>
            </a:r>
            <a:r>
              <a:rPr lang="en-US" dirty="0" err="1"/>
              <a:t>textarea</a:t>
            </a:r>
            <a:r>
              <a:rPr lang="en-US" dirty="0"/>
              <a:t>&gt;</a:t>
            </a:r>
          </a:p>
          <a:p>
            <a:r>
              <a:rPr lang="en-US" dirty="0"/>
              <a:t>      &lt;input type="submit"&gt;</a:t>
            </a:r>
          </a:p>
          <a:p>
            <a:r>
              <a:rPr lang="en-US" dirty="0"/>
              <a:t>    &lt;/form&gt;</a:t>
            </a:r>
          </a:p>
          <a:p>
            <a:r>
              <a:rPr lang="en-US" dirty="0"/>
              <a:t>  &lt;/turbo-frame&gt;</a:t>
            </a:r>
          </a:p>
          <a:p>
            <a:r>
              <a:rPr lang="en-US" dirty="0"/>
              <a:t>&lt;/body&gt;</a:t>
            </a:r>
          </a:p>
          <a:p>
            <a:endParaRPr lang="en-US" dirty="0"/>
          </a:p>
        </p:txBody>
      </p:sp>
    </p:spTree>
    <p:extLst>
      <p:ext uri="{BB962C8B-B14F-4D97-AF65-F5344CB8AC3E}">
        <p14:creationId xmlns:p14="http://schemas.microsoft.com/office/powerpoint/2010/main" val="48326007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E5754A4-1139-2BE2-91CB-2D4C44F25335}"/>
              </a:ext>
            </a:extLst>
          </p:cNvPr>
          <p:cNvSpPr>
            <a:spLocks noGrp="1"/>
          </p:cNvSpPr>
          <p:nvPr>
            <p:ph type="title"/>
          </p:nvPr>
        </p:nvSpPr>
        <p:spPr/>
        <p:txBody>
          <a:bodyPr>
            <a:normAutofit fontScale="90000"/>
          </a:bodyPr>
          <a:lstStyle/>
          <a:p>
            <a:r>
              <a:rPr lang="en-US" dirty="0"/>
              <a:t>Transformation</a:t>
            </a:r>
          </a:p>
        </p:txBody>
      </p:sp>
      <p:sp>
        <p:nvSpPr>
          <p:cNvPr id="5" name="Content Placeholder 4">
            <a:extLst>
              <a:ext uri="{FF2B5EF4-FFF2-40B4-BE49-F238E27FC236}">
                <a16:creationId xmlns:a16="http://schemas.microsoft.com/office/drawing/2014/main" id="{B38E5263-9EE4-404B-EC05-9498CC001E1F}"/>
              </a:ext>
            </a:extLst>
          </p:cNvPr>
          <p:cNvSpPr>
            <a:spLocks noGrp="1"/>
          </p:cNvSpPr>
          <p:nvPr>
            <p:ph idx="1"/>
          </p:nvPr>
        </p:nvSpPr>
        <p:spPr/>
        <p:txBody>
          <a:bodyPr/>
          <a:lstStyle/>
          <a:p>
            <a:r>
              <a:rPr lang="en-US" dirty="0"/>
              <a:t>Anything outside of the frame is unchanged</a:t>
            </a:r>
          </a:p>
        </p:txBody>
      </p:sp>
    </p:spTree>
    <p:extLst>
      <p:ext uri="{BB962C8B-B14F-4D97-AF65-F5344CB8AC3E}">
        <p14:creationId xmlns:p14="http://schemas.microsoft.com/office/powerpoint/2010/main" val="24837808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2D6DB5-AF01-0A64-0B19-0F6261F1F779}"/>
              </a:ext>
            </a:extLst>
          </p:cNvPr>
          <p:cNvSpPr>
            <a:spLocks noGrp="1"/>
          </p:cNvSpPr>
          <p:nvPr>
            <p:ph type="title"/>
          </p:nvPr>
        </p:nvSpPr>
        <p:spPr/>
        <p:txBody>
          <a:bodyPr>
            <a:normAutofit fontScale="90000"/>
          </a:bodyPr>
          <a:lstStyle/>
          <a:p>
            <a:r>
              <a:rPr lang="en-US" dirty="0"/>
              <a:t>Eager Loading</a:t>
            </a:r>
          </a:p>
        </p:txBody>
      </p:sp>
      <p:sp>
        <p:nvSpPr>
          <p:cNvPr id="3" name="Content Placeholder 2">
            <a:extLst>
              <a:ext uri="{FF2B5EF4-FFF2-40B4-BE49-F238E27FC236}">
                <a16:creationId xmlns:a16="http://schemas.microsoft.com/office/drawing/2014/main" id="{6BD24C26-6C4F-178E-3C6A-511EC4A37963}"/>
              </a:ext>
            </a:extLst>
          </p:cNvPr>
          <p:cNvSpPr>
            <a:spLocks noGrp="1"/>
          </p:cNvSpPr>
          <p:nvPr>
            <p:ph idx="1"/>
          </p:nvPr>
        </p:nvSpPr>
        <p:spPr/>
        <p:txBody>
          <a:bodyPr>
            <a:normAutofit fontScale="70000" lnSpcReduction="20000"/>
          </a:bodyPr>
          <a:lstStyle/>
          <a:p>
            <a:r>
              <a:rPr lang="en-US" dirty="0"/>
              <a:t>&lt;body&gt;</a:t>
            </a:r>
          </a:p>
          <a:p>
            <a:r>
              <a:rPr lang="en-US" dirty="0"/>
              <a:t>  &lt;h1&gt;Imbox&lt;/h1&gt;</a:t>
            </a:r>
          </a:p>
          <a:p>
            <a:r>
              <a:rPr lang="en-US" dirty="0"/>
              <a:t>  &lt;div id="emails"&gt;</a:t>
            </a:r>
          </a:p>
          <a:p>
            <a:r>
              <a:rPr lang="en-US" dirty="0"/>
              <a:t>    ...	// immediate</a:t>
            </a:r>
          </a:p>
          <a:p>
            <a:r>
              <a:rPr lang="en-US" dirty="0"/>
              <a:t>  &lt;/div&gt;</a:t>
            </a:r>
          </a:p>
          <a:p>
            <a:endParaRPr lang="en-US" dirty="0"/>
          </a:p>
          <a:p>
            <a:r>
              <a:rPr lang="en-US" dirty="0"/>
              <a:t>  // </a:t>
            </a:r>
            <a:r>
              <a:rPr lang="en-US" dirty="0" err="1"/>
              <a:t>defered</a:t>
            </a:r>
            <a:endParaRPr lang="en-US" dirty="0"/>
          </a:p>
          <a:p>
            <a:r>
              <a:rPr lang="en-US" dirty="0"/>
              <a:t>  &lt;turbo-frame id="</a:t>
            </a:r>
            <a:r>
              <a:rPr lang="en-US" dirty="0" err="1"/>
              <a:t>set_aside_tray</a:t>
            </a:r>
            <a:r>
              <a:rPr lang="en-US" dirty="0"/>
              <a:t>" </a:t>
            </a:r>
            <a:r>
              <a:rPr lang="en-US" dirty="0" err="1"/>
              <a:t>src</a:t>
            </a:r>
            <a:r>
              <a:rPr lang="en-US" dirty="0"/>
              <a:t>="/emails/</a:t>
            </a:r>
            <a:r>
              <a:rPr lang="en-US" dirty="0" err="1"/>
              <a:t>set_aside</a:t>
            </a:r>
            <a:r>
              <a:rPr lang="en-US" dirty="0"/>
              <a:t>"&gt;</a:t>
            </a:r>
          </a:p>
          <a:p>
            <a:r>
              <a:rPr lang="en-US" dirty="0"/>
              <a:t>  &lt;/turbo-frame&gt;</a:t>
            </a:r>
          </a:p>
          <a:p>
            <a:endParaRPr lang="en-US" dirty="0"/>
          </a:p>
          <a:p>
            <a:r>
              <a:rPr lang="en-US" dirty="0"/>
              <a:t>  &lt;turbo-frame id="</a:t>
            </a:r>
            <a:r>
              <a:rPr lang="en-US" dirty="0" err="1"/>
              <a:t>reply_later_tray</a:t>
            </a:r>
            <a:r>
              <a:rPr lang="en-US" dirty="0"/>
              <a:t>" </a:t>
            </a:r>
            <a:r>
              <a:rPr lang="en-US" dirty="0" err="1"/>
              <a:t>src</a:t>
            </a:r>
            <a:r>
              <a:rPr lang="en-US" dirty="0"/>
              <a:t>="/emails/</a:t>
            </a:r>
            <a:r>
              <a:rPr lang="en-US" dirty="0" err="1"/>
              <a:t>reply_later</a:t>
            </a:r>
            <a:r>
              <a:rPr lang="en-US" dirty="0"/>
              <a:t>"&gt;</a:t>
            </a:r>
          </a:p>
          <a:p>
            <a:r>
              <a:rPr lang="en-US" dirty="0"/>
              <a:t>  &lt;/turbo-frame&gt;</a:t>
            </a:r>
          </a:p>
          <a:p>
            <a:r>
              <a:rPr lang="en-US" dirty="0"/>
              <a:t>&lt;/body&gt;</a:t>
            </a:r>
          </a:p>
          <a:p>
            <a:endParaRPr lang="en-US" dirty="0"/>
          </a:p>
        </p:txBody>
      </p:sp>
    </p:spTree>
    <p:extLst>
      <p:ext uri="{BB962C8B-B14F-4D97-AF65-F5344CB8AC3E}">
        <p14:creationId xmlns:p14="http://schemas.microsoft.com/office/powerpoint/2010/main" val="426209179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E1353-45FF-5E1F-D62F-24849F3F4DF9}"/>
              </a:ext>
            </a:extLst>
          </p:cNvPr>
          <p:cNvSpPr>
            <a:spLocks noGrp="1"/>
          </p:cNvSpPr>
          <p:nvPr>
            <p:ph type="title"/>
          </p:nvPr>
        </p:nvSpPr>
        <p:spPr/>
        <p:txBody>
          <a:bodyPr>
            <a:normAutofit fontScale="90000"/>
          </a:bodyPr>
          <a:lstStyle/>
          <a:p>
            <a:r>
              <a:rPr lang="en-US" dirty="0"/>
              <a:t>First Up: Add</a:t>
            </a:r>
          </a:p>
        </p:txBody>
      </p:sp>
      <p:sp>
        <p:nvSpPr>
          <p:cNvPr id="3" name="Content Placeholder 2">
            <a:extLst>
              <a:ext uri="{FF2B5EF4-FFF2-40B4-BE49-F238E27FC236}">
                <a16:creationId xmlns:a16="http://schemas.microsoft.com/office/drawing/2014/main" id="{FD10531B-95A3-F2F7-0113-929F50F79C66}"/>
              </a:ext>
            </a:extLst>
          </p:cNvPr>
          <p:cNvSpPr>
            <a:spLocks noGrp="1"/>
          </p:cNvSpPr>
          <p:nvPr>
            <p:ph idx="1"/>
          </p:nvPr>
        </p:nvSpPr>
        <p:spPr/>
        <p:txBody>
          <a:bodyPr>
            <a:normAutofit fontScale="70000" lnSpcReduction="20000"/>
          </a:bodyPr>
          <a:lstStyle/>
          <a:p>
            <a:r>
              <a:rPr lang="en-US" sz="2800" dirty="0">
                <a:solidFill>
                  <a:srgbClr val="13939F"/>
                </a:solidFill>
                <a:latin typeface="Menlo-Regular" panose="020B0609030804020204" pitchFamily="49" charset="0"/>
              </a:rPr>
              <a:t># </a:t>
            </a:r>
            <a:r>
              <a:rPr lang="en-US" sz="2800" dirty="0">
                <a:solidFill>
                  <a:srgbClr val="3B2322"/>
                </a:solidFill>
                <a:latin typeface="Menlo-Regular" panose="020B0609030804020204" pitchFamily="49" charset="0"/>
              </a:rPr>
              <a:t>items/</a:t>
            </a:r>
            <a:r>
              <a:rPr lang="en-US" sz="2800" dirty="0" err="1">
                <a:solidFill>
                  <a:srgbClr val="3B2322"/>
                </a:solidFill>
                <a:latin typeface="Menlo-Regular" panose="020B0609030804020204" pitchFamily="49" charset="0"/>
              </a:rPr>
              <a:t>index.html.erb</a:t>
            </a:r>
            <a:endParaRPr lang="en-US" sz="2800" dirty="0">
              <a:solidFill>
                <a:srgbClr val="13939F"/>
              </a:solidFill>
              <a:latin typeface="Menlo-Regular" panose="020B0609030804020204" pitchFamily="49" charset="0"/>
            </a:endParaRPr>
          </a:p>
          <a:p>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p</a:t>
            </a:r>
            <a:r>
              <a:rPr lang="en-US" sz="2800" dirty="0">
                <a:solidFill>
                  <a:srgbClr val="13939F"/>
                </a:solidFill>
                <a:latin typeface="Menlo-Regular" panose="020B0609030804020204" pitchFamily="49" charset="0"/>
              </a:rPr>
              <a:t> </a:t>
            </a:r>
            <a:r>
              <a:rPr lang="en-US" sz="2800" dirty="0">
                <a:solidFill>
                  <a:srgbClr val="149802"/>
                </a:solidFill>
                <a:latin typeface="Menlo-Regular" panose="020B0609030804020204" pitchFamily="49" charset="0"/>
              </a:rPr>
              <a:t>style</a:t>
            </a:r>
            <a:r>
              <a:rPr lang="en-US" sz="2800" dirty="0">
                <a:solidFill>
                  <a:srgbClr val="13939F"/>
                </a:solidFill>
                <a:latin typeface="Menlo-Regular" panose="020B0609030804020204" pitchFamily="49" charset="0"/>
              </a:rPr>
              <a:t>=</a:t>
            </a:r>
            <a:r>
              <a:rPr lang="en-US" sz="2800" dirty="0">
                <a:solidFill>
                  <a:srgbClr val="9F1410"/>
                </a:solidFill>
                <a:latin typeface="Menlo-Regular" panose="020B0609030804020204" pitchFamily="49" charset="0"/>
              </a:rPr>
              <a:t>"color: green"</a:t>
            </a:r>
            <a:r>
              <a:rPr lang="en-US" sz="2800" dirty="0">
                <a:solidFill>
                  <a:srgbClr val="13939F"/>
                </a:solidFill>
                <a:latin typeface="Menlo-Regular" panose="020B0609030804020204" pitchFamily="49" charset="0"/>
              </a:rPr>
              <a:t>&gt;</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notice </a:t>
            </a:r>
            <a:r>
              <a:rPr lang="en-US" sz="2800" dirty="0">
                <a:solidFill>
                  <a:srgbClr val="B000B2"/>
                </a:solidFill>
                <a:latin typeface="Menlo-Regular" panose="020B0609030804020204" pitchFamily="49" charset="0"/>
              </a:rPr>
              <a:t>%&gt;</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p</a:t>
            </a:r>
            <a:r>
              <a:rPr lang="en-US" sz="2800" dirty="0">
                <a:solidFill>
                  <a:srgbClr val="13939F"/>
                </a:solidFill>
                <a:latin typeface="Menlo-Regular" panose="020B0609030804020204" pitchFamily="49" charset="0"/>
              </a:rPr>
              <a:t>&gt;</a:t>
            </a:r>
          </a:p>
          <a:p>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content_for</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:title</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Items</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p>
          <a:p>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h1</a:t>
            </a:r>
            <a:r>
              <a:rPr lang="en-US" sz="2800" dirty="0">
                <a:solidFill>
                  <a:srgbClr val="13939F"/>
                </a:solidFill>
                <a:latin typeface="Menlo-Regular" panose="020B0609030804020204" pitchFamily="49" charset="0"/>
              </a:rPr>
              <a:t>&gt;</a:t>
            </a:r>
            <a:r>
              <a:rPr lang="en-US" sz="2800" dirty="0">
                <a:solidFill>
                  <a:srgbClr val="B000B2"/>
                </a:solidFill>
                <a:latin typeface="Menlo-Regular" panose="020B0609030804020204" pitchFamily="49" charset="0"/>
              </a:rPr>
              <a:t>Items</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h1</a:t>
            </a:r>
            <a:r>
              <a:rPr lang="en-US" sz="2800" dirty="0">
                <a:solidFill>
                  <a:srgbClr val="13939F"/>
                </a:solidFill>
                <a:latin typeface="Menlo-Regular" panose="020B0609030804020204" pitchFamily="49" charset="0"/>
              </a:rPr>
              <a:t>&gt;</a:t>
            </a:r>
          </a:p>
          <a:p>
            <a:endParaRPr lang="en-US" sz="2800" dirty="0">
              <a:solidFill>
                <a:srgbClr val="13939F"/>
              </a:solidFill>
              <a:latin typeface="Menlo-Regular" panose="020B0609030804020204" pitchFamily="49" charset="0"/>
            </a:endParaRPr>
          </a:p>
          <a:p>
            <a:r>
              <a:rPr lang="en-US" sz="2800" dirty="0">
                <a:solidFill>
                  <a:srgbClr val="13939F"/>
                </a:solidFill>
                <a:latin typeface="Menlo-Regular" panose="020B0609030804020204" pitchFamily="49" charset="0"/>
              </a:rPr>
              <a:t>&lt;</a:t>
            </a:r>
            <a:r>
              <a:rPr lang="en-US" sz="2800" dirty="0">
                <a:solidFill>
                  <a:srgbClr val="3B2322"/>
                </a:solidFill>
                <a:latin typeface="Menlo-Regular" panose="020B0609030804020204" pitchFamily="49" charset="0"/>
              </a:rPr>
              <a:t>turbo-frame</a:t>
            </a:r>
            <a:r>
              <a:rPr lang="en-US" sz="2800" dirty="0">
                <a:solidFill>
                  <a:srgbClr val="13939F"/>
                </a:solidFill>
                <a:latin typeface="Menlo-Regular" panose="020B0609030804020204" pitchFamily="49" charset="0"/>
              </a:rPr>
              <a:t> </a:t>
            </a:r>
            <a:r>
              <a:rPr lang="en-US" sz="2800" dirty="0">
                <a:solidFill>
                  <a:srgbClr val="149802"/>
                </a:solidFill>
                <a:latin typeface="Menlo-Regular" panose="020B0609030804020204" pitchFamily="49" charset="0"/>
              </a:rPr>
              <a:t>id</a:t>
            </a:r>
            <a:r>
              <a:rPr lang="en-US" sz="2800" dirty="0">
                <a:solidFill>
                  <a:srgbClr val="13939F"/>
                </a:solidFill>
                <a:latin typeface="Menlo-Regular" panose="020B0609030804020204" pitchFamily="49" charset="0"/>
              </a:rPr>
              <a:t>=</a:t>
            </a:r>
            <a:r>
              <a:rPr lang="en-US" sz="2800" dirty="0">
                <a:solidFill>
                  <a:srgbClr val="9F1410"/>
                </a:solidFill>
                <a:latin typeface="Menlo-Regular" panose="020B0609030804020204" pitchFamily="49" charset="0"/>
              </a:rPr>
              <a:t>"</a:t>
            </a:r>
            <a:r>
              <a:rPr lang="en-US" sz="2800" dirty="0" err="1">
                <a:solidFill>
                  <a:srgbClr val="9F1410"/>
                </a:solidFill>
                <a:latin typeface="Menlo-Regular" panose="020B0609030804020204" pitchFamily="49" charset="0"/>
              </a:rPr>
              <a:t>new_item</a:t>
            </a:r>
            <a:r>
              <a:rPr lang="en-US" sz="2800" dirty="0">
                <a:solidFill>
                  <a:srgbClr val="9F1410"/>
                </a:solidFill>
                <a:latin typeface="Menlo-Regular" panose="020B0609030804020204" pitchFamily="49" charset="0"/>
              </a:rPr>
              <a:t>"</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link_to</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New item</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new_item_path</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p>
          <a:p>
            <a:r>
              <a:rPr lang="en-US" sz="2800" dirty="0">
                <a:solidFill>
                  <a:srgbClr val="13939F"/>
                </a:solidFill>
                <a:latin typeface="Menlo-Regular" panose="020B0609030804020204" pitchFamily="49" charset="0"/>
              </a:rPr>
              <a:t>&lt;/</a:t>
            </a:r>
            <a:r>
              <a:rPr lang="en-US" sz="2800" dirty="0">
                <a:solidFill>
                  <a:srgbClr val="3B2322"/>
                </a:solidFill>
                <a:latin typeface="Menlo-Regular" panose="020B0609030804020204" pitchFamily="49" charset="0"/>
              </a:rPr>
              <a:t>turbo-frame</a:t>
            </a:r>
            <a:r>
              <a:rPr lang="en-US" sz="2800" dirty="0">
                <a:solidFill>
                  <a:srgbClr val="13939F"/>
                </a:solidFill>
                <a:latin typeface="Menlo-Regular" panose="020B0609030804020204" pitchFamily="49" charset="0"/>
              </a:rPr>
              <a:t>&gt;&lt;</a:t>
            </a:r>
            <a:r>
              <a:rPr lang="en-US" sz="2800" dirty="0">
                <a:solidFill>
                  <a:srgbClr val="9E4C04"/>
                </a:solidFill>
                <a:latin typeface="Menlo-Regular" panose="020B0609030804020204" pitchFamily="49" charset="0"/>
              </a:rPr>
              <a:t>div</a:t>
            </a:r>
            <a:r>
              <a:rPr lang="en-US" sz="2800" dirty="0">
                <a:solidFill>
                  <a:srgbClr val="13939F"/>
                </a:solidFill>
                <a:latin typeface="Menlo-Regular" panose="020B0609030804020204" pitchFamily="49" charset="0"/>
              </a:rPr>
              <a:t> </a:t>
            </a:r>
            <a:r>
              <a:rPr lang="en-US" sz="2800" dirty="0">
                <a:solidFill>
                  <a:srgbClr val="149802"/>
                </a:solidFill>
                <a:latin typeface="Menlo-Regular" panose="020B0609030804020204" pitchFamily="49" charset="0"/>
              </a:rPr>
              <a:t>id</a:t>
            </a:r>
            <a:r>
              <a:rPr lang="en-US" sz="2800" dirty="0">
                <a:solidFill>
                  <a:srgbClr val="13939F"/>
                </a:solidFill>
                <a:latin typeface="Menlo-Regular" panose="020B0609030804020204" pitchFamily="49" charset="0"/>
              </a:rPr>
              <a:t>=</a:t>
            </a:r>
            <a:r>
              <a:rPr lang="en-US" sz="2800" dirty="0">
                <a:solidFill>
                  <a:srgbClr val="9F1410"/>
                </a:solidFill>
                <a:latin typeface="Menlo-Regular" panose="020B0609030804020204" pitchFamily="49" charset="0"/>
              </a:rPr>
              <a:t>"items"</a:t>
            </a:r>
            <a:r>
              <a:rPr lang="en-US" sz="2800" dirty="0">
                <a:solidFill>
                  <a:srgbClr val="13939F"/>
                </a:solidFill>
                <a:latin typeface="Menlo-Regular" panose="020B0609030804020204" pitchFamily="49" charset="0"/>
              </a:rPr>
              <a:t>&gt;</a:t>
            </a:r>
          </a:p>
          <a:p>
            <a:endParaRPr lang="en-US" sz="2800" dirty="0">
              <a:solidFill>
                <a:srgbClr val="3B2322"/>
              </a:solidFill>
              <a:latin typeface="Menlo-Regular" panose="020B0609030804020204" pitchFamily="49" charset="0"/>
            </a:endParaRPr>
          </a:p>
          <a:p>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a:t>
            </a:r>
            <a:r>
              <a:rPr lang="en-US" sz="2800" dirty="0" err="1">
                <a:solidFill>
                  <a:srgbClr val="13939F"/>
                </a:solidFill>
                <a:latin typeface="Menlo-Regular" panose="020B0609030804020204" pitchFamily="49" charset="0"/>
              </a:rPr>
              <a:t>items</a:t>
            </a:r>
            <a:r>
              <a:rPr lang="en-US" sz="2800" dirty="0" err="1">
                <a:solidFill>
                  <a:srgbClr val="3B2322"/>
                </a:solidFill>
                <a:latin typeface="Menlo-Regular" panose="020B0609030804020204" pitchFamily="49" charset="0"/>
              </a:rPr>
              <a:t>.each</a:t>
            </a:r>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do</a:t>
            </a:r>
            <a:r>
              <a:rPr lang="en-US" sz="2800" dirty="0">
                <a:solidFill>
                  <a:srgbClr val="3B2322"/>
                </a:solidFill>
                <a:latin typeface="Menlo-Regular" panose="020B0609030804020204" pitchFamily="49" charset="0"/>
              </a:rPr>
              <a:t> |item| </a:t>
            </a:r>
            <a:r>
              <a:rPr lang="en-US" sz="2800" dirty="0">
                <a:solidFill>
                  <a:srgbClr val="B000B2"/>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render item </a:t>
            </a:r>
            <a:r>
              <a:rPr lang="en-US" sz="2800" dirty="0">
                <a:solidFill>
                  <a:srgbClr val="B000B2"/>
                </a:solidFill>
                <a:latin typeface="Menlo-Regular" panose="020B0609030804020204" pitchFamily="49" charset="0"/>
              </a:rPr>
              <a:t>%&gt;</a:t>
            </a:r>
          </a:p>
          <a:p>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end</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div</a:t>
            </a:r>
            <a:r>
              <a:rPr lang="en-US" sz="2800" dirty="0">
                <a:solidFill>
                  <a:srgbClr val="13939F"/>
                </a:solidFill>
                <a:latin typeface="Menlo-Regular" panose="020B0609030804020204" pitchFamily="49" charset="0"/>
              </a:rPr>
              <a:t>&gt;</a:t>
            </a:r>
            <a:r>
              <a:rPr lang="en-US" sz="2800" dirty="0">
                <a:solidFill>
                  <a:srgbClr val="3400FF"/>
                </a:solidFill>
                <a:latin typeface="Menlo-Regular" panose="020B0609030804020204" pitchFamily="49" charset="0"/>
              </a:rPr>
              <a:t>~ </a:t>
            </a:r>
            <a:endParaRPr lang="en-US" dirty="0"/>
          </a:p>
        </p:txBody>
      </p:sp>
    </p:spTree>
    <p:extLst>
      <p:ext uri="{BB962C8B-B14F-4D97-AF65-F5344CB8AC3E}">
        <p14:creationId xmlns:p14="http://schemas.microsoft.com/office/powerpoint/2010/main" val="347427979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10792-4C60-CFA2-3892-7ACC5B30F5C9}"/>
              </a:ext>
            </a:extLst>
          </p:cNvPr>
          <p:cNvSpPr>
            <a:spLocks noGrp="1"/>
          </p:cNvSpPr>
          <p:nvPr>
            <p:ph type="title"/>
          </p:nvPr>
        </p:nvSpPr>
        <p:spPr/>
        <p:txBody>
          <a:bodyPr>
            <a:normAutofit fontScale="90000"/>
          </a:bodyPr>
          <a:lstStyle/>
          <a:p>
            <a:r>
              <a:rPr lang="en-US" dirty="0"/>
              <a:t>First Up: Add</a:t>
            </a:r>
          </a:p>
        </p:txBody>
      </p:sp>
      <p:sp>
        <p:nvSpPr>
          <p:cNvPr id="3" name="Content Placeholder 2">
            <a:extLst>
              <a:ext uri="{FF2B5EF4-FFF2-40B4-BE49-F238E27FC236}">
                <a16:creationId xmlns:a16="http://schemas.microsoft.com/office/drawing/2014/main" id="{CC7DC5B4-53ED-B354-D148-13EE11F0FCB0}"/>
              </a:ext>
            </a:extLst>
          </p:cNvPr>
          <p:cNvSpPr>
            <a:spLocks noGrp="1"/>
          </p:cNvSpPr>
          <p:nvPr>
            <p:ph idx="1"/>
          </p:nvPr>
        </p:nvSpPr>
        <p:spPr/>
        <p:txBody>
          <a:bodyPr>
            <a:normAutofit fontScale="92500" lnSpcReduction="20000"/>
          </a:bodyPr>
          <a:lstStyle/>
          <a:p>
            <a:r>
              <a:rPr lang="en-US" sz="2800" dirty="0">
                <a:solidFill>
                  <a:srgbClr val="B000B2"/>
                </a:solidFill>
                <a:latin typeface="Menlo-Regular" panose="020B0609030804020204" pitchFamily="49" charset="0"/>
              </a:rPr>
              <a:t># items/</a:t>
            </a:r>
            <a:r>
              <a:rPr lang="en-US" sz="2800" dirty="0" err="1">
                <a:solidFill>
                  <a:srgbClr val="B000B2"/>
                </a:solidFill>
                <a:latin typeface="Menlo-Regular" panose="020B0609030804020204" pitchFamily="49" charset="0"/>
              </a:rPr>
              <a:t>new.html.erb</a:t>
            </a:r>
            <a:endParaRPr lang="en-US" sz="2800" dirty="0">
              <a:solidFill>
                <a:srgbClr val="B000B2"/>
              </a:solidFill>
              <a:latin typeface="Menlo-Regular" panose="020B0609030804020204" pitchFamily="49" charset="0"/>
            </a:endParaRPr>
          </a:p>
          <a:p>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content_for</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:title</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New item</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p>
          <a:p>
            <a:r>
              <a:rPr lang="en-US" sz="2800" dirty="0">
                <a:solidFill>
                  <a:srgbClr val="13939F"/>
                </a:solidFill>
                <a:latin typeface="Menlo-Regular" panose="020B0609030804020204" pitchFamily="49" charset="0"/>
              </a:rPr>
              <a:t>&lt;</a:t>
            </a:r>
            <a:r>
              <a:rPr lang="en-US" sz="2800" dirty="0">
                <a:solidFill>
                  <a:srgbClr val="3B2322"/>
                </a:solidFill>
                <a:latin typeface="Menlo-Regular" panose="020B0609030804020204" pitchFamily="49" charset="0"/>
              </a:rPr>
              <a:t>turbo-frame</a:t>
            </a:r>
            <a:r>
              <a:rPr lang="en-US" sz="2800" dirty="0">
                <a:solidFill>
                  <a:srgbClr val="13939F"/>
                </a:solidFill>
                <a:latin typeface="Menlo-Regular" panose="020B0609030804020204" pitchFamily="49" charset="0"/>
              </a:rPr>
              <a:t> </a:t>
            </a:r>
            <a:r>
              <a:rPr lang="en-US" sz="2800" dirty="0">
                <a:solidFill>
                  <a:srgbClr val="149802"/>
                </a:solidFill>
                <a:latin typeface="Menlo-Regular" panose="020B0609030804020204" pitchFamily="49" charset="0"/>
              </a:rPr>
              <a:t>id</a:t>
            </a:r>
            <a:r>
              <a:rPr lang="en-US" sz="2800" dirty="0">
                <a:solidFill>
                  <a:srgbClr val="13939F"/>
                </a:solidFill>
                <a:latin typeface="Menlo-Regular" panose="020B0609030804020204" pitchFamily="49" charset="0"/>
              </a:rPr>
              <a:t>=</a:t>
            </a:r>
            <a:r>
              <a:rPr lang="en-US" sz="2800" dirty="0">
                <a:solidFill>
                  <a:srgbClr val="9F1410"/>
                </a:solidFill>
                <a:latin typeface="Menlo-Regular" panose="020B0609030804020204" pitchFamily="49" charset="0"/>
              </a:rPr>
              <a:t>"</a:t>
            </a:r>
            <a:r>
              <a:rPr lang="en-US" sz="2800" dirty="0" err="1">
                <a:solidFill>
                  <a:srgbClr val="9F1410"/>
                </a:solidFill>
                <a:latin typeface="Menlo-Regular" panose="020B0609030804020204" pitchFamily="49" charset="0"/>
              </a:rPr>
              <a:t>new_item</a:t>
            </a:r>
            <a:r>
              <a:rPr lang="en-US" sz="2800" dirty="0">
                <a:solidFill>
                  <a:srgbClr val="9F1410"/>
                </a:solidFill>
                <a:latin typeface="Menlo-Regular" panose="020B0609030804020204" pitchFamily="49" charset="0"/>
              </a:rPr>
              <a:t>"</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h1</a:t>
            </a:r>
            <a:r>
              <a:rPr lang="en-US" sz="2800" dirty="0">
                <a:solidFill>
                  <a:srgbClr val="13939F"/>
                </a:solidFill>
                <a:latin typeface="Menlo-Regular" panose="020B0609030804020204" pitchFamily="49" charset="0"/>
              </a:rPr>
              <a:t>&gt;</a:t>
            </a:r>
            <a:r>
              <a:rPr lang="en-US" sz="2800" dirty="0">
                <a:solidFill>
                  <a:srgbClr val="B000B2"/>
                </a:solidFill>
                <a:latin typeface="Menlo-Regular" panose="020B0609030804020204" pitchFamily="49" charset="0"/>
              </a:rPr>
              <a:t>New item</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h1</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render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form</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item</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@item</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div</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link_to</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Back to items</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items_path</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div</a:t>
            </a:r>
            <a:r>
              <a:rPr lang="en-US" sz="2800" dirty="0">
                <a:solidFill>
                  <a:srgbClr val="13939F"/>
                </a:solidFill>
                <a:latin typeface="Menlo-Regular" panose="020B0609030804020204" pitchFamily="49" charset="0"/>
              </a:rPr>
              <a:t>&gt;</a:t>
            </a:r>
          </a:p>
          <a:p>
            <a:r>
              <a:rPr lang="en-US" sz="2800" dirty="0">
                <a:solidFill>
                  <a:srgbClr val="13939F"/>
                </a:solidFill>
                <a:latin typeface="Menlo-Regular" panose="020B0609030804020204" pitchFamily="49" charset="0"/>
              </a:rPr>
              <a:t>&lt;/</a:t>
            </a:r>
            <a:r>
              <a:rPr lang="en-US" sz="2800" dirty="0">
                <a:solidFill>
                  <a:srgbClr val="3B2322"/>
                </a:solidFill>
                <a:latin typeface="Menlo-Regular" panose="020B0609030804020204" pitchFamily="49" charset="0"/>
              </a:rPr>
              <a:t>turbo-frame</a:t>
            </a:r>
            <a:r>
              <a:rPr lang="en-US" sz="2800" dirty="0">
                <a:solidFill>
                  <a:srgbClr val="13939F"/>
                </a:solidFill>
                <a:latin typeface="Menlo-Regular" panose="020B0609030804020204" pitchFamily="49" charset="0"/>
              </a:rPr>
              <a:t>&gt;</a:t>
            </a:r>
            <a:endParaRPr lang="en-US" dirty="0"/>
          </a:p>
        </p:txBody>
      </p:sp>
    </p:spTree>
    <p:extLst>
      <p:ext uri="{BB962C8B-B14F-4D97-AF65-F5344CB8AC3E}">
        <p14:creationId xmlns:p14="http://schemas.microsoft.com/office/powerpoint/2010/main" val="230335490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0EEDFB-1D42-8A35-D11E-9E2F3879F28D}"/>
              </a:ext>
            </a:extLst>
          </p:cNvPr>
          <p:cNvSpPr>
            <a:spLocks noGrp="1"/>
          </p:cNvSpPr>
          <p:nvPr>
            <p:ph type="title"/>
          </p:nvPr>
        </p:nvSpPr>
        <p:spPr/>
        <p:txBody>
          <a:bodyPr>
            <a:normAutofit fontScale="90000"/>
          </a:bodyPr>
          <a:lstStyle/>
          <a:p>
            <a:r>
              <a:rPr lang="en-US" dirty="0"/>
              <a:t>First Up: Add</a:t>
            </a:r>
          </a:p>
        </p:txBody>
      </p:sp>
      <p:sp>
        <p:nvSpPr>
          <p:cNvPr id="3" name="Content Placeholder 2">
            <a:extLst>
              <a:ext uri="{FF2B5EF4-FFF2-40B4-BE49-F238E27FC236}">
                <a16:creationId xmlns:a16="http://schemas.microsoft.com/office/drawing/2014/main" id="{5EFB93FD-293C-3DCB-76DA-536183BCE1C4}"/>
              </a:ext>
            </a:extLst>
          </p:cNvPr>
          <p:cNvSpPr>
            <a:spLocks noGrp="1"/>
          </p:cNvSpPr>
          <p:nvPr>
            <p:ph idx="1"/>
          </p:nvPr>
        </p:nvSpPr>
        <p:spPr>
          <a:xfrm>
            <a:off x="609600" y="1600201"/>
            <a:ext cx="10972800" cy="4525963"/>
          </a:xfrm>
        </p:spPr>
        <p:txBody>
          <a:bodyPr>
            <a:normAutofit fontScale="55000" lnSpcReduction="20000"/>
          </a:bodyPr>
          <a:lstStyle/>
          <a:p>
            <a:r>
              <a:rPr lang="en-US" sz="2800" dirty="0">
                <a:solidFill>
                  <a:srgbClr val="13939F"/>
                </a:solidFill>
                <a:latin typeface="Menlo-Regular" panose="020B0609030804020204" pitchFamily="49" charset="0"/>
              </a:rPr>
              <a:t># </a:t>
            </a:r>
            <a:r>
              <a:rPr lang="en-US" dirty="0"/>
              <a:t>items/_</a:t>
            </a:r>
            <a:r>
              <a:rPr lang="en-US" dirty="0" err="1"/>
              <a:t>item.html.erb</a:t>
            </a:r>
            <a:endParaRPr lang="en-US" sz="2800" dirty="0">
              <a:solidFill>
                <a:srgbClr val="13939F"/>
              </a:solidFill>
              <a:latin typeface="Menlo-Regular" panose="020B0609030804020204" pitchFamily="49" charset="0"/>
            </a:endParaRPr>
          </a:p>
          <a:p>
            <a:r>
              <a:rPr lang="en-US" sz="2800" dirty="0">
                <a:solidFill>
                  <a:srgbClr val="13939F"/>
                </a:solidFill>
                <a:latin typeface="Menlo-Regular" panose="020B0609030804020204" pitchFamily="49" charset="0"/>
              </a:rPr>
              <a:t>&lt;</a:t>
            </a:r>
            <a:r>
              <a:rPr lang="en-US" sz="2800" dirty="0">
                <a:solidFill>
                  <a:srgbClr val="3B2322"/>
                </a:solidFill>
                <a:latin typeface="Menlo-Regular" panose="020B0609030804020204" pitchFamily="49" charset="0"/>
              </a:rPr>
              <a:t>turbo-frame</a:t>
            </a:r>
            <a:r>
              <a:rPr lang="en-US" sz="2800" dirty="0">
                <a:solidFill>
                  <a:srgbClr val="13939F"/>
                </a:solidFill>
                <a:latin typeface="Menlo-Regular" panose="020B0609030804020204" pitchFamily="49" charset="0"/>
              </a:rPr>
              <a:t> </a:t>
            </a:r>
            <a:r>
              <a:rPr lang="en-US" sz="2800" dirty="0">
                <a:solidFill>
                  <a:srgbClr val="149802"/>
                </a:solidFill>
                <a:latin typeface="Menlo-Regular" panose="020B0609030804020204" pitchFamily="49" charset="0"/>
              </a:rPr>
              <a:t>id</a:t>
            </a:r>
            <a:r>
              <a:rPr lang="en-US" sz="2800" dirty="0">
                <a:solidFill>
                  <a:srgbClr val="13939F"/>
                </a:solidFill>
                <a:latin typeface="Menlo-Regular" panose="020B0609030804020204" pitchFamily="49" charset="0"/>
              </a:rPr>
              <a:t>=</a:t>
            </a:r>
            <a:r>
              <a:rPr lang="en-US" sz="2800" dirty="0">
                <a:solidFill>
                  <a:srgbClr val="9F1410"/>
                </a:solidFill>
                <a:latin typeface="Menlo-Regular" panose="020B0609030804020204" pitchFamily="49" charset="0"/>
              </a:rPr>
              <a:t>"</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dom_id</a:t>
            </a:r>
            <a:r>
              <a:rPr lang="en-US" sz="2800" dirty="0">
                <a:solidFill>
                  <a:srgbClr val="3B2322"/>
                </a:solidFill>
                <a:latin typeface="Menlo-Regular" panose="020B0609030804020204" pitchFamily="49" charset="0"/>
              </a:rPr>
              <a:t>(item) </a:t>
            </a:r>
            <a:r>
              <a:rPr lang="en-US" sz="2800" dirty="0">
                <a:solidFill>
                  <a:srgbClr val="B000B2"/>
                </a:solidFill>
                <a:latin typeface="Menlo-Regular" panose="020B0609030804020204" pitchFamily="49" charset="0"/>
              </a:rPr>
              <a:t>%&gt;</a:t>
            </a:r>
            <a:r>
              <a:rPr lang="en-US" sz="2800" dirty="0">
                <a:solidFill>
                  <a:srgbClr val="9F1410"/>
                </a:solidFill>
                <a:latin typeface="Menlo-Regular" panose="020B0609030804020204" pitchFamily="49" charset="0"/>
              </a:rPr>
              <a:t>"</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div</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div</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strong</a:t>
            </a:r>
            <a:r>
              <a:rPr lang="en-US" sz="2800" dirty="0">
                <a:solidFill>
                  <a:srgbClr val="13939F"/>
                </a:solidFill>
                <a:latin typeface="Menlo-Regular" panose="020B0609030804020204" pitchFamily="49" charset="0"/>
              </a:rPr>
              <a:t>&gt;</a:t>
            </a:r>
            <a:r>
              <a:rPr lang="en-US" sz="2800" b="1" dirty="0">
                <a:solidFill>
                  <a:srgbClr val="802A19"/>
                </a:solidFill>
                <a:latin typeface="Menlo-Bold" panose="020B0609030804020204" pitchFamily="49" charset="0"/>
              </a:rPr>
              <a:t>What:</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strong</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&lt;%=</a:t>
            </a:r>
            <a:r>
              <a:rPr lang="en-US" sz="2800" b="0" dirty="0">
                <a:solidFill>
                  <a:srgbClr val="3B2322"/>
                </a:solidFill>
                <a:latin typeface="Menlo-Regular" panose="020B0609030804020204" pitchFamily="49" charset="0"/>
              </a:rPr>
              <a:t> </a:t>
            </a:r>
            <a:r>
              <a:rPr lang="en-US" sz="2800" b="0" dirty="0" err="1">
                <a:solidFill>
                  <a:srgbClr val="3B2322"/>
                </a:solidFill>
                <a:latin typeface="Menlo-Regular" panose="020B0609030804020204" pitchFamily="49" charset="0"/>
              </a:rPr>
              <a:t>item.what</a:t>
            </a:r>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div</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div</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strong</a:t>
            </a:r>
            <a:r>
              <a:rPr lang="en-US" sz="2800" b="0" dirty="0">
                <a:solidFill>
                  <a:srgbClr val="13939F"/>
                </a:solidFill>
                <a:latin typeface="Menlo-Regular" panose="020B0609030804020204" pitchFamily="49" charset="0"/>
              </a:rPr>
              <a:t>&gt;</a:t>
            </a:r>
            <a:r>
              <a:rPr lang="en-US" sz="2800" b="1" dirty="0">
                <a:solidFill>
                  <a:srgbClr val="802A19"/>
                </a:solidFill>
                <a:latin typeface="Menlo-Bold" panose="020B0609030804020204" pitchFamily="49" charset="0"/>
              </a:rPr>
              <a:t>When:</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strong</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&lt;%=</a:t>
            </a:r>
            <a:r>
              <a:rPr lang="en-US" sz="2800" b="0" dirty="0">
                <a:solidFill>
                  <a:srgbClr val="3B2322"/>
                </a:solidFill>
                <a:latin typeface="Menlo-Regular" panose="020B0609030804020204" pitchFamily="49" charset="0"/>
              </a:rPr>
              <a:t> </a:t>
            </a:r>
            <a:r>
              <a:rPr lang="en-US" sz="2800" b="0" dirty="0" err="1">
                <a:solidFill>
                  <a:srgbClr val="3B2322"/>
                </a:solidFill>
                <a:latin typeface="Menlo-Regular" panose="020B0609030804020204" pitchFamily="49" charset="0"/>
              </a:rPr>
              <a:t>item.when</a:t>
            </a:r>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div</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div</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p</a:t>
            </a:r>
            <a:r>
              <a:rPr lang="en-US" sz="2800" b="0" dirty="0">
                <a:solidFill>
                  <a:srgbClr val="13939F"/>
                </a:solidFill>
                <a:latin typeface="Menlo-Regular" panose="020B0609030804020204" pitchFamily="49" charset="0"/>
              </a:rPr>
              <a:t> </a:t>
            </a:r>
            <a:r>
              <a:rPr lang="en-US" sz="2800" b="0" dirty="0">
                <a:solidFill>
                  <a:srgbClr val="149802"/>
                </a:solidFill>
                <a:latin typeface="Menlo-Regular" panose="020B0609030804020204" pitchFamily="49" charset="0"/>
              </a:rPr>
              <a:t>style</a:t>
            </a:r>
            <a:r>
              <a:rPr lang="en-US" sz="2800" b="0" dirty="0">
                <a:solidFill>
                  <a:srgbClr val="13939F"/>
                </a:solidFill>
                <a:latin typeface="Menlo-Regular" panose="020B0609030804020204" pitchFamily="49" charset="0"/>
              </a:rPr>
              <a:t>=</a:t>
            </a:r>
            <a:r>
              <a:rPr lang="en-US" sz="2800" b="0" dirty="0">
                <a:solidFill>
                  <a:srgbClr val="9F1410"/>
                </a:solidFill>
                <a:latin typeface="Menlo-Regular" panose="020B0609030804020204" pitchFamily="49" charset="0"/>
              </a:rPr>
              <a:t>"display: flex; gap: 10px; align-items: center;"</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&lt;%=</a:t>
            </a:r>
            <a:r>
              <a:rPr lang="en-US" sz="2800" b="0" dirty="0">
                <a:solidFill>
                  <a:srgbClr val="3B2322"/>
                </a:solidFill>
                <a:latin typeface="Menlo-Regular" panose="020B0609030804020204" pitchFamily="49" charset="0"/>
              </a:rPr>
              <a:t> </a:t>
            </a:r>
            <a:r>
              <a:rPr lang="en-US" sz="2800" b="0" dirty="0" err="1">
                <a:solidFill>
                  <a:srgbClr val="3B2322"/>
                </a:solidFill>
                <a:latin typeface="Menlo-Regular" panose="020B0609030804020204" pitchFamily="49" charset="0"/>
              </a:rPr>
              <a:t>link_to</a:t>
            </a:r>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a:t>
            </a:r>
            <a:r>
              <a:rPr lang="en-US" sz="2800" b="0" dirty="0">
                <a:solidFill>
                  <a:srgbClr val="9F1410"/>
                </a:solidFill>
                <a:latin typeface="Menlo-Regular" panose="020B0609030804020204" pitchFamily="49" charset="0"/>
              </a:rPr>
              <a:t>Show this item</a:t>
            </a:r>
            <a:r>
              <a:rPr lang="en-US" sz="2800" b="0" dirty="0">
                <a:solidFill>
                  <a:srgbClr val="B000B2"/>
                </a:solidFill>
                <a:latin typeface="Menlo-Regular" panose="020B0609030804020204" pitchFamily="49" charset="0"/>
              </a:rPr>
              <a:t>"</a:t>
            </a:r>
            <a:r>
              <a:rPr lang="en-US" sz="2800" b="0" dirty="0">
                <a:solidFill>
                  <a:srgbClr val="3B2322"/>
                </a:solidFill>
                <a:latin typeface="Menlo-Regular" panose="020B0609030804020204" pitchFamily="49" charset="0"/>
              </a:rPr>
              <a:t>, item </a:t>
            </a:r>
            <a:r>
              <a:rPr lang="en-US" sz="2800" b="0" dirty="0">
                <a:solidFill>
                  <a:srgbClr val="B000B2"/>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p</a:t>
            </a:r>
            <a:r>
              <a:rPr lang="en-US" sz="2800" b="0" dirty="0">
                <a:solidFill>
                  <a:srgbClr val="13939F"/>
                </a:solidFill>
                <a:latin typeface="Menlo-Regular" panose="020B0609030804020204" pitchFamily="49" charset="0"/>
              </a:rPr>
              <a:t>&gt;</a:t>
            </a:r>
            <a:br>
              <a:rPr lang="en-US" sz="2800" b="0" dirty="0">
                <a:solidFill>
                  <a:srgbClr val="13939F"/>
                </a:solidFill>
                <a:latin typeface="Menlo-Regular" panose="020B0609030804020204" pitchFamily="49" charset="0"/>
              </a:rPr>
            </a:br>
            <a:r>
              <a:rPr lang="en-US" sz="2800" b="0" dirty="0">
                <a:solidFill>
                  <a:srgbClr val="13939F"/>
                </a:solidFill>
                <a:latin typeface="Menlo-Regular" panose="020B0609030804020204" pitchFamily="49" charset="0"/>
              </a:rPr>
              <a:t>&lt;/</a:t>
            </a:r>
            <a:r>
              <a:rPr lang="en-US" sz="2800" b="0" dirty="0">
                <a:solidFill>
                  <a:srgbClr val="3B2322"/>
                </a:solidFill>
                <a:latin typeface="Menlo-Regular" panose="020B0609030804020204" pitchFamily="49" charset="0"/>
              </a:rPr>
              <a:t>turbo-frame</a:t>
            </a:r>
            <a:r>
              <a:rPr lang="en-US" sz="2800" b="0" dirty="0">
                <a:solidFill>
                  <a:srgbClr val="13939F"/>
                </a:solidFill>
                <a:latin typeface="Menlo-Regular" panose="020B0609030804020204" pitchFamily="49" charset="0"/>
              </a:rPr>
              <a:t>&gt;</a:t>
            </a:r>
            <a:endParaRPr lang="en-US" dirty="0"/>
          </a:p>
        </p:txBody>
      </p:sp>
    </p:spTree>
    <p:extLst>
      <p:ext uri="{BB962C8B-B14F-4D97-AF65-F5344CB8AC3E}">
        <p14:creationId xmlns:p14="http://schemas.microsoft.com/office/powerpoint/2010/main" val="5166194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13C82-625E-36A8-7A38-86EEE3B39F8E}"/>
              </a:ext>
            </a:extLst>
          </p:cNvPr>
          <p:cNvSpPr>
            <a:spLocks noGrp="1"/>
          </p:cNvSpPr>
          <p:nvPr>
            <p:ph type="title"/>
          </p:nvPr>
        </p:nvSpPr>
        <p:spPr/>
        <p:txBody>
          <a:bodyPr>
            <a:normAutofit fontScale="90000"/>
          </a:bodyPr>
          <a:lstStyle/>
          <a:p>
            <a:r>
              <a:rPr lang="en-US" dirty="0"/>
              <a:t>First Up: Add</a:t>
            </a:r>
          </a:p>
        </p:txBody>
      </p:sp>
      <p:sp>
        <p:nvSpPr>
          <p:cNvPr id="3" name="Content Placeholder 2">
            <a:extLst>
              <a:ext uri="{FF2B5EF4-FFF2-40B4-BE49-F238E27FC236}">
                <a16:creationId xmlns:a16="http://schemas.microsoft.com/office/drawing/2014/main" id="{A79FA696-7C08-02E1-95C1-C3F65AF2A220}"/>
              </a:ext>
            </a:extLst>
          </p:cNvPr>
          <p:cNvSpPr>
            <a:spLocks noGrp="1"/>
          </p:cNvSpPr>
          <p:nvPr>
            <p:ph idx="1"/>
          </p:nvPr>
        </p:nvSpPr>
        <p:spPr/>
        <p:txBody>
          <a:bodyPr/>
          <a:lstStyle/>
          <a:p>
            <a:r>
              <a:rPr lang="en-US" sz="2800" dirty="0">
                <a:solidFill>
                  <a:srgbClr val="B000B2"/>
                </a:solidFill>
                <a:latin typeface="Menlo-Regular" panose="020B0609030804020204" pitchFamily="49" charset="0"/>
              </a:rPr>
              <a:t># </a:t>
            </a:r>
            <a:r>
              <a:rPr lang="en-US" dirty="0"/>
              <a:t>items/</a:t>
            </a:r>
            <a:r>
              <a:rPr lang="en-US" dirty="0" err="1"/>
              <a:t>create.turbo_stream.erb</a:t>
            </a:r>
            <a:endParaRPr lang="en-US" sz="2800" dirty="0">
              <a:solidFill>
                <a:srgbClr val="B000B2"/>
              </a:solidFill>
              <a:latin typeface="Menlo-Regular" panose="020B0609030804020204" pitchFamily="49" charset="0"/>
            </a:endParaRPr>
          </a:p>
          <a:p>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turbo_stream.append</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items</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partial</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item</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locals</a:t>
            </a:r>
            <a:r>
              <a:rPr lang="en-US" sz="2800" dirty="0">
                <a:solidFill>
                  <a:srgbClr val="3B2322"/>
                </a:solidFill>
                <a:latin typeface="Menlo-Regular" panose="020B0609030804020204" pitchFamily="49" charset="0"/>
              </a:rPr>
              <a:t>: { </a:t>
            </a:r>
            <a:r>
              <a:rPr lang="en-US" sz="2800" dirty="0">
                <a:solidFill>
                  <a:srgbClr val="9F1410"/>
                </a:solidFill>
                <a:latin typeface="Menlo-Regular" panose="020B0609030804020204" pitchFamily="49" charset="0"/>
              </a:rPr>
              <a:t>item</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@item</a:t>
            </a:r>
            <a:r>
              <a:rPr lang="en-US" sz="2800" dirty="0">
                <a:solidFill>
                  <a:srgbClr val="3B2322"/>
                </a:solidFill>
                <a:latin typeface="Menlo-Regular" panose="020B0609030804020204" pitchFamily="49" charset="0"/>
              </a:rPr>
              <a:t> } </a:t>
            </a:r>
            <a:r>
              <a:rPr lang="en-US" sz="2800" dirty="0">
                <a:solidFill>
                  <a:srgbClr val="B000B2"/>
                </a:solidFill>
                <a:latin typeface="Menlo-Regular" panose="020B0609030804020204" pitchFamily="49" charset="0"/>
              </a:rPr>
              <a:t>%&gt;</a:t>
            </a:r>
          </a:p>
          <a:p>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turbo_stream.update</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err="1">
                <a:solidFill>
                  <a:srgbClr val="9F1410"/>
                </a:solidFill>
                <a:latin typeface="Menlo-Regular" panose="020B0609030804020204" pitchFamily="49" charset="0"/>
              </a:rPr>
              <a:t>new_item</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do</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link_to</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New item</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new_item_path</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p>
          <a:p>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end</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endParaRPr lang="en-US" dirty="0"/>
          </a:p>
        </p:txBody>
      </p:sp>
    </p:spTree>
    <p:extLst>
      <p:ext uri="{BB962C8B-B14F-4D97-AF65-F5344CB8AC3E}">
        <p14:creationId xmlns:p14="http://schemas.microsoft.com/office/powerpoint/2010/main" val="79854325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23E3D-4D80-6CF0-2424-6B801A8B466E}"/>
              </a:ext>
            </a:extLst>
          </p:cNvPr>
          <p:cNvSpPr>
            <a:spLocks noGrp="1"/>
          </p:cNvSpPr>
          <p:nvPr>
            <p:ph type="title"/>
          </p:nvPr>
        </p:nvSpPr>
        <p:spPr/>
        <p:txBody>
          <a:bodyPr>
            <a:normAutofit fontScale="90000"/>
          </a:bodyPr>
          <a:lstStyle/>
          <a:p>
            <a:r>
              <a:rPr lang="en-US" dirty="0"/>
              <a:t>First Up: Add</a:t>
            </a:r>
          </a:p>
        </p:txBody>
      </p:sp>
      <p:sp>
        <p:nvSpPr>
          <p:cNvPr id="3" name="Content Placeholder 2">
            <a:extLst>
              <a:ext uri="{FF2B5EF4-FFF2-40B4-BE49-F238E27FC236}">
                <a16:creationId xmlns:a16="http://schemas.microsoft.com/office/drawing/2014/main" id="{FB80CF01-AE47-2CA7-245A-15D72A186140}"/>
              </a:ext>
            </a:extLst>
          </p:cNvPr>
          <p:cNvSpPr>
            <a:spLocks noGrp="1"/>
          </p:cNvSpPr>
          <p:nvPr>
            <p:ph idx="1"/>
          </p:nvPr>
        </p:nvSpPr>
        <p:spPr>
          <a:xfrm>
            <a:off x="609600" y="1610958"/>
            <a:ext cx="10972800" cy="4525963"/>
          </a:xfrm>
        </p:spPr>
        <p:txBody>
          <a:bodyPr>
            <a:normAutofit fontScale="55000" lnSpcReduction="20000"/>
          </a:bodyPr>
          <a:lstStyle/>
          <a:p>
            <a:r>
              <a:rPr lang="en-US" sz="2800" dirty="0">
                <a:solidFill>
                  <a:srgbClr val="3200CA"/>
                </a:solidFill>
                <a:latin typeface="Menlo-Regular" panose="020B0609030804020204" pitchFamily="49" charset="0"/>
              </a:rPr>
              <a:t># POST /items or /</a:t>
            </a:r>
            <a:r>
              <a:rPr lang="en-US" sz="2800" dirty="0" err="1">
                <a:solidFill>
                  <a:srgbClr val="3200CA"/>
                </a:solidFill>
                <a:latin typeface="Menlo-Regular" panose="020B0609030804020204" pitchFamily="49" charset="0"/>
              </a:rPr>
              <a:t>items.json</a:t>
            </a:r>
            <a:endParaRPr lang="en-US" sz="2800" dirty="0">
              <a:solidFill>
                <a:srgbClr val="3200CA"/>
              </a:solidFill>
              <a:latin typeface="Menlo-Regular" panose="020B0609030804020204" pitchFamily="49" charset="0"/>
            </a:endParaRP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def</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create</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@item</a:t>
            </a:r>
            <a:r>
              <a:rPr lang="en-US" sz="2800" dirty="0">
                <a:solidFill>
                  <a:srgbClr val="3B2322"/>
                </a:solidFill>
                <a:latin typeface="Menlo-Regular" panose="020B0609030804020204" pitchFamily="49" charset="0"/>
              </a:rPr>
              <a:t> = </a:t>
            </a:r>
            <a:r>
              <a:rPr lang="en-US" sz="2800" dirty="0" err="1">
                <a:solidFill>
                  <a:srgbClr val="149802"/>
                </a:solidFill>
                <a:latin typeface="Menlo-Regular" panose="020B0609030804020204" pitchFamily="49" charset="0"/>
              </a:rPr>
              <a:t>Item</a:t>
            </a:r>
            <a:r>
              <a:rPr lang="en-US" sz="2800" dirty="0" err="1">
                <a:solidFill>
                  <a:srgbClr val="3B2322"/>
                </a:solidFill>
                <a:latin typeface="Menlo-Regular" panose="020B0609030804020204" pitchFamily="49" charset="0"/>
              </a:rPr>
              <a:t>.new</a:t>
            </a:r>
            <a:r>
              <a:rPr lang="en-US" sz="2800" dirty="0">
                <a:solidFill>
                  <a:srgbClr val="3B2322"/>
                </a:solidFill>
                <a:latin typeface="Menlo-Regular" panose="020B0609030804020204" pitchFamily="49" charset="0"/>
              </a:rPr>
              <a:t>(</a:t>
            </a:r>
            <a:r>
              <a:rPr lang="en-US" sz="2800" dirty="0" err="1">
                <a:solidFill>
                  <a:srgbClr val="3B2322"/>
                </a:solidFill>
                <a:latin typeface="Menlo-Regular" panose="020B0609030804020204" pitchFamily="49" charset="0"/>
              </a:rPr>
              <a:t>item_params</a:t>
            </a:r>
            <a:r>
              <a:rPr lang="en-US" sz="2800" dirty="0">
                <a:solidFill>
                  <a:srgbClr val="3B2322"/>
                </a:solidFill>
                <a:latin typeface="Menlo-Regular" panose="020B0609030804020204" pitchFamily="49" charset="0"/>
              </a:rPr>
              <a:t>)</a:t>
            </a:r>
          </a:p>
          <a:p>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respond_to</a:t>
            </a:r>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do</a:t>
            </a:r>
            <a:r>
              <a:rPr lang="en-US" sz="2800" dirty="0">
                <a:solidFill>
                  <a:srgbClr val="3B2322"/>
                </a:solidFill>
                <a:latin typeface="Menlo-Regular" panose="020B0609030804020204" pitchFamily="49" charset="0"/>
              </a:rPr>
              <a:t> |format|</a:t>
            </a:r>
          </a:p>
          <a:p>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if</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a:t>
            </a:r>
            <a:r>
              <a:rPr lang="en-US" sz="2800" dirty="0" err="1">
                <a:solidFill>
                  <a:srgbClr val="13939F"/>
                </a:solidFill>
                <a:latin typeface="Menlo-Regular" panose="020B0609030804020204" pitchFamily="49" charset="0"/>
              </a:rPr>
              <a:t>item</a:t>
            </a:r>
            <a:r>
              <a:rPr lang="en-US" sz="2800" dirty="0" err="1">
                <a:solidFill>
                  <a:srgbClr val="3B2322"/>
                </a:solidFill>
                <a:latin typeface="Menlo-Regular" panose="020B0609030804020204" pitchFamily="49" charset="0"/>
              </a:rPr>
              <a:t>.save</a:t>
            </a:r>
            <a:endParaRPr lang="en-US" sz="2800" dirty="0">
              <a:solidFill>
                <a:srgbClr val="3B2322"/>
              </a:solidFill>
              <a:latin typeface="Menlo-Regular" panose="020B0609030804020204" pitchFamily="49" charset="0"/>
            </a:endParaRPr>
          </a:p>
          <a:p>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format.html</a:t>
            </a:r>
            <a:r>
              <a:rPr lang="en-US" sz="2800" dirty="0">
                <a:solidFill>
                  <a:srgbClr val="3B2322"/>
                </a:solidFill>
                <a:latin typeface="Menlo-Regular" panose="020B0609030804020204" pitchFamily="49" charset="0"/>
              </a:rPr>
              <a:t> { </a:t>
            </a:r>
            <a:r>
              <a:rPr lang="en-US" sz="2800" dirty="0" err="1">
                <a:solidFill>
                  <a:srgbClr val="3B2322"/>
                </a:solidFill>
                <a:latin typeface="Menlo-Regular" panose="020B0609030804020204" pitchFamily="49" charset="0"/>
              </a:rPr>
              <a:t>redirect_to</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@item</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notice</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Item was successfully created.</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p>
          <a:p>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format.json</a:t>
            </a:r>
            <a:r>
              <a:rPr lang="en-US" sz="2800" dirty="0">
                <a:solidFill>
                  <a:srgbClr val="3B2322"/>
                </a:solidFill>
                <a:latin typeface="Menlo-Regular" panose="020B0609030804020204" pitchFamily="49" charset="0"/>
              </a:rPr>
              <a:t> { render </a:t>
            </a:r>
            <a:r>
              <a:rPr lang="en-US" sz="2800" dirty="0">
                <a:solidFill>
                  <a:srgbClr val="9F1410"/>
                </a:solidFill>
                <a:latin typeface="Menlo-Regular" panose="020B0609030804020204" pitchFamily="49" charset="0"/>
              </a:rPr>
              <a:t>:show</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status</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:created</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location</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@item</a:t>
            </a:r>
            <a:r>
              <a:rPr lang="en-US" sz="2800" dirty="0">
                <a:solidFill>
                  <a:srgbClr val="3B2322"/>
                </a:solidFill>
                <a:latin typeface="Menlo-Regular" panose="020B0609030804020204" pitchFamily="49" charset="0"/>
              </a:rPr>
              <a:t> }</a:t>
            </a:r>
          </a:p>
          <a:p>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format.turbo_stream</a:t>
            </a:r>
            <a:endParaRPr lang="en-US" sz="2800" dirty="0">
              <a:solidFill>
                <a:srgbClr val="3B2322"/>
              </a:solidFill>
              <a:latin typeface="Menlo-Regular" panose="020B0609030804020204" pitchFamily="49" charset="0"/>
            </a:endParaRPr>
          </a:p>
          <a:p>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else</a:t>
            </a:r>
          </a:p>
          <a:p>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format.html</a:t>
            </a:r>
            <a:r>
              <a:rPr lang="en-US" sz="2800" dirty="0">
                <a:solidFill>
                  <a:srgbClr val="3B2322"/>
                </a:solidFill>
                <a:latin typeface="Menlo-Regular" panose="020B0609030804020204" pitchFamily="49" charset="0"/>
              </a:rPr>
              <a:t> { render </a:t>
            </a:r>
            <a:r>
              <a:rPr lang="en-US" sz="2800" dirty="0">
                <a:solidFill>
                  <a:srgbClr val="9F1410"/>
                </a:solidFill>
                <a:latin typeface="Menlo-Regular" panose="020B0609030804020204" pitchFamily="49" charset="0"/>
              </a:rPr>
              <a:t>:new</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status</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a:t>
            </a:r>
            <a:r>
              <a:rPr lang="en-US" sz="2800" dirty="0" err="1">
                <a:solidFill>
                  <a:srgbClr val="9F1410"/>
                </a:solidFill>
                <a:latin typeface="Menlo-Regular" panose="020B0609030804020204" pitchFamily="49" charset="0"/>
              </a:rPr>
              <a:t>unprocessable_content</a:t>
            </a:r>
            <a:r>
              <a:rPr lang="en-US" sz="2800" dirty="0">
                <a:solidFill>
                  <a:srgbClr val="3B2322"/>
                </a:solidFill>
                <a:latin typeface="Menlo-Regular" panose="020B0609030804020204" pitchFamily="49" charset="0"/>
              </a:rPr>
              <a:t> }</a:t>
            </a:r>
          </a:p>
          <a:p>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format.json</a:t>
            </a:r>
            <a:r>
              <a:rPr lang="en-US" sz="2800" dirty="0">
                <a:solidFill>
                  <a:srgbClr val="3B2322"/>
                </a:solidFill>
                <a:latin typeface="Menlo-Regular" panose="020B0609030804020204" pitchFamily="49" charset="0"/>
              </a:rPr>
              <a:t> { render </a:t>
            </a:r>
            <a:r>
              <a:rPr lang="en-US" sz="2800" dirty="0" err="1">
                <a:solidFill>
                  <a:srgbClr val="9F1410"/>
                </a:solidFill>
                <a:latin typeface="Menlo-Regular" panose="020B0609030804020204" pitchFamily="49" charset="0"/>
              </a:rPr>
              <a:t>json</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a:t>
            </a:r>
            <a:r>
              <a:rPr lang="en-US" sz="2800" dirty="0" err="1">
                <a:solidFill>
                  <a:srgbClr val="13939F"/>
                </a:solidFill>
                <a:latin typeface="Menlo-Regular" panose="020B0609030804020204" pitchFamily="49" charset="0"/>
              </a:rPr>
              <a:t>item</a:t>
            </a:r>
            <a:r>
              <a:rPr lang="en-US" sz="2800" dirty="0" err="1">
                <a:solidFill>
                  <a:srgbClr val="3B2322"/>
                </a:solidFill>
                <a:latin typeface="Menlo-Regular" panose="020B0609030804020204" pitchFamily="49" charset="0"/>
              </a:rPr>
              <a:t>.errors</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status</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a:t>
            </a:r>
            <a:r>
              <a:rPr lang="en-US" sz="2800" dirty="0" err="1">
                <a:solidFill>
                  <a:srgbClr val="9F1410"/>
                </a:solidFill>
                <a:latin typeface="Menlo-Regular" panose="020B0609030804020204" pitchFamily="49" charset="0"/>
              </a:rPr>
              <a:t>unprocessable_content</a:t>
            </a:r>
            <a:r>
              <a:rPr lang="en-US" sz="2800" dirty="0">
                <a:solidFill>
                  <a:srgbClr val="3B2322"/>
                </a:solidFill>
                <a:latin typeface="Menlo-Regular" panose="020B0609030804020204" pitchFamily="49" charset="0"/>
              </a:rPr>
              <a:t> }</a:t>
            </a:r>
          </a:p>
          <a:p>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format.turbo_stream</a:t>
            </a:r>
            <a:r>
              <a:rPr lang="en-US" sz="2800" dirty="0">
                <a:solidFill>
                  <a:srgbClr val="3B2322"/>
                </a:solidFill>
                <a:latin typeface="Menlo-Regular" panose="020B0609030804020204" pitchFamily="49" charset="0"/>
              </a:rPr>
              <a:t> { render </a:t>
            </a:r>
            <a:r>
              <a:rPr lang="en-US" sz="2800" dirty="0">
                <a:solidFill>
                  <a:srgbClr val="9F1410"/>
                </a:solidFill>
                <a:latin typeface="Menlo-Regular" panose="020B0609030804020204" pitchFamily="49" charset="0"/>
              </a:rPr>
              <a:t>:new</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status</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a:t>
            </a:r>
            <a:r>
              <a:rPr lang="en-US" sz="2800" dirty="0" err="1">
                <a:solidFill>
                  <a:srgbClr val="9F1410"/>
                </a:solidFill>
                <a:latin typeface="Menlo-Regular" panose="020B0609030804020204" pitchFamily="49" charset="0"/>
              </a:rPr>
              <a:t>unprocessable_content</a:t>
            </a:r>
            <a:r>
              <a:rPr lang="en-US" sz="2800" dirty="0">
                <a:solidFill>
                  <a:srgbClr val="3B2322"/>
                </a:solidFill>
                <a:latin typeface="Menlo-Regular" panose="020B0609030804020204" pitchFamily="49" charset="0"/>
              </a:rPr>
              <a:t> }</a:t>
            </a:r>
          </a:p>
          <a:p>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end</a:t>
            </a:r>
          </a:p>
          <a:p>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end</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end</a:t>
            </a:r>
            <a:endParaRPr lang="en-US" dirty="0"/>
          </a:p>
        </p:txBody>
      </p:sp>
    </p:spTree>
    <p:extLst>
      <p:ext uri="{BB962C8B-B14F-4D97-AF65-F5344CB8AC3E}">
        <p14:creationId xmlns:p14="http://schemas.microsoft.com/office/powerpoint/2010/main" val="137330595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37745-D068-D959-CEC2-2CE2D0CDAE97}"/>
              </a:ext>
            </a:extLst>
          </p:cNvPr>
          <p:cNvSpPr>
            <a:spLocks noGrp="1"/>
          </p:cNvSpPr>
          <p:nvPr>
            <p:ph type="title"/>
          </p:nvPr>
        </p:nvSpPr>
        <p:spPr/>
        <p:txBody>
          <a:bodyPr>
            <a:normAutofit fontScale="90000"/>
          </a:bodyPr>
          <a:lstStyle/>
          <a:p>
            <a:r>
              <a:rPr lang="en-US" dirty="0"/>
              <a:t>First Up: Add</a:t>
            </a:r>
          </a:p>
        </p:txBody>
      </p:sp>
      <p:sp>
        <p:nvSpPr>
          <p:cNvPr id="3" name="Content Placeholder 2">
            <a:extLst>
              <a:ext uri="{FF2B5EF4-FFF2-40B4-BE49-F238E27FC236}">
                <a16:creationId xmlns:a16="http://schemas.microsoft.com/office/drawing/2014/main" id="{E69D86C8-AF06-A2A6-6B80-DC70FAFED63E}"/>
              </a:ext>
            </a:extLst>
          </p:cNvPr>
          <p:cNvSpPr>
            <a:spLocks noGrp="1"/>
          </p:cNvSpPr>
          <p:nvPr>
            <p:ph idx="1"/>
          </p:nvPr>
        </p:nvSpPr>
        <p:spPr/>
        <p:txBody>
          <a:bodyPr>
            <a:normAutofit/>
          </a:bodyPr>
          <a:lstStyle/>
          <a:p>
            <a:r>
              <a:rPr lang="en-US" sz="2800" dirty="0" err="1">
                <a:solidFill>
                  <a:srgbClr val="149802"/>
                </a:solidFill>
                <a:latin typeface="Menlo-Regular" panose="020B0609030804020204" pitchFamily="49" charset="0"/>
              </a:rPr>
              <a:t>Rails</a:t>
            </a:r>
            <a:r>
              <a:rPr lang="en-US" sz="2800" dirty="0" err="1">
                <a:solidFill>
                  <a:srgbClr val="3B2322"/>
                </a:solidFill>
                <a:latin typeface="Menlo-Regular" panose="020B0609030804020204" pitchFamily="49" charset="0"/>
              </a:rPr>
              <a:t>.application.routes.draw</a:t>
            </a:r>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do</a:t>
            </a:r>
          </a:p>
          <a:p>
            <a:r>
              <a:rPr lang="en-US" sz="2800" dirty="0">
                <a:solidFill>
                  <a:srgbClr val="3B2322"/>
                </a:solidFill>
                <a:latin typeface="Menlo-Regular" panose="020B0609030804020204" pitchFamily="49" charset="0"/>
              </a:rPr>
              <a:t>  resources </a:t>
            </a:r>
            <a:r>
              <a:rPr lang="en-US" sz="2800" dirty="0">
                <a:solidFill>
                  <a:srgbClr val="9F1410"/>
                </a:solidFill>
                <a:latin typeface="Menlo-Regular" panose="020B0609030804020204" pitchFamily="49" charset="0"/>
              </a:rPr>
              <a:t>:items</a:t>
            </a:r>
          </a:p>
          <a:p>
            <a:r>
              <a:rPr lang="en-US" sz="2800" dirty="0">
                <a:solidFill>
                  <a:srgbClr val="3B2322"/>
                </a:solidFill>
                <a:latin typeface="Menlo-Regular" panose="020B0609030804020204" pitchFamily="49" charset="0"/>
              </a:rPr>
              <a:t>  root </a:t>
            </a:r>
            <a:r>
              <a:rPr lang="en-US" sz="2800" dirty="0">
                <a:solidFill>
                  <a:srgbClr val="B000B2"/>
                </a:solidFill>
                <a:latin typeface="Menlo-Regular" panose="020B0609030804020204" pitchFamily="49" charset="0"/>
              </a:rPr>
              <a:t>"</a:t>
            </a:r>
            <a:r>
              <a:rPr lang="en-US" sz="2800" dirty="0" err="1">
                <a:solidFill>
                  <a:srgbClr val="9F1410"/>
                </a:solidFill>
                <a:latin typeface="Menlo-Regular" panose="020B0609030804020204" pitchFamily="49" charset="0"/>
              </a:rPr>
              <a:t>items#index</a:t>
            </a:r>
            <a:r>
              <a:rPr lang="en-US" sz="2800" dirty="0">
                <a:solidFill>
                  <a:srgbClr val="B000B2"/>
                </a:solidFill>
                <a:latin typeface="Menlo-Regular" panose="020B0609030804020204" pitchFamily="49" charset="0"/>
              </a:rPr>
              <a:t>"</a:t>
            </a:r>
          </a:p>
          <a:p>
            <a:r>
              <a:rPr lang="en-US" sz="2800" dirty="0">
                <a:solidFill>
                  <a:srgbClr val="9E4C04"/>
                </a:solidFill>
                <a:latin typeface="Menlo-Regular" panose="020B0609030804020204" pitchFamily="49" charset="0"/>
              </a:rPr>
              <a:t>end</a:t>
            </a:r>
            <a:endParaRPr lang="en-US" dirty="0"/>
          </a:p>
        </p:txBody>
      </p:sp>
    </p:spTree>
    <p:extLst>
      <p:ext uri="{BB962C8B-B14F-4D97-AF65-F5344CB8AC3E}">
        <p14:creationId xmlns:p14="http://schemas.microsoft.com/office/powerpoint/2010/main" val="137863546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C951DC-56C8-90DF-49CF-67C2C487D75B}"/>
              </a:ext>
            </a:extLst>
          </p:cNvPr>
          <p:cNvSpPr>
            <a:spLocks noGrp="1"/>
          </p:cNvSpPr>
          <p:nvPr>
            <p:ph type="title"/>
          </p:nvPr>
        </p:nvSpPr>
        <p:spPr/>
        <p:txBody>
          <a:bodyPr>
            <a:normAutofit fontScale="90000"/>
          </a:bodyPr>
          <a:lstStyle/>
          <a:p>
            <a:r>
              <a:rPr lang="en-US" dirty="0"/>
              <a:t>Next Up: Edits</a:t>
            </a:r>
          </a:p>
        </p:txBody>
      </p:sp>
      <p:sp>
        <p:nvSpPr>
          <p:cNvPr id="3" name="Content Placeholder 2">
            <a:extLst>
              <a:ext uri="{FF2B5EF4-FFF2-40B4-BE49-F238E27FC236}">
                <a16:creationId xmlns:a16="http://schemas.microsoft.com/office/drawing/2014/main" id="{00229328-1883-6940-BB05-141B98B2ACE7}"/>
              </a:ext>
            </a:extLst>
          </p:cNvPr>
          <p:cNvSpPr>
            <a:spLocks noGrp="1"/>
          </p:cNvSpPr>
          <p:nvPr>
            <p:ph idx="1"/>
          </p:nvPr>
        </p:nvSpPr>
        <p:spPr/>
        <p:txBody>
          <a:bodyPr>
            <a:normAutofit fontScale="47500" lnSpcReduction="20000"/>
          </a:bodyPr>
          <a:lstStyle/>
          <a:p>
            <a:r>
              <a:rPr lang="en-US" sz="2800" dirty="0">
                <a:solidFill>
                  <a:srgbClr val="13939F"/>
                </a:solidFill>
                <a:latin typeface="Menlo-Regular" panose="020B0609030804020204" pitchFamily="49" charset="0"/>
              </a:rPr>
              <a:t># items/_</a:t>
            </a:r>
            <a:r>
              <a:rPr lang="en-US" sz="2800" dirty="0" err="1">
                <a:solidFill>
                  <a:srgbClr val="13939F"/>
                </a:solidFill>
                <a:latin typeface="Menlo-Regular" panose="020B0609030804020204" pitchFamily="49" charset="0"/>
              </a:rPr>
              <a:t>item.html.erb</a:t>
            </a:r>
            <a:endParaRPr lang="en-US" sz="2800" dirty="0">
              <a:solidFill>
                <a:srgbClr val="13939F"/>
              </a:solidFill>
              <a:latin typeface="Menlo-Regular" panose="020B0609030804020204" pitchFamily="49" charset="0"/>
            </a:endParaRPr>
          </a:p>
          <a:p>
            <a:r>
              <a:rPr lang="en-US" sz="2800" dirty="0">
                <a:solidFill>
                  <a:srgbClr val="13939F"/>
                </a:solidFill>
                <a:latin typeface="Menlo-Regular" panose="020B0609030804020204" pitchFamily="49" charset="0"/>
              </a:rPr>
              <a:t>&lt;</a:t>
            </a:r>
            <a:r>
              <a:rPr lang="en-US" sz="2800" dirty="0">
                <a:solidFill>
                  <a:srgbClr val="3B2322"/>
                </a:solidFill>
                <a:latin typeface="Menlo-Regular" panose="020B0609030804020204" pitchFamily="49" charset="0"/>
              </a:rPr>
              <a:t>turbo-frame</a:t>
            </a:r>
            <a:r>
              <a:rPr lang="en-US" sz="2800" dirty="0">
                <a:solidFill>
                  <a:srgbClr val="13939F"/>
                </a:solidFill>
                <a:latin typeface="Menlo-Regular" panose="020B0609030804020204" pitchFamily="49" charset="0"/>
              </a:rPr>
              <a:t> </a:t>
            </a:r>
            <a:r>
              <a:rPr lang="en-US" sz="2800" dirty="0">
                <a:solidFill>
                  <a:srgbClr val="149802"/>
                </a:solidFill>
                <a:latin typeface="Menlo-Regular" panose="020B0609030804020204" pitchFamily="49" charset="0"/>
              </a:rPr>
              <a:t>id</a:t>
            </a:r>
            <a:r>
              <a:rPr lang="en-US" sz="2800" dirty="0">
                <a:solidFill>
                  <a:srgbClr val="13939F"/>
                </a:solidFill>
                <a:latin typeface="Menlo-Regular" panose="020B0609030804020204" pitchFamily="49" charset="0"/>
              </a:rPr>
              <a:t>=</a:t>
            </a:r>
            <a:r>
              <a:rPr lang="en-US" sz="2800" dirty="0">
                <a:solidFill>
                  <a:srgbClr val="9F1410"/>
                </a:solidFill>
                <a:latin typeface="Menlo-Regular" panose="020B0609030804020204" pitchFamily="49" charset="0"/>
              </a:rPr>
              <a:t>"</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dom_id</a:t>
            </a:r>
            <a:r>
              <a:rPr lang="en-US" sz="2800" dirty="0">
                <a:solidFill>
                  <a:srgbClr val="3B2322"/>
                </a:solidFill>
                <a:latin typeface="Menlo-Regular" panose="020B0609030804020204" pitchFamily="49" charset="0"/>
              </a:rPr>
              <a:t>(item) </a:t>
            </a:r>
            <a:r>
              <a:rPr lang="en-US" sz="2800" dirty="0">
                <a:solidFill>
                  <a:srgbClr val="B000B2"/>
                </a:solidFill>
                <a:latin typeface="Menlo-Regular" panose="020B0609030804020204" pitchFamily="49" charset="0"/>
              </a:rPr>
              <a:t>%&gt;</a:t>
            </a:r>
            <a:r>
              <a:rPr lang="en-US" sz="2800" dirty="0">
                <a:solidFill>
                  <a:srgbClr val="9F1410"/>
                </a:solidFill>
                <a:latin typeface="Menlo-Regular" panose="020B0609030804020204" pitchFamily="49" charset="0"/>
              </a:rPr>
              <a:t>"</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div</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div</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strong</a:t>
            </a:r>
            <a:r>
              <a:rPr lang="en-US" sz="2800" dirty="0">
                <a:solidFill>
                  <a:srgbClr val="13939F"/>
                </a:solidFill>
                <a:latin typeface="Menlo-Regular" panose="020B0609030804020204" pitchFamily="49" charset="0"/>
              </a:rPr>
              <a:t>&gt;</a:t>
            </a:r>
            <a:r>
              <a:rPr lang="en-US" sz="2800" b="1" dirty="0">
                <a:solidFill>
                  <a:srgbClr val="802A19"/>
                </a:solidFill>
                <a:latin typeface="Menlo-Bold" panose="020B0609030804020204" pitchFamily="49" charset="0"/>
              </a:rPr>
              <a:t>What:</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strong</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&lt;%=</a:t>
            </a:r>
            <a:r>
              <a:rPr lang="en-US" sz="2800" b="0" dirty="0">
                <a:solidFill>
                  <a:srgbClr val="3B2322"/>
                </a:solidFill>
                <a:latin typeface="Menlo-Regular" panose="020B0609030804020204" pitchFamily="49" charset="0"/>
              </a:rPr>
              <a:t> </a:t>
            </a:r>
            <a:r>
              <a:rPr lang="en-US" sz="2800" b="0" dirty="0" err="1">
                <a:solidFill>
                  <a:srgbClr val="3B2322"/>
                </a:solidFill>
                <a:latin typeface="Menlo-Regular" panose="020B0609030804020204" pitchFamily="49" charset="0"/>
              </a:rPr>
              <a:t>item.what</a:t>
            </a:r>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div</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div</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strong</a:t>
            </a:r>
            <a:r>
              <a:rPr lang="en-US" sz="2800" b="0" dirty="0">
                <a:solidFill>
                  <a:srgbClr val="13939F"/>
                </a:solidFill>
                <a:latin typeface="Menlo-Regular" panose="020B0609030804020204" pitchFamily="49" charset="0"/>
              </a:rPr>
              <a:t>&gt;</a:t>
            </a:r>
            <a:r>
              <a:rPr lang="en-US" sz="2800" b="1" dirty="0">
                <a:solidFill>
                  <a:srgbClr val="802A19"/>
                </a:solidFill>
                <a:latin typeface="Menlo-Bold" panose="020B0609030804020204" pitchFamily="49" charset="0"/>
              </a:rPr>
              <a:t>When:</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strong</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&lt;%=</a:t>
            </a:r>
            <a:r>
              <a:rPr lang="en-US" sz="2800" b="0" dirty="0">
                <a:solidFill>
                  <a:srgbClr val="3B2322"/>
                </a:solidFill>
                <a:latin typeface="Menlo-Regular" panose="020B0609030804020204" pitchFamily="49" charset="0"/>
              </a:rPr>
              <a:t> </a:t>
            </a:r>
            <a:r>
              <a:rPr lang="en-US" sz="2800" b="0" dirty="0" err="1">
                <a:solidFill>
                  <a:srgbClr val="3B2322"/>
                </a:solidFill>
                <a:latin typeface="Menlo-Regular" panose="020B0609030804020204" pitchFamily="49" charset="0"/>
              </a:rPr>
              <a:t>item.when</a:t>
            </a:r>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div</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div</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p</a:t>
            </a:r>
            <a:r>
              <a:rPr lang="en-US" sz="2800" b="0" dirty="0">
                <a:solidFill>
                  <a:srgbClr val="13939F"/>
                </a:solidFill>
                <a:latin typeface="Menlo-Regular" panose="020B0609030804020204" pitchFamily="49" charset="0"/>
              </a:rPr>
              <a:t> </a:t>
            </a:r>
            <a:r>
              <a:rPr lang="en-US" sz="2800" b="0" dirty="0">
                <a:solidFill>
                  <a:srgbClr val="149802"/>
                </a:solidFill>
                <a:latin typeface="Menlo-Regular" panose="020B0609030804020204" pitchFamily="49" charset="0"/>
              </a:rPr>
              <a:t>style</a:t>
            </a:r>
            <a:r>
              <a:rPr lang="en-US" sz="2800" b="0" dirty="0">
                <a:solidFill>
                  <a:srgbClr val="13939F"/>
                </a:solidFill>
                <a:latin typeface="Menlo-Regular" panose="020B0609030804020204" pitchFamily="49" charset="0"/>
              </a:rPr>
              <a:t>=</a:t>
            </a:r>
            <a:r>
              <a:rPr lang="en-US" sz="2800" b="0" dirty="0">
                <a:solidFill>
                  <a:srgbClr val="9F1410"/>
                </a:solidFill>
                <a:latin typeface="Menlo-Regular" panose="020B0609030804020204" pitchFamily="49" charset="0"/>
              </a:rPr>
              <a:t>"display: flex; gap: 10px; align-items: center;"</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&lt;%=</a:t>
            </a:r>
            <a:r>
              <a:rPr lang="en-US" sz="2800" b="0" dirty="0">
                <a:solidFill>
                  <a:srgbClr val="3B2322"/>
                </a:solidFill>
                <a:latin typeface="Menlo-Regular" panose="020B0609030804020204" pitchFamily="49" charset="0"/>
              </a:rPr>
              <a:t> </a:t>
            </a:r>
            <a:r>
              <a:rPr lang="en-US" sz="2800" b="0" dirty="0" err="1">
                <a:solidFill>
                  <a:srgbClr val="3B2322"/>
                </a:solidFill>
                <a:latin typeface="Menlo-Regular" panose="020B0609030804020204" pitchFamily="49" charset="0"/>
              </a:rPr>
              <a:t>link_to</a:t>
            </a:r>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a:t>
            </a:r>
            <a:r>
              <a:rPr lang="en-US" sz="2800" b="0" dirty="0">
                <a:solidFill>
                  <a:srgbClr val="9F1410"/>
                </a:solidFill>
                <a:latin typeface="Menlo-Regular" panose="020B0609030804020204" pitchFamily="49" charset="0"/>
              </a:rPr>
              <a:t>Edit</a:t>
            </a:r>
            <a:r>
              <a:rPr lang="en-US" sz="2800" b="0" dirty="0">
                <a:solidFill>
                  <a:srgbClr val="B000B2"/>
                </a:solidFill>
                <a:latin typeface="Menlo-Regular" panose="020B0609030804020204" pitchFamily="49" charset="0"/>
              </a:rPr>
              <a:t>"</a:t>
            </a:r>
            <a:r>
              <a:rPr lang="en-US" sz="2800" b="0" dirty="0">
                <a:solidFill>
                  <a:srgbClr val="3B2322"/>
                </a:solidFill>
                <a:latin typeface="Menlo-Regular" panose="020B0609030804020204" pitchFamily="49" charset="0"/>
              </a:rPr>
              <a:t>, </a:t>
            </a:r>
            <a:r>
              <a:rPr lang="en-US" sz="2800" b="0" dirty="0" err="1">
                <a:solidFill>
                  <a:srgbClr val="3B2322"/>
                </a:solidFill>
                <a:latin typeface="Menlo-Regular" panose="020B0609030804020204" pitchFamily="49" charset="0"/>
              </a:rPr>
              <a:t>edit_item_path</a:t>
            </a:r>
            <a:r>
              <a:rPr lang="en-US" sz="2800" b="0" dirty="0">
                <a:solidFill>
                  <a:srgbClr val="3B2322"/>
                </a:solidFill>
                <a:latin typeface="Menlo-Regular" panose="020B0609030804020204" pitchFamily="49" charset="0"/>
              </a:rPr>
              <a:t>(item) </a:t>
            </a:r>
            <a:r>
              <a:rPr lang="en-US" sz="2800" b="0" dirty="0">
                <a:solidFill>
                  <a:srgbClr val="B000B2"/>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&lt;%=</a:t>
            </a:r>
            <a:r>
              <a:rPr lang="en-US" sz="2800" b="0" dirty="0">
                <a:solidFill>
                  <a:srgbClr val="3B2322"/>
                </a:solidFill>
                <a:latin typeface="Menlo-Regular" panose="020B0609030804020204" pitchFamily="49" charset="0"/>
              </a:rPr>
              <a:t> </a:t>
            </a:r>
            <a:r>
              <a:rPr lang="en-US" sz="2800" b="0" dirty="0" err="1">
                <a:solidFill>
                  <a:srgbClr val="3B2322"/>
                </a:solidFill>
                <a:latin typeface="Menlo-Regular" panose="020B0609030804020204" pitchFamily="49" charset="0"/>
              </a:rPr>
              <a:t>link_to</a:t>
            </a:r>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a:t>
            </a:r>
            <a:r>
              <a:rPr lang="en-US" sz="2800" b="0" dirty="0">
                <a:solidFill>
                  <a:srgbClr val="9F1410"/>
                </a:solidFill>
                <a:latin typeface="Menlo-Regular" panose="020B0609030804020204" pitchFamily="49" charset="0"/>
              </a:rPr>
              <a:t>Show this item</a:t>
            </a:r>
            <a:r>
              <a:rPr lang="en-US" sz="2800" b="0" dirty="0">
                <a:solidFill>
                  <a:srgbClr val="B000B2"/>
                </a:solidFill>
                <a:latin typeface="Menlo-Regular" panose="020B0609030804020204" pitchFamily="49" charset="0"/>
              </a:rPr>
              <a:t>"</a:t>
            </a:r>
            <a:r>
              <a:rPr lang="en-US" sz="2800" b="0" dirty="0">
                <a:solidFill>
                  <a:srgbClr val="3B2322"/>
                </a:solidFill>
                <a:latin typeface="Menlo-Regular" panose="020B0609030804020204" pitchFamily="49" charset="0"/>
              </a:rPr>
              <a:t>, item </a:t>
            </a:r>
            <a:r>
              <a:rPr lang="en-US" sz="2800" b="0" dirty="0">
                <a:solidFill>
                  <a:srgbClr val="B000B2"/>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p</a:t>
            </a:r>
            <a:r>
              <a:rPr lang="en-US" sz="2800" b="0" dirty="0">
                <a:solidFill>
                  <a:srgbClr val="13939F"/>
                </a:solidFill>
                <a:latin typeface="Menlo-Regular" panose="020B0609030804020204" pitchFamily="49" charset="0"/>
              </a:rPr>
              <a:t>&gt;</a:t>
            </a:r>
          </a:p>
          <a:p>
            <a:r>
              <a:rPr lang="en-US" sz="2800" b="0" dirty="0">
                <a:solidFill>
                  <a:srgbClr val="13939F"/>
                </a:solidFill>
                <a:latin typeface="Menlo-Regular" panose="020B0609030804020204" pitchFamily="49" charset="0"/>
              </a:rPr>
              <a:t>&lt;/</a:t>
            </a:r>
            <a:r>
              <a:rPr lang="en-US" sz="2800" b="0" dirty="0">
                <a:solidFill>
                  <a:srgbClr val="3B2322"/>
                </a:solidFill>
                <a:latin typeface="Menlo-Regular" panose="020B0609030804020204" pitchFamily="49" charset="0"/>
              </a:rPr>
              <a:t>turbo-frame</a:t>
            </a:r>
            <a:r>
              <a:rPr lang="en-US" sz="2800" b="0" dirty="0">
                <a:solidFill>
                  <a:srgbClr val="13939F"/>
                </a:solidFill>
                <a:latin typeface="Menlo-Regular" panose="020B0609030804020204" pitchFamily="49" charset="0"/>
              </a:rPr>
              <a:t>&gt;</a:t>
            </a:r>
            <a:endParaRPr lang="en-US" dirty="0"/>
          </a:p>
        </p:txBody>
      </p:sp>
    </p:spTree>
    <p:extLst>
      <p:ext uri="{BB962C8B-B14F-4D97-AF65-F5344CB8AC3E}">
        <p14:creationId xmlns:p14="http://schemas.microsoft.com/office/powerpoint/2010/main" val="319621912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E2561-61E7-D830-54CD-CEB6049A86DA}"/>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194D698D-345F-71C3-D838-B5E10702EFB9}"/>
              </a:ext>
            </a:extLst>
          </p:cNvPr>
          <p:cNvSpPr>
            <a:spLocks noGrp="1"/>
          </p:cNvSpPr>
          <p:nvPr>
            <p:ph idx="1"/>
          </p:nvPr>
        </p:nvSpPr>
        <p:spPr/>
        <p:txBody>
          <a:bodyPr>
            <a:normAutofit fontScale="92500" lnSpcReduction="20000"/>
          </a:bodyPr>
          <a:lstStyle/>
          <a:p>
            <a:r>
              <a:rPr lang="en-US" sz="2800" dirty="0">
                <a:solidFill>
                  <a:srgbClr val="B000B2"/>
                </a:solidFill>
                <a:latin typeface="Menlo-Regular" panose="020B0609030804020204" pitchFamily="49" charset="0"/>
              </a:rPr>
              <a:t># </a:t>
            </a:r>
            <a:r>
              <a:rPr lang="en-US" dirty="0"/>
              <a:t>items/</a:t>
            </a:r>
            <a:r>
              <a:rPr lang="en-US" dirty="0" err="1"/>
              <a:t>edit.html.erb</a:t>
            </a:r>
            <a:endParaRPr lang="en-US" sz="2800" dirty="0">
              <a:solidFill>
                <a:srgbClr val="B000B2"/>
              </a:solidFill>
              <a:latin typeface="Menlo-Regular" panose="020B0609030804020204" pitchFamily="49" charset="0"/>
            </a:endParaRPr>
          </a:p>
          <a:p>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content_for</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:title</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Editing item</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p>
          <a:p>
            <a:r>
              <a:rPr lang="en-US" sz="2800" dirty="0">
                <a:solidFill>
                  <a:srgbClr val="13939F"/>
                </a:solidFill>
                <a:latin typeface="Menlo-Regular" panose="020B0609030804020204" pitchFamily="49" charset="0"/>
              </a:rPr>
              <a:t>&lt;</a:t>
            </a:r>
            <a:r>
              <a:rPr lang="en-US" sz="2800" dirty="0">
                <a:solidFill>
                  <a:srgbClr val="3B2322"/>
                </a:solidFill>
                <a:latin typeface="Menlo-Regular" panose="020B0609030804020204" pitchFamily="49" charset="0"/>
              </a:rPr>
              <a:t>turbo-frame</a:t>
            </a:r>
            <a:r>
              <a:rPr lang="en-US" sz="2800" dirty="0">
                <a:solidFill>
                  <a:srgbClr val="13939F"/>
                </a:solidFill>
                <a:latin typeface="Menlo-Regular" panose="020B0609030804020204" pitchFamily="49" charset="0"/>
              </a:rPr>
              <a:t> </a:t>
            </a:r>
            <a:r>
              <a:rPr lang="en-US" sz="2800" dirty="0">
                <a:solidFill>
                  <a:srgbClr val="149802"/>
                </a:solidFill>
                <a:latin typeface="Menlo-Regular" panose="020B0609030804020204" pitchFamily="49" charset="0"/>
              </a:rPr>
              <a:t>id</a:t>
            </a:r>
            <a:r>
              <a:rPr lang="en-US" sz="2800" dirty="0">
                <a:solidFill>
                  <a:srgbClr val="13939F"/>
                </a:solidFill>
                <a:latin typeface="Menlo-Regular" panose="020B0609030804020204" pitchFamily="49" charset="0"/>
              </a:rPr>
              <a:t>=</a:t>
            </a:r>
            <a:r>
              <a:rPr lang="en-US" sz="2800" dirty="0">
                <a:solidFill>
                  <a:srgbClr val="9F1410"/>
                </a:solidFill>
                <a:latin typeface="Menlo-Regular" panose="020B0609030804020204" pitchFamily="49" charset="0"/>
              </a:rPr>
              <a:t>"</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dom_id</a:t>
            </a:r>
            <a:r>
              <a:rPr lang="en-US" sz="2800" dirty="0">
                <a:solidFill>
                  <a:srgbClr val="3B2322"/>
                </a:solidFill>
                <a:latin typeface="Menlo-Regular" panose="020B0609030804020204" pitchFamily="49" charset="0"/>
              </a:rPr>
              <a:t>(</a:t>
            </a:r>
            <a:r>
              <a:rPr lang="en-US" sz="2800" dirty="0">
                <a:solidFill>
                  <a:srgbClr val="13939F"/>
                </a:solidFill>
                <a:latin typeface="Menlo-Regular" panose="020B0609030804020204" pitchFamily="49" charset="0"/>
              </a:rPr>
              <a:t>@item</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r>
              <a:rPr lang="en-US" sz="2800" dirty="0">
                <a:solidFill>
                  <a:srgbClr val="9F1410"/>
                </a:solidFill>
                <a:latin typeface="Menlo-Regular" panose="020B0609030804020204" pitchFamily="49" charset="0"/>
              </a:rPr>
              <a:t>"</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h1</a:t>
            </a:r>
            <a:r>
              <a:rPr lang="en-US" sz="2800" dirty="0">
                <a:solidFill>
                  <a:srgbClr val="13939F"/>
                </a:solidFill>
                <a:latin typeface="Menlo-Regular" panose="020B0609030804020204" pitchFamily="49" charset="0"/>
              </a:rPr>
              <a:t>&gt;</a:t>
            </a:r>
            <a:r>
              <a:rPr lang="en-US" sz="2800" dirty="0">
                <a:solidFill>
                  <a:srgbClr val="B000B2"/>
                </a:solidFill>
                <a:latin typeface="Menlo-Regular" panose="020B0609030804020204" pitchFamily="49" charset="0"/>
              </a:rPr>
              <a:t>Editing item</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h1</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render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form</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item</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@item</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div</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link_to</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Cancel</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items_path</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div</a:t>
            </a:r>
            <a:r>
              <a:rPr lang="en-US" sz="2800" dirty="0">
                <a:solidFill>
                  <a:srgbClr val="13939F"/>
                </a:solidFill>
                <a:latin typeface="Menlo-Regular" panose="020B0609030804020204" pitchFamily="49" charset="0"/>
              </a:rPr>
              <a:t>&gt;</a:t>
            </a:r>
          </a:p>
          <a:p>
            <a:r>
              <a:rPr lang="en-US" sz="2800" dirty="0">
                <a:solidFill>
                  <a:srgbClr val="13939F"/>
                </a:solidFill>
                <a:latin typeface="Menlo-Regular" panose="020B0609030804020204" pitchFamily="49" charset="0"/>
              </a:rPr>
              <a:t>&lt;/</a:t>
            </a:r>
            <a:r>
              <a:rPr lang="en-US" sz="2800" dirty="0">
                <a:solidFill>
                  <a:srgbClr val="3B2322"/>
                </a:solidFill>
                <a:latin typeface="Menlo-Regular" panose="020B0609030804020204" pitchFamily="49" charset="0"/>
              </a:rPr>
              <a:t>turbo-frame</a:t>
            </a:r>
            <a:r>
              <a:rPr lang="en-US" sz="2800" dirty="0">
                <a:solidFill>
                  <a:srgbClr val="13939F"/>
                </a:solidFill>
                <a:latin typeface="Menlo-Regular" panose="020B0609030804020204" pitchFamily="49" charset="0"/>
              </a:rPr>
              <a:t>&gt;</a:t>
            </a:r>
            <a:endParaRPr lang="en-US" dirty="0"/>
          </a:p>
        </p:txBody>
      </p:sp>
    </p:spTree>
    <p:extLst>
      <p:ext uri="{BB962C8B-B14F-4D97-AF65-F5344CB8AC3E}">
        <p14:creationId xmlns:p14="http://schemas.microsoft.com/office/powerpoint/2010/main" val="81729219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725EC-4490-CCF2-A54D-23EFFE2B9712}"/>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0BB49E36-1BC0-426B-9B98-B47C955DF65A}"/>
              </a:ext>
            </a:extLst>
          </p:cNvPr>
          <p:cNvSpPr>
            <a:spLocks noGrp="1"/>
          </p:cNvSpPr>
          <p:nvPr>
            <p:ph idx="1"/>
          </p:nvPr>
        </p:nvSpPr>
        <p:spPr/>
        <p:txBody>
          <a:bodyPr/>
          <a:lstStyle/>
          <a:p>
            <a:r>
              <a:rPr lang="en-US" sz="2800" dirty="0">
                <a:solidFill>
                  <a:srgbClr val="B000B2"/>
                </a:solidFill>
                <a:latin typeface="Menlo-Regular" panose="020B0609030804020204" pitchFamily="49" charset="0"/>
              </a:rPr>
              <a:t># </a:t>
            </a:r>
            <a:r>
              <a:rPr lang="en-US" dirty="0"/>
              <a:t>views/items/</a:t>
            </a:r>
            <a:r>
              <a:rPr lang="en-US" dirty="0" err="1"/>
              <a:t>update.turbo_stream.erb</a:t>
            </a:r>
            <a:endParaRPr lang="en-US" sz="2800" dirty="0">
              <a:solidFill>
                <a:srgbClr val="B000B2"/>
              </a:solidFill>
              <a:latin typeface="Menlo-Regular" panose="020B0609030804020204" pitchFamily="49" charset="0"/>
            </a:endParaRPr>
          </a:p>
          <a:p>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turbo_stream.replace</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dom_id</a:t>
            </a:r>
            <a:r>
              <a:rPr lang="en-US" sz="2800" dirty="0">
                <a:solidFill>
                  <a:srgbClr val="3B2322"/>
                </a:solidFill>
                <a:latin typeface="Menlo-Regular" panose="020B0609030804020204" pitchFamily="49" charset="0"/>
              </a:rPr>
              <a:t>(</a:t>
            </a:r>
            <a:r>
              <a:rPr lang="en-US" sz="2800" dirty="0">
                <a:solidFill>
                  <a:srgbClr val="13939F"/>
                </a:solidFill>
                <a:latin typeface="Menlo-Regular" panose="020B0609030804020204" pitchFamily="49" charset="0"/>
              </a:rPr>
              <a:t>@item</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partial</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item</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locals</a:t>
            </a:r>
            <a:r>
              <a:rPr lang="en-US" sz="2800" dirty="0">
                <a:solidFill>
                  <a:srgbClr val="3B2322"/>
                </a:solidFill>
                <a:latin typeface="Menlo-Regular" panose="020B0609030804020204" pitchFamily="49" charset="0"/>
              </a:rPr>
              <a:t>: { </a:t>
            </a:r>
            <a:r>
              <a:rPr lang="en-US" sz="2800" dirty="0">
                <a:solidFill>
                  <a:srgbClr val="9F1410"/>
                </a:solidFill>
                <a:latin typeface="Menlo-Regular" panose="020B0609030804020204" pitchFamily="49" charset="0"/>
              </a:rPr>
              <a:t>item</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@item</a:t>
            </a:r>
            <a:r>
              <a:rPr lang="en-US" sz="2800" dirty="0">
                <a:solidFill>
                  <a:srgbClr val="3B2322"/>
                </a:solidFill>
                <a:latin typeface="Menlo-Regular" panose="020B0609030804020204" pitchFamily="49" charset="0"/>
              </a:rPr>
              <a:t> } </a:t>
            </a:r>
            <a:r>
              <a:rPr lang="en-US" sz="2800" dirty="0">
                <a:solidFill>
                  <a:srgbClr val="B000B2"/>
                </a:solidFill>
                <a:latin typeface="Menlo-Regular" panose="020B0609030804020204" pitchFamily="49" charset="0"/>
              </a:rPr>
              <a:t>%&gt;</a:t>
            </a:r>
            <a:endParaRPr lang="en-US" dirty="0"/>
          </a:p>
        </p:txBody>
      </p:sp>
    </p:spTree>
    <p:extLst>
      <p:ext uri="{BB962C8B-B14F-4D97-AF65-F5344CB8AC3E}">
        <p14:creationId xmlns:p14="http://schemas.microsoft.com/office/powerpoint/2010/main" val="225466420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F9EEA4-CFD9-DCCA-7D40-95DAEE4E0D2D}"/>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49EC8C69-977E-92BC-31F6-0119D6E8D59E}"/>
              </a:ext>
            </a:extLst>
          </p:cNvPr>
          <p:cNvSpPr>
            <a:spLocks noGrp="1"/>
          </p:cNvSpPr>
          <p:nvPr>
            <p:ph idx="1"/>
          </p:nvPr>
        </p:nvSpPr>
        <p:spPr/>
        <p:txBody>
          <a:bodyPr>
            <a:normAutofit fontScale="55000" lnSpcReduction="20000"/>
          </a:bodyPr>
          <a:lstStyle/>
          <a:p>
            <a:r>
              <a:rPr lang="en-US" sz="2800" dirty="0">
                <a:solidFill>
                  <a:srgbClr val="3B2322"/>
                </a:solidFill>
                <a:latin typeface="Menlo-Regular" panose="020B0609030804020204" pitchFamily="49" charset="0"/>
              </a:rPr>
              <a:t> </a:t>
            </a:r>
            <a:r>
              <a:rPr lang="en-US" sz="2800" dirty="0">
                <a:solidFill>
                  <a:srgbClr val="3200CA"/>
                </a:solidFill>
                <a:latin typeface="Menlo-Regular" panose="020B0609030804020204" pitchFamily="49" charset="0"/>
              </a:rPr>
              <a:t># PATCH/PUT /items/1 or /</a:t>
            </a:r>
            <a:r>
              <a:rPr lang="en-US" sz="2800" dirty="0" err="1">
                <a:solidFill>
                  <a:srgbClr val="3200CA"/>
                </a:solidFill>
                <a:latin typeface="Menlo-Regular" panose="020B0609030804020204" pitchFamily="49" charset="0"/>
              </a:rPr>
              <a:t>items.json</a:t>
            </a:r>
            <a:endParaRPr lang="en-US" sz="2800" dirty="0">
              <a:solidFill>
                <a:srgbClr val="3200CA"/>
              </a:solidFill>
              <a:latin typeface="Menlo-Regular" panose="020B0609030804020204" pitchFamily="49" charset="0"/>
            </a:endParaRP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def</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update</a:t>
            </a:r>
          </a:p>
          <a:p>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respond_to</a:t>
            </a:r>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do</a:t>
            </a:r>
            <a:r>
              <a:rPr lang="en-US" sz="2800" dirty="0">
                <a:solidFill>
                  <a:srgbClr val="3B2322"/>
                </a:solidFill>
                <a:latin typeface="Menlo-Regular" panose="020B0609030804020204" pitchFamily="49" charset="0"/>
              </a:rPr>
              <a:t> |format|</a:t>
            </a:r>
          </a:p>
          <a:p>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if</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a:t>
            </a:r>
            <a:r>
              <a:rPr lang="en-US" sz="2800" dirty="0" err="1">
                <a:solidFill>
                  <a:srgbClr val="13939F"/>
                </a:solidFill>
                <a:latin typeface="Menlo-Regular" panose="020B0609030804020204" pitchFamily="49" charset="0"/>
              </a:rPr>
              <a:t>item</a:t>
            </a:r>
            <a:r>
              <a:rPr lang="en-US" sz="2800" dirty="0" err="1">
                <a:solidFill>
                  <a:srgbClr val="3B2322"/>
                </a:solidFill>
                <a:latin typeface="Menlo-Regular" panose="020B0609030804020204" pitchFamily="49" charset="0"/>
              </a:rPr>
              <a:t>.update</a:t>
            </a:r>
            <a:r>
              <a:rPr lang="en-US" sz="2800" dirty="0">
                <a:solidFill>
                  <a:srgbClr val="3B2322"/>
                </a:solidFill>
                <a:latin typeface="Menlo-Regular" panose="020B0609030804020204" pitchFamily="49" charset="0"/>
              </a:rPr>
              <a:t>(</a:t>
            </a:r>
            <a:r>
              <a:rPr lang="en-US" sz="2800" dirty="0" err="1">
                <a:solidFill>
                  <a:srgbClr val="3B2322"/>
                </a:solidFill>
                <a:latin typeface="Menlo-Regular" panose="020B0609030804020204" pitchFamily="49" charset="0"/>
              </a:rPr>
              <a:t>item_params</a:t>
            </a:r>
            <a:r>
              <a:rPr lang="en-US" sz="2800" dirty="0">
                <a:solidFill>
                  <a:srgbClr val="3B2322"/>
                </a:solidFill>
                <a:latin typeface="Menlo-Regular" panose="020B0609030804020204" pitchFamily="49" charset="0"/>
              </a:rPr>
              <a:t>)</a:t>
            </a:r>
          </a:p>
          <a:p>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format.html</a:t>
            </a:r>
            <a:r>
              <a:rPr lang="en-US" sz="2800" dirty="0">
                <a:solidFill>
                  <a:srgbClr val="3B2322"/>
                </a:solidFill>
                <a:latin typeface="Menlo-Regular" panose="020B0609030804020204" pitchFamily="49" charset="0"/>
              </a:rPr>
              <a:t> { </a:t>
            </a:r>
            <a:r>
              <a:rPr lang="en-US" sz="2800" dirty="0" err="1">
                <a:solidFill>
                  <a:srgbClr val="3B2322"/>
                </a:solidFill>
                <a:latin typeface="Menlo-Regular" panose="020B0609030804020204" pitchFamily="49" charset="0"/>
              </a:rPr>
              <a:t>redirect_to</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@item</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notice</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Item was successfully updated.</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status</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a:t>
            </a:r>
            <a:r>
              <a:rPr lang="en-US" sz="2800" dirty="0" err="1">
                <a:solidFill>
                  <a:srgbClr val="9F1410"/>
                </a:solidFill>
                <a:latin typeface="Menlo-Regular" panose="020B0609030804020204" pitchFamily="49" charset="0"/>
              </a:rPr>
              <a:t>see_other</a:t>
            </a:r>
            <a:r>
              <a:rPr lang="en-US" sz="2800" dirty="0">
                <a:solidFill>
                  <a:srgbClr val="3B2322"/>
                </a:solidFill>
                <a:latin typeface="Menlo-Regular" panose="020B0609030804020204" pitchFamily="49" charset="0"/>
              </a:rPr>
              <a:t> }</a:t>
            </a:r>
          </a:p>
          <a:p>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format.json</a:t>
            </a:r>
            <a:r>
              <a:rPr lang="en-US" sz="2800" dirty="0">
                <a:solidFill>
                  <a:srgbClr val="3B2322"/>
                </a:solidFill>
                <a:latin typeface="Menlo-Regular" panose="020B0609030804020204" pitchFamily="49" charset="0"/>
              </a:rPr>
              <a:t> { render </a:t>
            </a:r>
            <a:r>
              <a:rPr lang="en-US" sz="2800" dirty="0">
                <a:solidFill>
                  <a:srgbClr val="9F1410"/>
                </a:solidFill>
                <a:latin typeface="Menlo-Regular" panose="020B0609030804020204" pitchFamily="49" charset="0"/>
              </a:rPr>
              <a:t>:show</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status</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:ok</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location</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@item</a:t>
            </a:r>
            <a:r>
              <a:rPr lang="en-US" sz="2800" dirty="0">
                <a:solidFill>
                  <a:srgbClr val="3B2322"/>
                </a:solidFill>
                <a:latin typeface="Menlo-Regular" panose="020B0609030804020204" pitchFamily="49" charset="0"/>
              </a:rPr>
              <a:t> }</a:t>
            </a:r>
          </a:p>
          <a:p>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format.turbo_stream</a:t>
            </a:r>
            <a:endParaRPr lang="en-US" sz="2800" dirty="0">
              <a:solidFill>
                <a:srgbClr val="3B2322"/>
              </a:solidFill>
              <a:latin typeface="Menlo-Regular" panose="020B0609030804020204" pitchFamily="49" charset="0"/>
            </a:endParaRPr>
          </a:p>
          <a:p>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else</a:t>
            </a:r>
          </a:p>
          <a:p>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format.html</a:t>
            </a:r>
            <a:r>
              <a:rPr lang="en-US" sz="2800" dirty="0">
                <a:solidFill>
                  <a:srgbClr val="3B2322"/>
                </a:solidFill>
                <a:latin typeface="Menlo-Regular" panose="020B0609030804020204" pitchFamily="49" charset="0"/>
              </a:rPr>
              <a:t> { render </a:t>
            </a:r>
            <a:r>
              <a:rPr lang="en-US" sz="2800" dirty="0">
                <a:solidFill>
                  <a:srgbClr val="9F1410"/>
                </a:solidFill>
                <a:latin typeface="Menlo-Regular" panose="020B0609030804020204" pitchFamily="49" charset="0"/>
              </a:rPr>
              <a:t>:edit</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status</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a:t>
            </a:r>
            <a:r>
              <a:rPr lang="en-US" sz="2800" dirty="0" err="1">
                <a:solidFill>
                  <a:srgbClr val="9F1410"/>
                </a:solidFill>
                <a:latin typeface="Menlo-Regular" panose="020B0609030804020204" pitchFamily="49" charset="0"/>
              </a:rPr>
              <a:t>unprocessable_content</a:t>
            </a:r>
            <a:r>
              <a:rPr lang="en-US" sz="2800" dirty="0">
                <a:solidFill>
                  <a:srgbClr val="3B2322"/>
                </a:solidFill>
                <a:latin typeface="Menlo-Regular" panose="020B0609030804020204" pitchFamily="49" charset="0"/>
              </a:rPr>
              <a:t> }</a:t>
            </a:r>
          </a:p>
          <a:p>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format.json</a:t>
            </a:r>
            <a:r>
              <a:rPr lang="en-US" sz="2800" dirty="0">
                <a:solidFill>
                  <a:srgbClr val="3B2322"/>
                </a:solidFill>
                <a:latin typeface="Menlo-Regular" panose="020B0609030804020204" pitchFamily="49" charset="0"/>
              </a:rPr>
              <a:t> { render </a:t>
            </a:r>
            <a:r>
              <a:rPr lang="en-US" sz="2800" dirty="0" err="1">
                <a:solidFill>
                  <a:srgbClr val="9F1410"/>
                </a:solidFill>
                <a:latin typeface="Menlo-Regular" panose="020B0609030804020204" pitchFamily="49" charset="0"/>
              </a:rPr>
              <a:t>json</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a:t>
            </a:r>
            <a:r>
              <a:rPr lang="en-US" sz="2800" dirty="0" err="1">
                <a:solidFill>
                  <a:srgbClr val="13939F"/>
                </a:solidFill>
                <a:latin typeface="Menlo-Regular" panose="020B0609030804020204" pitchFamily="49" charset="0"/>
              </a:rPr>
              <a:t>item</a:t>
            </a:r>
            <a:r>
              <a:rPr lang="en-US" sz="2800" dirty="0" err="1">
                <a:solidFill>
                  <a:srgbClr val="3B2322"/>
                </a:solidFill>
                <a:latin typeface="Menlo-Regular" panose="020B0609030804020204" pitchFamily="49" charset="0"/>
              </a:rPr>
              <a:t>.errors</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status</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a:t>
            </a:r>
            <a:r>
              <a:rPr lang="en-US" sz="2800" dirty="0" err="1">
                <a:solidFill>
                  <a:srgbClr val="9F1410"/>
                </a:solidFill>
                <a:latin typeface="Menlo-Regular" panose="020B0609030804020204" pitchFamily="49" charset="0"/>
              </a:rPr>
              <a:t>unprocessable_content</a:t>
            </a:r>
            <a:r>
              <a:rPr lang="en-US" sz="2800" dirty="0">
                <a:solidFill>
                  <a:srgbClr val="3B2322"/>
                </a:solidFill>
                <a:latin typeface="Menlo-Regular" panose="020B0609030804020204" pitchFamily="49" charset="0"/>
              </a:rPr>
              <a:t> }</a:t>
            </a:r>
          </a:p>
          <a:p>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format.turbo_stream</a:t>
            </a:r>
            <a:r>
              <a:rPr lang="en-US" sz="2800" dirty="0">
                <a:solidFill>
                  <a:srgbClr val="3B2322"/>
                </a:solidFill>
                <a:latin typeface="Menlo-Regular" panose="020B0609030804020204" pitchFamily="49" charset="0"/>
              </a:rPr>
              <a:t> { render </a:t>
            </a:r>
            <a:r>
              <a:rPr lang="en-US" sz="2800" dirty="0">
                <a:solidFill>
                  <a:srgbClr val="9F1410"/>
                </a:solidFill>
                <a:latin typeface="Menlo-Regular" panose="020B0609030804020204" pitchFamily="49" charset="0"/>
              </a:rPr>
              <a:t>:edit</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status</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a:t>
            </a:r>
            <a:r>
              <a:rPr lang="en-US" sz="2800" dirty="0" err="1">
                <a:solidFill>
                  <a:srgbClr val="9F1410"/>
                </a:solidFill>
                <a:latin typeface="Menlo-Regular" panose="020B0609030804020204" pitchFamily="49" charset="0"/>
              </a:rPr>
              <a:t>unprocessable_content</a:t>
            </a:r>
            <a:r>
              <a:rPr lang="en-US" sz="2800" dirty="0">
                <a:solidFill>
                  <a:srgbClr val="3B2322"/>
                </a:solidFill>
                <a:latin typeface="Menlo-Regular" panose="020B0609030804020204" pitchFamily="49" charset="0"/>
              </a:rPr>
              <a:t> }</a:t>
            </a:r>
          </a:p>
          <a:p>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end</a:t>
            </a:r>
          </a:p>
          <a:p>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end</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end</a:t>
            </a:r>
            <a:endParaRPr lang="en-US" dirty="0"/>
          </a:p>
        </p:txBody>
      </p:sp>
    </p:spTree>
    <p:extLst>
      <p:ext uri="{BB962C8B-B14F-4D97-AF65-F5344CB8AC3E}">
        <p14:creationId xmlns:p14="http://schemas.microsoft.com/office/powerpoint/2010/main" val="325968495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658B5-E42A-8270-1751-F0CF7C98C707}"/>
              </a:ext>
            </a:extLst>
          </p:cNvPr>
          <p:cNvSpPr>
            <a:spLocks noGrp="1"/>
          </p:cNvSpPr>
          <p:nvPr>
            <p:ph type="title"/>
          </p:nvPr>
        </p:nvSpPr>
        <p:spPr/>
        <p:txBody>
          <a:bodyPr>
            <a:normAutofit fontScale="90000"/>
          </a:bodyPr>
          <a:lstStyle/>
          <a:p>
            <a:r>
              <a:rPr lang="en-US" dirty="0"/>
              <a:t>Next Up: Delete</a:t>
            </a:r>
          </a:p>
        </p:txBody>
      </p:sp>
      <p:sp>
        <p:nvSpPr>
          <p:cNvPr id="3" name="Content Placeholder 2">
            <a:extLst>
              <a:ext uri="{FF2B5EF4-FFF2-40B4-BE49-F238E27FC236}">
                <a16:creationId xmlns:a16="http://schemas.microsoft.com/office/drawing/2014/main" id="{933F6B1E-1174-93E2-F800-43865A9C263F}"/>
              </a:ext>
            </a:extLst>
          </p:cNvPr>
          <p:cNvSpPr>
            <a:spLocks noGrp="1"/>
          </p:cNvSpPr>
          <p:nvPr>
            <p:ph idx="1"/>
          </p:nvPr>
        </p:nvSpPr>
        <p:spPr/>
        <p:txBody>
          <a:bodyPr>
            <a:normAutofit fontScale="47500" lnSpcReduction="20000"/>
          </a:bodyPr>
          <a:lstStyle/>
          <a:p>
            <a:r>
              <a:rPr lang="en-US" sz="2800" dirty="0">
                <a:solidFill>
                  <a:srgbClr val="13939F"/>
                </a:solidFill>
                <a:latin typeface="Menlo-Regular" panose="020B0609030804020204" pitchFamily="49" charset="0"/>
              </a:rPr>
              <a:t># </a:t>
            </a:r>
            <a:r>
              <a:rPr lang="en-US" dirty="0"/>
              <a:t>views/items/_</a:t>
            </a:r>
            <a:r>
              <a:rPr lang="en-US" dirty="0" err="1"/>
              <a:t>item.html.erb</a:t>
            </a:r>
            <a:endParaRPr lang="en-US" sz="2800" dirty="0">
              <a:solidFill>
                <a:srgbClr val="13939F"/>
              </a:solidFill>
              <a:latin typeface="Menlo-Regular" panose="020B0609030804020204" pitchFamily="49" charset="0"/>
            </a:endParaRPr>
          </a:p>
          <a:p>
            <a:r>
              <a:rPr lang="en-US" sz="2800" dirty="0">
                <a:solidFill>
                  <a:srgbClr val="13939F"/>
                </a:solidFill>
                <a:latin typeface="Menlo-Regular" panose="020B0609030804020204" pitchFamily="49" charset="0"/>
              </a:rPr>
              <a:t>&lt;</a:t>
            </a:r>
            <a:r>
              <a:rPr lang="en-US" sz="2800" dirty="0">
                <a:solidFill>
                  <a:srgbClr val="3B2322"/>
                </a:solidFill>
                <a:latin typeface="Menlo-Regular" panose="020B0609030804020204" pitchFamily="49" charset="0"/>
              </a:rPr>
              <a:t>turbo-frame</a:t>
            </a:r>
            <a:r>
              <a:rPr lang="en-US" sz="2800" dirty="0">
                <a:solidFill>
                  <a:srgbClr val="13939F"/>
                </a:solidFill>
                <a:latin typeface="Menlo-Regular" panose="020B0609030804020204" pitchFamily="49" charset="0"/>
              </a:rPr>
              <a:t> </a:t>
            </a:r>
            <a:r>
              <a:rPr lang="en-US" sz="2800" dirty="0">
                <a:solidFill>
                  <a:srgbClr val="149802"/>
                </a:solidFill>
                <a:latin typeface="Menlo-Regular" panose="020B0609030804020204" pitchFamily="49" charset="0"/>
              </a:rPr>
              <a:t>id</a:t>
            </a:r>
            <a:r>
              <a:rPr lang="en-US" sz="2800" dirty="0">
                <a:solidFill>
                  <a:srgbClr val="13939F"/>
                </a:solidFill>
                <a:latin typeface="Menlo-Regular" panose="020B0609030804020204" pitchFamily="49" charset="0"/>
              </a:rPr>
              <a:t>=</a:t>
            </a:r>
            <a:r>
              <a:rPr lang="en-US" sz="2800" dirty="0">
                <a:solidFill>
                  <a:srgbClr val="9F1410"/>
                </a:solidFill>
                <a:latin typeface="Menlo-Regular" panose="020B0609030804020204" pitchFamily="49" charset="0"/>
              </a:rPr>
              <a:t>"</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dom_id</a:t>
            </a:r>
            <a:r>
              <a:rPr lang="en-US" sz="2800" dirty="0">
                <a:solidFill>
                  <a:srgbClr val="3B2322"/>
                </a:solidFill>
                <a:latin typeface="Menlo-Regular" panose="020B0609030804020204" pitchFamily="49" charset="0"/>
              </a:rPr>
              <a:t>(item) </a:t>
            </a:r>
            <a:r>
              <a:rPr lang="en-US" sz="2800" dirty="0">
                <a:solidFill>
                  <a:srgbClr val="B000B2"/>
                </a:solidFill>
                <a:latin typeface="Menlo-Regular" panose="020B0609030804020204" pitchFamily="49" charset="0"/>
              </a:rPr>
              <a:t>%&gt;</a:t>
            </a:r>
            <a:r>
              <a:rPr lang="en-US" sz="2800" dirty="0">
                <a:solidFill>
                  <a:srgbClr val="9F1410"/>
                </a:solidFill>
                <a:latin typeface="Menlo-Regular" panose="020B0609030804020204" pitchFamily="49" charset="0"/>
              </a:rPr>
              <a:t>"</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div</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div</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strong</a:t>
            </a:r>
            <a:r>
              <a:rPr lang="en-US" sz="2800" dirty="0">
                <a:solidFill>
                  <a:srgbClr val="13939F"/>
                </a:solidFill>
                <a:latin typeface="Menlo-Regular" panose="020B0609030804020204" pitchFamily="49" charset="0"/>
              </a:rPr>
              <a:t>&gt;</a:t>
            </a:r>
            <a:r>
              <a:rPr lang="en-US" sz="2800" b="1" dirty="0">
                <a:solidFill>
                  <a:srgbClr val="802A19"/>
                </a:solidFill>
                <a:latin typeface="Menlo-Bold" panose="020B0609030804020204" pitchFamily="49" charset="0"/>
              </a:rPr>
              <a:t>What:</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strong</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&lt;%=</a:t>
            </a:r>
            <a:r>
              <a:rPr lang="en-US" sz="2800" b="0" dirty="0">
                <a:solidFill>
                  <a:srgbClr val="3B2322"/>
                </a:solidFill>
                <a:latin typeface="Menlo-Regular" panose="020B0609030804020204" pitchFamily="49" charset="0"/>
              </a:rPr>
              <a:t> </a:t>
            </a:r>
            <a:r>
              <a:rPr lang="en-US" sz="2800" b="0" dirty="0" err="1">
                <a:solidFill>
                  <a:srgbClr val="3B2322"/>
                </a:solidFill>
                <a:latin typeface="Menlo-Regular" panose="020B0609030804020204" pitchFamily="49" charset="0"/>
              </a:rPr>
              <a:t>item.what</a:t>
            </a:r>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div</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div</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strong</a:t>
            </a:r>
            <a:r>
              <a:rPr lang="en-US" sz="2800" b="0" dirty="0">
                <a:solidFill>
                  <a:srgbClr val="13939F"/>
                </a:solidFill>
                <a:latin typeface="Menlo-Regular" panose="020B0609030804020204" pitchFamily="49" charset="0"/>
              </a:rPr>
              <a:t>&gt;</a:t>
            </a:r>
            <a:r>
              <a:rPr lang="en-US" sz="2800" b="1" dirty="0">
                <a:solidFill>
                  <a:srgbClr val="802A19"/>
                </a:solidFill>
                <a:latin typeface="Menlo-Bold" panose="020B0609030804020204" pitchFamily="49" charset="0"/>
              </a:rPr>
              <a:t>When:</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strong</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&lt;%=</a:t>
            </a:r>
            <a:r>
              <a:rPr lang="en-US" sz="2800" b="0" dirty="0">
                <a:solidFill>
                  <a:srgbClr val="3B2322"/>
                </a:solidFill>
                <a:latin typeface="Menlo-Regular" panose="020B0609030804020204" pitchFamily="49" charset="0"/>
              </a:rPr>
              <a:t> </a:t>
            </a:r>
            <a:r>
              <a:rPr lang="en-US" sz="2800" b="0" dirty="0" err="1">
                <a:solidFill>
                  <a:srgbClr val="3B2322"/>
                </a:solidFill>
                <a:latin typeface="Menlo-Regular" panose="020B0609030804020204" pitchFamily="49" charset="0"/>
              </a:rPr>
              <a:t>item.when</a:t>
            </a:r>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div</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div</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p</a:t>
            </a:r>
            <a:r>
              <a:rPr lang="en-US" sz="2800" b="0" dirty="0">
                <a:solidFill>
                  <a:srgbClr val="13939F"/>
                </a:solidFill>
                <a:latin typeface="Menlo-Regular" panose="020B0609030804020204" pitchFamily="49" charset="0"/>
              </a:rPr>
              <a:t> </a:t>
            </a:r>
            <a:r>
              <a:rPr lang="en-US" sz="2800" b="0" dirty="0">
                <a:solidFill>
                  <a:srgbClr val="149802"/>
                </a:solidFill>
                <a:latin typeface="Menlo-Regular" panose="020B0609030804020204" pitchFamily="49" charset="0"/>
              </a:rPr>
              <a:t>style</a:t>
            </a:r>
            <a:r>
              <a:rPr lang="en-US" sz="2800" b="0" dirty="0">
                <a:solidFill>
                  <a:srgbClr val="13939F"/>
                </a:solidFill>
                <a:latin typeface="Menlo-Regular" panose="020B0609030804020204" pitchFamily="49" charset="0"/>
              </a:rPr>
              <a:t>=</a:t>
            </a:r>
            <a:r>
              <a:rPr lang="en-US" sz="2800" b="0" dirty="0">
                <a:solidFill>
                  <a:srgbClr val="9F1410"/>
                </a:solidFill>
                <a:latin typeface="Menlo-Regular" panose="020B0609030804020204" pitchFamily="49" charset="0"/>
              </a:rPr>
              <a:t>"display: flex; gap: 10px; align-items: center;"</a:t>
            </a:r>
            <a:r>
              <a:rPr lang="en-US" sz="2800" b="0" dirty="0">
                <a:solidFill>
                  <a:srgbClr val="13939F"/>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&lt;%=</a:t>
            </a:r>
            <a:r>
              <a:rPr lang="en-US" sz="2800" b="0" dirty="0">
                <a:solidFill>
                  <a:srgbClr val="3B2322"/>
                </a:solidFill>
                <a:latin typeface="Menlo-Regular" panose="020B0609030804020204" pitchFamily="49" charset="0"/>
              </a:rPr>
              <a:t> </a:t>
            </a:r>
            <a:r>
              <a:rPr lang="en-US" sz="2800" b="0" dirty="0" err="1">
                <a:solidFill>
                  <a:srgbClr val="3B2322"/>
                </a:solidFill>
                <a:latin typeface="Menlo-Regular" panose="020B0609030804020204" pitchFamily="49" charset="0"/>
              </a:rPr>
              <a:t>link_to</a:t>
            </a:r>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a:t>
            </a:r>
            <a:r>
              <a:rPr lang="en-US" sz="2800" b="0" dirty="0">
                <a:solidFill>
                  <a:srgbClr val="9F1410"/>
                </a:solidFill>
                <a:latin typeface="Menlo-Regular" panose="020B0609030804020204" pitchFamily="49" charset="0"/>
              </a:rPr>
              <a:t>Edit</a:t>
            </a:r>
            <a:r>
              <a:rPr lang="en-US" sz="2800" b="0" dirty="0">
                <a:solidFill>
                  <a:srgbClr val="B000B2"/>
                </a:solidFill>
                <a:latin typeface="Menlo-Regular" panose="020B0609030804020204" pitchFamily="49" charset="0"/>
              </a:rPr>
              <a:t>"</a:t>
            </a:r>
            <a:r>
              <a:rPr lang="en-US" sz="2800" b="0" dirty="0">
                <a:solidFill>
                  <a:srgbClr val="3B2322"/>
                </a:solidFill>
                <a:latin typeface="Menlo-Regular" panose="020B0609030804020204" pitchFamily="49" charset="0"/>
              </a:rPr>
              <a:t>, </a:t>
            </a:r>
            <a:r>
              <a:rPr lang="en-US" sz="2800" b="0" dirty="0" err="1">
                <a:solidFill>
                  <a:srgbClr val="3B2322"/>
                </a:solidFill>
                <a:latin typeface="Menlo-Regular" panose="020B0609030804020204" pitchFamily="49" charset="0"/>
              </a:rPr>
              <a:t>edit_item_path</a:t>
            </a:r>
            <a:r>
              <a:rPr lang="en-US" sz="2800" b="0" dirty="0">
                <a:solidFill>
                  <a:srgbClr val="3B2322"/>
                </a:solidFill>
                <a:latin typeface="Menlo-Regular" panose="020B0609030804020204" pitchFamily="49" charset="0"/>
              </a:rPr>
              <a:t>(item) </a:t>
            </a:r>
            <a:r>
              <a:rPr lang="en-US" sz="2800" b="0" dirty="0">
                <a:solidFill>
                  <a:srgbClr val="B000B2"/>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&lt;%=</a:t>
            </a:r>
            <a:r>
              <a:rPr lang="en-US" sz="2800" b="0" dirty="0">
                <a:solidFill>
                  <a:srgbClr val="3B2322"/>
                </a:solidFill>
                <a:latin typeface="Menlo-Regular" panose="020B0609030804020204" pitchFamily="49" charset="0"/>
              </a:rPr>
              <a:t> </a:t>
            </a:r>
            <a:r>
              <a:rPr lang="en-US" sz="2800" b="0" dirty="0" err="1">
                <a:solidFill>
                  <a:srgbClr val="3B2322"/>
                </a:solidFill>
                <a:latin typeface="Menlo-Regular" panose="020B0609030804020204" pitchFamily="49" charset="0"/>
              </a:rPr>
              <a:t>button_to</a:t>
            </a:r>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a:t>
            </a:r>
            <a:r>
              <a:rPr lang="en-US" sz="2800" b="0" dirty="0">
                <a:solidFill>
                  <a:srgbClr val="9F1410"/>
                </a:solidFill>
                <a:latin typeface="Menlo-Regular" panose="020B0609030804020204" pitchFamily="49" charset="0"/>
              </a:rPr>
              <a:t>Delete</a:t>
            </a:r>
            <a:r>
              <a:rPr lang="en-US" sz="2800" b="0" dirty="0">
                <a:solidFill>
                  <a:srgbClr val="B000B2"/>
                </a:solidFill>
                <a:latin typeface="Menlo-Regular" panose="020B0609030804020204" pitchFamily="49" charset="0"/>
              </a:rPr>
              <a:t>"</a:t>
            </a:r>
            <a:r>
              <a:rPr lang="en-US" sz="2800" b="0" dirty="0">
                <a:solidFill>
                  <a:srgbClr val="3B2322"/>
                </a:solidFill>
                <a:latin typeface="Menlo-Regular" panose="020B0609030804020204" pitchFamily="49" charset="0"/>
              </a:rPr>
              <a:t>, item, </a:t>
            </a:r>
            <a:r>
              <a:rPr lang="en-US" sz="2800" b="0" dirty="0">
                <a:solidFill>
                  <a:srgbClr val="9F1410"/>
                </a:solidFill>
                <a:latin typeface="Menlo-Regular" panose="020B0609030804020204" pitchFamily="49" charset="0"/>
              </a:rPr>
              <a:t>method</a:t>
            </a:r>
            <a:r>
              <a:rPr lang="en-US" sz="2800" b="0" dirty="0">
                <a:solidFill>
                  <a:srgbClr val="3B2322"/>
                </a:solidFill>
                <a:latin typeface="Menlo-Regular" panose="020B0609030804020204" pitchFamily="49" charset="0"/>
              </a:rPr>
              <a:t>: </a:t>
            </a:r>
            <a:r>
              <a:rPr lang="en-US" sz="2800" b="0" dirty="0">
                <a:solidFill>
                  <a:srgbClr val="9F1410"/>
                </a:solidFill>
                <a:latin typeface="Menlo-Regular" panose="020B0609030804020204" pitchFamily="49" charset="0"/>
              </a:rPr>
              <a:t>:delete</a:t>
            </a:r>
            <a:r>
              <a:rPr lang="en-US" sz="2800" b="0" dirty="0">
                <a:solidFill>
                  <a:srgbClr val="3B2322"/>
                </a:solidFill>
                <a:latin typeface="Menlo-Regular" panose="020B0609030804020204" pitchFamily="49" charset="0"/>
              </a:rPr>
              <a:t>, </a:t>
            </a:r>
            <a:r>
              <a:rPr lang="en-US" sz="2800" b="0" dirty="0">
                <a:solidFill>
                  <a:srgbClr val="9F1410"/>
                </a:solidFill>
                <a:latin typeface="Menlo-Regular" panose="020B0609030804020204" pitchFamily="49" charset="0"/>
              </a:rPr>
              <a:t>form</a:t>
            </a:r>
            <a:r>
              <a:rPr lang="en-US" sz="2800" b="0" dirty="0">
                <a:solidFill>
                  <a:srgbClr val="3B2322"/>
                </a:solidFill>
                <a:latin typeface="Menlo-Regular" panose="020B0609030804020204" pitchFamily="49" charset="0"/>
              </a:rPr>
              <a:t>: { </a:t>
            </a:r>
            <a:r>
              <a:rPr lang="en-US" sz="2800" b="0" dirty="0">
                <a:solidFill>
                  <a:srgbClr val="9F1410"/>
                </a:solidFill>
                <a:latin typeface="Menlo-Regular" panose="020B0609030804020204" pitchFamily="49" charset="0"/>
              </a:rPr>
              <a:t>style</a:t>
            </a:r>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a:t>
            </a:r>
            <a:r>
              <a:rPr lang="en-US" sz="2800" b="0" dirty="0">
                <a:solidFill>
                  <a:srgbClr val="9F1410"/>
                </a:solidFill>
                <a:latin typeface="Menlo-Regular" panose="020B0609030804020204" pitchFamily="49" charset="0"/>
              </a:rPr>
              <a:t>display: inline;</a:t>
            </a:r>
            <a:r>
              <a:rPr lang="en-US" sz="2800" b="0" dirty="0">
                <a:solidFill>
                  <a:srgbClr val="B000B2"/>
                </a:solidFill>
                <a:latin typeface="Menlo-Regular" panose="020B0609030804020204" pitchFamily="49" charset="0"/>
              </a:rPr>
              <a:t>"</a:t>
            </a:r>
            <a:r>
              <a:rPr lang="en-US" sz="2800" b="0" dirty="0">
                <a:solidFill>
                  <a:srgbClr val="3B2322"/>
                </a:solidFill>
                <a:latin typeface="Menlo-Regular" panose="020B0609030804020204" pitchFamily="49" charset="0"/>
              </a:rPr>
              <a:t> }, </a:t>
            </a:r>
            <a:r>
              <a:rPr lang="en-US" sz="2800" b="0" dirty="0">
                <a:solidFill>
                  <a:srgbClr val="9F1410"/>
                </a:solidFill>
                <a:latin typeface="Menlo-Regular" panose="020B0609030804020204" pitchFamily="49" charset="0"/>
              </a:rPr>
              <a:t>data</a:t>
            </a:r>
            <a:r>
              <a:rPr lang="en-US" sz="2800" b="0" dirty="0">
                <a:solidFill>
                  <a:srgbClr val="3B2322"/>
                </a:solidFill>
                <a:latin typeface="Menlo-Regular" panose="020B0609030804020204" pitchFamily="49" charset="0"/>
              </a:rPr>
              <a:t>: { </a:t>
            </a:r>
            <a:r>
              <a:rPr lang="en-US" sz="2800" b="0" dirty="0" err="1">
                <a:solidFill>
                  <a:srgbClr val="9F1410"/>
                </a:solidFill>
                <a:latin typeface="Menlo-Regular" panose="020B0609030804020204" pitchFamily="49" charset="0"/>
              </a:rPr>
              <a:t>turbo_confirm</a:t>
            </a:r>
            <a:r>
              <a:rPr lang="en-US" sz="2800" b="0" dirty="0">
                <a:solidFill>
                  <a:srgbClr val="3B2322"/>
                </a:solidFill>
                <a:latin typeface="Menlo-Regular" panose="020B0609030804020204" pitchFamily="49" charset="0"/>
              </a:rPr>
              <a:t>: </a:t>
            </a:r>
            <a:r>
              <a:rPr lang="en-US" sz="2800" b="0" dirty="0">
                <a:solidFill>
                  <a:srgbClr val="B000B2"/>
                </a:solidFill>
                <a:latin typeface="Menlo-Regular" panose="020B0609030804020204" pitchFamily="49" charset="0"/>
              </a:rPr>
              <a:t>"</a:t>
            </a:r>
            <a:r>
              <a:rPr lang="en-US" sz="2800" b="0" dirty="0">
                <a:solidFill>
                  <a:srgbClr val="9F1410"/>
                </a:solidFill>
                <a:latin typeface="Menlo-Regular" panose="020B0609030804020204" pitchFamily="49" charset="0"/>
              </a:rPr>
              <a:t>Are you sure?</a:t>
            </a:r>
            <a:r>
              <a:rPr lang="en-US" sz="2800" b="0" dirty="0">
                <a:solidFill>
                  <a:srgbClr val="B000B2"/>
                </a:solidFill>
                <a:latin typeface="Menlo-Regular" panose="020B0609030804020204" pitchFamily="49" charset="0"/>
              </a:rPr>
              <a:t>"</a:t>
            </a:r>
            <a:r>
              <a:rPr lang="en-US" sz="2800" b="0" dirty="0">
                <a:solidFill>
                  <a:srgbClr val="3B2322"/>
                </a:solidFill>
                <a:latin typeface="Menlo-Regular" panose="020B0609030804020204" pitchFamily="49" charset="0"/>
              </a:rPr>
              <a:t> } </a:t>
            </a:r>
            <a:r>
              <a:rPr lang="en-US" sz="2800" b="0" dirty="0">
                <a:solidFill>
                  <a:srgbClr val="B000B2"/>
                </a:solidFill>
                <a:latin typeface="Menlo-Regular" panose="020B0609030804020204" pitchFamily="49" charset="0"/>
              </a:rPr>
              <a:t>%&gt;</a:t>
            </a:r>
          </a:p>
          <a:p>
            <a:r>
              <a:rPr lang="en-US" sz="2800" b="0" dirty="0">
                <a:solidFill>
                  <a:srgbClr val="3B2322"/>
                </a:solidFill>
                <a:latin typeface="Menlo-Regular" panose="020B0609030804020204" pitchFamily="49" charset="0"/>
              </a:rPr>
              <a:t>  </a:t>
            </a:r>
            <a:r>
              <a:rPr lang="en-US" sz="2800" b="0" dirty="0">
                <a:solidFill>
                  <a:srgbClr val="13939F"/>
                </a:solidFill>
                <a:latin typeface="Menlo-Regular" panose="020B0609030804020204" pitchFamily="49" charset="0"/>
              </a:rPr>
              <a:t>&lt;/</a:t>
            </a:r>
            <a:r>
              <a:rPr lang="en-US" sz="2800" b="0" dirty="0">
                <a:solidFill>
                  <a:srgbClr val="9E4C04"/>
                </a:solidFill>
                <a:latin typeface="Menlo-Regular" panose="020B0609030804020204" pitchFamily="49" charset="0"/>
              </a:rPr>
              <a:t>p</a:t>
            </a:r>
            <a:r>
              <a:rPr lang="en-US" sz="2800" b="0" dirty="0">
                <a:solidFill>
                  <a:srgbClr val="13939F"/>
                </a:solidFill>
                <a:latin typeface="Menlo-Regular" panose="020B0609030804020204" pitchFamily="49" charset="0"/>
              </a:rPr>
              <a:t>&gt;</a:t>
            </a:r>
          </a:p>
          <a:p>
            <a:r>
              <a:rPr lang="en-US" sz="2800" b="0" dirty="0">
                <a:solidFill>
                  <a:srgbClr val="13939F"/>
                </a:solidFill>
                <a:latin typeface="Menlo-Regular" panose="020B0609030804020204" pitchFamily="49" charset="0"/>
              </a:rPr>
              <a:t>&lt;/</a:t>
            </a:r>
            <a:r>
              <a:rPr lang="en-US" sz="2800" b="0" dirty="0">
                <a:solidFill>
                  <a:srgbClr val="3B2322"/>
                </a:solidFill>
                <a:latin typeface="Menlo-Regular" panose="020B0609030804020204" pitchFamily="49" charset="0"/>
              </a:rPr>
              <a:t>turbo-frame</a:t>
            </a:r>
            <a:r>
              <a:rPr lang="en-US" sz="2800" b="0" dirty="0">
                <a:solidFill>
                  <a:srgbClr val="13939F"/>
                </a:solidFill>
                <a:latin typeface="Menlo-Regular" panose="020B0609030804020204" pitchFamily="49" charset="0"/>
              </a:rPr>
              <a:t>&gt;</a:t>
            </a:r>
            <a:endParaRPr lang="en-US" dirty="0"/>
          </a:p>
        </p:txBody>
      </p:sp>
    </p:spTree>
    <p:extLst>
      <p:ext uri="{BB962C8B-B14F-4D97-AF65-F5344CB8AC3E}">
        <p14:creationId xmlns:p14="http://schemas.microsoft.com/office/powerpoint/2010/main" val="345269878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57794-FCBA-1646-D410-F8CF096F11AD}"/>
              </a:ext>
            </a:extLst>
          </p:cNvPr>
          <p:cNvSpPr>
            <a:spLocks noGrp="1"/>
          </p:cNvSpPr>
          <p:nvPr>
            <p:ph type="title"/>
          </p:nvPr>
        </p:nvSpPr>
        <p:spPr/>
        <p:txBody>
          <a:bodyPr>
            <a:normAutofit fontScale="90000"/>
          </a:bodyPr>
          <a:lstStyle/>
          <a:p>
            <a:r>
              <a:rPr lang="en-US" dirty="0"/>
              <a:t>Next Up: Delete</a:t>
            </a:r>
          </a:p>
        </p:txBody>
      </p:sp>
      <p:sp>
        <p:nvSpPr>
          <p:cNvPr id="3" name="Content Placeholder 2">
            <a:extLst>
              <a:ext uri="{FF2B5EF4-FFF2-40B4-BE49-F238E27FC236}">
                <a16:creationId xmlns:a16="http://schemas.microsoft.com/office/drawing/2014/main" id="{BF98E875-2924-7466-E679-EED2EF91FE77}"/>
              </a:ext>
            </a:extLst>
          </p:cNvPr>
          <p:cNvSpPr>
            <a:spLocks noGrp="1"/>
          </p:cNvSpPr>
          <p:nvPr>
            <p:ph idx="1"/>
          </p:nvPr>
        </p:nvSpPr>
        <p:spPr/>
        <p:txBody>
          <a:bodyPr/>
          <a:lstStyle/>
          <a:p>
            <a:r>
              <a:rPr lang="en-US" sz="2800" dirty="0">
                <a:solidFill>
                  <a:srgbClr val="B000B2"/>
                </a:solidFill>
                <a:latin typeface="Menlo-Regular" panose="020B0609030804020204" pitchFamily="49" charset="0"/>
              </a:rPr>
              <a:t># </a:t>
            </a:r>
            <a:r>
              <a:rPr lang="en-US" dirty="0"/>
              <a:t>views/items/</a:t>
            </a:r>
            <a:r>
              <a:rPr lang="en-US" dirty="0" err="1"/>
              <a:t>destroy.turbo_stream.erb</a:t>
            </a:r>
            <a:endParaRPr lang="en-US" sz="2800" dirty="0">
              <a:solidFill>
                <a:srgbClr val="B000B2"/>
              </a:solidFill>
              <a:latin typeface="Menlo-Regular" panose="020B0609030804020204" pitchFamily="49" charset="0"/>
            </a:endParaRPr>
          </a:p>
          <a:p>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turbo_stream.remove</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dom_id</a:t>
            </a:r>
            <a:r>
              <a:rPr lang="en-US" sz="2800" dirty="0">
                <a:solidFill>
                  <a:srgbClr val="3B2322"/>
                </a:solidFill>
                <a:latin typeface="Menlo-Regular" panose="020B0609030804020204" pitchFamily="49" charset="0"/>
              </a:rPr>
              <a:t>(</a:t>
            </a:r>
            <a:r>
              <a:rPr lang="en-US" sz="2800" dirty="0">
                <a:solidFill>
                  <a:srgbClr val="13939F"/>
                </a:solidFill>
                <a:latin typeface="Menlo-Regular" panose="020B0609030804020204" pitchFamily="49" charset="0"/>
              </a:rPr>
              <a:t>@item</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endParaRPr lang="en-US" dirty="0"/>
          </a:p>
        </p:txBody>
      </p:sp>
    </p:spTree>
    <p:extLst>
      <p:ext uri="{BB962C8B-B14F-4D97-AF65-F5344CB8AC3E}">
        <p14:creationId xmlns:p14="http://schemas.microsoft.com/office/powerpoint/2010/main" val="176791624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D9B8F4-91F5-4989-0C92-AEB8D109CB1C}"/>
              </a:ext>
            </a:extLst>
          </p:cNvPr>
          <p:cNvSpPr>
            <a:spLocks noGrp="1"/>
          </p:cNvSpPr>
          <p:nvPr>
            <p:ph type="title"/>
          </p:nvPr>
        </p:nvSpPr>
        <p:spPr/>
        <p:txBody>
          <a:bodyPr>
            <a:normAutofit fontScale="90000"/>
          </a:bodyPr>
          <a:lstStyle/>
          <a:p>
            <a:r>
              <a:rPr lang="en-US" dirty="0"/>
              <a:t>Next Up: Delete</a:t>
            </a:r>
          </a:p>
        </p:txBody>
      </p:sp>
      <p:sp>
        <p:nvSpPr>
          <p:cNvPr id="3" name="Content Placeholder 2">
            <a:extLst>
              <a:ext uri="{FF2B5EF4-FFF2-40B4-BE49-F238E27FC236}">
                <a16:creationId xmlns:a16="http://schemas.microsoft.com/office/drawing/2014/main" id="{18A7DC02-3435-1766-24FF-2DBC6C9663BC}"/>
              </a:ext>
            </a:extLst>
          </p:cNvPr>
          <p:cNvSpPr>
            <a:spLocks noGrp="1"/>
          </p:cNvSpPr>
          <p:nvPr>
            <p:ph idx="1"/>
          </p:nvPr>
        </p:nvSpPr>
        <p:spPr/>
        <p:txBody>
          <a:bodyPr>
            <a:normAutofit fontScale="92500" lnSpcReduction="20000"/>
          </a:bodyPr>
          <a:lstStyle/>
          <a:p>
            <a:r>
              <a:rPr lang="en-US" sz="2800" dirty="0">
                <a:solidFill>
                  <a:srgbClr val="3B2322"/>
                </a:solidFill>
                <a:latin typeface="Menlo-Regular" panose="020B0609030804020204" pitchFamily="49" charset="0"/>
              </a:rPr>
              <a:t> </a:t>
            </a:r>
            <a:r>
              <a:rPr lang="en-US" sz="2800" dirty="0">
                <a:solidFill>
                  <a:srgbClr val="3200CA"/>
                </a:solidFill>
                <a:latin typeface="Menlo-Regular" panose="020B0609030804020204" pitchFamily="49" charset="0"/>
              </a:rPr>
              <a:t># DELETE /items/1 or /items/1.json</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def</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destroy</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a:t>
            </a:r>
            <a:r>
              <a:rPr lang="en-US" sz="2800" dirty="0" err="1">
                <a:solidFill>
                  <a:srgbClr val="13939F"/>
                </a:solidFill>
                <a:latin typeface="Menlo-Regular" panose="020B0609030804020204" pitchFamily="49" charset="0"/>
              </a:rPr>
              <a:t>item</a:t>
            </a:r>
            <a:r>
              <a:rPr lang="en-US" sz="2800" dirty="0" err="1">
                <a:solidFill>
                  <a:srgbClr val="3B2322"/>
                </a:solidFill>
                <a:latin typeface="Menlo-Regular" panose="020B0609030804020204" pitchFamily="49" charset="0"/>
              </a:rPr>
              <a:t>.destroy</a:t>
            </a:r>
            <a:r>
              <a:rPr lang="en-US" sz="2800" dirty="0">
                <a:solidFill>
                  <a:srgbClr val="3B2322"/>
                </a:solidFill>
                <a:latin typeface="Menlo-Regular" panose="020B0609030804020204" pitchFamily="49" charset="0"/>
              </a:rPr>
              <a:t>!</a:t>
            </a:r>
          </a:p>
          <a:p>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respond_to</a:t>
            </a:r>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do</a:t>
            </a:r>
            <a:r>
              <a:rPr lang="en-US" sz="2800" dirty="0">
                <a:solidFill>
                  <a:srgbClr val="3B2322"/>
                </a:solidFill>
                <a:latin typeface="Menlo-Regular" panose="020B0609030804020204" pitchFamily="49" charset="0"/>
              </a:rPr>
              <a:t> |format|</a:t>
            </a:r>
          </a:p>
          <a:p>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format.html</a:t>
            </a:r>
            <a:r>
              <a:rPr lang="en-US" sz="2800" dirty="0">
                <a:solidFill>
                  <a:srgbClr val="3B2322"/>
                </a:solidFill>
                <a:latin typeface="Menlo-Regular" panose="020B0609030804020204" pitchFamily="49" charset="0"/>
              </a:rPr>
              <a:t> { </a:t>
            </a:r>
            <a:r>
              <a:rPr lang="en-US" sz="2800" dirty="0" err="1">
                <a:solidFill>
                  <a:srgbClr val="3B2322"/>
                </a:solidFill>
                <a:latin typeface="Menlo-Regular" panose="020B0609030804020204" pitchFamily="49" charset="0"/>
              </a:rPr>
              <a:t>redirect_to</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items_path</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notice</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Item was successfully destroyed.</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status</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a:t>
            </a:r>
            <a:r>
              <a:rPr lang="en-US" sz="2800" dirty="0" err="1">
                <a:solidFill>
                  <a:srgbClr val="9F1410"/>
                </a:solidFill>
                <a:latin typeface="Menlo-Regular" panose="020B0609030804020204" pitchFamily="49" charset="0"/>
              </a:rPr>
              <a:t>see_other</a:t>
            </a:r>
            <a:r>
              <a:rPr lang="en-US" sz="2800" dirty="0">
                <a:solidFill>
                  <a:srgbClr val="3B2322"/>
                </a:solidFill>
                <a:latin typeface="Menlo-Regular" panose="020B0609030804020204" pitchFamily="49" charset="0"/>
              </a:rPr>
              <a:t> }</a:t>
            </a:r>
          </a:p>
          <a:p>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format.turbo_stream</a:t>
            </a:r>
            <a:endParaRPr lang="en-US" sz="2800" dirty="0">
              <a:solidFill>
                <a:srgbClr val="3B2322"/>
              </a:solidFill>
              <a:latin typeface="Menlo-Regular" panose="020B0609030804020204" pitchFamily="49" charset="0"/>
            </a:endParaRPr>
          </a:p>
          <a:p>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end</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end</a:t>
            </a:r>
            <a:endParaRPr lang="en-US" dirty="0"/>
          </a:p>
        </p:txBody>
      </p:sp>
    </p:spTree>
    <p:extLst>
      <p:ext uri="{BB962C8B-B14F-4D97-AF65-F5344CB8AC3E}">
        <p14:creationId xmlns:p14="http://schemas.microsoft.com/office/powerpoint/2010/main" val="3755189573"/>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193FF-4570-438D-FEE3-DE57F5218C61}"/>
              </a:ext>
            </a:extLst>
          </p:cNvPr>
          <p:cNvSpPr>
            <a:spLocks noGrp="1"/>
          </p:cNvSpPr>
          <p:nvPr>
            <p:ph type="title"/>
          </p:nvPr>
        </p:nvSpPr>
        <p:spPr/>
        <p:txBody>
          <a:bodyPr>
            <a:normAutofit fontScale="90000"/>
          </a:bodyPr>
          <a:lstStyle/>
          <a:p>
            <a:r>
              <a:rPr lang="en-US" dirty="0"/>
              <a:t>Next Up: Delete</a:t>
            </a:r>
          </a:p>
        </p:txBody>
      </p:sp>
      <p:sp>
        <p:nvSpPr>
          <p:cNvPr id="3" name="Content Placeholder 2">
            <a:extLst>
              <a:ext uri="{FF2B5EF4-FFF2-40B4-BE49-F238E27FC236}">
                <a16:creationId xmlns:a16="http://schemas.microsoft.com/office/drawing/2014/main" id="{D9D912F7-61EF-CEA1-D429-A25FC26F71C5}"/>
              </a:ext>
            </a:extLst>
          </p:cNvPr>
          <p:cNvSpPr>
            <a:spLocks noGrp="1"/>
          </p:cNvSpPr>
          <p:nvPr>
            <p:ph idx="1"/>
          </p:nvPr>
        </p:nvSpPr>
        <p:spPr/>
        <p:txBody>
          <a:bodyPr/>
          <a:lstStyle/>
          <a:p>
            <a:r>
              <a:rPr lang="en-US" sz="2800" dirty="0" err="1">
                <a:solidFill>
                  <a:srgbClr val="149802"/>
                </a:solidFill>
                <a:latin typeface="Menlo-Regular" panose="020B0609030804020204" pitchFamily="49" charset="0"/>
              </a:rPr>
              <a:t>Rails</a:t>
            </a:r>
            <a:r>
              <a:rPr lang="en-US" sz="2800" dirty="0" err="1">
                <a:solidFill>
                  <a:srgbClr val="3B2322"/>
                </a:solidFill>
                <a:latin typeface="Menlo-Regular" panose="020B0609030804020204" pitchFamily="49" charset="0"/>
              </a:rPr>
              <a:t>.application.routes.draw</a:t>
            </a:r>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do</a:t>
            </a:r>
          </a:p>
          <a:p>
            <a:r>
              <a:rPr lang="en-US" sz="2800" dirty="0">
                <a:solidFill>
                  <a:srgbClr val="3B2322"/>
                </a:solidFill>
                <a:latin typeface="Menlo-Regular" panose="020B0609030804020204" pitchFamily="49" charset="0"/>
              </a:rPr>
              <a:t>  resources </a:t>
            </a:r>
            <a:r>
              <a:rPr lang="en-US" sz="2800" dirty="0">
                <a:solidFill>
                  <a:srgbClr val="9F1410"/>
                </a:solidFill>
                <a:latin typeface="Menlo-Regular" panose="020B0609030804020204" pitchFamily="49" charset="0"/>
              </a:rPr>
              <a:t>:items</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except</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:show</a:t>
            </a:r>
          </a:p>
          <a:p>
            <a:r>
              <a:rPr lang="en-US" sz="2800" dirty="0">
                <a:solidFill>
                  <a:srgbClr val="3B2322"/>
                </a:solidFill>
                <a:latin typeface="Menlo-Regular" panose="020B0609030804020204" pitchFamily="49" charset="0"/>
              </a:rPr>
              <a:t>  root </a:t>
            </a:r>
            <a:r>
              <a:rPr lang="en-US" sz="2800" dirty="0">
                <a:solidFill>
                  <a:srgbClr val="B000B2"/>
                </a:solidFill>
                <a:latin typeface="Menlo-Regular" panose="020B0609030804020204" pitchFamily="49" charset="0"/>
              </a:rPr>
              <a:t>"</a:t>
            </a:r>
            <a:r>
              <a:rPr lang="en-US" sz="2800" dirty="0" err="1">
                <a:solidFill>
                  <a:srgbClr val="9F1410"/>
                </a:solidFill>
                <a:latin typeface="Menlo-Regular" panose="020B0609030804020204" pitchFamily="49" charset="0"/>
              </a:rPr>
              <a:t>items#index</a:t>
            </a:r>
            <a:r>
              <a:rPr lang="en-US" sz="2800" dirty="0">
                <a:solidFill>
                  <a:srgbClr val="B000B2"/>
                </a:solidFill>
                <a:latin typeface="Menlo-Regular" panose="020B0609030804020204" pitchFamily="49" charset="0"/>
              </a:rPr>
              <a:t>"</a:t>
            </a:r>
          </a:p>
          <a:p>
            <a:r>
              <a:rPr lang="en-US" sz="2800" dirty="0">
                <a:solidFill>
                  <a:srgbClr val="9E4C04"/>
                </a:solidFill>
                <a:latin typeface="Menlo-Regular" panose="020B0609030804020204" pitchFamily="49" charset="0"/>
              </a:rPr>
              <a:t>end</a:t>
            </a:r>
            <a:endParaRPr lang="en-US" dirty="0"/>
          </a:p>
        </p:txBody>
      </p:sp>
    </p:spTree>
    <p:extLst>
      <p:ext uri="{BB962C8B-B14F-4D97-AF65-F5344CB8AC3E}">
        <p14:creationId xmlns:p14="http://schemas.microsoft.com/office/powerpoint/2010/main" val="118225088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F3CD4E9-4E8D-52E8-5F9F-B108568DA8E8}"/>
              </a:ext>
            </a:extLst>
          </p:cNvPr>
          <p:cNvSpPr>
            <a:spLocks noGrp="1"/>
          </p:cNvSpPr>
          <p:nvPr>
            <p:ph type="title"/>
          </p:nvPr>
        </p:nvSpPr>
        <p:spPr/>
        <p:txBody>
          <a:bodyPr>
            <a:normAutofit fontScale="90000"/>
          </a:bodyPr>
          <a:lstStyle/>
          <a:p>
            <a:r>
              <a:rPr lang="en-US" dirty="0"/>
              <a:t>Next Up: Delete</a:t>
            </a:r>
          </a:p>
        </p:txBody>
      </p:sp>
      <p:sp>
        <p:nvSpPr>
          <p:cNvPr id="3" name="Content Placeholder 2">
            <a:extLst>
              <a:ext uri="{FF2B5EF4-FFF2-40B4-BE49-F238E27FC236}">
                <a16:creationId xmlns:a16="http://schemas.microsoft.com/office/drawing/2014/main" id="{DDDC7E7C-937A-BA38-1802-82936F145555}"/>
              </a:ext>
            </a:extLst>
          </p:cNvPr>
          <p:cNvSpPr>
            <a:spLocks noGrp="1"/>
          </p:cNvSpPr>
          <p:nvPr>
            <p:ph idx="1"/>
          </p:nvPr>
        </p:nvSpPr>
        <p:spPr/>
        <p:txBody>
          <a:bodyPr/>
          <a:lstStyle/>
          <a:p>
            <a:r>
              <a:rPr lang="en-US" dirty="0"/>
              <a:t>Remove app/views/items/</a:t>
            </a:r>
            <a:r>
              <a:rPr lang="en-US" dirty="0" err="1"/>
              <a:t>show.html.erb</a:t>
            </a:r>
            <a:endParaRPr lang="en-US" dirty="0"/>
          </a:p>
        </p:txBody>
      </p:sp>
    </p:spTree>
    <p:extLst>
      <p:ext uri="{BB962C8B-B14F-4D97-AF65-F5344CB8AC3E}">
        <p14:creationId xmlns:p14="http://schemas.microsoft.com/office/powerpoint/2010/main" val="143725789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3B3A7-5D26-9C18-847B-CFFAA940CBB1}"/>
              </a:ext>
            </a:extLst>
          </p:cNvPr>
          <p:cNvSpPr>
            <a:spLocks noGrp="1"/>
          </p:cNvSpPr>
          <p:nvPr>
            <p:ph type="title"/>
          </p:nvPr>
        </p:nvSpPr>
        <p:spPr/>
        <p:txBody>
          <a:bodyPr>
            <a:normAutofit fontScale="90000"/>
          </a:bodyPr>
          <a:lstStyle/>
          <a:p>
            <a:r>
              <a:rPr lang="en-US" dirty="0"/>
              <a:t>Up Next: Dynamic Search</a:t>
            </a:r>
          </a:p>
        </p:txBody>
      </p:sp>
      <p:sp>
        <p:nvSpPr>
          <p:cNvPr id="4" name="Content Placeholder 3">
            <a:extLst>
              <a:ext uri="{FF2B5EF4-FFF2-40B4-BE49-F238E27FC236}">
                <a16:creationId xmlns:a16="http://schemas.microsoft.com/office/drawing/2014/main" id="{EE359106-C926-A092-7B57-C58BCFF6855F}"/>
              </a:ext>
            </a:extLst>
          </p:cNvPr>
          <p:cNvSpPr>
            <a:spLocks noGrp="1"/>
          </p:cNvSpPr>
          <p:nvPr>
            <p:ph idx="1"/>
          </p:nvPr>
        </p:nvSpPr>
        <p:spPr/>
        <p:txBody>
          <a:bodyPr>
            <a:normAutofit lnSpcReduction="10000"/>
          </a:bodyPr>
          <a:lstStyle/>
          <a:p>
            <a:r>
              <a:rPr lang="en-US" sz="2800" dirty="0">
                <a:solidFill>
                  <a:srgbClr val="B000B2"/>
                </a:solidFill>
                <a:latin typeface="Menlo-Regular" panose="020B0609030804020204" pitchFamily="49" charset="0"/>
              </a:rPr>
              <a:t># app/models/</a:t>
            </a:r>
            <a:r>
              <a:rPr lang="en-US" sz="2800" dirty="0" err="1">
                <a:solidFill>
                  <a:srgbClr val="B000B2"/>
                </a:solidFill>
                <a:latin typeface="Menlo-Regular" panose="020B0609030804020204" pitchFamily="49" charset="0"/>
              </a:rPr>
              <a:t>item.rb</a:t>
            </a:r>
            <a:endParaRPr lang="en-US" sz="2800" dirty="0">
              <a:solidFill>
                <a:srgbClr val="B000B2"/>
              </a:solidFill>
              <a:latin typeface="Menlo-Regular" panose="020B0609030804020204" pitchFamily="49" charset="0"/>
            </a:endParaRPr>
          </a:p>
          <a:p>
            <a:r>
              <a:rPr lang="en-US" sz="2800" dirty="0">
                <a:solidFill>
                  <a:srgbClr val="B000B2"/>
                </a:solidFill>
                <a:latin typeface="Menlo-Regular" panose="020B0609030804020204" pitchFamily="49" charset="0"/>
              </a:rPr>
              <a:t>class</a:t>
            </a:r>
            <a:r>
              <a:rPr lang="en-US" sz="2800" dirty="0">
                <a:solidFill>
                  <a:srgbClr val="3B2322"/>
                </a:solidFill>
                <a:latin typeface="Menlo-Regular" panose="020B0609030804020204" pitchFamily="49" charset="0"/>
              </a:rPr>
              <a:t> </a:t>
            </a:r>
            <a:r>
              <a:rPr lang="en-US" sz="2800" dirty="0">
                <a:solidFill>
                  <a:srgbClr val="149802"/>
                </a:solidFill>
                <a:latin typeface="Menlo-Regular" panose="020B0609030804020204" pitchFamily="49" charset="0"/>
              </a:rPr>
              <a:t>Item</a:t>
            </a:r>
            <a:r>
              <a:rPr lang="en-US" sz="2800" dirty="0">
                <a:solidFill>
                  <a:srgbClr val="3B2322"/>
                </a:solidFill>
                <a:latin typeface="Menlo-Regular" panose="020B0609030804020204" pitchFamily="49" charset="0"/>
              </a:rPr>
              <a:t> &lt; </a:t>
            </a:r>
            <a:r>
              <a:rPr lang="en-US" sz="2800" dirty="0" err="1">
                <a:solidFill>
                  <a:srgbClr val="149802"/>
                </a:solidFill>
                <a:latin typeface="Menlo-Regular" panose="020B0609030804020204" pitchFamily="49" charset="0"/>
              </a:rPr>
              <a:t>ApplicationRecord</a:t>
            </a:r>
            <a:endParaRPr lang="en-US" sz="2800" dirty="0">
              <a:solidFill>
                <a:srgbClr val="149802"/>
              </a:solidFill>
              <a:latin typeface="Menlo-Regular" panose="020B0609030804020204" pitchFamily="49" charset="0"/>
            </a:endParaRP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def</a:t>
            </a:r>
            <a:r>
              <a:rPr lang="en-US" sz="2800" dirty="0">
                <a:solidFill>
                  <a:srgbClr val="3B2322"/>
                </a:solidFill>
                <a:latin typeface="Menlo-Regular" panose="020B0609030804020204" pitchFamily="49" charset="0"/>
              </a:rPr>
              <a:t> </a:t>
            </a:r>
            <a:r>
              <a:rPr lang="en-US" sz="2800" dirty="0" err="1">
                <a:solidFill>
                  <a:srgbClr val="9F1410"/>
                </a:solidFill>
                <a:latin typeface="Menlo-Regular" panose="020B0609030804020204" pitchFamily="49" charset="0"/>
              </a:rPr>
              <a:t>self</a:t>
            </a:r>
            <a:r>
              <a:rPr lang="en-US" sz="2800" dirty="0" err="1">
                <a:solidFill>
                  <a:srgbClr val="3B2322"/>
                </a:solidFill>
                <a:latin typeface="Menlo-Regular" panose="020B0609030804020204" pitchFamily="49" charset="0"/>
              </a:rPr>
              <a:t>.</a:t>
            </a:r>
            <a:r>
              <a:rPr lang="en-US" sz="2800" dirty="0" err="1">
                <a:solidFill>
                  <a:srgbClr val="13939F"/>
                </a:solidFill>
                <a:latin typeface="Menlo-Regular" panose="020B0609030804020204" pitchFamily="49" charset="0"/>
              </a:rPr>
              <a:t>search</a:t>
            </a:r>
            <a:r>
              <a:rPr lang="en-US" sz="2800" dirty="0">
                <a:solidFill>
                  <a:srgbClr val="3B2322"/>
                </a:solidFill>
                <a:latin typeface="Menlo-Regular" panose="020B0609030804020204" pitchFamily="49" charset="0"/>
              </a:rPr>
              <a:t>(query)</a:t>
            </a:r>
          </a:p>
          <a:p>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return</a:t>
            </a:r>
            <a:r>
              <a:rPr lang="en-US" sz="2800" dirty="0">
                <a:solidFill>
                  <a:srgbClr val="3B2322"/>
                </a:solidFill>
                <a:latin typeface="Menlo-Regular" panose="020B0609030804020204" pitchFamily="49" charset="0"/>
              </a:rPr>
              <a:t> all </a:t>
            </a:r>
            <a:r>
              <a:rPr lang="en-US" sz="2800" dirty="0">
                <a:solidFill>
                  <a:srgbClr val="9E4C04"/>
                </a:solidFill>
                <a:latin typeface="Menlo-Regular" panose="020B0609030804020204" pitchFamily="49" charset="0"/>
              </a:rPr>
              <a:t>if</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query.blank</a:t>
            </a:r>
            <a:r>
              <a:rPr lang="en-US" sz="2800" dirty="0">
                <a:solidFill>
                  <a:srgbClr val="3B2322"/>
                </a:solidFill>
                <a:latin typeface="Menlo-Regular" panose="020B0609030804020204" pitchFamily="49" charset="0"/>
              </a:rPr>
              <a:t>?</a:t>
            </a:r>
          </a:p>
          <a:p>
            <a:r>
              <a:rPr lang="en-US" sz="2800" dirty="0">
                <a:solidFill>
                  <a:srgbClr val="3B2322"/>
                </a:solidFill>
                <a:latin typeface="Menlo-Regular" panose="020B0609030804020204" pitchFamily="49" charset="0"/>
              </a:rPr>
              <a:t>    where(</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what LIKE ?</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a:t>
            </a:r>
            <a:r>
              <a:rPr lang="en-US" sz="2800" dirty="0">
                <a:solidFill>
                  <a:srgbClr val="B000B2"/>
                </a:solidFill>
                <a:latin typeface="Menlo-Regular" panose="020B0609030804020204" pitchFamily="49" charset="0"/>
              </a:rPr>
              <a:t>#{</a:t>
            </a:r>
            <a:r>
              <a:rPr lang="en-US" sz="2800" dirty="0" err="1">
                <a:solidFill>
                  <a:srgbClr val="3B2322"/>
                </a:solidFill>
                <a:latin typeface="Menlo-Regular" panose="020B0609030804020204" pitchFamily="49" charset="0"/>
              </a:rPr>
              <a:t>sanitize_sql_like</a:t>
            </a:r>
            <a:r>
              <a:rPr lang="en-US" sz="2800" dirty="0">
                <a:solidFill>
                  <a:srgbClr val="3B2322"/>
                </a:solidFill>
                <a:latin typeface="Menlo-Regular" panose="020B0609030804020204" pitchFamily="49" charset="0"/>
              </a:rPr>
              <a:t>(query)</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end</a:t>
            </a:r>
          </a:p>
          <a:p>
            <a:r>
              <a:rPr lang="en-US" sz="2800" dirty="0">
                <a:solidFill>
                  <a:srgbClr val="B000B2"/>
                </a:solidFill>
                <a:latin typeface="Menlo-Regular" panose="020B0609030804020204" pitchFamily="49" charset="0"/>
              </a:rPr>
              <a:t>end</a:t>
            </a:r>
            <a:endParaRPr lang="en-US" dirty="0"/>
          </a:p>
        </p:txBody>
      </p:sp>
    </p:spTree>
    <p:extLst>
      <p:ext uri="{BB962C8B-B14F-4D97-AF65-F5344CB8AC3E}">
        <p14:creationId xmlns:p14="http://schemas.microsoft.com/office/powerpoint/2010/main" val="1195738141"/>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C9F3E-1F87-401A-950B-43AA139AAD2C}"/>
              </a:ext>
            </a:extLst>
          </p:cNvPr>
          <p:cNvSpPr>
            <a:spLocks noGrp="1"/>
          </p:cNvSpPr>
          <p:nvPr>
            <p:ph type="title"/>
          </p:nvPr>
        </p:nvSpPr>
        <p:spPr/>
        <p:txBody>
          <a:bodyPr>
            <a:normAutofit fontScale="90000"/>
          </a:bodyPr>
          <a:lstStyle/>
          <a:p>
            <a:r>
              <a:rPr lang="en-US" dirty="0"/>
              <a:t>Up Next: Dynamic Search</a:t>
            </a:r>
          </a:p>
        </p:txBody>
      </p:sp>
      <p:sp>
        <p:nvSpPr>
          <p:cNvPr id="3" name="Content Placeholder 2">
            <a:extLst>
              <a:ext uri="{FF2B5EF4-FFF2-40B4-BE49-F238E27FC236}">
                <a16:creationId xmlns:a16="http://schemas.microsoft.com/office/drawing/2014/main" id="{3C86C180-92A9-8D65-44EB-B530155CD2C6}"/>
              </a:ext>
            </a:extLst>
          </p:cNvPr>
          <p:cNvSpPr>
            <a:spLocks noGrp="1"/>
          </p:cNvSpPr>
          <p:nvPr>
            <p:ph idx="1"/>
          </p:nvPr>
        </p:nvSpPr>
        <p:spPr/>
        <p:txBody>
          <a:bodyPr>
            <a:normAutofit fontScale="55000" lnSpcReduction="20000"/>
          </a:bodyPr>
          <a:lstStyle/>
          <a:p>
            <a:r>
              <a:rPr lang="en-US" sz="2800" dirty="0">
                <a:solidFill>
                  <a:srgbClr val="13939F"/>
                </a:solidFill>
                <a:latin typeface="Menlo-Regular" panose="020B0609030804020204" pitchFamily="49" charset="0"/>
              </a:rPr>
              <a:t># </a:t>
            </a:r>
            <a:r>
              <a:rPr lang="en-US" dirty="0"/>
              <a:t>views/items/</a:t>
            </a:r>
            <a:r>
              <a:rPr lang="en-US" dirty="0" err="1"/>
              <a:t>index.html.erb</a:t>
            </a:r>
            <a:endParaRPr lang="en-US" sz="2800" dirty="0">
              <a:solidFill>
                <a:srgbClr val="13939F"/>
              </a:solidFill>
              <a:latin typeface="Menlo-Regular" panose="020B0609030804020204" pitchFamily="49" charset="0"/>
            </a:endParaRPr>
          </a:p>
          <a:p>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p</a:t>
            </a:r>
            <a:r>
              <a:rPr lang="en-US" sz="2800" dirty="0">
                <a:solidFill>
                  <a:srgbClr val="13939F"/>
                </a:solidFill>
                <a:latin typeface="Menlo-Regular" panose="020B0609030804020204" pitchFamily="49" charset="0"/>
              </a:rPr>
              <a:t> </a:t>
            </a:r>
            <a:r>
              <a:rPr lang="en-US" sz="2800" dirty="0">
                <a:solidFill>
                  <a:srgbClr val="149802"/>
                </a:solidFill>
                <a:latin typeface="Menlo-Regular" panose="020B0609030804020204" pitchFamily="49" charset="0"/>
              </a:rPr>
              <a:t>style</a:t>
            </a:r>
            <a:r>
              <a:rPr lang="en-US" sz="2800" dirty="0">
                <a:solidFill>
                  <a:srgbClr val="13939F"/>
                </a:solidFill>
                <a:latin typeface="Menlo-Regular" panose="020B0609030804020204" pitchFamily="49" charset="0"/>
              </a:rPr>
              <a:t>=</a:t>
            </a:r>
            <a:r>
              <a:rPr lang="en-US" sz="2800" dirty="0">
                <a:solidFill>
                  <a:srgbClr val="9F1410"/>
                </a:solidFill>
                <a:latin typeface="Menlo-Regular" panose="020B0609030804020204" pitchFamily="49" charset="0"/>
              </a:rPr>
              <a:t>"color: green"</a:t>
            </a:r>
            <a:r>
              <a:rPr lang="en-US" sz="2800" dirty="0">
                <a:solidFill>
                  <a:srgbClr val="13939F"/>
                </a:solidFill>
                <a:latin typeface="Menlo-Regular" panose="020B0609030804020204" pitchFamily="49" charset="0"/>
              </a:rPr>
              <a:t>&gt;</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notice </a:t>
            </a:r>
            <a:r>
              <a:rPr lang="en-US" sz="2800" dirty="0">
                <a:solidFill>
                  <a:srgbClr val="B000B2"/>
                </a:solidFill>
                <a:latin typeface="Menlo-Regular" panose="020B0609030804020204" pitchFamily="49" charset="0"/>
              </a:rPr>
              <a:t>%&gt;</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p</a:t>
            </a:r>
            <a:r>
              <a:rPr lang="en-US" sz="2800" dirty="0">
                <a:solidFill>
                  <a:srgbClr val="13939F"/>
                </a:solidFill>
                <a:latin typeface="Menlo-Regular" panose="020B0609030804020204" pitchFamily="49" charset="0"/>
              </a:rPr>
              <a:t>&gt;</a:t>
            </a:r>
          </a:p>
          <a:p>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content_for</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:title</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Items</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p>
          <a:p>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h1</a:t>
            </a:r>
            <a:r>
              <a:rPr lang="en-US" sz="2800" dirty="0">
                <a:solidFill>
                  <a:srgbClr val="13939F"/>
                </a:solidFill>
                <a:latin typeface="Menlo-Regular" panose="020B0609030804020204" pitchFamily="49" charset="0"/>
              </a:rPr>
              <a:t>&gt;</a:t>
            </a:r>
            <a:r>
              <a:rPr lang="en-US" sz="2800" dirty="0">
                <a:solidFill>
                  <a:srgbClr val="B000B2"/>
                </a:solidFill>
                <a:latin typeface="Menlo-Regular" panose="020B0609030804020204" pitchFamily="49" charset="0"/>
              </a:rPr>
              <a:t>Items</a:t>
            </a:r>
            <a:r>
              <a:rPr lang="en-US" sz="2800" dirty="0">
                <a:solidFill>
                  <a:srgbClr val="13939F"/>
                </a:solidFill>
                <a:latin typeface="Menlo-Regular" panose="020B0609030804020204" pitchFamily="49" charset="0"/>
              </a:rPr>
              <a:t>&lt;/</a:t>
            </a:r>
            <a:r>
              <a:rPr lang="en-US" sz="2800" dirty="0">
                <a:solidFill>
                  <a:srgbClr val="9E4C04"/>
                </a:solidFill>
                <a:latin typeface="Menlo-Regular" panose="020B0609030804020204" pitchFamily="49" charset="0"/>
              </a:rPr>
              <a:t>h1</a:t>
            </a:r>
            <a:r>
              <a:rPr lang="en-US" sz="2800" dirty="0">
                <a:solidFill>
                  <a:srgbClr val="13939F"/>
                </a:solidFill>
                <a:latin typeface="Menlo-Regular" panose="020B0609030804020204" pitchFamily="49" charset="0"/>
              </a:rPr>
              <a:t>&gt;</a:t>
            </a:r>
          </a:p>
          <a:p>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form_with</a:t>
            </a:r>
            <a:r>
              <a:rPr lang="en-US" sz="2800" dirty="0">
                <a:solidFill>
                  <a:srgbClr val="3B2322"/>
                </a:solidFill>
                <a:latin typeface="Menlo-Regular" panose="020B0609030804020204" pitchFamily="49" charset="0"/>
              </a:rPr>
              <a:t> </a:t>
            </a:r>
            <a:r>
              <a:rPr lang="en-US" sz="2800" dirty="0" err="1">
                <a:solidFill>
                  <a:srgbClr val="9F1410"/>
                </a:solidFill>
                <a:latin typeface="Menlo-Regular" panose="020B0609030804020204" pitchFamily="49" charset="0"/>
              </a:rPr>
              <a:t>url</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items_path</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method</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:get</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data</a:t>
            </a:r>
            <a:r>
              <a:rPr lang="en-US" sz="2800" dirty="0">
                <a:solidFill>
                  <a:srgbClr val="3B2322"/>
                </a:solidFill>
                <a:latin typeface="Menlo-Regular" panose="020B0609030804020204" pitchFamily="49" charset="0"/>
              </a:rPr>
              <a:t>: { </a:t>
            </a:r>
            <a:r>
              <a:rPr lang="en-US" sz="2800" dirty="0" err="1">
                <a:solidFill>
                  <a:srgbClr val="9F1410"/>
                </a:solidFill>
                <a:latin typeface="Menlo-Regular" panose="020B0609030804020204" pitchFamily="49" charset="0"/>
              </a:rPr>
              <a:t>turbo_frame</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items</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 </a:t>
            </a:r>
            <a:r>
              <a:rPr lang="en-US" sz="2800" dirty="0">
                <a:solidFill>
                  <a:srgbClr val="9E4C04"/>
                </a:solidFill>
                <a:latin typeface="Menlo-Regular" panose="020B0609030804020204" pitchFamily="49" charset="0"/>
              </a:rPr>
              <a:t>do</a:t>
            </a:r>
            <a:r>
              <a:rPr lang="en-US" sz="2800" dirty="0">
                <a:solidFill>
                  <a:srgbClr val="3B2322"/>
                </a:solidFill>
                <a:latin typeface="Menlo-Regular" panose="020B0609030804020204" pitchFamily="49" charset="0"/>
              </a:rPr>
              <a:t> |form| </a:t>
            </a:r>
            <a:r>
              <a:rPr lang="en-US" sz="2800" dirty="0">
                <a:solidFill>
                  <a:srgbClr val="B000B2"/>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form.search_field</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:q</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value</a:t>
            </a:r>
            <a:r>
              <a:rPr lang="en-US" sz="2800" dirty="0">
                <a:solidFill>
                  <a:srgbClr val="3B2322"/>
                </a:solidFill>
                <a:latin typeface="Menlo-Regular" panose="020B0609030804020204" pitchFamily="49" charset="0"/>
              </a:rPr>
              <a:t>: params[</a:t>
            </a:r>
            <a:r>
              <a:rPr lang="en-US" sz="2800" dirty="0">
                <a:solidFill>
                  <a:srgbClr val="9F1410"/>
                </a:solidFill>
                <a:latin typeface="Menlo-Regular" panose="020B0609030804020204" pitchFamily="49" charset="0"/>
              </a:rPr>
              <a:t>:q</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placeholder</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Search items...</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a:solidFill>
                  <a:srgbClr val="9F1410"/>
                </a:solidFill>
                <a:latin typeface="Menlo-Regular" panose="020B0609030804020204" pitchFamily="49" charset="0"/>
              </a:rPr>
              <a:t>autocomplete</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off</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err="1">
                <a:solidFill>
                  <a:srgbClr val="9F1410"/>
                </a:solidFill>
                <a:latin typeface="Menlo-Regular" panose="020B0609030804020204" pitchFamily="49" charset="0"/>
              </a:rPr>
              <a:t>oninput</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err="1">
                <a:solidFill>
                  <a:srgbClr val="9F1410"/>
                </a:solidFill>
                <a:latin typeface="Menlo-Regular" panose="020B0609030804020204" pitchFamily="49" charset="0"/>
              </a:rPr>
              <a:t>this.form.requestSubmit</a:t>
            </a:r>
            <a:r>
              <a:rPr lang="en-US" sz="2800" dirty="0">
                <a:solidFill>
                  <a:srgbClr val="9F1410"/>
                </a:solidFill>
                <a:latin typeface="Menlo-Regular" panose="020B0609030804020204" pitchFamily="49" charset="0"/>
              </a:rPr>
              <a:t>()</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p>
          <a:p>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end</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p>
          <a:p>
            <a:r>
              <a:rPr lang="en-US" sz="2800" dirty="0">
                <a:solidFill>
                  <a:srgbClr val="13939F"/>
                </a:solidFill>
                <a:latin typeface="Menlo-Regular" panose="020B0609030804020204" pitchFamily="49" charset="0"/>
              </a:rPr>
              <a:t>&lt;</a:t>
            </a:r>
            <a:r>
              <a:rPr lang="en-US" sz="2800" dirty="0">
                <a:solidFill>
                  <a:srgbClr val="3B2322"/>
                </a:solidFill>
                <a:latin typeface="Menlo-Regular" panose="020B0609030804020204" pitchFamily="49" charset="0"/>
              </a:rPr>
              <a:t>turbo-frame</a:t>
            </a:r>
            <a:r>
              <a:rPr lang="en-US" sz="2800" dirty="0">
                <a:solidFill>
                  <a:srgbClr val="13939F"/>
                </a:solidFill>
                <a:latin typeface="Menlo-Regular" panose="020B0609030804020204" pitchFamily="49" charset="0"/>
              </a:rPr>
              <a:t> </a:t>
            </a:r>
            <a:r>
              <a:rPr lang="en-US" sz="2800" dirty="0">
                <a:solidFill>
                  <a:srgbClr val="149802"/>
                </a:solidFill>
                <a:latin typeface="Menlo-Regular" panose="020B0609030804020204" pitchFamily="49" charset="0"/>
              </a:rPr>
              <a:t>id</a:t>
            </a:r>
            <a:r>
              <a:rPr lang="en-US" sz="2800" dirty="0">
                <a:solidFill>
                  <a:srgbClr val="13939F"/>
                </a:solidFill>
                <a:latin typeface="Menlo-Regular" panose="020B0609030804020204" pitchFamily="49" charset="0"/>
              </a:rPr>
              <a:t>=</a:t>
            </a:r>
            <a:r>
              <a:rPr lang="en-US" sz="2800" dirty="0">
                <a:solidFill>
                  <a:srgbClr val="9F1410"/>
                </a:solidFill>
                <a:latin typeface="Menlo-Regular" panose="020B0609030804020204" pitchFamily="49" charset="0"/>
              </a:rPr>
              <a:t>"</a:t>
            </a:r>
            <a:r>
              <a:rPr lang="en-US" sz="2800" dirty="0" err="1">
                <a:solidFill>
                  <a:srgbClr val="9F1410"/>
                </a:solidFill>
                <a:latin typeface="Menlo-Regular" panose="020B0609030804020204" pitchFamily="49" charset="0"/>
              </a:rPr>
              <a:t>new_item</a:t>
            </a:r>
            <a:r>
              <a:rPr lang="en-US" sz="2800" dirty="0">
                <a:solidFill>
                  <a:srgbClr val="9F1410"/>
                </a:solidFill>
                <a:latin typeface="Menlo-Regular" panose="020B0609030804020204" pitchFamily="49" charset="0"/>
              </a:rPr>
              <a:t>"</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link_to</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a:t>
            </a:r>
            <a:r>
              <a:rPr lang="en-US" sz="2800" dirty="0">
                <a:solidFill>
                  <a:srgbClr val="9F1410"/>
                </a:solidFill>
                <a:latin typeface="Menlo-Regular" panose="020B0609030804020204" pitchFamily="49" charset="0"/>
              </a:rPr>
              <a:t>New item</a:t>
            </a:r>
            <a:r>
              <a:rPr lang="en-US" sz="2800" dirty="0">
                <a:solidFill>
                  <a:srgbClr val="B000B2"/>
                </a:solidFill>
                <a:latin typeface="Menlo-Regular" panose="020B0609030804020204" pitchFamily="49" charset="0"/>
              </a:rPr>
              <a:t>"</a:t>
            </a:r>
            <a:r>
              <a:rPr lang="en-US" sz="2800" dirty="0">
                <a:solidFill>
                  <a:srgbClr val="3B2322"/>
                </a:solidFill>
                <a:latin typeface="Menlo-Regular" panose="020B0609030804020204" pitchFamily="49" charset="0"/>
              </a:rPr>
              <a:t>, </a:t>
            </a:r>
            <a:r>
              <a:rPr lang="en-US" sz="2800" dirty="0" err="1">
                <a:solidFill>
                  <a:srgbClr val="3B2322"/>
                </a:solidFill>
                <a:latin typeface="Menlo-Regular" panose="020B0609030804020204" pitchFamily="49" charset="0"/>
              </a:rPr>
              <a:t>new_item_path</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p>
          <a:p>
            <a:r>
              <a:rPr lang="en-US" sz="2800" dirty="0">
                <a:solidFill>
                  <a:srgbClr val="13939F"/>
                </a:solidFill>
                <a:latin typeface="Menlo-Regular" panose="020B0609030804020204" pitchFamily="49" charset="0"/>
              </a:rPr>
              <a:t>&lt;/</a:t>
            </a:r>
            <a:r>
              <a:rPr lang="en-US" sz="2800" dirty="0">
                <a:solidFill>
                  <a:srgbClr val="3B2322"/>
                </a:solidFill>
                <a:latin typeface="Menlo-Regular" panose="020B0609030804020204" pitchFamily="49" charset="0"/>
              </a:rPr>
              <a:t>turbo-frame</a:t>
            </a:r>
            <a:r>
              <a:rPr lang="en-US" sz="2800" dirty="0">
                <a:solidFill>
                  <a:srgbClr val="13939F"/>
                </a:solidFill>
                <a:latin typeface="Menlo-Regular" panose="020B0609030804020204" pitchFamily="49" charset="0"/>
              </a:rPr>
              <a:t>&gt;</a:t>
            </a:r>
          </a:p>
          <a:p>
            <a:r>
              <a:rPr lang="en-US" sz="2800" dirty="0">
                <a:solidFill>
                  <a:srgbClr val="13939F"/>
                </a:solidFill>
                <a:latin typeface="Menlo-Regular" panose="020B0609030804020204" pitchFamily="49" charset="0"/>
              </a:rPr>
              <a:t>&lt;</a:t>
            </a:r>
            <a:r>
              <a:rPr lang="en-US" sz="2800" dirty="0">
                <a:solidFill>
                  <a:srgbClr val="3B2322"/>
                </a:solidFill>
                <a:latin typeface="Menlo-Regular" panose="020B0609030804020204" pitchFamily="49" charset="0"/>
              </a:rPr>
              <a:t>turbo-frame</a:t>
            </a:r>
            <a:r>
              <a:rPr lang="en-US" sz="2800" dirty="0">
                <a:solidFill>
                  <a:srgbClr val="13939F"/>
                </a:solidFill>
                <a:latin typeface="Menlo-Regular" panose="020B0609030804020204" pitchFamily="49" charset="0"/>
              </a:rPr>
              <a:t> </a:t>
            </a:r>
            <a:r>
              <a:rPr lang="en-US" sz="2800" dirty="0">
                <a:solidFill>
                  <a:srgbClr val="149802"/>
                </a:solidFill>
                <a:latin typeface="Menlo-Regular" panose="020B0609030804020204" pitchFamily="49" charset="0"/>
              </a:rPr>
              <a:t>id</a:t>
            </a:r>
            <a:r>
              <a:rPr lang="en-US" sz="2800" dirty="0">
                <a:solidFill>
                  <a:srgbClr val="13939F"/>
                </a:solidFill>
                <a:latin typeface="Menlo-Regular" panose="020B0609030804020204" pitchFamily="49" charset="0"/>
              </a:rPr>
              <a:t>=</a:t>
            </a:r>
            <a:r>
              <a:rPr lang="en-US" sz="2800" dirty="0">
                <a:solidFill>
                  <a:srgbClr val="9F1410"/>
                </a:solidFill>
                <a:latin typeface="Menlo-Regular" panose="020B0609030804020204" pitchFamily="49" charset="0"/>
              </a:rPr>
              <a:t>"items"</a:t>
            </a:r>
            <a:r>
              <a:rPr lang="en-US" sz="2800" dirty="0">
                <a:solidFill>
                  <a:srgbClr val="13939F"/>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a:t>
            </a:r>
            <a:r>
              <a:rPr lang="en-US" sz="2800" dirty="0" err="1">
                <a:solidFill>
                  <a:srgbClr val="13939F"/>
                </a:solidFill>
                <a:latin typeface="Menlo-Regular" panose="020B0609030804020204" pitchFamily="49" charset="0"/>
              </a:rPr>
              <a:t>items</a:t>
            </a:r>
            <a:r>
              <a:rPr lang="en-US" sz="2800" dirty="0" err="1">
                <a:solidFill>
                  <a:srgbClr val="3B2322"/>
                </a:solidFill>
                <a:latin typeface="Menlo-Regular" panose="020B0609030804020204" pitchFamily="49" charset="0"/>
              </a:rPr>
              <a:t>.each</a:t>
            </a:r>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do</a:t>
            </a:r>
            <a:r>
              <a:rPr lang="en-US" sz="2800" dirty="0">
                <a:solidFill>
                  <a:srgbClr val="3B2322"/>
                </a:solidFill>
                <a:latin typeface="Menlo-Regular" panose="020B0609030804020204" pitchFamily="49" charset="0"/>
              </a:rPr>
              <a:t> |item| </a:t>
            </a:r>
            <a:r>
              <a:rPr lang="en-US" sz="2800" dirty="0">
                <a:solidFill>
                  <a:srgbClr val="B000B2"/>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render item </a:t>
            </a:r>
            <a:r>
              <a:rPr lang="en-US" sz="2800" dirty="0">
                <a:solidFill>
                  <a:srgbClr val="B000B2"/>
                </a:solidFill>
                <a:latin typeface="Menlo-Regular" panose="020B0609030804020204" pitchFamily="49" charset="0"/>
              </a:rPr>
              <a:t>%&gt;</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&lt;%</a:t>
            </a:r>
            <a:r>
              <a:rPr lang="en-US" sz="2800" dirty="0">
                <a:solidFill>
                  <a:srgbClr val="3B2322"/>
                </a:solidFill>
                <a:latin typeface="Menlo-Regular" panose="020B0609030804020204" pitchFamily="49" charset="0"/>
              </a:rPr>
              <a:t> </a:t>
            </a:r>
            <a:r>
              <a:rPr lang="en-US" sz="2800" dirty="0">
                <a:solidFill>
                  <a:srgbClr val="9E4C04"/>
                </a:solidFill>
                <a:latin typeface="Menlo-Regular" panose="020B0609030804020204" pitchFamily="49" charset="0"/>
              </a:rPr>
              <a:t>end</a:t>
            </a:r>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%&gt;</a:t>
            </a:r>
          </a:p>
          <a:p>
            <a:r>
              <a:rPr lang="en-US" sz="2800" dirty="0">
                <a:solidFill>
                  <a:srgbClr val="13939F"/>
                </a:solidFill>
                <a:latin typeface="Menlo-Regular" panose="020B0609030804020204" pitchFamily="49" charset="0"/>
              </a:rPr>
              <a:t>&lt;/</a:t>
            </a:r>
            <a:r>
              <a:rPr lang="en-US" sz="2800" dirty="0">
                <a:solidFill>
                  <a:srgbClr val="3B2322"/>
                </a:solidFill>
                <a:latin typeface="Menlo-Regular" panose="020B0609030804020204" pitchFamily="49" charset="0"/>
              </a:rPr>
              <a:t>turbo-frame</a:t>
            </a:r>
            <a:r>
              <a:rPr lang="en-US" sz="2800" dirty="0">
                <a:solidFill>
                  <a:srgbClr val="13939F"/>
                </a:solidFill>
                <a:latin typeface="Menlo-Regular" panose="020B0609030804020204" pitchFamily="49" charset="0"/>
              </a:rPr>
              <a:t>&gt;</a:t>
            </a:r>
            <a:endParaRPr lang="en-US" dirty="0"/>
          </a:p>
        </p:txBody>
      </p:sp>
    </p:spTree>
    <p:extLst>
      <p:ext uri="{BB962C8B-B14F-4D97-AF65-F5344CB8AC3E}">
        <p14:creationId xmlns:p14="http://schemas.microsoft.com/office/powerpoint/2010/main" val="124998938"/>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171EAD-8F88-D4A9-6A48-63E6837AFB87}"/>
              </a:ext>
            </a:extLst>
          </p:cNvPr>
          <p:cNvSpPr>
            <a:spLocks noGrp="1"/>
          </p:cNvSpPr>
          <p:nvPr>
            <p:ph idx="1"/>
          </p:nvPr>
        </p:nvSpPr>
        <p:spPr/>
        <p:txBody>
          <a:bodyPr/>
          <a:lstStyle/>
          <a:p>
            <a:r>
              <a:rPr lang="en-US" sz="2800" dirty="0">
                <a:solidFill>
                  <a:srgbClr val="3B2322"/>
                </a:solidFill>
                <a:latin typeface="Menlo-Regular" panose="020B0609030804020204" pitchFamily="49" charset="0"/>
              </a:rPr>
              <a:t> </a:t>
            </a:r>
            <a:r>
              <a:rPr lang="en-US" sz="2800" dirty="0">
                <a:solidFill>
                  <a:srgbClr val="3200CA"/>
                </a:solidFill>
                <a:latin typeface="Menlo-Regular" panose="020B0609030804020204" pitchFamily="49" charset="0"/>
              </a:rPr>
              <a:t># GET /items or /</a:t>
            </a:r>
            <a:r>
              <a:rPr lang="en-US" sz="2800" dirty="0" err="1">
                <a:solidFill>
                  <a:srgbClr val="3200CA"/>
                </a:solidFill>
                <a:latin typeface="Menlo-Regular" panose="020B0609030804020204" pitchFamily="49" charset="0"/>
              </a:rPr>
              <a:t>items.json</a:t>
            </a:r>
            <a:endParaRPr lang="en-US" sz="2800" dirty="0">
              <a:solidFill>
                <a:srgbClr val="3200CA"/>
              </a:solidFill>
              <a:latin typeface="Menlo-Regular" panose="020B0609030804020204" pitchFamily="49" charset="0"/>
            </a:endParaRP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def</a:t>
            </a:r>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index</a:t>
            </a:r>
          </a:p>
          <a:p>
            <a:r>
              <a:rPr lang="en-US" sz="2800" dirty="0">
                <a:solidFill>
                  <a:srgbClr val="3B2322"/>
                </a:solidFill>
                <a:latin typeface="Menlo-Regular" panose="020B0609030804020204" pitchFamily="49" charset="0"/>
              </a:rPr>
              <a:t>    </a:t>
            </a:r>
            <a:r>
              <a:rPr lang="en-US" sz="2800" dirty="0">
                <a:solidFill>
                  <a:srgbClr val="13939F"/>
                </a:solidFill>
                <a:latin typeface="Menlo-Regular" panose="020B0609030804020204" pitchFamily="49" charset="0"/>
              </a:rPr>
              <a:t>@items</a:t>
            </a:r>
            <a:r>
              <a:rPr lang="en-US" sz="2800" dirty="0">
                <a:solidFill>
                  <a:srgbClr val="3B2322"/>
                </a:solidFill>
                <a:latin typeface="Menlo-Regular" panose="020B0609030804020204" pitchFamily="49" charset="0"/>
              </a:rPr>
              <a:t> = </a:t>
            </a:r>
            <a:r>
              <a:rPr lang="en-US" sz="2800" dirty="0" err="1">
                <a:solidFill>
                  <a:srgbClr val="149802"/>
                </a:solidFill>
                <a:latin typeface="Menlo-Regular" panose="020B0609030804020204" pitchFamily="49" charset="0"/>
              </a:rPr>
              <a:t>Item</a:t>
            </a:r>
            <a:r>
              <a:rPr lang="en-US" sz="2800" dirty="0" err="1">
                <a:solidFill>
                  <a:srgbClr val="3B2322"/>
                </a:solidFill>
                <a:latin typeface="Menlo-Regular" panose="020B0609030804020204" pitchFamily="49" charset="0"/>
              </a:rPr>
              <a:t>.search</a:t>
            </a:r>
            <a:r>
              <a:rPr lang="en-US" sz="2800" dirty="0">
                <a:solidFill>
                  <a:srgbClr val="3B2322"/>
                </a:solidFill>
                <a:latin typeface="Menlo-Regular" panose="020B0609030804020204" pitchFamily="49" charset="0"/>
              </a:rPr>
              <a:t>(params[</a:t>
            </a:r>
            <a:r>
              <a:rPr lang="en-US" sz="2800" dirty="0">
                <a:solidFill>
                  <a:srgbClr val="9F1410"/>
                </a:solidFill>
                <a:latin typeface="Menlo-Regular" panose="020B0609030804020204" pitchFamily="49" charset="0"/>
              </a:rPr>
              <a:t>:q</a:t>
            </a:r>
            <a:r>
              <a:rPr lang="en-US" sz="2800" dirty="0">
                <a:solidFill>
                  <a:srgbClr val="3B2322"/>
                </a:solidFill>
                <a:latin typeface="Menlo-Regular" panose="020B0609030804020204" pitchFamily="49" charset="0"/>
              </a:rPr>
              <a:t>])</a:t>
            </a:r>
          </a:p>
          <a:p>
            <a:r>
              <a:rPr lang="en-US" sz="2800" dirty="0">
                <a:solidFill>
                  <a:srgbClr val="3B2322"/>
                </a:solidFill>
                <a:latin typeface="Menlo-Regular" panose="020B0609030804020204" pitchFamily="49" charset="0"/>
              </a:rPr>
              <a:t>  </a:t>
            </a:r>
            <a:r>
              <a:rPr lang="en-US" sz="2800" dirty="0">
                <a:solidFill>
                  <a:srgbClr val="B000B2"/>
                </a:solidFill>
                <a:latin typeface="Menlo-Regular" panose="020B0609030804020204" pitchFamily="49" charset="0"/>
              </a:rPr>
              <a:t>end</a:t>
            </a:r>
            <a:endParaRPr lang="en-US" dirty="0"/>
          </a:p>
        </p:txBody>
      </p:sp>
      <p:sp>
        <p:nvSpPr>
          <p:cNvPr id="2" name="Title 1">
            <a:extLst>
              <a:ext uri="{FF2B5EF4-FFF2-40B4-BE49-F238E27FC236}">
                <a16:creationId xmlns:a16="http://schemas.microsoft.com/office/drawing/2014/main" id="{983E579C-CB82-D8FE-77C0-D02EF476DB47}"/>
              </a:ext>
            </a:extLst>
          </p:cNvPr>
          <p:cNvSpPr>
            <a:spLocks noGrp="1"/>
          </p:cNvSpPr>
          <p:nvPr>
            <p:ph type="title"/>
          </p:nvPr>
        </p:nvSpPr>
        <p:spPr/>
        <p:txBody>
          <a:bodyPr>
            <a:normAutofit fontScale="90000"/>
          </a:bodyPr>
          <a:lstStyle/>
          <a:p>
            <a:r>
              <a:rPr lang="en-US" dirty="0"/>
              <a:t>Up Next: Dynamic Search</a:t>
            </a:r>
          </a:p>
        </p:txBody>
      </p:sp>
    </p:spTree>
    <p:extLst>
      <p:ext uri="{BB962C8B-B14F-4D97-AF65-F5344CB8AC3E}">
        <p14:creationId xmlns:p14="http://schemas.microsoft.com/office/powerpoint/2010/main" val="1425064082"/>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F0DDA-C59C-FADC-DA84-441637D4F0E2}"/>
              </a:ext>
            </a:extLst>
          </p:cNvPr>
          <p:cNvSpPr>
            <a:spLocks noGrp="1"/>
          </p:cNvSpPr>
          <p:nvPr>
            <p:ph type="title"/>
          </p:nvPr>
        </p:nvSpPr>
        <p:spPr/>
        <p:txBody>
          <a:bodyPr>
            <a:normAutofit fontScale="90000"/>
          </a:bodyPr>
          <a:lstStyle/>
          <a:p>
            <a:r>
              <a:rPr lang="en-US" dirty="0"/>
              <a:t>Summary</a:t>
            </a:r>
          </a:p>
        </p:txBody>
      </p:sp>
      <p:sp>
        <p:nvSpPr>
          <p:cNvPr id="4" name="Content Placeholder 3">
            <a:extLst>
              <a:ext uri="{FF2B5EF4-FFF2-40B4-BE49-F238E27FC236}">
                <a16:creationId xmlns:a16="http://schemas.microsoft.com/office/drawing/2014/main" id="{411C58B1-14C6-6E4E-EA98-96E7E5C39D46}"/>
              </a:ext>
            </a:extLst>
          </p:cNvPr>
          <p:cNvSpPr>
            <a:spLocks noGrp="1"/>
          </p:cNvSpPr>
          <p:nvPr>
            <p:ph idx="1"/>
          </p:nvPr>
        </p:nvSpPr>
        <p:spPr/>
        <p:txBody>
          <a:bodyPr/>
          <a:lstStyle/>
          <a:p>
            <a:r>
              <a:rPr lang="en-US" dirty="0"/>
              <a:t>As with HTMX, Turbo adds SPA-like functionality with a tiny JavaScript library</a:t>
            </a:r>
          </a:p>
          <a:p>
            <a:r>
              <a:rPr lang="en-US" dirty="0"/>
              <a:t>Replaces parts of DOM dynamically</a:t>
            </a:r>
          </a:p>
          <a:p>
            <a:r>
              <a:rPr lang="en-US" dirty="0"/>
              <a:t>If app reflects back directly, no need </a:t>
            </a:r>
            <a:r>
              <a:rPr lang="en-US"/>
              <a:t>for framework</a:t>
            </a:r>
          </a:p>
        </p:txBody>
      </p:sp>
    </p:spTree>
    <p:extLst>
      <p:ext uri="{BB962C8B-B14F-4D97-AF65-F5344CB8AC3E}">
        <p14:creationId xmlns:p14="http://schemas.microsoft.com/office/powerpoint/2010/main" val="3994389016"/>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sld>
</file>

<file path=ppt/theme/theme1.xml><?xml version="1.0" encoding="utf-8"?>
<a:theme xmlns:a="http://schemas.openxmlformats.org/drawingml/2006/main" name="MSU Denver 16x9">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9DA9736E-330F-4D40-A0AF-1CC780C29072}" vid="{881790AE-4280-6941-9F6C-19A6C408C41E}"/>
    </a:ext>
  </a:extLst>
</a:theme>
</file>

<file path=docProps/app.xml><?xml version="1.0" encoding="utf-8"?>
<Properties xmlns="http://schemas.openxmlformats.org/officeDocument/2006/extended-properties" xmlns:vt="http://schemas.openxmlformats.org/officeDocument/2006/docPropsVTypes">
  <Template>Master</Template>
  <TotalTime>63</TotalTime>
  <Words>2015</Words>
  <Application>Microsoft Macintosh PowerPoint</Application>
  <PresentationFormat>Widescreen</PresentationFormat>
  <Paragraphs>236</Paragraphs>
  <Slides>27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Menlo</vt:lpstr>
      <vt:lpstr>Menlo-Bold</vt:lpstr>
      <vt:lpstr>Menlo-Regular</vt:lpstr>
      <vt:lpstr>MSU Denver 16x9</vt:lpstr>
      <vt:lpstr>Turbo</vt:lpstr>
      <vt:lpstr>Hotwired</vt:lpstr>
      <vt:lpstr>Hotwired</vt:lpstr>
      <vt:lpstr>Turbo Frames</vt:lpstr>
      <vt:lpstr>PowerPoint Presentation</vt:lpstr>
      <vt:lpstr>Possible Reply</vt:lpstr>
      <vt:lpstr>Transformation</vt:lpstr>
      <vt:lpstr>Eager Loading</vt:lpstr>
      <vt:lpstr>First Up: Add</vt:lpstr>
      <vt:lpstr>First Up: Add</vt:lpstr>
      <vt:lpstr>First Up: Add</vt:lpstr>
      <vt:lpstr>First Up: Add</vt:lpstr>
      <vt:lpstr>First Up: Add</vt:lpstr>
      <vt:lpstr>First Up: Add</vt:lpstr>
      <vt:lpstr>Next Up: Edits</vt:lpstr>
      <vt:lpstr>PowerPoint Presentation</vt:lpstr>
      <vt:lpstr>PowerPoint Presentation</vt:lpstr>
      <vt:lpstr>PowerPoint Presentation</vt:lpstr>
      <vt:lpstr>Next Up: Delete</vt:lpstr>
      <vt:lpstr>Next Up: Delete</vt:lpstr>
      <vt:lpstr>Next Up: Delete</vt:lpstr>
      <vt:lpstr>Next Up: Delete</vt:lpstr>
      <vt:lpstr>Next Up: Delete</vt:lpstr>
      <vt:lpstr>Up Next: Dynamic Search</vt:lpstr>
      <vt:lpstr>Up Next: Dynamic Search</vt:lpstr>
      <vt:lpstr>Up Next: Dynamic Search</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Steve Beaty</dc:creator>
  <cp:lastModifiedBy>Steve Beaty</cp:lastModifiedBy>
  <cp:revision>5</cp:revision>
  <dcterms:created xsi:type="dcterms:W3CDTF">2026-10-13T18:48:08Z</dcterms:created>
  <dcterms:modified xsi:type="dcterms:W3CDTF">2026-10-13T19:51:37Z</dcterms:modified>
</cp:coreProperties>
</file>