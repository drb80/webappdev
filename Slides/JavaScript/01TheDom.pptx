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3" r:id="rId3"/>
    <p:sldId id="274" r:id="rId4"/>
    <p:sldId id="275" r:id="rId5"/>
    <p:sldId id="276" r:id="rId6"/>
    <p:sldId id="269" r:id="rId7"/>
    <p:sldId id="270" r:id="rId8"/>
    <p:sldId id="297" r:id="rId9"/>
    <p:sldId id="280" r:id="rId10"/>
    <p:sldId id="271" r:id="rId11"/>
    <p:sldId id="302" r:id="rId12"/>
    <p:sldId id="282" r:id="rId13"/>
    <p:sldId id="281" r:id="rId14"/>
    <p:sldId id="303" r:id="rId15"/>
    <p:sldId id="283" r:id="rId16"/>
    <p:sldId id="298" r:id="rId17"/>
    <p:sldId id="299" r:id="rId18"/>
    <p:sldId id="304" r:id="rId19"/>
    <p:sldId id="279" r:id="rId20"/>
    <p:sldId id="301" r:id="rId21"/>
    <p:sldId id="286" r:id="rId22"/>
    <p:sldId id="287" r:id="rId23"/>
    <p:sldId id="288" r:id="rId24"/>
    <p:sldId id="289" r:id="rId25"/>
    <p:sldId id="293" r:id="rId26"/>
    <p:sldId id="291" r:id="rId27"/>
    <p:sldId id="292" r:id="rId28"/>
    <p:sldId id="290" r:id="rId29"/>
    <p:sldId id="294" r:id="rId30"/>
    <p:sldId id="284" r:id="rId3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744"/>
  </p:normalViewPr>
  <p:slideViewPr>
    <p:cSldViewPr snapToGrid="0" snapToObjects="1">
      <p:cViewPr varScale="1">
        <p:scale>
          <a:sx n="159" d="100"/>
          <a:sy n="159" d="100"/>
        </p:scale>
        <p:origin x="82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6" d="100"/>
        <a:sy n="106" d="100"/>
      </p:scale>
      <p:origin x="0" y="4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28EA6-64E7-3B41-B705-2D01AE2C3463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51F31-5ECD-0E43-B26E-BEE3D5A73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785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C4A68-BB4B-F749-A340-6B4B550E91AD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EA959-4B74-264A-ADD9-593291DA7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8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Insepector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EA959-4B74-264A-ADD9-593291DA78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48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EA959-4B74-264A-ADD9-593291DA78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9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794204"/>
            <a:ext cx="7772400" cy="1102519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710890" y="2237708"/>
            <a:ext cx="5707109" cy="75717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2965337-1BF1-E949-8684-788294C83A35}" type="datetime1">
              <a:rPr lang="en-US" smtClean="0"/>
              <a:pPr/>
              <a:t>9/29/26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4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746E-4D3C-5D42-A9E9-EAC61537D386}" type="datetime1">
              <a:rPr lang="en-US" smtClean="0"/>
              <a:t>9/29/26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7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000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1570-FD08-4D47-AFF3-9AD09E7C2997}" type="datetime1">
              <a:rPr lang="en-US" smtClean="0"/>
              <a:t>9/29/26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9564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866"/>
            <a:ext cx="3991200" cy="3394472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000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95600" y="1194628"/>
            <a:ext cx="3991200" cy="3394472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000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EF71570-FD08-4D47-AFF3-9AD09E7C2997}" type="datetime1">
              <a:rPr lang="en-US" smtClean="0"/>
              <a:t>9/29/26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7690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04539" y="4731545"/>
            <a:ext cx="876866" cy="364068"/>
          </a:xfrm>
          <a:prstGeom prst="rect">
            <a:avLst/>
          </a:prstGeom>
        </p:spPr>
        <p:txBody>
          <a:bodyPr/>
          <a:lstStyle/>
          <a:p>
            <a:fld id="{DBCFD61F-DF90-8149-9607-06CA74F87DBC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2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B895-447B-D846-9FCB-AEA5D70D297E}" type="datetime1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6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D98E-3FAA-F34D-828E-22BED2A37794}" type="datetime1">
              <a:rPr lang="en-US" smtClean="0"/>
              <a:t>9/29/26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4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2046507"/>
            <a:ext cx="6858000" cy="1050488"/>
          </a:xfrm>
        </p:spPr>
        <p:txBody>
          <a:bodyPr anchor="ctr" anchorCtr="0">
            <a:sp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1570-FD08-4D47-AFF3-9AD09E7C2997}" type="datetime1">
              <a:rPr lang="en-US" smtClean="0"/>
              <a:t>9/29/26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8522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1356" y="4731545"/>
            <a:ext cx="6454345" cy="36576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6335" y="4731545"/>
            <a:ext cx="659833" cy="36576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F0830-B6B8-4A42-8566-B41BB544E7B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3856" y="4731545"/>
            <a:ext cx="876866" cy="36576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200"/>
            </a:lvl1pPr>
          </a:lstStyle>
          <a:p>
            <a:fld id="{AEF71570-FD08-4D47-AFF3-9AD09E7C2997}" type="datetime1">
              <a:rPr lang="en-US" smtClean="0"/>
              <a:t>9/29/26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79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4571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3" indent="-342883" algn="l" defTabSz="45717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457178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8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457178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457178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8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ip.jsontest.com/?callback=showi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/>
              <a:t>Document Object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2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Document Object Model</a:t>
            </a:r>
          </a:p>
          <a:p>
            <a:r>
              <a:rPr lang="en-US" dirty="0"/>
              <a:t>Access and modify browser documents</a:t>
            </a:r>
          </a:p>
          <a:p>
            <a:r>
              <a:rPr lang="en-US" dirty="0"/>
              <a:t>Forms a tree based on HTML content</a:t>
            </a:r>
          </a:p>
          <a:p>
            <a:pPr lvl="1"/>
            <a:r>
              <a:rPr lang="en-US" dirty="0"/>
              <a:t>HTML elements form the nodes of the tree</a:t>
            </a:r>
          </a:p>
          <a:p>
            <a:pPr lvl="1"/>
            <a:r>
              <a:rPr lang="en-US" dirty="0"/>
              <a:t>Parents, children, siblings, etc.</a:t>
            </a:r>
          </a:p>
          <a:p>
            <a:pPr lvl="1"/>
            <a:r>
              <a:rPr lang="en-US" dirty="0"/>
              <a:t>document itself has no parents and a single child: html</a:t>
            </a:r>
          </a:p>
          <a:p>
            <a:r>
              <a:rPr lang="en-US" dirty="0"/>
              <a:t>DOM inspector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6A20E-E293-0F4D-AA08-5DB607D14828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8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 Node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nodeName</a:t>
            </a:r>
            <a:endParaRPr lang="en-US" dirty="0"/>
          </a:p>
          <a:p>
            <a:r>
              <a:rPr lang="en-US" dirty="0" err="1"/>
              <a:t>nodeValue</a:t>
            </a:r>
            <a:endParaRPr lang="en-US" dirty="0"/>
          </a:p>
          <a:p>
            <a:r>
              <a:rPr lang="en-US" dirty="0" err="1"/>
              <a:t>nodeType</a:t>
            </a:r>
            <a:endParaRPr lang="en-US" dirty="0"/>
          </a:p>
          <a:p>
            <a:r>
              <a:rPr lang="en-US" dirty="0" err="1"/>
              <a:t>parentNode</a:t>
            </a:r>
            <a:endParaRPr lang="en-US" dirty="0"/>
          </a:p>
          <a:p>
            <a:r>
              <a:rPr lang="en-US" dirty="0" err="1"/>
              <a:t>childNodes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firstChild</a:t>
            </a:r>
            <a:endParaRPr lang="en-US" dirty="0"/>
          </a:p>
          <a:p>
            <a:r>
              <a:rPr lang="en-US" dirty="0" err="1"/>
              <a:t>lastChild</a:t>
            </a:r>
            <a:endParaRPr lang="en-US" dirty="0"/>
          </a:p>
          <a:p>
            <a:r>
              <a:rPr lang="en-US" dirty="0" err="1"/>
              <a:t>previousSibling</a:t>
            </a:r>
            <a:endParaRPr lang="en-US" dirty="0"/>
          </a:p>
          <a:p>
            <a:r>
              <a:rPr lang="en-US" dirty="0" err="1"/>
              <a:t>nextSibling</a:t>
            </a:r>
            <a:endParaRPr lang="en-US" dirty="0"/>
          </a:p>
          <a:p>
            <a:r>
              <a:rPr lang="en-US" dirty="0"/>
              <a:t>attributes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B66F-D649-DF45-8880-FDCFB5B7F606}" type="datetime1">
              <a:rPr lang="en-US" smtClean="0"/>
              <a:t>9/29/26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5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 Node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insertBefore</a:t>
            </a:r>
            <a:r>
              <a:rPr lang="en-US" dirty="0"/>
              <a:t>(</a:t>
            </a:r>
            <a:r>
              <a:rPr lang="en-US" dirty="0" err="1"/>
              <a:t>newChild</a:t>
            </a:r>
            <a:r>
              <a:rPr lang="en-US" dirty="0"/>
              <a:t>, </a:t>
            </a:r>
            <a:r>
              <a:rPr lang="en-US" dirty="0" err="1"/>
              <a:t>refChild</a:t>
            </a:r>
            <a:r>
              <a:rPr lang="en-US" dirty="0"/>
              <a:t>)</a:t>
            </a:r>
          </a:p>
          <a:p>
            <a:r>
              <a:rPr lang="en-US" dirty="0" err="1"/>
              <a:t>replaceChild</a:t>
            </a:r>
            <a:r>
              <a:rPr lang="en-US" dirty="0"/>
              <a:t>(</a:t>
            </a:r>
            <a:r>
              <a:rPr lang="en-US" dirty="0" err="1"/>
              <a:t>newChild</a:t>
            </a:r>
            <a:r>
              <a:rPr lang="en-US" dirty="0"/>
              <a:t>, </a:t>
            </a:r>
            <a:r>
              <a:rPr lang="en-US" dirty="0" err="1"/>
              <a:t>oldChild</a:t>
            </a:r>
            <a:r>
              <a:rPr lang="en-US" dirty="0"/>
              <a:t>)</a:t>
            </a:r>
          </a:p>
          <a:p>
            <a:r>
              <a:rPr lang="en-US" dirty="0" err="1"/>
              <a:t>removeChild</a:t>
            </a:r>
            <a:r>
              <a:rPr lang="en-US" dirty="0"/>
              <a:t>(</a:t>
            </a:r>
            <a:r>
              <a:rPr lang="en-US" dirty="0" err="1"/>
              <a:t>oldChild</a:t>
            </a:r>
            <a:r>
              <a:rPr lang="en-US" dirty="0"/>
              <a:t>)</a:t>
            </a:r>
          </a:p>
          <a:p>
            <a:r>
              <a:rPr lang="en-US" dirty="0" err="1"/>
              <a:t>appendChild</a:t>
            </a:r>
            <a:r>
              <a:rPr lang="en-US" dirty="0"/>
              <a:t>(</a:t>
            </a:r>
            <a:r>
              <a:rPr lang="en-US" dirty="0" err="1"/>
              <a:t>newChild</a:t>
            </a:r>
            <a:r>
              <a:rPr lang="en-US" dirty="0"/>
              <a:t>)</a:t>
            </a:r>
          </a:p>
          <a:p>
            <a:r>
              <a:rPr lang="en-US" dirty="0" err="1"/>
              <a:t>hasChildNodes</a:t>
            </a:r>
            <a:r>
              <a:rPr lang="en-US" dirty="0"/>
              <a:t>()</a:t>
            </a:r>
          </a:p>
          <a:p>
            <a:r>
              <a:rPr lang="en-US" dirty="0" err="1"/>
              <a:t>isSupported</a:t>
            </a:r>
            <a:r>
              <a:rPr lang="en-US" dirty="0"/>
              <a:t>(feature, version)</a:t>
            </a:r>
          </a:p>
          <a:p>
            <a:r>
              <a:rPr lang="en-US" dirty="0" err="1"/>
              <a:t>hasAttributes</a:t>
            </a:r>
            <a:r>
              <a:rPr lang="en-US" dirty="0"/>
              <a:t>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7EA-5931-1D4D-AFA1-998284322ADE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0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createElement</a:t>
            </a:r>
            <a:r>
              <a:rPr lang="en-US" dirty="0"/>
              <a:t>(</a:t>
            </a:r>
            <a:r>
              <a:rPr lang="en-US" dirty="0" err="1"/>
              <a:t>tagName</a:t>
            </a:r>
            <a:r>
              <a:rPr lang="en-US" dirty="0"/>
              <a:t>)</a:t>
            </a:r>
          </a:p>
          <a:p>
            <a:r>
              <a:rPr lang="en-US" dirty="0" err="1"/>
              <a:t>createTextNode</a:t>
            </a:r>
            <a:r>
              <a:rPr lang="en-US" dirty="0"/>
              <a:t>(data)</a:t>
            </a:r>
          </a:p>
          <a:p>
            <a:r>
              <a:rPr lang="en-US" dirty="0" err="1"/>
              <a:t>createComment</a:t>
            </a:r>
            <a:r>
              <a:rPr lang="en-US" dirty="0"/>
              <a:t>(data)</a:t>
            </a:r>
          </a:p>
          <a:p>
            <a:r>
              <a:rPr lang="en-US" dirty="0" err="1"/>
              <a:t>createCDATASection</a:t>
            </a:r>
            <a:r>
              <a:rPr lang="en-US" dirty="0"/>
              <a:t>(data)</a:t>
            </a:r>
          </a:p>
          <a:p>
            <a:r>
              <a:rPr lang="en-US" dirty="0" err="1"/>
              <a:t>createAttribute</a:t>
            </a:r>
            <a:r>
              <a:rPr lang="en-US" dirty="0"/>
              <a:t>(name)</a:t>
            </a:r>
          </a:p>
          <a:p>
            <a:r>
              <a:rPr lang="en-US" dirty="0" err="1"/>
              <a:t>getElementsByTagName</a:t>
            </a:r>
            <a:r>
              <a:rPr lang="en-US" dirty="0"/>
              <a:t>(</a:t>
            </a:r>
            <a:r>
              <a:rPr lang="en-US" dirty="0" err="1"/>
              <a:t>tagname</a:t>
            </a:r>
            <a:r>
              <a:rPr lang="en-US" dirty="0"/>
              <a:t>)</a:t>
            </a:r>
          </a:p>
          <a:p>
            <a:r>
              <a:rPr lang="en-US" dirty="0" err="1"/>
              <a:t>getElementById</a:t>
            </a:r>
            <a:r>
              <a:rPr lang="en-US" dirty="0"/>
              <a:t>(</a:t>
            </a:r>
            <a:r>
              <a:rPr lang="en-US" dirty="0" err="1"/>
              <a:t>elementId</a:t>
            </a:r>
            <a:r>
              <a:rPr lang="en-US" dirty="0"/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642-5103-F842-B9C9-150619560DE0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1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Events are triggered by user interaction and browser state changes</a:t>
            </a:r>
          </a:p>
          <a:p>
            <a:r>
              <a:rPr lang="en-US" dirty="0"/>
              <a:t>Much of JavaScript’s power comes from event handlers (listeners)</a:t>
            </a:r>
          </a:p>
          <a:p>
            <a:pPr lvl="1"/>
            <a:r>
              <a:rPr lang="en-US" dirty="0"/>
              <a:t>“Event-driven”</a:t>
            </a:r>
          </a:p>
          <a:p>
            <a:r>
              <a:rPr lang="en-US" dirty="0"/>
              <a:t>DOM and BOM events often begin with “on”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A099D-A142-714F-B6C0-BD5F63B19BC9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06BB-4896-3D40-8FC3-675A9AAA98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1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DOM level 2 specifies events etc. for all browsers</a:t>
            </a:r>
          </a:p>
          <a:p>
            <a:r>
              <a:rPr lang="en-US" dirty="0"/>
              <a:t>Allows for multiple handlers per event</a:t>
            </a:r>
          </a:p>
          <a:p>
            <a:r>
              <a:rPr lang="en-US" dirty="0"/>
              <a:t>Uses “</a:t>
            </a:r>
            <a:r>
              <a:rPr lang="en-US" dirty="0" err="1"/>
              <a:t>addEventListener</a:t>
            </a:r>
            <a:r>
              <a:rPr lang="en-US" dirty="0"/>
              <a:t>()” method to DOM objects</a:t>
            </a:r>
          </a:p>
          <a:p>
            <a:pPr lvl="1"/>
            <a:r>
              <a:rPr lang="en-US" dirty="0"/>
              <a:t>Three arguments: event type, function to call, phase (typically false)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5D485-6554-CD4B-82A6-ABED36A25034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06BB-4896-3D40-8FC3-675A9AAA9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onclick</a:t>
            </a:r>
            <a:r>
              <a:rPr lang="en-US" dirty="0"/>
              <a:t>     </a:t>
            </a:r>
          </a:p>
          <a:p>
            <a:r>
              <a:rPr lang="en-US" dirty="0" err="1"/>
              <a:t>ondblclick</a:t>
            </a:r>
            <a:r>
              <a:rPr lang="en-US" dirty="0"/>
              <a:t>  </a:t>
            </a:r>
          </a:p>
          <a:p>
            <a:r>
              <a:rPr lang="en-US" dirty="0" err="1"/>
              <a:t>onmousedown</a:t>
            </a:r>
            <a:r>
              <a:rPr lang="en-US" dirty="0"/>
              <a:t>     </a:t>
            </a:r>
          </a:p>
          <a:p>
            <a:r>
              <a:rPr lang="en-US" dirty="0" err="1"/>
              <a:t>onmousemove</a:t>
            </a:r>
            <a:r>
              <a:rPr lang="en-US" dirty="0"/>
              <a:t>     </a:t>
            </a:r>
          </a:p>
          <a:p>
            <a:r>
              <a:rPr lang="en-US" dirty="0" err="1"/>
              <a:t>onmouseover</a:t>
            </a:r>
            <a:r>
              <a:rPr lang="en-US" dirty="0"/>
              <a:t>     </a:t>
            </a:r>
          </a:p>
          <a:p>
            <a:r>
              <a:rPr lang="en-US" dirty="0" err="1"/>
              <a:t>onmouseout</a:t>
            </a:r>
            <a:r>
              <a:rPr lang="en-US" dirty="0"/>
              <a:t>  </a:t>
            </a:r>
          </a:p>
          <a:p>
            <a:r>
              <a:rPr lang="en-US" dirty="0" err="1"/>
              <a:t>onmouseup</a:t>
            </a:r>
            <a:r>
              <a:rPr lang="en-US" dirty="0"/>
              <a:t>   </a:t>
            </a:r>
          </a:p>
          <a:p>
            <a:r>
              <a:rPr lang="en-US" dirty="0" err="1"/>
              <a:t>onkeydown</a:t>
            </a:r>
            <a:r>
              <a:rPr lang="en-US" dirty="0"/>
              <a:t>   </a:t>
            </a:r>
          </a:p>
          <a:p>
            <a:r>
              <a:rPr lang="en-US" dirty="0" err="1"/>
              <a:t>onkeypress</a:t>
            </a:r>
            <a:r>
              <a:rPr lang="en-US" dirty="0"/>
              <a:t>  </a:t>
            </a:r>
          </a:p>
          <a:p>
            <a:r>
              <a:rPr lang="en-US" dirty="0" err="1"/>
              <a:t>onkeyup</a:t>
            </a:r>
            <a:r>
              <a:rPr lang="en-US" dirty="0"/>
              <a:t>     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onblur</a:t>
            </a:r>
            <a:r>
              <a:rPr lang="en-US" dirty="0"/>
              <a:t>  </a:t>
            </a:r>
          </a:p>
          <a:p>
            <a:r>
              <a:rPr lang="en-US" dirty="0" err="1"/>
              <a:t>onchange</a:t>
            </a:r>
            <a:r>
              <a:rPr lang="en-US" dirty="0"/>
              <a:t>    </a:t>
            </a:r>
          </a:p>
          <a:p>
            <a:r>
              <a:rPr lang="en-US" dirty="0" err="1"/>
              <a:t>onfocus</a:t>
            </a:r>
            <a:endParaRPr lang="en-US" dirty="0"/>
          </a:p>
          <a:p>
            <a:r>
              <a:rPr lang="en-US" dirty="0" err="1"/>
              <a:t>onreset</a:t>
            </a:r>
            <a:r>
              <a:rPr lang="en-US" dirty="0"/>
              <a:t>     </a:t>
            </a:r>
          </a:p>
          <a:p>
            <a:r>
              <a:rPr lang="en-US" dirty="0" err="1"/>
              <a:t>onselect</a:t>
            </a:r>
            <a:r>
              <a:rPr lang="en-US" dirty="0"/>
              <a:t> </a:t>
            </a:r>
          </a:p>
          <a:p>
            <a:r>
              <a:rPr lang="en-US" dirty="0" err="1"/>
              <a:t>onsubmit</a:t>
            </a:r>
            <a:r>
              <a:rPr lang="en-US" dirty="0"/>
              <a:t>    </a:t>
            </a:r>
          </a:p>
          <a:p>
            <a:r>
              <a:rPr lang="en-US" dirty="0" err="1"/>
              <a:t>onload</a:t>
            </a:r>
            <a:endParaRPr lang="en-US" dirty="0"/>
          </a:p>
          <a:p>
            <a:r>
              <a:rPr lang="en-US" dirty="0" err="1"/>
              <a:t>onresize</a:t>
            </a:r>
            <a:r>
              <a:rPr lang="en-US" dirty="0"/>
              <a:t>    </a:t>
            </a:r>
          </a:p>
          <a:p>
            <a:r>
              <a:rPr lang="en-US" dirty="0" err="1"/>
              <a:t>onscroll</a:t>
            </a:r>
            <a:r>
              <a:rPr lang="en-US" dirty="0"/>
              <a:t>    </a:t>
            </a:r>
          </a:p>
          <a:p>
            <a:r>
              <a:rPr lang="en-US" dirty="0" err="1"/>
              <a:t>onunload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90F7-F16F-1942-8D3F-B5B734B1C0D0}" type="datetime1">
              <a:rPr lang="en-US" smtClean="0"/>
              <a:t>9/29/26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3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“JavaScript can”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Change all the HTML elements in the page</a:t>
            </a:r>
          </a:p>
          <a:p>
            <a:r>
              <a:rPr lang="en-US" dirty="0"/>
              <a:t>Change all the HTML attributes in the page</a:t>
            </a:r>
          </a:p>
          <a:p>
            <a:r>
              <a:rPr lang="en-US" dirty="0"/>
              <a:t>Change all the CSS styles in the page</a:t>
            </a:r>
          </a:p>
          <a:p>
            <a:r>
              <a:rPr lang="en-US" dirty="0"/>
              <a:t>Remove existing HTML elements and attributes</a:t>
            </a:r>
          </a:p>
          <a:p>
            <a:r>
              <a:rPr lang="en-US" dirty="0"/>
              <a:t>Add new HTML elements and attributes</a:t>
            </a:r>
          </a:p>
          <a:p>
            <a:r>
              <a:rPr lang="en-US" dirty="0"/>
              <a:t>React to all existing HTML events in the page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F1E6-6606-604F-B920-628FC615C213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9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Alerts, Confirms, and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Popups</a:t>
            </a:r>
          </a:p>
          <a:p>
            <a:r>
              <a:rPr lang="en-US" dirty="0"/>
              <a:t>‘alert (“this is an alert”);’</a:t>
            </a:r>
          </a:p>
          <a:p>
            <a:r>
              <a:rPr lang="en-US" dirty="0"/>
              <a:t>‘</a:t>
            </a:r>
            <a:r>
              <a:rPr lang="en-US" dirty="0" err="1"/>
              <a:t>window.onunload</a:t>
            </a:r>
            <a:r>
              <a:rPr lang="en-US" dirty="0"/>
              <a:t> = confirm (“are you sure?”);’</a:t>
            </a:r>
          </a:p>
          <a:p>
            <a:pPr lvl="1"/>
            <a:r>
              <a:rPr lang="en-US" dirty="0"/>
              <a:t>Returns true or false</a:t>
            </a:r>
          </a:p>
          <a:p>
            <a:r>
              <a:rPr lang="en-US" dirty="0"/>
              <a:t>‘prompt (“what’s your name?”);’</a:t>
            </a:r>
          </a:p>
          <a:p>
            <a:pPr lvl="1"/>
            <a:r>
              <a:rPr lang="en-US" dirty="0"/>
              <a:t>Returns a string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90CE-1D49-C544-9E4A-158985C14293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title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Easy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Peasy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title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    This is test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   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        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"I'm here!"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   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602B9-6EF3-5F4C-8E36-1C1095E882CF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DOM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document.getElementById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Most used</a:t>
            </a:r>
          </a:p>
          <a:p>
            <a:r>
              <a:rPr lang="en-US" dirty="0" err="1"/>
              <a:t>document.getElementsByTagName</a:t>
            </a:r>
            <a:r>
              <a:rPr lang="en-US" dirty="0"/>
              <a:t>()</a:t>
            </a:r>
          </a:p>
          <a:p>
            <a:r>
              <a:rPr lang="en-US" dirty="0" err="1"/>
              <a:t>document.getElementsByClassName</a:t>
            </a:r>
            <a:r>
              <a:rPr lang="en-US" dirty="0"/>
              <a:t>() 	</a:t>
            </a:r>
          </a:p>
          <a:p>
            <a:r>
              <a:rPr lang="en-US" dirty="0" err="1"/>
              <a:t>document.forms</a:t>
            </a:r>
            <a:r>
              <a:rPr lang="en-US" dirty="0"/>
              <a:t>[]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C7D7A-02D7-074C-94C5-6172EC3B5CC8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2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Modifying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00A500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"Body"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00A500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"form"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00A500"/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"submit"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00A500"/>
                </a:solidFill>
                <a:latin typeface="Menlo"/>
                <a:ea typeface="Menlo"/>
                <a:cs typeface="Menlo"/>
              </a:rPr>
              <a:t>value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"Add another paragraph"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350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sz="1350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sz="1350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687A-19CC-F94A-AB2F-C00CAF1334EB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1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719F-16A2-B54E-9A10-4EEDF4A2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39AB-3F15-364F-87AC-0C28A5A3C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count=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1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addto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function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{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a = </a:t>
            </a:r>
            <a:r>
              <a:rPr lang="en-US" dirty="0" err="1">
                <a:solidFill>
                  <a:srgbClr val="B7660A"/>
                </a:solidFill>
                <a:latin typeface="Menlo"/>
                <a:ea typeface="Menlo"/>
                <a:cs typeface="Menlo"/>
              </a:rPr>
              <a:t>document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.getElementById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"Body"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p = </a:t>
            </a:r>
            <a:r>
              <a:rPr lang="en-US" dirty="0" err="1">
                <a:solidFill>
                  <a:srgbClr val="B7660A"/>
                </a:solidFill>
                <a:latin typeface="Menlo"/>
                <a:ea typeface="Menlo"/>
                <a:cs typeface="Menlo"/>
              </a:rPr>
              <a:t>document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.createElement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'p'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p.textContent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"Paragraph "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+ count++;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a.appendChild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p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return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false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}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B7660A"/>
                </a:solidFill>
                <a:latin typeface="Menlo"/>
                <a:ea typeface="Menlo"/>
                <a:cs typeface="Menlo"/>
              </a:rPr>
              <a:t>document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.getElementById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B12412"/>
                </a:solidFill>
                <a:latin typeface="Menlo"/>
                <a:ea typeface="Menlo"/>
                <a:cs typeface="Menlo"/>
              </a:rPr>
              <a:t>"form"</a:t>
            </a:r>
            <a:r>
              <a:rPr lang="en-US" dirty="0">
                <a:solidFill>
                  <a:srgbClr val="4C2F2D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onsubmit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 err="1">
                <a:solidFill>
                  <a:srgbClr val="C02DC0"/>
                </a:solidFill>
                <a:latin typeface="Menlo"/>
                <a:ea typeface="Menlo"/>
                <a:cs typeface="Menlo"/>
              </a:rPr>
              <a:t>addto</a:t>
            </a:r>
            <a:r>
              <a:rPr lang="en-US" dirty="0">
                <a:solidFill>
                  <a:srgbClr val="C02DC0"/>
                </a:solidFill>
                <a:latin typeface="Menlo"/>
                <a:ea typeface="Menlo"/>
                <a:cs typeface="Menlo"/>
              </a:rPr>
              <a:t>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dirty="0">
              <a:solidFill>
                <a:srgbClr val="4C2F2D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dirty="0">
                <a:solidFill>
                  <a:srgbClr val="B7660A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00A3AF"/>
                </a:solidFill>
                <a:latin typeface="Menlo"/>
                <a:ea typeface="Menlo"/>
                <a:cs typeface="Menlo"/>
              </a:rPr>
              <a:t>&gt;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9A313-1F9B-034C-8B7F-A41B7E43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746E-4D3C-5D42-A9E9-EAC61537D386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F5440-BA10-5242-81B2-575AD891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65CC7-B799-FF4A-BC00-BBDE1A04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7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Modifications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document.getElementById</a:t>
            </a:r>
            <a:r>
              <a:rPr lang="en-US" dirty="0"/>
              <a:t>(id).</a:t>
            </a:r>
            <a:r>
              <a:rPr lang="en-US" dirty="0" err="1"/>
              <a:t>innerHTML</a:t>
            </a:r>
            <a:r>
              <a:rPr lang="en-US" dirty="0"/>
              <a:t>=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(id).attribute=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(id).</a:t>
            </a:r>
            <a:r>
              <a:rPr lang="en-US" dirty="0" err="1"/>
              <a:t>style.attribute</a:t>
            </a:r>
            <a:r>
              <a:rPr lang="en-US" dirty="0"/>
              <a:t>=</a:t>
            </a:r>
          </a:p>
          <a:p>
            <a:pPr lvl="1"/>
            <a:r>
              <a:rPr lang="en-US" dirty="0"/>
              <a:t>For CSS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94BD-847C-274C-988F-530BBBBE7B03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3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"form"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onsubmit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="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getString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return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false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"text"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"String"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"submit"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 err="1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getString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function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   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A6520C"/>
                </a:solidFill>
                <a:latin typeface="Menlo"/>
                <a:ea typeface="Menlo"/>
                <a:cs typeface="Menlo"/>
              </a:rPr>
              <a:t>document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.getElementById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"String"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.value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61582-5856-CC43-B070-0B1A768B45CA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7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sz="1350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p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Please enter a string between 1 and 20 characters long with no numbers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p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"form"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onsubmit</a:t>
            </a:r>
            <a:r>
              <a:rPr lang="en-US" sz="135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="</a:t>
            </a:r>
            <a:r>
              <a:rPr lang="en-US" sz="135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checkString</a:t>
            </a: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  <a:r>
              <a:rPr lang="en-US" sz="135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 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return</a:t>
            </a:r>
            <a:r>
              <a:rPr lang="en-US" sz="135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35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false</a:t>
            </a: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35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;"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"text"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id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"String"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350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type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35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"submit"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35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form</a:t>
            </a:r>
            <a:r>
              <a:rPr lang="en-US" sz="135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sz="1350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endParaRPr lang="en-US" sz="1350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FE2B0-88C4-3845-A69E-8C12553F049C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9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B592-E736-7640-B87F-C38A4C13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1B8E-CBBD-3A42-A96E-EBF42D09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checkString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function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string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 err="1">
                <a:solidFill>
                  <a:srgbClr val="A6520C"/>
                </a:solidFill>
                <a:latin typeface="Menlo"/>
                <a:ea typeface="Menlo"/>
                <a:cs typeface="Menlo"/>
              </a:rPr>
              <a:t>document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.getElementById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"String"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.value;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number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 err="1">
                <a:solidFill>
                  <a:srgbClr val="149802"/>
                </a:solidFill>
                <a:latin typeface="Menlo"/>
                <a:ea typeface="Menlo"/>
                <a:cs typeface="Menlo"/>
              </a:rPr>
              <a:t>string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.search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/[0-9]/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B000B2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149802"/>
                </a:solidFill>
                <a:latin typeface="Menlo"/>
                <a:ea typeface="Menlo"/>
                <a:cs typeface="Menlo"/>
              </a:rPr>
              <a:t>string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.length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==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0)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"zero length string!"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else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149802"/>
                </a:solidFill>
                <a:latin typeface="Menlo"/>
                <a:ea typeface="Menlo"/>
                <a:cs typeface="Menlo"/>
              </a:rPr>
              <a:t>string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.length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&gt;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20)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"string too long!"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else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149802"/>
                </a:solidFill>
                <a:latin typeface="Menlo"/>
                <a:ea typeface="Menlo"/>
                <a:cs typeface="Menlo"/>
              </a:rPr>
              <a:t>number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&gt;=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0)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"no numbers allowed!"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535E-80B4-0944-9365-A009C218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746E-4D3C-5D42-A9E9-EAC61537D386}" type="datetime1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3AB7-9D6C-A64E-8001-6D6A84BC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1EF2A-A550-4847-AEF5-A52C2710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Timers and intervals</a:t>
            </a:r>
          </a:p>
          <a:p>
            <a:pPr lvl="1"/>
            <a:r>
              <a:rPr lang="en-US" dirty="0"/>
              <a:t>Timers only fire once</a:t>
            </a:r>
          </a:p>
          <a:p>
            <a:pPr lvl="1"/>
            <a:r>
              <a:rPr lang="en-US" dirty="0" err="1"/>
              <a:t>setTimeout</a:t>
            </a:r>
            <a:r>
              <a:rPr lang="en-US" dirty="0"/>
              <a:t>(), </a:t>
            </a:r>
            <a:r>
              <a:rPr lang="en-US" dirty="0" err="1"/>
              <a:t>setInterval</a:t>
            </a:r>
            <a:r>
              <a:rPr lang="en-US" dirty="0"/>
              <a:t>(), </a:t>
            </a:r>
            <a:r>
              <a:rPr lang="en-US" dirty="0" err="1"/>
              <a:t>clearInterval</a:t>
            </a:r>
            <a:r>
              <a:rPr lang="en-US" dirty="0"/>
              <a:t>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7CFEE-A49A-9448-8C7D-285802F7302D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1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Typically use a framework to do a lot of the heavy lifting</a:t>
            </a:r>
          </a:p>
          <a:p>
            <a:r>
              <a:rPr lang="en-US" dirty="0" err="1"/>
              <a:t>jQuery</a:t>
            </a:r>
            <a:endParaRPr lang="en-US" dirty="0"/>
          </a:p>
          <a:p>
            <a:r>
              <a:rPr lang="en-US" dirty="0"/>
              <a:t>Angular</a:t>
            </a:r>
          </a:p>
          <a:p>
            <a:r>
              <a:rPr lang="en-US" dirty="0"/>
              <a:t>Backbone</a:t>
            </a:r>
          </a:p>
          <a:p>
            <a:r>
              <a:rPr lang="en-US" dirty="0"/>
              <a:t>Bootstrap</a:t>
            </a:r>
          </a:p>
          <a:p>
            <a:r>
              <a:rPr lang="en-US" dirty="0"/>
              <a:t>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E1CE-8AB9-244E-94D0-7E729371E756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JavaScript Object Notation</a:t>
            </a:r>
          </a:p>
          <a:p>
            <a:pPr lvl="1"/>
            <a:r>
              <a:rPr lang="en-US" dirty="0"/>
              <a:t>Though “language independent”</a:t>
            </a:r>
          </a:p>
          <a:p>
            <a:pPr lvl="1" algn="just"/>
            <a:r>
              <a:rPr lang="en-US" dirty="0"/>
              <a:t>RFC 4627</a:t>
            </a:r>
          </a:p>
          <a:p>
            <a:r>
              <a:rPr lang="en-US" dirty="0"/>
              <a:t>Key/value</a:t>
            </a:r>
          </a:p>
          <a:p>
            <a:r>
              <a:rPr lang="en-US" dirty="0"/>
              <a:t>Popular alternative to XML</a:t>
            </a:r>
          </a:p>
          <a:p>
            <a:r>
              <a:rPr lang="en-US" dirty="0"/>
              <a:t>Also has schema to describe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3F02-9D31-CC4B-8757-3CF61C3AC68A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Number</a:t>
            </a:r>
          </a:p>
          <a:p>
            <a:r>
              <a:rPr lang="en-US" dirty="0"/>
              <a:t>String </a:t>
            </a:r>
          </a:p>
          <a:p>
            <a:r>
              <a:rPr lang="en-US" dirty="0"/>
              <a:t>Boolean </a:t>
            </a:r>
          </a:p>
          <a:p>
            <a:r>
              <a:rPr lang="en-US" dirty="0"/>
              <a:t>Array – in ‘[‘ ‘]’ with ‘,’</a:t>
            </a:r>
          </a:p>
          <a:p>
            <a:r>
              <a:rPr lang="en-US" dirty="0"/>
              <a:t>Object – in ‘{‘ ‘}’ with key: value ‘,’</a:t>
            </a:r>
          </a:p>
          <a:p>
            <a:r>
              <a:rPr lang="en-US" dirty="0"/>
              <a:t>null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BF0-CC8E-A64A-AB6D-C707222BDC5D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firstName</a:t>
            </a:r>
            <a:r>
              <a:rPr lang="en-US" dirty="0"/>
              <a:t>": "John",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lastName</a:t>
            </a:r>
            <a:r>
              <a:rPr lang="en-US" dirty="0"/>
              <a:t>": "Smith",</a:t>
            </a:r>
          </a:p>
          <a:p>
            <a:pPr marL="0" indent="0">
              <a:buNone/>
            </a:pPr>
            <a:r>
              <a:rPr lang="en-US" dirty="0"/>
              <a:t>    "age": 25,</a:t>
            </a:r>
          </a:p>
          <a:p>
            <a:pPr marL="0" indent="0">
              <a:buNone/>
            </a:pPr>
            <a:r>
              <a:rPr lang="en-US" dirty="0"/>
              <a:t>    "address":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"</a:t>
            </a:r>
            <a:r>
              <a:rPr lang="en-US" dirty="0" err="1"/>
              <a:t>streetAddress</a:t>
            </a:r>
            <a:r>
              <a:rPr lang="en-US" dirty="0"/>
              <a:t>": "21 2nd Street",</a:t>
            </a:r>
          </a:p>
          <a:p>
            <a:pPr marL="0" indent="0">
              <a:buNone/>
            </a:pPr>
            <a:r>
              <a:rPr lang="en-US" dirty="0"/>
              <a:t>        "city": "New York",</a:t>
            </a:r>
          </a:p>
          <a:p>
            <a:pPr marL="0" indent="0">
              <a:buNone/>
            </a:pPr>
            <a:r>
              <a:rPr lang="en-US" dirty="0"/>
              <a:t>        "state": "NY",</a:t>
            </a:r>
          </a:p>
          <a:p>
            <a:pPr marL="0" indent="0">
              <a:buNone/>
            </a:pPr>
            <a:r>
              <a:rPr lang="en-US" dirty="0"/>
              <a:t>        "</a:t>
            </a:r>
            <a:r>
              <a:rPr lang="en-US" dirty="0" err="1"/>
              <a:t>postalCode</a:t>
            </a:r>
            <a:r>
              <a:rPr lang="en-US" dirty="0"/>
              <a:t>": 10021</a:t>
            </a:r>
          </a:p>
          <a:p>
            <a:pPr marL="0" indent="0">
              <a:buNone/>
            </a:pPr>
            <a:r>
              <a:rPr lang="en-US" dirty="0"/>
              <a:t>    },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78B9-9564-A845-972A-B570A9E16E4F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0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phoneNumbers</a:t>
            </a:r>
            <a:r>
              <a:rPr lang="en-US" dirty="0"/>
              <a:t>":</a:t>
            </a:r>
          </a:p>
          <a:p>
            <a:pPr marL="0" indent="0">
              <a:buNone/>
            </a:pPr>
            <a:r>
              <a:rPr lang="en-US" dirty="0"/>
              <a:t>    [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"type": "home",</a:t>
            </a:r>
          </a:p>
          <a:p>
            <a:pPr marL="0" indent="0">
              <a:buNone/>
            </a:pPr>
            <a:r>
              <a:rPr lang="en-US" dirty="0"/>
              <a:t>            "number": "212 555-1234"</a:t>
            </a:r>
          </a:p>
          <a:p>
            <a:pPr marL="0" indent="0">
              <a:buNone/>
            </a:pPr>
            <a:r>
              <a:rPr lang="en-US" dirty="0"/>
              <a:t>        },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"type": "fax",</a:t>
            </a:r>
          </a:p>
          <a:p>
            <a:pPr marL="0" indent="0">
              <a:buNone/>
            </a:pPr>
            <a:r>
              <a:rPr lang="en-US" dirty="0"/>
              <a:t>            "number": "646 555-4567"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70493-CBD3-5448-BFDF-AD20FA392220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4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Requesting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JSON is often used to return data from requests</a:t>
            </a:r>
          </a:p>
          <a:p>
            <a:r>
              <a:rPr lang="en-US" dirty="0"/>
              <a:t>Particularly AJAX requests</a:t>
            </a:r>
          </a:p>
          <a:p>
            <a:r>
              <a:rPr lang="en-US" dirty="0"/>
              <a:t>Create a </a:t>
            </a:r>
            <a:r>
              <a:rPr lang="en-US" dirty="0" err="1"/>
              <a:t>XMLHttpRequest</a:t>
            </a:r>
            <a:r>
              <a:rPr lang="en-US" dirty="0"/>
              <a:t> object</a:t>
            </a:r>
          </a:p>
          <a:p>
            <a:r>
              <a:rPr lang="en-US" dirty="0"/>
              <a:t>Create a callback method for when the request is complete</a:t>
            </a:r>
          </a:p>
          <a:p>
            <a:r>
              <a:rPr lang="en-US" dirty="0"/>
              <a:t>Send the request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7C45-D72A-384C-AD28-C2F4F9409D33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6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Request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sz="1800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new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XMLHttpRequest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endParaRPr lang="en-US" sz="1800" dirty="0">
              <a:solidFill>
                <a:srgbClr val="B000B2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http_request.open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"GET"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"http://</a:t>
            </a:r>
            <a:r>
              <a:rPr lang="en-US" sz="1800" dirty="0" err="1">
                <a:solidFill>
                  <a:srgbClr val="9F1410"/>
                </a:solidFill>
                <a:latin typeface="Menlo"/>
                <a:ea typeface="Menlo"/>
                <a:cs typeface="Menlo"/>
              </a:rPr>
              <a:t>ip.jsontest.com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/"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true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http_request.onreadystatechange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function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800" dirty="0" err="1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done =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4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, ok =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200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http_request.readyState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=== done &amp;&amp;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   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</a:t>
            </a:r>
            <a:r>
              <a:rPr lang="en-US" sz="1800" dirty="0" err="1">
                <a:solidFill>
                  <a:srgbClr val="A6520C"/>
                </a:solidFill>
                <a:latin typeface="Menlo"/>
                <a:ea typeface="Menlo"/>
                <a:cs typeface="Menlo"/>
              </a:rPr>
              <a:t>status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=== ok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    </a:t>
            </a:r>
            <a:r>
              <a:rPr lang="en-US" sz="1800" dirty="0" err="1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jo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=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JSON.parse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http_request.responseText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    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"Response: "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+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http_request.responseText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    </a:t>
            </a:r>
            <a:r>
              <a:rPr lang="en-US" sz="1800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800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"Your IP address is: "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+ </a:t>
            </a:r>
            <a:r>
              <a:rPr lang="en-US" sz="1800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jo.ip</a:t>
            </a:r>
            <a:r>
              <a:rPr lang="en-US" sz="1800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sz="1800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A050-8DD7-5C48-ACE8-2FF8CC3413BD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6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Request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75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http_request.send</a:t>
            </a:r>
            <a:r>
              <a:rPr lang="en-US" sz="1275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75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75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null</a:t>
            </a:r>
            <a:r>
              <a:rPr lang="en-US" sz="1275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sz="1275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275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275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sz="1275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sz="1275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7D39-231B-A042-AAE7-917B9D80CCD6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“JSON with padding”</a:t>
            </a:r>
          </a:p>
          <a:p>
            <a:r>
              <a:rPr lang="en-US" dirty="0"/>
              <a:t>I.e.: returns JSON to a method you specify</a:t>
            </a:r>
          </a:p>
          <a:p>
            <a:r>
              <a:rPr lang="en-US" dirty="0"/>
              <a:t>Calling</a:t>
            </a:r>
          </a:p>
          <a:p>
            <a:pPr lvl="1"/>
            <a:r>
              <a:rPr lang="en-US" dirty="0"/>
              <a:t>http://ip.jsontest.com/?callback=showit</a:t>
            </a:r>
            <a:endParaRPr lang="en-US" dirty="0">
              <a:hlinkClick r:id="rId2"/>
            </a:endParaRPr>
          </a:p>
          <a:p>
            <a:r>
              <a:rPr lang="en-US" dirty="0"/>
              <a:t>Returns</a:t>
            </a:r>
          </a:p>
          <a:p>
            <a:pPr lvl="1"/>
            <a:r>
              <a:rPr lang="en-US" dirty="0" err="1"/>
              <a:t>showit</a:t>
            </a:r>
            <a:r>
              <a:rPr lang="en-US" dirty="0"/>
              <a:t>({"</a:t>
            </a:r>
            <a:r>
              <a:rPr lang="en-US" dirty="0" err="1"/>
              <a:t>ip</a:t>
            </a:r>
            <a:r>
              <a:rPr lang="en-US" dirty="0"/>
              <a:t>": "128.117.9.79"});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075C3-EC01-8F44-A2E6-E24AD12F86B3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9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head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3939F"/>
                </a:solidFill>
                <a:latin typeface="Menlo"/>
                <a:ea typeface="Menlo"/>
                <a:cs typeface="Menlo"/>
              </a:rPr>
              <a:t>var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showit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function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result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   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alert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"Your IP address is: "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 + </a:t>
            </a:r>
            <a:r>
              <a:rPr lang="en-US" dirty="0" err="1">
                <a:solidFill>
                  <a:srgbClr val="B000B2"/>
                </a:solidFill>
                <a:latin typeface="Menlo"/>
                <a:ea typeface="Menlo"/>
                <a:cs typeface="Menlo"/>
              </a:rPr>
              <a:t>result.ip</a:t>
            </a:r>
            <a:r>
              <a:rPr lang="en-US" dirty="0">
                <a:solidFill>
                  <a:srgbClr val="3B2322"/>
                </a:solidFill>
                <a:latin typeface="Menlo"/>
                <a:ea typeface="Menlo"/>
                <a:cs typeface="Menlo"/>
              </a:rPr>
              <a:t>)</a:t>
            </a:r>
            <a:r>
              <a:rPr lang="en-US" dirty="0">
                <a:solidFill>
                  <a:srgbClr val="B000B2"/>
                </a:solidFill>
                <a:latin typeface="Menlo"/>
                <a:ea typeface="Menlo"/>
                <a:cs typeface="Menl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149802"/>
                </a:solidFill>
                <a:latin typeface="Menlo"/>
                <a:ea typeface="Menlo"/>
                <a:cs typeface="Menlo"/>
              </a:rPr>
              <a:t>src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"http://</a:t>
            </a:r>
            <a:r>
              <a:rPr lang="en-US" dirty="0" err="1">
                <a:solidFill>
                  <a:srgbClr val="9F1410"/>
                </a:solidFill>
                <a:latin typeface="Menlo"/>
                <a:ea typeface="Menlo"/>
                <a:cs typeface="Menlo"/>
              </a:rPr>
              <a:t>ip.jsontest.com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/?callback=</a:t>
            </a:r>
            <a:r>
              <a:rPr lang="en-US" dirty="0" err="1">
                <a:solidFill>
                  <a:srgbClr val="9F1410"/>
                </a:solidFill>
                <a:latin typeface="Menlo"/>
                <a:ea typeface="Menlo"/>
                <a:cs typeface="Menlo"/>
              </a:rPr>
              <a:t>showit</a:t>
            </a:r>
            <a:r>
              <a:rPr lang="en-US" dirty="0">
                <a:solidFill>
                  <a:srgbClr val="9F1410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script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13939F"/>
              </a:solidFill>
              <a:latin typeface="Menlo"/>
              <a:ea typeface="Menlo"/>
              <a:cs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body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&lt;/</a:t>
            </a:r>
            <a:r>
              <a:rPr lang="en-US" dirty="0">
                <a:solidFill>
                  <a:srgbClr val="A6520C"/>
                </a:solidFill>
                <a:latin typeface="Menlo"/>
                <a:ea typeface="Menlo"/>
                <a:cs typeface="Menlo"/>
              </a:rPr>
              <a:t>html</a:t>
            </a:r>
            <a:r>
              <a:rPr lang="en-US" dirty="0">
                <a:solidFill>
                  <a:srgbClr val="13939F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995E-1F43-4C49-B187-F169592F0155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http://www.w3schools.com/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dirty="0" err="1"/>
              <a:t>default.asp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24A9-349D-1A4F-B51F-7168B013C952}" type="datetime1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F0830-B6B8-4A42-8566-B41BB544E7B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hapter01.pptx" id="{85C1B3FA-0721-D54A-A73A-184B6A338229}" vid="{92464662-74CA-944C-95EE-729496A6E2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31704</TotalTime>
  <Words>1439</Words>
  <Application>Microsoft Macintosh PowerPoint</Application>
  <PresentationFormat>On-screen Show (16:9)</PresentationFormat>
  <Paragraphs>355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Menlo</vt:lpstr>
      <vt:lpstr>MSU Denver 16x9</vt:lpstr>
      <vt:lpstr>The Document Object Model</vt:lpstr>
      <vt:lpstr>DOM</vt:lpstr>
      <vt:lpstr>DOM Node Properties</vt:lpstr>
      <vt:lpstr>DOM Node Methods</vt:lpstr>
      <vt:lpstr>DOM Methods</vt:lpstr>
      <vt:lpstr>Events</vt:lpstr>
      <vt:lpstr>Events</vt:lpstr>
      <vt:lpstr>Events</vt:lpstr>
      <vt:lpstr>“JavaScript can”</vt:lpstr>
      <vt:lpstr>Alerts, Confirms, and Prompts</vt:lpstr>
      <vt:lpstr>Alert</vt:lpstr>
      <vt:lpstr>Finding DOM Parts</vt:lpstr>
      <vt:lpstr>Modifying Content</vt:lpstr>
      <vt:lpstr>PowerPoint Presentation</vt:lpstr>
      <vt:lpstr>More Modifications</vt:lpstr>
      <vt:lpstr>Retrieving Information</vt:lpstr>
      <vt:lpstr>Form Checking</vt:lpstr>
      <vt:lpstr>PowerPoint Presentation</vt:lpstr>
      <vt:lpstr>Timers</vt:lpstr>
      <vt:lpstr>Frameworks</vt:lpstr>
      <vt:lpstr>JSON</vt:lpstr>
      <vt:lpstr>JSON Types</vt:lpstr>
      <vt:lpstr>Example JSON</vt:lpstr>
      <vt:lpstr>Example JSON</vt:lpstr>
      <vt:lpstr>Requesting JSON</vt:lpstr>
      <vt:lpstr>JSON Request Example</vt:lpstr>
      <vt:lpstr>JSON Request Example</vt:lpstr>
      <vt:lpstr>JSONP</vt:lpstr>
      <vt:lpstr>JSONP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Beaty</dc:creator>
  <cp:lastModifiedBy>Steve Beaty</cp:lastModifiedBy>
  <cp:revision>41</cp:revision>
  <dcterms:created xsi:type="dcterms:W3CDTF">2014-02-20T20:04:18Z</dcterms:created>
  <dcterms:modified xsi:type="dcterms:W3CDTF">2026-09-29T17:28:43Z</dcterms:modified>
</cp:coreProperties>
</file>