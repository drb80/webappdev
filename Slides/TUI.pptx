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1"/>
  </p:notesMasterIdLst>
  <p:sldIdLst>
    <p:sldId id="256" r:id="rId2"/>
    <p:sldId id="265" r:id="rId3"/>
    <p:sldId id="259" r:id="rId4"/>
    <p:sldId id="260" r:id="rId5"/>
    <p:sldId id="262" r:id="rId6"/>
    <p:sldId id="263" r:id="rId7"/>
    <p:sldId id="264" r:id="rId8"/>
    <p:sldId id="257" r:id="rId9"/>
    <p:sldId id="25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744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36A664-B5BF-D74E-AB9A-6A2B358C0BF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649323-42CE-DC4D-B92C-7000E6ECB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697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058940"/>
            <a:ext cx="10363200" cy="1470025"/>
          </a:xfrm>
          <a:solidFill>
            <a:schemeClr val="bg1">
              <a:alpha val="95000"/>
            </a:schemeClr>
          </a:solidFill>
          <a:effectLst>
            <a:softEdge rad="63500"/>
          </a:effectLst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baseline="0" dirty="0">
                <a:solidFill>
                  <a:schemeClr val="tx1"/>
                </a:solidFill>
              </a:rPr>
              <a:t>Click to edit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2281187" y="2983612"/>
            <a:ext cx="7609479" cy="1009561"/>
          </a:xfrm>
          <a:prstGeom prst="roundRect">
            <a:avLst>
              <a:gd name="adj" fmla="val 37895"/>
            </a:avLst>
          </a:prstGeom>
          <a:solidFill>
            <a:schemeClr val="bg1">
              <a:alpha val="95000"/>
            </a:schemeClr>
          </a:solidFill>
          <a:effectLst>
            <a:softEdge rad="63500"/>
          </a:effectLst>
        </p:spPr>
        <p:txBody>
          <a:bodyPr anchor="ctr" anchorCtr="0"/>
          <a:lstStyle>
            <a:lvl1pPr marL="0" indent="0" algn="ctr">
              <a:buNone/>
              <a:defRPr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409C91-6E3E-5409-2F44-4E770C50190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8B0272B-5678-4847-8F8A-0852EF18C242}" type="datetime1">
              <a:rPr lang="en-US" smtClean="0"/>
              <a:t>10/27/26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4118C6-B924-AA1F-AEFC-17607998D78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E93608-8881-8010-4D06-440F9FBB6BE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88E35B6-022C-7C4E-B7C3-0323E9902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512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39033B-5031-2DE5-AF8A-E269BDEE8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7C3D0-D02A-5345-8559-C06F19AD786E}" type="datetime1">
              <a:rPr lang="en-US" smtClean="0"/>
              <a:t>10/27/26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CC0AD20-1FAB-5697-725E-A23B4E11A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10" name="SlideNumberWithTotal">
            <a:extLst>
              <a:ext uri="{FF2B5EF4-FFF2-40B4-BE49-F238E27FC236}">
                <a16:creationId xmlns:a16="http://schemas.microsoft.com/office/drawing/2014/main" id="{C85ADDAF-31A4-85DD-32A3-DD43B60F6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E35B6-022C-7C4E-B7C3-0323E9902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659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ln w="25400">
            <a:solidFill>
              <a:schemeClr val="tx1"/>
            </a:solidFill>
          </a:ln>
        </p:spPr>
        <p:txBody>
          <a:bodyPr tIns="228600">
            <a:normAutofit/>
          </a:bodyPr>
          <a:lstStyle>
            <a:lvl1pPr marL="0" indent="0">
              <a:buNone/>
              <a:defRPr sz="2667" b="0" i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EEF9C46-CD18-5177-41DC-5A44F050B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A75D3-C541-3540-8222-7C4B35444F23}" type="datetime1">
              <a:rPr lang="en-US" smtClean="0"/>
              <a:t>10/27/26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6447FE1-5C78-6FAD-D883-46A9B247C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BEAED22-447D-B036-C934-3337B57F5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E35B6-022C-7C4E-B7C3-0323E9902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463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2488"/>
            <a:ext cx="5321600" cy="4525963"/>
          </a:xfrm>
          <a:ln w="25400" cap="flat">
            <a:solidFill>
              <a:schemeClr val="tx1"/>
            </a:solidFill>
            <a:round/>
          </a:ln>
        </p:spPr>
        <p:txBody>
          <a:bodyPr tIns="228600">
            <a:normAutofit/>
          </a:bodyPr>
          <a:lstStyle>
            <a:lvl1pPr marL="0" indent="0">
              <a:buNone/>
              <a:defRPr sz="2667" b="0" i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3C3831-60B9-204A-AB0D-53E619F83C5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0800" y="1592837"/>
            <a:ext cx="5321600" cy="4525963"/>
          </a:xfrm>
          <a:ln w="25400">
            <a:solidFill>
              <a:schemeClr val="tx1"/>
            </a:solidFill>
          </a:ln>
        </p:spPr>
        <p:txBody>
          <a:bodyPr tIns="228600">
            <a:normAutofit/>
          </a:bodyPr>
          <a:lstStyle>
            <a:lvl1pPr marL="0" indent="0">
              <a:buNone/>
              <a:defRPr sz="2667" b="0" i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D19512-769A-1A2D-AE4B-615827F538D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28ED3CC-8394-054D-82E3-0F455B6940B3}" type="datetime1">
              <a:rPr lang="en-US" smtClean="0"/>
              <a:t>10/27/26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8537417-0F7B-4AB8-2913-FC8911CF4DF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C508543-3E8A-F349-1E14-7A34163E0A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8E35B6-022C-7C4E-B7C3-0323E9902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807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406052" y="6308727"/>
            <a:ext cx="1169155" cy="485424"/>
          </a:xfrm>
          <a:prstGeom prst="rect">
            <a:avLst/>
          </a:prstGeom>
        </p:spPr>
        <p:txBody>
          <a:bodyPr/>
          <a:lstStyle/>
          <a:p>
            <a:fld id="{46F5C1AE-7126-674C-AAB5-55964FA9607F}" type="datetime1">
              <a:rPr lang="en-US" smtClean="0"/>
              <a:t>10/27/26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E35B6-022C-7C4E-B7C3-0323E9902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696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92DC31-8A1B-D6EF-9DCB-F31748611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FD970-022B-D341-B355-A9DC1E00E4D8}" type="datetime1">
              <a:rPr lang="en-US" smtClean="0"/>
              <a:t>10/27/26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733F8A-5589-31C8-DB78-246D75351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4200DB-D3DA-2D0A-8CD3-6E48E32FC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E35B6-022C-7C4E-B7C3-0323E9902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383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C487D0D-A6BE-50D0-4804-465FF9AE0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64A50-C3EE-FC48-968C-2E7FC2583189}" type="datetime1">
              <a:rPr lang="en-US" smtClean="0"/>
              <a:t>10/27/26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F4343B0-C3EA-68AB-7293-4C580E1ED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98496D9-0557-9109-1A11-35D97D8F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E35B6-022C-7C4E-B7C3-0323E9902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536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284F7-937F-69AD-BA07-6ABB52BFEA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96F94E-1304-6F9A-011B-5957E8F7C7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889F9-E935-8599-FD7E-9B62A73A9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A3B39-0418-9940-A8DF-E27E516C3265}" type="datetime1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F4AEC-66F4-E3E6-2DB0-531CE7E28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EAE01-E40D-1B43-3BBB-2207861E9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E35B6-022C-7C4E-B7C3-0323E9902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551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oundRect">
            <a:avLst>
              <a:gd name="adj" fmla="val 44167"/>
            </a:avLst>
          </a:prstGeom>
          <a:solidFill>
            <a:schemeClr val="bg1">
              <a:alpha val="95000"/>
            </a:schemeClr>
          </a:solidFill>
          <a:effectLst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oundRect">
            <a:avLst/>
          </a:prstGeom>
          <a:solidFill>
            <a:schemeClr val="bg1">
              <a:alpha val="95000"/>
            </a:schemeClr>
          </a:solidFill>
          <a:effectLst>
            <a:softEdge rad="63500"/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81809" y="6308727"/>
            <a:ext cx="7945363" cy="487680"/>
          </a:xfrm>
          <a:prstGeom prst="roundRect">
            <a:avLst>
              <a:gd name="adj" fmla="val 48894"/>
            </a:avLst>
          </a:prstGeom>
          <a:solidFill>
            <a:schemeClr val="bg1"/>
          </a:solidFill>
          <a:effectLst>
            <a:softEdge rad="63500"/>
          </a:effectLst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4686" y="6308727"/>
            <a:ext cx="879777" cy="487680"/>
          </a:xfrm>
          <a:prstGeom prst="roundRect">
            <a:avLst>
              <a:gd name="adj" fmla="val 43034"/>
            </a:avLst>
          </a:prstGeom>
          <a:solidFill>
            <a:schemeClr val="bg1"/>
          </a:solidFill>
          <a:effectLst>
            <a:softEdge rad="63500"/>
          </a:effectLst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8E35B6-022C-7C4E-B7C3-0323E990279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B6740CB2-DC30-5DDB-24B8-219C9C3F59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5141" y="6308727"/>
            <a:ext cx="1169155" cy="487680"/>
          </a:xfrm>
          <a:prstGeom prst="roundRect">
            <a:avLst>
              <a:gd name="adj" fmla="val 48894"/>
            </a:avLst>
          </a:prstGeom>
          <a:solidFill>
            <a:schemeClr val="bg1"/>
          </a:solidFill>
          <a:effectLst>
            <a:softEdge rad="63500"/>
          </a:effectLst>
        </p:spPr>
        <p:txBody>
          <a:bodyPr anchor="ctr" anchorCtr="0"/>
          <a:lstStyle>
            <a:lvl1pPr algn="ctr">
              <a:defRPr sz="1600"/>
            </a:lvl1pPr>
          </a:lstStyle>
          <a:p>
            <a:fld id="{4198AFDB-84B6-3348-99CF-5B7174289F46}" type="datetime1">
              <a:rPr lang="en-US" smtClean="0"/>
              <a:t>10/27/26</a:t>
            </a:fld>
            <a:endParaRPr lang="en-US"/>
          </a:p>
        </p:txBody>
      </p:sp>
      <p:sp>
        <p:nvSpPr>
          <p:cNvPr id="7" name="SlideTotal">
            <a:extLst>
              <a:ext uri="{FF2B5EF4-FFF2-40B4-BE49-F238E27FC236}">
                <a16:creationId xmlns:a16="http://schemas.microsoft.com/office/drawing/2014/main" id="{B74D5B4B-3C60-FF6A-4438-A067B7DE7333}"/>
              </a:ext>
            </a:extLst>
          </p:cNvPr>
          <p:cNvSpPr txBox="1">
            <a:spLocks/>
          </p:cNvSpPr>
          <p:nvPr/>
        </p:nvSpPr>
        <p:spPr>
          <a:xfrm>
            <a:off x="10702624" y="6308727"/>
            <a:ext cx="879777" cy="487680"/>
          </a:xfrm>
          <a:prstGeom prst="roundRect">
            <a:avLst>
              <a:gd name="adj" fmla="val 43034"/>
            </a:avLst>
          </a:prstGeom>
          <a:solidFill>
            <a:schemeClr val="bg1"/>
          </a:solidFill>
          <a:effectLst>
            <a:softEdge rad="63500"/>
          </a:effectLst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/>
              <a:t>9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63198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  <p:hf hdr="0"/>
  <p:txStyles>
    <p:titleStyle>
      <a:lvl1pPr algn="ctr" defTabSz="60955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66" indent="-457166" algn="l" defTabSz="60955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26" indent="-380973" algn="l" defTabSz="60955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885" indent="-304776" algn="l" defTabSz="60955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440" indent="-304776" algn="l" defTabSz="60955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2994" indent="-304776" algn="l" defTabSz="60955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6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0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6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lexsJones/llmfit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adimdemedes/ink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esseduffield/lazygit" TargetMode="External"/><Relationship Id="rId2" Type="http://schemas.openxmlformats.org/officeDocument/2006/relationships/hyperlink" Target="https://bold-brew.com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A87562-3588-787F-A7E3-645AF72653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Terminal User Interfaces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EA5433-72D1-A0A9-6945-32FECFC8FA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CF4DD8-3E7B-2C7A-1190-BDC620D9753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3ED988D-BFA4-3942-ABC1-593A229B290A}" type="datetime1">
              <a:rPr lang="en-US" smtClean="0"/>
              <a:t>10/27/26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64651-8ED9-6FF1-9C56-7EF42CDA225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40DB2-A4FA-386B-23F9-FECF5DA5F1F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88E35B6-022C-7C4E-B7C3-0323E990279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129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6F54C-62EF-5B10-0EAB-CB232C818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Terminal, How Quaint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7A9E8-7E2F-08A9-E0B0-107E308CD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But it's really fast</a:t>
            </a:r>
          </a:p>
          <a:p>
            <a:r>
              <a:rPr lang="en-US" dirty="0"/>
              <a:t>And you're going to use it to access (typically via ssh) your servers/cloud</a:t>
            </a:r>
          </a:p>
          <a:p>
            <a:r>
              <a:rPr lang="en-US" dirty="0"/>
              <a:t>And recently, there are lots of useful apps</a:t>
            </a:r>
          </a:p>
          <a:p>
            <a:r>
              <a:rPr lang="en-US" dirty="0"/>
              <a:t>E.g.: </a:t>
            </a:r>
            <a:r>
              <a:rPr lang="en-US" dirty="0">
                <a:hlinkClick r:id="rId2"/>
              </a:rPr>
              <a:t>https://github.com/AlexsJones/llmfit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A9056-EA4F-CCF4-554D-2427AC4AA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2219D-6771-E142-8D40-CB258E94DA44}" type="datetime1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B44D6-2897-6E1D-3356-820EA1EB4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22700-67F6-2817-84EC-19CBF6361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E35B6-022C-7C4E-B7C3-0323E990279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184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A31BA-7F3D-2A1B-8B56-FECB1DFE4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React and 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B1AF2-99D1-6288-CE9A-D16B3C53C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https://github.com/vadimdemedes/ink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48121F-DD54-FA57-5C6D-52C672E37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55DC2-AE22-864A-8CCF-8D2422330C77}" type="datetime1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C41618-B6D8-1D6D-3B64-BB5910D0D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51580-D08A-57F2-CDDD-EA09EE447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E35B6-022C-7C4E-B7C3-0323E990279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196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51034-49A6-CA73-6F3C-C89A6B427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9CBC0-B672-5ACC-8C3F-0E9C54C41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Ink provides the same component-based UI building experience that React offers in the browser, but for command-line apps</a:t>
            </a:r>
          </a:p>
          <a:p>
            <a:r>
              <a:rPr lang="en-US" dirty="0"/>
              <a:t>It uses Yoga to build Flexbox layouts in the terminal, so most CSS-like properties are available in Ink as well. If you are already familiar with React, you already know Ink</a:t>
            </a:r>
          </a:p>
          <a:p>
            <a:r>
              <a:rPr lang="en-US" dirty="0"/>
              <a:t>Since Ink is a React renderer, all features of React are supported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529BA-2719-3B22-3196-CB7398DDC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E6A17-9BFA-1840-B8BB-23E4725C02CC}" type="datetime1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91325-5985-96AF-EBD8-62ABB93C7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F71F7-E6BC-E0BB-3995-2DF08F040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E35B6-022C-7C4E-B7C3-0323E990279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452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76B1A-5DAB-6216-83BA-B02E166CA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Who Uses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71F1B-E370-897A-218E-9938A31A1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Claude Code - An agentic coding tool made by Anthropic.</a:t>
            </a:r>
          </a:p>
          <a:p>
            <a:r>
              <a:rPr lang="en-US" dirty="0"/>
              <a:t>Gemini CLI - An agentic coding tool made by Google.</a:t>
            </a:r>
          </a:p>
          <a:p>
            <a:r>
              <a:rPr lang="en-US" dirty="0"/>
              <a:t>GitHub Copilot CLI - Just say what you want the shell to do.</a:t>
            </a:r>
          </a:p>
          <a:p>
            <a:r>
              <a:rPr lang="en-US" dirty="0"/>
              <a:t>Canva CLI - CLI for creating and managing Canva Apps.</a:t>
            </a:r>
          </a:p>
          <a:p>
            <a:r>
              <a:rPr lang="en-US" dirty="0"/>
              <a:t>Cloudflare's Wrangler - The CLI for Cloudflare Workers.</a:t>
            </a:r>
          </a:p>
          <a:p>
            <a:r>
              <a:rPr lang="en-US" dirty="0"/>
              <a:t>Terraform CDK - Cloud Development Kit (CDK) for </a:t>
            </a:r>
            <a:r>
              <a:rPr lang="en-US" dirty="0" err="1"/>
              <a:t>HashiCorp</a:t>
            </a:r>
            <a:r>
              <a:rPr lang="en-US" dirty="0"/>
              <a:t> Terraform.</a:t>
            </a:r>
          </a:p>
          <a:p>
            <a:r>
              <a:rPr lang="en-US" dirty="0"/>
              <a:t>Deep Code CLI - AI coding assistant optimized for the DeepSeek model.</a:t>
            </a:r>
          </a:p>
          <a:p>
            <a:r>
              <a:rPr lang="en-US" dirty="0">
                <a:hlinkClick r:id="rId2"/>
              </a:rPr>
              <a:t>https://bold-brew.com/</a:t>
            </a:r>
            <a:endParaRPr lang="en-US" dirty="0"/>
          </a:p>
          <a:p>
            <a:r>
              <a:rPr lang="en-US" dirty="0">
                <a:hlinkClick r:id="rId3"/>
              </a:rPr>
              <a:t>https://github.com/jesseduffield/lazygit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38A2F-88F4-4318-F439-58EF1DFDD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DB8E-B58F-964F-942D-33879F7AAA40}" type="datetime1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7C23E9-9406-CFC9-1AE7-50A3E3257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EC72B-A48B-F8B7-0CB6-E5EF7BE7F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E35B6-022C-7C4E-B7C3-0323E990279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983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BA90F4-2190-4988-90B7-C40A6F60F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Components and Hooks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589FF-5E38-CDCE-9EA3-CC1E1898D7D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    &lt;Text&gt;</a:t>
            </a:r>
          </a:p>
          <a:p>
            <a:r>
              <a:rPr lang="en-US" dirty="0"/>
              <a:t>    &lt;Box&gt;</a:t>
            </a:r>
          </a:p>
          <a:p>
            <a:r>
              <a:rPr lang="en-US" dirty="0"/>
              <a:t>    &lt;Newline&gt;</a:t>
            </a:r>
          </a:p>
          <a:p>
            <a:r>
              <a:rPr lang="en-US" dirty="0"/>
              <a:t>    &lt;Spacer&gt;</a:t>
            </a:r>
          </a:p>
          <a:p>
            <a:r>
              <a:rPr lang="en-US" dirty="0"/>
              <a:t>    &lt;Static&gt;</a:t>
            </a:r>
          </a:p>
          <a:p>
            <a:r>
              <a:rPr lang="en-US" dirty="0"/>
              <a:t>    &lt;Transform&gt;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243A719-DDA9-A146-563A-387E998FE05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    </a:t>
            </a:r>
            <a:r>
              <a:rPr lang="en-US" dirty="0" err="1"/>
              <a:t>useInput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usePaste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useApp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useStdin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useStdout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useBoxMetrics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useStderr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useWindowSize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useFocus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useFocusManager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useCursor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useAnimation</a:t>
            </a:r>
            <a:endParaRPr lang="en-US" dirty="0"/>
          </a:p>
          <a:p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01D6257-4B17-2C20-6AB3-EDAC0C644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1C1B8-C96E-8848-B3B3-A702014BB1D9}" type="datetime1">
              <a:rPr lang="en-US" smtClean="0"/>
              <a:t>10/27/26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6D72B58-2D3B-2EDD-6586-FC634B5D1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44B66EB-D814-3690-2152-CDCB7E8FD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E35B6-022C-7C4E-B7C3-0323E990279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107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A8DD7-5B3A-73C3-9E9F-951C69160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Useful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FE43A-918B-28EB-F68A-7EB08F2F4B0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dirty="0"/>
              <a:t>ink-text-input - Text input.</a:t>
            </a:r>
          </a:p>
          <a:p>
            <a:r>
              <a:rPr lang="en-US" dirty="0"/>
              <a:t>ink-spinner - Spinner.</a:t>
            </a:r>
          </a:p>
          <a:p>
            <a:r>
              <a:rPr lang="en-US" dirty="0"/>
              <a:t>ink-select-input - Select (dropdown) input.</a:t>
            </a:r>
          </a:p>
          <a:p>
            <a:r>
              <a:rPr lang="en-US" dirty="0"/>
              <a:t>ink-link - Link.</a:t>
            </a:r>
          </a:p>
          <a:p>
            <a:r>
              <a:rPr lang="en-US" dirty="0"/>
              <a:t>ink-gradient - Gradient color.</a:t>
            </a:r>
          </a:p>
          <a:p>
            <a:r>
              <a:rPr lang="en-US" dirty="0"/>
              <a:t>ink-big-text - Awesome text.</a:t>
            </a:r>
          </a:p>
          <a:p>
            <a:r>
              <a:rPr lang="en-US" dirty="0"/>
              <a:t>ink-picture - Display images.</a:t>
            </a:r>
          </a:p>
          <a:p>
            <a:r>
              <a:rPr lang="en-US" dirty="0"/>
              <a:t>ink-tab - Tab.</a:t>
            </a:r>
          </a:p>
          <a:p>
            <a:r>
              <a:rPr lang="en-US" dirty="0"/>
              <a:t>ink-color-pipe - Create color text with simpler style strings.</a:t>
            </a:r>
          </a:p>
          <a:p>
            <a:r>
              <a:rPr lang="en-US" dirty="0"/>
              <a:t>ink-multi-select - Select one or more values from a list</a:t>
            </a:r>
          </a:p>
          <a:p>
            <a:r>
              <a:rPr lang="en-US" dirty="0"/>
              <a:t>ink-divider - A divider.</a:t>
            </a:r>
          </a:p>
          <a:p>
            <a:r>
              <a:rPr lang="en-US" dirty="0"/>
              <a:t>ink-progress-bar - Progress bar.</a:t>
            </a:r>
          </a:p>
          <a:p>
            <a:r>
              <a:rPr lang="en-US" dirty="0"/>
              <a:t>ink-table - Table.</a:t>
            </a:r>
          </a:p>
          <a:p>
            <a:r>
              <a:rPr lang="en-US" dirty="0"/>
              <a:t>ink-ascii - Awesome text component with more font choices, based on </a:t>
            </a:r>
            <a:r>
              <a:rPr lang="en-US" dirty="0" err="1"/>
              <a:t>Figlet</a:t>
            </a:r>
            <a:r>
              <a:rPr lang="en-US"/>
              <a:t>.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9A1B33-E4E0-9979-E1F0-3AA0A16E55B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dirty="0"/>
              <a:t>ink-markdown - Render syntax highlighted Markdown.</a:t>
            </a:r>
          </a:p>
          <a:p>
            <a:r>
              <a:rPr lang="en-US" dirty="0"/>
              <a:t>ink-</a:t>
            </a:r>
            <a:r>
              <a:rPr lang="en-US" dirty="0" err="1"/>
              <a:t>quicksearch</a:t>
            </a:r>
            <a:r>
              <a:rPr lang="en-US" dirty="0"/>
              <a:t>-input - Select component with fast, </a:t>
            </a:r>
            <a:r>
              <a:rPr lang="en-US" dirty="0" err="1"/>
              <a:t>quicksearch</a:t>
            </a:r>
            <a:r>
              <a:rPr lang="en-US" dirty="0"/>
              <a:t>-like navigation.</a:t>
            </a:r>
          </a:p>
          <a:p>
            <a:r>
              <a:rPr lang="en-US" dirty="0"/>
              <a:t>ink-confirm-input - Yes/No confirmation input.</a:t>
            </a:r>
          </a:p>
          <a:p>
            <a:r>
              <a:rPr lang="en-US" dirty="0"/>
              <a:t>ink-syntax-highlight - Code syntax highlighting.</a:t>
            </a:r>
          </a:p>
          <a:p>
            <a:r>
              <a:rPr lang="en-US" dirty="0"/>
              <a:t>ink-form - Form.</a:t>
            </a:r>
          </a:p>
          <a:p>
            <a:r>
              <a:rPr lang="en-US" dirty="0"/>
              <a:t>ink-task-list - Task list.</a:t>
            </a:r>
          </a:p>
          <a:p>
            <a:r>
              <a:rPr lang="en-US" dirty="0"/>
              <a:t>ink-spawn - Spawn child processes.</a:t>
            </a:r>
          </a:p>
          <a:p>
            <a:r>
              <a:rPr lang="en-US" dirty="0"/>
              <a:t>ink-titled-box - Box with a title.</a:t>
            </a:r>
          </a:p>
          <a:p>
            <a:r>
              <a:rPr lang="en-US" dirty="0"/>
              <a:t>ink-chart - Sparkline and bar chart.</a:t>
            </a:r>
          </a:p>
          <a:p>
            <a:r>
              <a:rPr lang="en-US" dirty="0"/>
              <a:t>ink-scroll-view - Scroll container.</a:t>
            </a:r>
          </a:p>
          <a:p>
            <a:r>
              <a:rPr lang="en-US" dirty="0"/>
              <a:t>ink-scroll-list - Scrollable list.</a:t>
            </a:r>
          </a:p>
          <a:p>
            <a:r>
              <a:rPr lang="en-US" dirty="0"/>
              <a:t>ink-stepper - Step-by-step wizard.</a:t>
            </a:r>
          </a:p>
          <a:p>
            <a:r>
              <a:rPr lang="en-US" dirty="0"/>
              <a:t>ink-virtual-list - Virtualized list that renders only visible items for performance.</a:t>
            </a:r>
          </a:p>
          <a:p>
            <a:r>
              <a:rPr lang="en-US" dirty="0"/>
              <a:t>ink-color-picker - Color picker.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485F23-AEC6-3D6C-E7E0-19163874C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48DC0-0AA9-7049-A48E-27199D6EFE55}" type="datetime1">
              <a:rPr lang="en-US" smtClean="0"/>
              <a:t>10/27/26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210926-477D-B844-A11A-9C140C387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B2414B-B2C2-C96B-69AF-E25E5C132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E35B6-022C-7C4E-B7C3-0323E990279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585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893D6-EB6F-AC3D-DF12-7152C1643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Lifecycle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EE425-F3C1-8B62-9AC7-92EF2E376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An Ink app is a Node.js process, so it stays alive only while there is active work in the event loop </a:t>
            </a:r>
          </a:p>
          <a:p>
            <a:r>
              <a:rPr lang="en-US" dirty="0"/>
              <a:t>If your component tree has no async work, the app will render once and exit immediately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A05C2-2DCB-81D6-EA5E-2E7004DE6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DA6C5-2B64-6A48-A524-04B60AEEBDAE}" type="datetime1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F7FE84-7E9A-5DAE-5A32-9C70937FB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3EB90-A7E4-BEAA-2E0E-4CEC41A3E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E35B6-022C-7C4E-B7C3-0323E990279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967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86E39-D31F-7B26-00DC-DD5446EFD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Howto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12E92-7534-64D3-13C0-9B4B1038E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npm</a:t>
            </a:r>
            <a:r>
              <a:rPr lang="en-US" dirty="0"/>
              <a:t> </a:t>
            </a:r>
            <a:r>
              <a:rPr lang="en-US" dirty="0" err="1"/>
              <a:t>init</a:t>
            </a:r>
            <a:r>
              <a:rPr lang="en-US" dirty="0"/>
              <a:t> –y</a:t>
            </a:r>
          </a:p>
          <a:p>
            <a:r>
              <a:rPr lang="en-US" dirty="0" err="1"/>
              <a:t>npm</a:t>
            </a:r>
            <a:r>
              <a:rPr lang="en-US" dirty="0"/>
              <a:t> install ink react</a:t>
            </a:r>
          </a:p>
          <a:p>
            <a:r>
              <a:rPr lang="en-US" dirty="0" err="1"/>
              <a:t>npm</a:t>
            </a:r>
            <a:r>
              <a:rPr lang="en-US" dirty="0"/>
              <a:t> install -D </a:t>
            </a:r>
            <a:r>
              <a:rPr lang="en-US" dirty="0" err="1"/>
              <a:t>tsx</a:t>
            </a:r>
            <a:endParaRPr lang="en-US" dirty="0"/>
          </a:p>
          <a:p>
            <a:r>
              <a:rPr lang="en-US" dirty="0" err="1"/>
              <a:t>npx</a:t>
            </a:r>
            <a:r>
              <a:rPr lang="en-US" dirty="0"/>
              <a:t> </a:t>
            </a:r>
            <a:r>
              <a:rPr lang="en-US" dirty="0" err="1"/>
              <a:t>tsx</a:t>
            </a:r>
            <a:r>
              <a:rPr lang="en-US" dirty="0"/>
              <a:t> </a:t>
            </a:r>
            <a:r>
              <a:rPr lang="en-US" dirty="0" err="1"/>
              <a:t>colors.jsx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0CC22-5EB2-9E6C-EA7F-01E8DCB29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778D9-0FEE-AE4E-9301-EC64BED65456}" type="datetime1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85ADD9-FCE7-8B1A-2589-BE4412627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24E13-D7BE-6513-E504-619451B42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E35B6-022C-7C4E-B7C3-0323E990279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311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SU Denver 16x9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9DA9736E-330F-4D40-A0AF-1CC780C29072}" vid="{881790AE-4280-6941-9F6C-19A6C408C4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Master</Template>
  <TotalTime>847</TotalTime>
  <Words>606</Words>
  <Application>Microsoft Macintosh PowerPoint</Application>
  <PresentationFormat>Widescreen</PresentationFormat>
  <Paragraphs>106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Menlo</vt:lpstr>
      <vt:lpstr>MSU Denver 16x9</vt:lpstr>
      <vt:lpstr>Terminal User Interfaces</vt:lpstr>
      <vt:lpstr>The Terminal, How Quaint</vt:lpstr>
      <vt:lpstr>React and Ink</vt:lpstr>
      <vt:lpstr>Introduction</vt:lpstr>
      <vt:lpstr>Who Uses It?</vt:lpstr>
      <vt:lpstr>Components and Hooks</vt:lpstr>
      <vt:lpstr>Useful Components</vt:lpstr>
      <vt:lpstr>Lifecycle</vt:lpstr>
      <vt:lpstr>Howto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 Beaty</dc:creator>
  <cp:lastModifiedBy>Steve Beaty</cp:lastModifiedBy>
  <cp:revision>7</cp:revision>
  <dcterms:created xsi:type="dcterms:W3CDTF">2026-10-27T01:17:24Z</dcterms:created>
  <dcterms:modified xsi:type="dcterms:W3CDTF">2026-10-27T15:32:18Z</dcterms:modified>
</cp:coreProperties>
</file>