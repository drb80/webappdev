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2" r:id="rId18"/>
    <p:sldId id="276" r:id="rId19"/>
    <p:sldId id="273" r:id="rId20"/>
    <p:sldId id="274" r:id="rId21"/>
    <p:sldId id="275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542"/>
  </p:normalViewPr>
  <p:slideViewPr>
    <p:cSldViewPr snapToGrid="0">
      <p:cViewPr varScale="1">
        <p:scale>
          <a:sx n="82" d="100"/>
          <a:sy n="82" d="100"/>
        </p:scale>
        <p:origin x="9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28867-AAA4-D949-8A3D-8661E5493822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82255-9C9C-124A-B4CF-2F15B5BBA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021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www.linkedin.com</a:t>
            </a:r>
            <a:r>
              <a:rPr lang="en-US" dirty="0"/>
              <a:t>/pulse/understanding-</a:t>
            </a:r>
            <a:r>
              <a:rPr lang="en-US" dirty="0" err="1"/>
              <a:t>ipc</a:t>
            </a:r>
            <a:r>
              <a:rPr lang="en-US" dirty="0"/>
              <a:t>-electron-</a:t>
            </a:r>
            <a:r>
              <a:rPr lang="en-US" dirty="0" err="1"/>
              <a:t>youssef</a:t>
            </a:r>
            <a:r>
              <a:rPr lang="en-US" dirty="0"/>
              <a:t>-</a:t>
            </a:r>
            <a:r>
              <a:rPr lang="en-US" dirty="0" err="1"/>
              <a:t>labrahmi-dodme</a:t>
            </a:r>
            <a:r>
              <a:rPr lang="en-US" dirty="0"/>
              <a:t>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82255-9C9C-124A-B4CF-2F15B5BBA14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7329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Gemini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82255-9C9C-124A-B4CF-2F15B5BBA14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490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058940"/>
            <a:ext cx="10363200" cy="1470025"/>
          </a:xfr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baseline="0" dirty="0">
                <a:solidFill>
                  <a:schemeClr val="tx1"/>
                </a:solidFill>
              </a:rPr>
              <a:t>Click to edit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2281187" y="2983612"/>
            <a:ext cx="7609479" cy="1009561"/>
          </a:xfrm>
          <a:prstGeom prst="roundRect">
            <a:avLst>
              <a:gd name="adj" fmla="val 37895"/>
            </a:avLst>
          </a:prstGeom>
          <a:solidFill>
            <a:schemeClr val="bg1">
              <a:alpha val="95000"/>
            </a:schemeClr>
          </a:solidFill>
          <a:effectLst>
            <a:softEdge rad="63500"/>
          </a:effectLst>
        </p:spPr>
        <p:txBody>
          <a:bodyPr anchor="ctr" anchorCtr="0"/>
          <a:lstStyle>
            <a:lvl1pPr marL="0" indent="0" algn="ctr">
              <a:buNone/>
              <a:defRPr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409C91-6E3E-5409-2F44-4E770C50190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8EA0B9F-8641-E948-AA5C-9B53351C116F}" type="datetime1">
              <a:rPr lang="en-US" smtClean="0"/>
              <a:t>10/22/26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4118C6-B924-AA1F-AEFC-17607998D78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E93608-8881-8010-4D06-440F9FBB6BE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9924198-7956-7B4E-8FD6-DA92FBB16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157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39033B-5031-2DE5-AF8A-E269BDEE8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830FD-6F33-A443-8EFA-536DADEF93E6}" type="datetime1">
              <a:rPr lang="en-US" smtClean="0"/>
              <a:t>10/22/26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CC0AD20-1FAB-5697-725E-A23B4E11A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10" name="SlideNumberWithTotal">
            <a:extLst>
              <a:ext uri="{FF2B5EF4-FFF2-40B4-BE49-F238E27FC236}">
                <a16:creationId xmlns:a16="http://schemas.microsoft.com/office/drawing/2014/main" id="{C85ADDAF-31A4-85DD-32A3-DD43B60F6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4198-7956-7B4E-8FD6-DA92FBB16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11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ln w="25400">
            <a:solidFill>
              <a:schemeClr val="tx1"/>
            </a:solidFill>
          </a:ln>
        </p:spPr>
        <p:txBody>
          <a:bodyPr tIns="228600">
            <a:normAutofit/>
          </a:bodyPr>
          <a:lstStyle>
            <a:lvl1pPr marL="0" indent="0">
              <a:buNone/>
              <a:defRPr sz="2667" b="0" i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EEF9C46-CD18-5177-41DC-5A44F050B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6E64E-C2BC-F941-9813-BEDBCA552429}" type="datetime1">
              <a:rPr lang="en-US" smtClean="0"/>
              <a:t>10/22/26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6447FE1-5C78-6FAD-D883-46A9B247C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BEAED22-447D-B036-C934-3337B57F5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4198-7956-7B4E-8FD6-DA92FBB16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863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2488"/>
            <a:ext cx="5321600" cy="4525963"/>
          </a:xfrm>
          <a:ln w="25400" cap="flat">
            <a:solidFill>
              <a:schemeClr val="tx1"/>
            </a:solidFill>
            <a:round/>
          </a:ln>
        </p:spPr>
        <p:txBody>
          <a:bodyPr tIns="228600">
            <a:normAutofit/>
          </a:bodyPr>
          <a:lstStyle>
            <a:lvl1pPr marL="0" indent="0">
              <a:buNone/>
              <a:defRPr sz="2667" b="0" i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3C3831-60B9-204A-AB0D-53E619F83C5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0800" y="1592837"/>
            <a:ext cx="5321600" cy="4525963"/>
          </a:xfrm>
          <a:ln w="25400">
            <a:solidFill>
              <a:schemeClr val="tx1"/>
            </a:solidFill>
          </a:ln>
        </p:spPr>
        <p:txBody>
          <a:bodyPr tIns="228600">
            <a:normAutofit/>
          </a:bodyPr>
          <a:lstStyle>
            <a:lvl1pPr marL="0" indent="0">
              <a:buNone/>
              <a:defRPr sz="2667" b="0" i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19512-769A-1A2D-AE4B-615827F538D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B0EC617-9869-9748-97F4-9C50746546DF}" type="datetime1">
              <a:rPr lang="en-US" smtClean="0"/>
              <a:t>10/22/26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8537417-0F7B-4AB8-2913-FC8911CF4D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C508543-3E8A-F349-1E14-7A34163E0A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9924198-7956-7B4E-8FD6-DA92FBB16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738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406052" y="6308727"/>
            <a:ext cx="1169155" cy="485424"/>
          </a:xfrm>
          <a:prstGeom prst="rect">
            <a:avLst/>
          </a:prstGeom>
        </p:spPr>
        <p:txBody>
          <a:bodyPr/>
          <a:lstStyle/>
          <a:p>
            <a:fld id="{A963002A-AEBD-A344-83DB-7DB5D613D02E}" type="datetime1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4198-7956-7B4E-8FD6-DA92FBB16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89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92DC31-8A1B-D6EF-9DCB-F31748611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1BB42-2252-D442-876F-0195B077F2CC}" type="datetime1">
              <a:rPr lang="en-US" smtClean="0"/>
              <a:t>10/22/26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733F8A-5589-31C8-DB78-246D75351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4200DB-D3DA-2D0A-8CD3-6E48E32FC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4198-7956-7B4E-8FD6-DA92FBB16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337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C487D0D-A6BE-50D0-4804-465FF9AE0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16A18-C0CB-844D-B7B2-3BCB32CE82D7}" type="datetime1">
              <a:rPr lang="en-US" smtClean="0"/>
              <a:t>10/22/26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F4343B0-C3EA-68AB-7293-4C580E1ED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98496D9-0557-9109-1A11-35D97D8F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4198-7956-7B4E-8FD6-DA92FBB16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766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7EB1-33E4-4CC7-93DA-7D570CD1FC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EF92C8-C2E6-0D45-C461-F2BEC0965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38191-DFFE-E9A6-A69B-15AA6764B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66251-799B-B948-A036-B346ECA99B2E}" type="datetime1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147BD-9906-C89E-C314-AD5D3AEA0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081DB-006B-8810-0ABD-1CBD79A7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4198-7956-7B4E-8FD6-DA92FBB16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320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oundRect">
            <a:avLst>
              <a:gd name="adj" fmla="val 44167"/>
            </a:avLst>
          </a:prstGeom>
          <a:solidFill>
            <a:schemeClr val="bg1">
              <a:alpha val="95000"/>
            </a:schemeClr>
          </a:solidFill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oundRect">
            <a:avLst/>
          </a:prstGeom>
          <a:solidFill>
            <a:schemeClr val="bg1">
              <a:alpha val="95000"/>
            </a:schemeClr>
          </a:solidFill>
          <a:effectLst>
            <a:softEdge rad="63500"/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81809" y="6308727"/>
            <a:ext cx="7945363" cy="487680"/>
          </a:xfrm>
          <a:prstGeom prst="roundRect">
            <a:avLst>
              <a:gd name="adj" fmla="val 48894"/>
            </a:avLst>
          </a:prstGeom>
          <a:solidFill>
            <a:schemeClr val="bg1"/>
          </a:solidFill>
          <a:effectLst>
            <a:softEdge rad="63500"/>
          </a:effectLst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4686" y="6308727"/>
            <a:ext cx="879777" cy="487680"/>
          </a:xfrm>
          <a:prstGeom prst="roundRect">
            <a:avLst>
              <a:gd name="adj" fmla="val 43034"/>
            </a:avLst>
          </a:prstGeom>
          <a:solidFill>
            <a:schemeClr val="bg1"/>
          </a:solidFill>
          <a:effectLst>
            <a:softEdge rad="63500"/>
          </a:effectLst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24198-7956-7B4E-8FD6-DA92FBB16710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B6740CB2-DC30-5DDB-24B8-219C9C3F59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5141" y="6308727"/>
            <a:ext cx="1169155" cy="487680"/>
          </a:xfrm>
          <a:prstGeom prst="roundRect">
            <a:avLst>
              <a:gd name="adj" fmla="val 48894"/>
            </a:avLst>
          </a:prstGeom>
          <a:solidFill>
            <a:schemeClr val="bg1"/>
          </a:solidFill>
          <a:effectLst>
            <a:softEdge rad="63500"/>
          </a:effectLst>
        </p:spPr>
        <p:txBody>
          <a:bodyPr anchor="ctr" anchorCtr="0"/>
          <a:lstStyle>
            <a:lvl1pPr algn="ctr">
              <a:defRPr sz="1600"/>
            </a:lvl1pPr>
          </a:lstStyle>
          <a:p>
            <a:fld id="{04AD53F1-974E-FB43-A146-7ECB7A425ED3}" type="datetime1">
              <a:rPr lang="en-US" smtClean="0"/>
              <a:t>10/22/26</a:t>
            </a:fld>
            <a:endParaRPr lang="en-US"/>
          </a:p>
        </p:txBody>
      </p:sp>
      <p:sp>
        <p:nvSpPr>
          <p:cNvPr id="7" name="SlideTotal">
            <a:extLst>
              <a:ext uri="{FF2B5EF4-FFF2-40B4-BE49-F238E27FC236}">
                <a16:creationId xmlns:a16="http://schemas.microsoft.com/office/drawing/2014/main" id="{B74D5B4B-3C60-FF6A-4438-A067B7DE7333}"/>
              </a:ext>
            </a:extLst>
          </p:cNvPr>
          <p:cNvSpPr txBox="1">
            <a:spLocks/>
          </p:cNvSpPr>
          <p:nvPr/>
        </p:nvSpPr>
        <p:spPr>
          <a:xfrm>
            <a:off x="10702624" y="6308727"/>
            <a:ext cx="879777" cy="487680"/>
          </a:xfrm>
          <a:prstGeom prst="roundRect">
            <a:avLst>
              <a:gd name="adj" fmla="val 43034"/>
            </a:avLst>
          </a:prstGeom>
          <a:solidFill>
            <a:schemeClr val="bg1"/>
          </a:solidFill>
          <a:effectLst>
            <a:softEdge rad="63500"/>
          </a:effectLst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/>
              <a:t>22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33824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  <p:hf hdr="0"/>
  <p:txStyles>
    <p:titleStyle>
      <a:lvl1pPr algn="ctr" defTabSz="60955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66" indent="-457166" algn="l" defTabSz="60955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26" indent="-380973" algn="l" defTabSz="60955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885" indent="-304776" algn="l" defTabSz="60955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440" indent="-304776" algn="l" defTabSz="60955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994" indent="-304776" algn="l" defTabSz="60955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6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0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6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rb80/ElectronO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55B4BF-1A34-76BD-7AC7-FBDADF6472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Electron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C751A6-D43B-EAC4-7E75-12D318980F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D60EBF9-4E00-45A2-AF2A-6BF06D5048E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F2EC0CD-F551-0D43-AF34-D5F551D800A3}" type="datetime1">
              <a:rPr lang="en-US" smtClean="0"/>
              <a:t>10/22/26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A2FA30-594B-54DD-9F8B-35C1021CD68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1E38B21-AAB9-498B-76FE-FBA33F1AFED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9924198-7956-7B4E-8FD6-DA92FBB167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38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FA92F-4651-5451-B874-87F90763D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477E3-8AB1-96F4-1AFF-6368BFE5D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Electron (https://</a:t>
            </a:r>
            <a:r>
              <a:rPr lang="en-US" dirty="0" err="1"/>
              <a:t>www.electronjs.org</a:t>
            </a:r>
            <a:r>
              <a:rPr lang="en-US" dirty="0"/>
              <a:t>) is another approach to front ending a web application</a:t>
            </a:r>
          </a:p>
          <a:p>
            <a:r>
              <a:rPr lang="en-US" dirty="0"/>
              <a:t>Is uses both Node (https://</a:t>
            </a:r>
            <a:r>
              <a:rPr lang="en-US" dirty="0" err="1"/>
              <a:t>nodejs.org</a:t>
            </a:r>
            <a:r>
              <a:rPr lang="en-US" dirty="0"/>
              <a:t>/) and Chromium (https://</a:t>
            </a:r>
            <a:r>
              <a:rPr lang="en-US" dirty="0" err="1"/>
              <a:t>www.chromium.org</a:t>
            </a:r>
            <a:r>
              <a:rPr lang="en-US" dirty="0"/>
              <a:t>/Home/) to create a native application that runs on the three major operating systems</a:t>
            </a:r>
          </a:p>
          <a:p>
            <a:r>
              <a:rPr lang="en-US" dirty="0"/>
              <a:t>End users cannot tell the difference between an Electron application and one that was written specifically for the operating system</a:t>
            </a:r>
          </a:p>
          <a:p>
            <a:r>
              <a:rPr lang="en-US" dirty="0"/>
              <a:t>This is because Node has access to the native operating systems calls and therefore exposes the native user interface to end user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2B377-CBD4-7F62-E434-8BBAC444C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38D74-D57B-3147-B4AA-E498C2F991DC}" type="datetime1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B4EC4-8755-0AC0-5E70-FBC3E7C29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E8F58-651B-8D7C-EDA5-0EE7C32DC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4198-7956-7B4E-8FD6-DA92FBB167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181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B3FC9-FE75-9AE0-49B8-95EC2810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Native 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DD2E5-738A-2924-5E5D-D894A7CE0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clipboard</a:t>
            </a:r>
          </a:p>
          <a:p>
            <a:r>
              <a:rPr lang="en-US" dirty="0"/>
              <a:t>dialog</a:t>
            </a:r>
          </a:p>
          <a:p>
            <a:r>
              <a:rPr lang="en-US" dirty="0"/>
              <a:t>Menu</a:t>
            </a:r>
          </a:p>
          <a:p>
            <a:r>
              <a:rPr lang="en-US" dirty="0"/>
              <a:t>Notification</a:t>
            </a:r>
          </a:p>
          <a:p>
            <a:r>
              <a:rPr lang="en-US" dirty="0"/>
              <a:t>screen</a:t>
            </a:r>
          </a:p>
          <a:p>
            <a:r>
              <a:rPr lang="en-US" dirty="0"/>
              <a:t>session</a:t>
            </a:r>
          </a:p>
          <a:p>
            <a:r>
              <a:rPr lang="en-US" dirty="0"/>
              <a:t>shell</a:t>
            </a:r>
          </a:p>
          <a:p>
            <a:r>
              <a:rPr lang="en-US" dirty="0" err="1"/>
              <a:t>systemPreferences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91045-DBB2-E30A-8354-0214C51B8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52D9E-4E49-3046-8922-0CABAACA024B}" type="datetime1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90211-27A2-36DC-0D0A-01679319D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3A463-0E68-3DB7-D797-05BF307F9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4198-7956-7B4E-8FD6-DA92FBB167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61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FFB32-92EA-5EC7-8699-7EC6CBAA7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C99D5-4141-1E2E-A666-687418F07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It is relatively straightforward to create a simple Electron app</a:t>
            </a:r>
          </a:p>
          <a:p>
            <a:pPr lvl="1"/>
            <a:r>
              <a:rPr lang="en-US" dirty="0"/>
              <a:t>Create a directory and place a "</a:t>
            </a:r>
            <a:r>
              <a:rPr lang="en-US" dirty="0" err="1"/>
              <a:t>index.html</a:t>
            </a:r>
            <a:r>
              <a:rPr lang="en-US" dirty="0"/>
              <a:t>" file from a (e.g.) Vue application into it.</a:t>
            </a:r>
          </a:p>
          <a:p>
            <a:pPr lvl="1"/>
            <a:r>
              <a:rPr lang="en-US" dirty="0"/>
              <a:t>You'll then need a </a:t>
            </a:r>
            <a:r>
              <a:rPr lang="en-US" dirty="0" err="1"/>
              <a:t>main.js</a:t>
            </a:r>
            <a:r>
              <a:rPr lang="en-US" dirty="0"/>
              <a:t> file that creates an Electron window and loads that </a:t>
            </a:r>
            <a:r>
              <a:rPr lang="en-US" dirty="0" err="1"/>
              <a:t>index.html</a:t>
            </a:r>
            <a:r>
              <a:rPr lang="en-US" dirty="0"/>
              <a:t> file</a:t>
            </a:r>
          </a:p>
          <a:p>
            <a:pPr lvl="1"/>
            <a:r>
              <a:rPr lang="en-US" dirty="0"/>
              <a:t>There is also a developer tools window that is useful during development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B5B3AC7-4679-A308-7C88-F0B0549E1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A3646-5C9A-5645-AC4B-5AE861AA2936}" type="datetime1">
              <a:rPr lang="en-US" smtClean="0"/>
              <a:t>10/22/26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9CEA4B-ABD8-1421-FC05-C21421790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68F34D3-5445-ADC3-F255-0E7EA0C59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4198-7956-7B4E-8FD6-DA92FBB167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467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73BD90-B2CC-9A86-35E7-272914D97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index.js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4C9B59-4435-E1EC-0CEF-BF00F4AF0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const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{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app,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BrowserWindow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}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= require(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'electron'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)</a:t>
            </a:r>
          </a:p>
          <a:p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const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createWindow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= () =&gt;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{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const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mainWindow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= 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new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BrowserWindow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{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width: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800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, height: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600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}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)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mainWindow.loadFile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'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index.html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'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)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mainWindow.webContents.openDevTools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()</a:t>
            </a:r>
          </a:p>
          <a:p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}</a:t>
            </a:r>
          </a:p>
          <a:p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app.whenReady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().then(() =&gt;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{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createWindow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()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app.on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'activate'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, () =&gt;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{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if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(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BrowserWindow.getAllWindows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().length ===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0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)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createWindow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()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}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)</a:t>
            </a:r>
          </a:p>
          <a:p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}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)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2E003E8-81DD-B296-B30A-1C02CC2C2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7EFB3-EF07-A94D-86B8-5036C0CE48F1}" type="datetime1">
              <a:rPr lang="en-US" smtClean="0"/>
              <a:t>10/22/26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8CFBE63-4553-F70D-08F2-4B8E0088E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2E44E8-D264-56CE-3504-2E6F30E4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4198-7956-7B4E-8FD6-DA92FBB167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763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85E82-9C6A-20DD-15E9-7047E9574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index.html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E0D7E-A506-73F0-821D-8F9F8D8E7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2800" dirty="0">
                <a:solidFill>
                  <a:srgbClr val="3200CA"/>
                </a:solidFill>
                <a:latin typeface="Menlo-Regular" panose="020B0609030804020204" pitchFamily="49" charset="0"/>
              </a:rPr>
              <a:t>&lt;!DOCTYPE html&gt;</a:t>
            </a:r>
          </a:p>
          <a:p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html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head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title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A Todo SPA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title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   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script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149802"/>
                </a:solidFill>
                <a:latin typeface="Menlo-Regular" panose="020B0609030804020204" pitchFamily="49" charset="0"/>
              </a:rPr>
              <a:t>src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"https://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cdn.jsdelivr.net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/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npm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/vue@2/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dist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/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vue.js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&gt;&lt;/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script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head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body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div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id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Itemlist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ul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       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li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v-for=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"item in items"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         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button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v-on:click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deleteItem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(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item.id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)"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Done!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button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    {{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item.when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}} {{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item.what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}}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li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ul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8D5AA5-E3A7-4BC3-E8B4-647618CCC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DD651-248E-AC4F-8A03-FE4210E289CE}" type="datetime1">
              <a:rPr lang="en-US" smtClean="0"/>
              <a:t>10/22/26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1A4A209-6EB7-0CE2-B4E2-8EBEB7534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A06AAF4-69C0-0930-0308-C42E1DC50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4198-7956-7B4E-8FD6-DA92FBB167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492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FB2C5-F649-0CE2-78CB-960889FAF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22CC1-516B-5458-A7F2-EAF57E880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     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form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v-on:submit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newItem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div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label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for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"what"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What: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label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input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id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"what"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type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"text"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label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for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"when"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When: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label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input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id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"when"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type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"date"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input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type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"submit"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value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"New"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div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form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div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6CA7D-91A1-FE6D-E2F7-47E5F4F01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80C31-3FAE-4C46-BED2-32D0EEFB5942}" type="datetime1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6DEEA-5AAF-2E87-A269-FBCA3323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D6874-9452-7A81-D944-ECC46DFA4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4198-7956-7B4E-8FD6-DA92FBB167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36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E61CF-9E9F-B65D-A63C-BDA9F7572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8791D-8B7B-AF20-198E-077722012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script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49802"/>
                </a:solidFill>
                <a:latin typeface="Menlo-Regular" panose="020B0609030804020204" pitchFamily="49" charset="0"/>
              </a:rPr>
              <a:t>type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=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"text/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javascript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new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Vue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{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el: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'#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Itemlist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'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,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data: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{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items: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[]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}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,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methods: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{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  </a:t>
            </a:r>
            <a:r>
              <a:rPr lang="en-US" sz="2800" dirty="0" err="1">
                <a:solidFill>
                  <a:srgbClr val="B000B2"/>
                </a:solidFill>
                <a:latin typeface="Menlo-Regular" panose="020B0609030804020204" pitchFamily="49" charset="0"/>
              </a:rPr>
              <a:t>showItems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: 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function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()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{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    fetch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'http://localhost:3000/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items.json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'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)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      .then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response =&gt; </a:t>
            </a:r>
            <a:r>
              <a:rPr lang="en-US" sz="2800" dirty="0" err="1">
                <a:solidFill>
                  <a:srgbClr val="B000B2"/>
                </a:solidFill>
                <a:latin typeface="Menlo-Regular" panose="020B0609030804020204" pitchFamily="49" charset="0"/>
              </a:rPr>
              <a:t>response.json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()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        .then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</a:t>
            </a:r>
            <a:r>
              <a:rPr lang="en-US" sz="2800" dirty="0" err="1">
                <a:solidFill>
                  <a:srgbClr val="B000B2"/>
                </a:solidFill>
                <a:latin typeface="Menlo-Regular" panose="020B0609030804020204" pitchFamily="49" charset="0"/>
              </a:rPr>
              <a:t>json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=&gt;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{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this</a:t>
            </a:r>
            <a:r>
              <a:rPr lang="en-US" sz="2800" dirty="0" err="1">
                <a:solidFill>
                  <a:srgbClr val="B000B2"/>
                </a:solidFill>
                <a:latin typeface="Menlo-Regular" panose="020B0609030804020204" pitchFamily="49" charset="0"/>
              </a:rPr>
              <a:t>.items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= </a:t>
            </a:r>
            <a:r>
              <a:rPr lang="en-US" sz="2800" dirty="0" err="1">
                <a:solidFill>
                  <a:srgbClr val="B000B2"/>
                </a:solidFill>
                <a:latin typeface="Menlo-Regular" panose="020B0609030804020204" pitchFamily="49" charset="0"/>
              </a:rPr>
              <a:t>json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;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}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))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        .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catch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error =&gt;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{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B000B2"/>
                </a:solidFill>
                <a:latin typeface="Menlo-Regular" panose="020B0609030804020204" pitchFamily="49" charset="0"/>
              </a:rPr>
              <a:t>console.log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error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)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;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}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)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      .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catch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error =&gt;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{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B000B2"/>
                </a:solidFill>
                <a:latin typeface="Menlo-Regular" panose="020B0609030804020204" pitchFamily="49" charset="0"/>
              </a:rPr>
              <a:t>console.log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error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)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;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}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)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}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,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91636-208D-6EA1-D1F2-2CC58BA0B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679D-512F-D344-9D26-4F8892D08C36}" type="datetime1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706D6-25EC-7C16-E75E-6B492C5CB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B89FA-636D-882E-413F-ADE5F3B72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4198-7956-7B4E-8FD6-DA92FBB167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155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9609E-A837-D0D4-3CEF-1497A952F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06790-6DA8-DA0A-2A13-4EFC469B1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  </a:t>
            </a:r>
            <a:r>
              <a:rPr lang="en-US" sz="2800" dirty="0" err="1">
                <a:solidFill>
                  <a:srgbClr val="B000B2"/>
                </a:solidFill>
                <a:latin typeface="Menlo-Regular" panose="020B0609030804020204" pitchFamily="49" charset="0"/>
              </a:rPr>
              <a:t>deleteItem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: 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function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id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)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{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    fetch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'http://localhost:3000/items/'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      + id +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'.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json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'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,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  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{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method: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'DELETE'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}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)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         .then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</a:t>
            </a:r>
            <a:r>
              <a:rPr lang="en-US" sz="280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this</a:t>
            </a:r>
            <a:r>
              <a:rPr lang="en-US" sz="2800" dirty="0" err="1">
                <a:solidFill>
                  <a:srgbClr val="B000B2"/>
                </a:solidFill>
                <a:latin typeface="Menlo-Regular" panose="020B0609030804020204" pitchFamily="49" charset="0"/>
              </a:rPr>
              <a:t>.showItems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)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         .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catch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error =&gt;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{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         </a:t>
            </a:r>
            <a:r>
              <a:rPr lang="en-US" sz="2800" dirty="0" err="1">
                <a:solidFill>
                  <a:srgbClr val="B000B2"/>
                </a:solidFill>
                <a:latin typeface="Menlo-Regular" panose="020B0609030804020204" pitchFamily="49" charset="0"/>
              </a:rPr>
              <a:t>console.log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error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)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;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}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)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  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}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,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BB009-122F-C260-185B-F0FB70795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C0CA4-EC7F-C345-BB37-448EA641B2A8}" type="datetime1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F99A4-C426-D2D8-F730-D62FE9345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ECEC4-D8CA-B699-74B6-8ACEFBED0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4198-7956-7B4E-8FD6-DA92FBB167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543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9BB31-FF06-32DE-6A4E-FCECDA27E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93634-D6D2-1231-F680-B28CCC8F5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</a:t>
            </a:r>
            <a:r>
              <a:rPr lang="en-US" sz="2800" dirty="0" err="1">
                <a:solidFill>
                  <a:srgbClr val="B000B2"/>
                </a:solidFill>
                <a:latin typeface="Menlo-Regular" panose="020B0609030804020204" pitchFamily="49" charset="0"/>
              </a:rPr>
              <a:t>newItem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: 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function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e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)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{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  </a:t>
            </a:r>
            <a:r>
              <a:rPr lang="en-US" sz="2800" dirty="0" err="1">
                <a:solidFill>
                  <a:srgbClr val="B000B2"/>
                </a:solidFill>
                <a:latin typeface="Menlo-Regular" panose="020B0609030804020204" pitchFamily="49" charset="0"/>
              </a:rPr>
              <a:t>e.preventDefault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()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    </a:t>
            </a:r>
            <a:r>
              <a:rPr lang="en-US" sz="2800" dirty="0">
                <a:solidFill>
                  <a:srgbClr val="3200CA"/>
                </a:solidFill>
                <a:latin typeface="Menlo-Regular" panose="020B0609030804020204" pitchFamily="49" charset="0"/>
              </a:rPr>
              <a:t>// Grab the data from the form.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    data =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{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what: </a:t>
            </a:r>
            <a:r>
              <a:rPr lang="en-US" sz="2800" dirty="0" err="1">
                <a:solidFill>
                  <a:srgbClr val="B000B2"/>
                </a:solidFill>
                <a:latin typeface="Menlo-Regular" panose="020B0609030804020204" pitchFamily="49" charset="0"/>
              </a:rPr>
              <a:t>e.target.elements.what.value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,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      when: </a:t>
            </a:r>
            <a:r>
              <a:rPr lang="en-US" sz="2800" dirty="0" err="1">
                <a:solidFill>
                  <a:srgbClr val="B000B2"/>
                </a:solidFill>
                <a:latin typeface="Menlo-Regular" panose="020B0609030804020204" pitchFamily="49" charset="0"/>
              </a:rPr>
              <a:t>e.target.elements.when.value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}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    </a:t>
            </a:r>
            <a:r>
              <a:rPr lang="en-US" sz="2800" dirty="0">
                <a:solidFill>
                  <a:srgbClr val="3200CA"/>
                </a:solidFill>
                <a:latin typeface="Menlo-Regular" panose="020B0609030804020204" pitchFamily="49" charset="0"/>
              </a:rPr>
              <a:t>// Submit via JSON.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    fetch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'http://localhost:3000/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items.json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'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,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{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      method: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'POST'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,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      headers: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{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"Content-Type"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: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"application/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json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"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}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,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      body: </a:t>
            </a:r>
            <a:r>
              <a:rPr lang="en-US" sz="2800" dirty="0" err="1">
                <a:solidFill>
                  <a:srgbClr val="B000B2"/>
                </a:solidFill>
                <a:latin typeface="Menlo-Regular" panose="020B0609030804020204" pitchFamily="49" charset="0"/>
              </a:rPr>
              <a:t>JSON.stringify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data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)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,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}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)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      .then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</a:t>
            </a:r>
            <a:r>
              <a:rPr lang="en-US" sz="280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this</a:t>
            </a:r>
            <a:r>
              <a:rPr lang="en-US" sz="2800" dirty="0" err="1">
                <a:solidFill>
                  <a:srgbClr val="B000B2"/>
                </a:solidFill>
                <a:latin typeface="Menlo-Regular" panose="020B0609030804020204" pitchFamily="49" charset="0"/>
              </a:rPr>
              <a:t>.showItems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)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      .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catch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error =&gt;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{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B000B2"/>
                </a:solidFill>
                <a:latin typeface="Menlo-Regular" panose="020B0609030804020204" pitchFamily="49" charset="0"/>
              </a:rPr>
              <a:t>console.log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error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)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;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}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)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}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,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}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,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82896-E5F6-C79C-DC87-E976F74F8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25A8-178B-104D-A2F6-D6F46C0FF8A5}" type="datetime1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D8E7C-DF74-7DC5-BDB8-2ACAE7ECC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FAC8B-49B7-AF0F-7EF6-95AEB11F8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4198-7956-7B4E-8FD6-DA92FBB167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574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2AC37-80EE-25AD-E3C5-59AF5F906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A055F-D9CB-4301-75BE-8AE32574A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</a:t>
            </a:r>
            <a:r>
              <a:rPr lang="en-US" sz="2800" dirty="0">
                <a:solidFill>
                  <a:srgbClr val="3200CA"/>
                </a:solidFill>
                <a:latin typeface="Menlo-Regular" panose="020B0609030804020204" pitchFamily="49" charset="0"/>
              </a:rPr>
              <a:t>// The first thing to do.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mounted: 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function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()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{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  </a:t>
            </a:r>
            <a:r>
              <a:rPr lang="en-US" sz="2800" dirty="0" err="1">
                <a:solidFill>
                  <a:srgbClr val="13939F"/>
                </a:solidFill>
                <a:latin typeface="Menlo-Regular" panose="020B0609030804020204" pitchFamily="49" charset="0"/>
              </a:rPr>
              <a:t>this</a:t>
            </a:r>
            <a:r>
              <a:rPr lang="en-US" sz="2800" dirty="0" err="1">
                <a:solidFill>
                  <a:srgbClr val="B000B2"/>
                </a:solidFill>
                <a:latin typeface="Menlo-Regular" panose="020B0609030804020204" pitchFamily="49" charset="0"/>
              </a:rPr>
              <a:t>.showItems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()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}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,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}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)</a:t>
            </a:r>
          </a:p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  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script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body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</a:p>
          <a:p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&lt;/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html</a:t>
            </a:r>
            <a:r>
              <a:rPr lang="en-US" sz="2800" dirty="0">
                <a:solidFill>
                  <a:srgbClr val="13939F"/>
                </a:solidFill>
                <a:latin typeface="Menlo-Regular" panose="020B0609030804020204" pitchFamily="49" charset="0"/>
              </a:rPr>
              <a:t>&gt;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105A8-8490-3213-C8B5-D640902CF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514A2-3A24-D143-8182-A8C6F8CD5D6E}" type="datetime1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1E718-D137-48BB-6D25-BA8F460A3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1FD7D-CCA5-E45F-0813-91738FDAF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4198-7956-7B4E-8FD6-DA92FBB1671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35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4E74D-EDB8-037E-E99C-6229F5294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Disable CSRF Check, Development Only!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2B8E9-35B3-FBC9-DE62-32CC650BB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class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 err="1">
                <a:solidFill>
                  <a:srgbClr val="149802"/>
                </a:solidFill>
                <a:latin typeface="Menlo-Regular" panose="020B0609030804020204" pitchFamily="49" charset="0"/>
              </a:rPr>
              <a:t>ItemsController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&lt; </a:t>
            </a:r>
            <a:r>
              <a:rPr lang="en-US" sz="2800" dirty="0" err="1">
                <a:solidFill>
                  <a:srgbClr val="149802"/>
                </a:solidFill>
                <a:latin typeface="Menlo-Regular" panose="020B0609030804020204" pitchFamily="49" charset="0"/>
              </a:rPr>
              <a:t>ApplicationController</a:t>
            </a:r>
            <a:endParaRPr lang="en-US" sz="2800" dirty="0">
              <a:solidFill>
                <a:srgbClr val="149802"/>
              </a:solidFill>
              <a:latin typeface="Menlo-Regular" panose="020B0609030804020204" pitchFamily="49" charset="0"/>
            </a:endParaRP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 err="1">
                <a:solidFill>
                  <a:srgbClr val="3B2322"/>
                </a:solidFill>
                <a:latin typeface="Menlo-Regular" panose="020B0609030804020204" pitchFamily="49" charset="0"/>
              </a:rPr>
              <a:t>skip_before_action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:</a:t>
            </a:r>
            <a:r>
              <a:rPr lang="en-US" sz="2800" dirty="0" err="1">
                <a:solidFill>
                  <a:srgbClr val="9F1410"/>
                </a:solidFill>
                <a:latin typeface="Menlo-Regular" panose="020B0609030804020204" pitchFamily="49" charset="0"/>
              </a:rPr>
              <a:t>verify_authenticity_token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D3E86-BC0C-1CFB-BD98-27343BAD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F974E-393B-0B4B-9FB6-7DA8D09FFD0D}" type="datetime1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3B2F2-7CB0-FEF2-2F04-EAA75E809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BE1CF-A2EC-627B-0F55-F9B054801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4198-7956-7B4E-8FD6-DA92FBB167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204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2FDD8-FB64-215C-1A60-D90B1948F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Initialize Node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1B53FE-0EB8-CE7A-5C7B-B111A4187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Now we need to initialize the folder so that Node packages can be installed</a:t>
            </a:r>
          </a:p>
          <a:p>
            <a:r>
              <a:rPr lang="en-US" dirty="0"/>
              <a:t>The Node Package Manager (</a:t>
            </a:r>
            <a:r>
              <a:rPr lang="en-US" dirty="0" err="1"/>
              <a:t>npm</a:t>
            </a:r>
            <a:r>
              <a:rPr lang="en-US" dirty="0"/>
              <a:t>) can be used for this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This utility will walk you through creating a </a:t>
            </a:r>
            <a:r>
              <a:rPr lang="en-US" dirty="0" err="1"/>
              <a:t>package.json</a:t>
            </a:r>
            <a:r>
              <a:rPr lang="en-US" dirty="0"/>
              <a:t> file</a:t>
            </a:r>
          </a:p>
          <a:p>
            <a:r>
              <a:rPr lang="en-US" dirty="0"/>
              <a:t>It only covers the most common items and tries to guess sensible defaults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92050B-882C-D226-607E-A78280C1A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ECEFC-4DC3-AA4F-8A73-BA877E50FB88}" type="datetime1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D7FEF4-4021-B3E4-DF79-0783CAFDC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2FC3FE-DC80-20CA-3FA4-B22A86FB7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4198-7956-7B4E-8FD6-DA92FBB1671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158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2144A-2A52-1059-872D-C1080EC78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 a Start Script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5365C0-61F4-E1B5-70BE-8A548EB2C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"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scripts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": 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{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"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start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": "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electron .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",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  "</a:t>
            </a:r>
            <a:r>
              <a:rPr lang="en-US" sz="2800" dirty="0">
                <a:solidFill>
                  <a:srgbClr val="9E4C04"/>
                </a:solidFill>
                <a:latin typeface="Menlo-Regular" panose="020B0609030804020204" pitchFamily="49" charset="0"/>
              </a:rPr>
              <a:t>test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": "</a:t>
            </a:r>
            <a:r>
              <a:rPr lang="en-US" sz="2800" dirty="0">
                <a:solidFill>
                  <a:srgbClr val="9F1410"/>
                </a:solidFill>
                <a:latin typeface="Menlo-Regular" panose="020B0609030804020204" pitchFamily="49" charset="0"/>
              </a:rPr>
              <a:t>exit 1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"</a:t>
            </a:r>
          </a:p>
          <a:p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  </a:t>
            </a:r>
            <a:r>
              <a:rPr lang="en-US" sz="2800" dirty="0">
                <a:solidFill>
                  <a:srgbClr val="B000B2"/>
                </a:solidFill>
                <a:latin typeface="Menlo-Regular" panose="020B0609030804020204" pitchFamily="49" charset="0"/>
              </a:rPr>
              <a:t>}</a:t>
            </a:r>
            <a:r>
              <a:rPr lang="en-US" sz="2800" dirty="0">
                <a:solidFill>
                  <a:srgbClr val="3B2322"/>
                </a:solidFill>
                <a:latin typeface="Menlo-Regular" panose="020B0609030804020204" pitchFamily="49" charset="0"/>
              </a:rPr>
              <a:t>,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3FD113-F531-8E20-FBF3-174D0E04D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83ED1-95FC-6748-BD6C-CA34ACD829AB}" type="datetime1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F9E5F2-E374-07F9-4DDC-17146B0CE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1E041-6F3C-8BFF-E9EA-F3E46F359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4198-7956-7B4E-8FD6-DA92FBB1671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068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D6CF9-8BFD-9B63-17C5-F8534C5ED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Install Electron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813B7-680C-4847-E604-A3D17A609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npm</a:t>
            </a:r>
            <a:r>
              <a:rPr lang="en-US" dirty="0"/>
              <a:t> install --save-dev electron</a:t>
            </a:r>
          </a:p>
          <a:p>
            <a:r>
              <a:rPr lang="en-US" dirty="0" err="1"/>
              <a:t>npm</a:t>
            </a:r>
            <a:r>
              <a:rPr lang="en-US" dirty="0"/>
              <a:t> install --save-dev @electron-forge/cli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E218D-03C2-F972-C4C8-D0317D815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2AD2-0152-A245-A73D-58A523981B3A}" type="datetime1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B429E-1366-0437-1C42-4DA4A3B38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DF3EB-C7E6-C228-3EB9-D0656F95B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4198-7956-7B4E-8FD6-DA92FBB1671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449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3CF34-464C-63A9-E9A8-674D26ED2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Run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10496-67C5-3B11-1FC4-73FB9FE6A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npm</a:t>
            </a:r>
            <a:r>
              <a:rPr lang="en-US" dirty="0"/>
              <a:t> run start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D61E8-A841-A08F-9195-360CE720C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89B8B-D5D8-2F48-8FE9-43E7CE473A63}" type="datetime1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7EA73-509C-31AB-0240-3E6CDF290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6551D-4559-0304-63D0-D79A587FC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4198-7956-7B4E-8FD6-DA92FBB1671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285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36B66-A592-DCDD-55F5-F1B4669A9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Create a Stand-Alone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7A1AE-9926-F1AA-83B8-BB0898318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npx</a:t>
            </a:r>
            <a:r>
              <a:rPr lang="en-US" dirty="0"/>
              <a:t> </a:t>
            </a:r>
            <a:r>
              <a:rPr lang="en-US" dirty="0" err="1"/>
              <a:t>create-electron-app@latest</a:t>
            </a:r>
            <a:r>
              <a:rPr lang="en-US" dirty="0"/>
              <a:t> import</a:t>
            </a:r>
          </a:p>
          <a:p>
            <a:r>
              <a:rPr lang="en-US" dirty="0" err="1"/>
              <a:t>npm</a:t>
            </a:r>
            <a:r>
              <a:rPr lang="en-US" dirty="0"/>
              <a:t> run make</a:t>
            </a:r>
          </a:p>
          <a:p>
            <a:r>
              <a:rPr lang="en-US" dirty="0"/>
              <a:t># On a Mac, look in:</a:t>
            </a:r>
          </a:p>
          <a:p>
            <a:r>
              <a:rPr lang="en-US" dirty="0"/>
              <a:t>#  out/todo-darwin-arm64/</a:t>
            </a:r>
            <a:r>
              <a:rPr lang="en-US" dirty="0" err="1"/>
              <a:t>todo.app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367C2-B682-00AF-4311-3BEBF39B5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22532-9564-9C48-9F54-899376798473}" type="datetime1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10F98-CE7E-B7CC-5F6A-0E5262C1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8DE60-41AA-A190-4021-F1E32E245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4198-7956-7B4E-8FD6-DA92FBB1671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283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779F1-E188-DE46-CE44-B62A58223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Electron Process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8C3D07-BFB3-C34B-8E75-A586686D6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677194"/>
            <a:ext cx="7772400" cy="4371975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2AA32-DE35-DBE2-77C0-F8F5F30C4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2478A-848B-FE4C-803C-9612FE00193B}" type="datetime1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C0138-106E-BABC-FCB9-4ACDA1EF4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CA7F56-222F-D7BA-6C4B-C13B46224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4198-7956-7B4E-8FD6-DA92FBB1671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20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2518-6AB9-9F26-28FA-1544D29AE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Electron and OS Interaction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2E4517-202E-8E75-C33E-8F64B48D6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Main Process</a:t>
            </a:r>
          </a:p>
          <a:p>
            <a:pPr lvl="1"/>
            <a:r>
              <a:rPr lang="en-US" dirty="0"/>
              <a:t>Acts as the application's entry point (running </a:t>
            </a:r>
            <a:r>
              <a:rPr lang="en-US" dirty="0" err="1"/>
              <a:t>main.js</a:t>
            </a:r>
            <a:r>
              <a:rPr lang="en-US" dirty="0"/>
              <a:t> or </a:t>
            </a:r>
            <a:r>
              <a:rPr lang="en-US" dirty="0" err="1"/>
              <a:t>main.ts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Runs in a full Node.js environment with direct access to the operating system, file system, and native APIs</a:t>
            </a:r>
          </a:p>
          <a:p>
            <a:pPr lvl="1"/>
            <a:r>
              <a:rPr lang="en-US" dirty="0"/>
              <a:t>Manages the application lifecycle, system events, and native menus</a:t>
            </a:r>
          </a:p>
          <a:p>
            <a:pPr lvl="1"/>
            <a:r>
              <a:rPr lang="en-US" dirty="0"/>
              <a:t>Creates and controls app windows using </a:t>
            </a:r>
            <a:r>
              <a:rPr lang="en-US" dirty="0" err="1"/>
              <a:t>BrowserWindow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546637E-FAA1-5C7F-D9DA-F1CF10E43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4F159-1842-8944-A000-E870CEEAB04A}" type="datetime1">
              <a:rPr lang="en-US" smtClean="0"/>
              <a:t>10/22/26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9127944-14FB-95C7-767F-83A1663D7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20C933E-4CC5-C8BD-8C7D-6321B2613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4198-7956-7B4E-8FD6-DA92FBB1671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804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F4F69-D9C8-FFB0-10B8-AE0432A90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Renderer Process(es)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79470-E7A6-9378-BFC1-3BF42D271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Renders the graphical user interface using standard web tech (HTML, CSS, and JavaScript or frameworks like React/Vue)</a:t>
            </a:r>
          </a:p>
          <a:p>
            <a:r>
              <a:rPr lang="en-US" dirty="0"/>
              <a:t>Runs inside a Chromium-based sandbox for isolation and security</a:t>
            </a:r>
          </a:p>
          <a:p>
            <a:r>
              <a:rPr lang="en-US" dirty="0"/>
              <a:t>Lacks direct access to Node.js or low-level operating system APIs</a:t>
            </a:r>
          </a:p>
          <a:p>
            <a:r>
              <a:rPr lang="en-US" dirty="0"/>
              <a:t>Can have multiple renderer processes, typically one per open window or web embed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341BA-8BBD-4B7A-071B-55C35FF7E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0F2CA-A827-CE48-9996-06E6DE42EF71}" type="datetime1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CFA9C-0F93-D04A-147E-C48A7339C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E7ABF-3026-B370-79F3-53BBBC13A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4198-7956-7B4E-8FD6-DA92FBB1671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18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5E5C0-88B3-894C-0047-F90053472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Preload Scripts &amp; IPC Bridge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6EAC4-2D76-3A98-FA01-517DFF6B7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Preload Scripts: Execute safely before web content loads, having restricted access to Node.js APIs.</a:t>
            </a:r>
          </a:p>
          <a:p>
            <a:r>
              <a:rPr lang="en-US" dirty="0"/>
              <a:t>Context Bridge (</a:t>
            </a:r>
            <a:r>
              <a:rPr lang="en-US" dirty="0" err="1"/>
              <a:t>contextBridge</a:t>
            </a:r>
            <a:r>
              <a:rPr lang="en-US" dirty="0"/>
              <a:t>): Exposes safe, selective APIs from the preload script to the renderer without leaking full Node.js power.</a:t>
            </a:r>
          </a:p>
          <a:p>
            <a:r>
              <a:rPr lang="en-US" dirty="0"/>
              <a:t>Inter-Process Communication (IPC): Bridges messages between the renderer and main processes (</a:t>
            </a:r>
            <a:r>
              <a:rPr lang="en-US" dirty="0" err="1"/>
              <a:t>ipcRenderer</a:t>
            </a:r>
            <a:r>
              <a:rPr lang="en-US" dirty="0"/>
              <a:t> and </a:t>
            </a:r>
            <a:r>
              <a:rPr lang="en-US" dirty="0" err="1"/>
              <a:t>ipcMain</a:t>
            </a:r>
            <a:r>
              <a:rPr lang="en-US" dirty="0"/>
              <a:t>) to handle privileged tasks like saving files or opening system dialogs.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F5741-7F1D-1CFF-AEC9-6310A82D8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8F081-C71A-9B49-A7F0-52CA93926465}" type="datetime1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FA057-BD1A-B696-29CE-E27F040E1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DFDEA-7AEF-AA46-5C3B-BE6099BAF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4198-7956-7B4E-8FD6-DA92FBB1671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444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51B0-BECF-66B6-0E23-B86531F89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Very Simple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4E798-E9C4-9AAB-CE24-7BDB5EBA0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Query OS to retrieve CPU</a:t>
            </a:r>
          </a:p>
          <a:p>
            <a:r>
              <a:rPr lang="en-US" dirty="0">
                <a:hlinkClick r:id="rId2"/>
              </a:rPr>
              <a:t>https://github.com/drb80/ElectronOS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56F37-312E-BE45-D88E-E01B7C131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06ECA-2B9C-1945-9454-C531BABD9C02}" type="datetime1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69FD0-5857-2B96-9A91-66D6F03D9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Steve Beaty and others as cited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558BC-3C5E-217B-D8F1-EE81349AB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4198-7956-7B4E-8FD6-DA92FBB1671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908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SU Denver 16x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9DA9736E-330F-4D40-A0AF-1CC780C29072}" vid="{881790AE-4280-6941-9F6C-19A6C408C4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</Template>
  <TotalTime>7203</TotalTime>
  <Words>1373</Words>
  <Application>Microsoft Macintosh PowerPoint</Application>
  <PresentationFormat>Widescreen</PresentationFormat>
  <Paragraphs>215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Arial</vt:lpstr>
      <vt:lpstr>Calibri</vt:lpstr>
      <vt:lpstr>Courier New</vt:lpstr>
      <vt:lpstr>Menlo</vt:lpstr>
      <vt:lpstr>Menlo-Regular</vt:lpstr>
      <vt:lpstr>MSU Denver 16x9</vt:lpstr>
      <vt:lpstr>Electron</vt:lpstr>
      <vt:lpstr>Overview</vt:lpstr>
      <vt:lpstr>Native Interfaces</vt:lpstr>
      <vt:lpstr>Creation</vt:lpstr>
      <vt:lpstr>index.js</vt:lpstr>
      <vt:lpstr>index.html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Disable CSRF Check, Development Only!</vt:lpstr>
      <vt:lpstr>Initialize Node</vt:lpstr>
      <vt:lpstr>Add a Start Script</vt:lpstr>
      <vt:lpstr>Install Electron</vt:lpstr>
      <vt:lpstr>Run It</vt:lpstr>
      <vt:lpstr>Create a Stand-Alone App</vt:lpstr>
      <vt:lpstr>Electron Process Model</vt:lpstr>
      <vt:lpstr>Electron and OS Interaction</vt:lpstr>
      <vt:lpstr>Renderer Process(es)</vt:lpstr>
      <vt:lpstr>Preload Scripts &amp; IPC Bridge</vt:lpstr>
      <vt:lpstr>Very Simple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Beaty</dc:creator>
  <cp:lastModifiedBy>Steve Beaty</cp:lastModifiedBy>
  <cp:revision>14</cp:revision>
  <dcterms:created xsi:type="dcterms:W3CDTF">2026-10-22T14:42:50Z</dcterms:created>
  <dcterms:modified xsi:type="dcterms:W3CDTF">2026-10-27T14:46:02Z</dcterms:modified>
</cp:coreProperties>
</file>