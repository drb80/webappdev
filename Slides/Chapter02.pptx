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91" r:id="rId27"/>
    <p:sldId id="292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15"/>
  </p:normalViewPr>
  <p:slideViewPr>
    <p:cSldViewPr snapToGrid="0">
      <p:cViewPr varScale="1">
        <p:scale>
          <a:sx n="83" d="100"/>
          <a:sy n="83" d="100"/>
        </p:scale>
        <p:origin x="96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94D6A2-E690-AE44-B31E-9BCFD0C67BA5}" type="datetimeFigureOut">
              <a:rPr lang="en-US" smtClean="0"/>
              <a:t>8/27/26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F8D98-5AA1-6847-88C3-7934FE9066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7276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en.wikipedia.org</a:t>
            </a:r>
            <a:r>
              <a:rPr lang="en-US" dirty="0"/>
              <a:t>/wiki/Sigil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4F8D98-5AA1-6847-88C3-7934FE90667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2057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commons.wikimedia.org</a:t>
            </a:r>
            <a:r>
              <a:rPr lang="en-US" dirty="0"/>
              <a:t>/wiki/</a:t>
            </a:r>
            <a:r>
              <a:rPr lang="en-US" dirty="0" err="1"/>
              <a:t>File:Goetia_seals.jpg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4F8D98-5AA1-6847-88C3-7934FE90667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25080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UFO operator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4F8D98-5AA1-6847-88C3-7934FE90667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7179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1058938"/>
            <a:ext cx="10363200" cy="1470025"/>
          </a:xfrm>
          <a:solidFill>
            <a:schemeClr val="bg1">
              <a:alpha val="95000"/>
            </a:schemeClr>
          </a:solidFill>
          <a:effectLst>
            <a:softEdge rad="63500"/>
          </a:effectLst>
        </p:spPr>
        <p:txBody>
          <a:bodyPr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 baseline="0" dirty="0">
                <a:solidFill>
                  <a:schemeClr val="tx1"/>
                </a:solidFill>
              </a:rPr>
              <a:t>Click to edit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2281186" y="2983610"/>
            <a:ext cx="7609479" cy="1009561"/>
          </a:xfrm>
          <a:solidFill>
            <a:schemeClr val="bg1">
              <a:alpha val="95000"/>
            </a:schemeClr>
          </a:solidFill>
          <a:effectLst>
            <a:softEdge rad="63500"/>
          </a:effectLst>
        </p:spPr>
        <p:txBody>
          <a:bodyPr anchor="ctr" anchorCtr="0"/>
          <a:lstStyle>
            <a:lvl1pPr marL="0" indent="0" algn="ctr">
              <a:buNone/>
              <a:defRPr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3669151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DA5E7-275A-0142-8584-066D5199CC3B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ate Placeholder 2">
            <a:extLst>
              <a:ext uri="{FF2B5EF4-FFF2-40B4-BE49-F238E27FC236}">
                <a16:creationId xmlns:a16="http://schemas.microsoft.com/office/drawing/2014/main" id="{FD3C3453-6596-1340-01B9-8877C1567E49}"/>
              </a:ext>
            </a:extLst>
          </p:cNvPr>
          <p:cNvSpPr txBox="1">
            <a:spLocks/>
          </p:cNvSpPr>
          <p:nvPr/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9E145AF-2465-1345-A673-F2664B07CED8}" type="datetime5">
              <a:rPr lang="en-US" smtClean="0"/>
              <a:pPr/>
              <a:t>27-Aug-26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89382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  <a:ln w="25400">
            <a:solidFill>
              <a:schemeClr val="tx1"/>
            </a:solidFill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DA5E7-275A-0142-8584-066D5199CC3B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ate Placeholder 2">
            <a:extLst>
              <a:ext uri="{FF2B5EF4-FFF2-40B4-BE49-F238E27FC236}">
                <a16:creationId xmlns:a16="http://schemas.microsoft.com/office/drawing/2014/main" id="{9887BBEB-32D5-2D50-07CA-3F51A75FA0E8}"/>
              </a:ext>
            </a:extLst>
          </p:cNvPr>
          <p:cNvSpPr txBox="1">
            <a:spLocks/>
          </p:cNvSpPr>
          <p:nvPr/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9E145AF-2465-1345-A673-F2664B07CED8}" type="datetime5">
              <a:rPr lang="en-US" smtClean="0"/>
              <a:pPr/>
              <a:t>27-Aug-26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49146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wo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2487"/>
            <a:ext cx="5321600" cy="4525963"/>
          </a:xfrm>
          <a:ln w="25400" cap="flat">
            <a:solidFill>
              <a:schemeClr val="tx1"/>
            </a:solidFill>
            <a:round/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DA5E7-275A-0142-8584-066D5199CC3B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F3C3831-60B9-204A-AB0D-53E619F83C5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0800" y="1592837"/>
            <a:ext cx="5321600" cy="4525963"/>
          </a:xfrm>
          <a:ln w="25400">
            <a:solidFill>
              <a:schemeClr val="tx1"/>
            </a:solidFill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2">
            <a:extLst>
              <a:ext uri="{FF2B5EF4-FFF2-40B4-BE49-F238E27FC236}">
                <a16:creationId xmlns:a16="http://schemas.microsoft.com/office/drawing/2014/main" id="{7DDEEDF1-8A77-85F3-9C93-920E453307BB}"/>
              </a:ext>
            </a:extLst>
          </p:cNvPr>
          <p:cNvSpPr txBox="1">
            <a:spLocks/>
          </p:cNvSpPr>
          <p:nvPr/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9E145AF-2465-1345-A673-F2664B07CED8}" type="datetime5">
              <a:rPr lang="en-US" smtClean="0"/>
              <a:pPr/>
              <a:t>27-Aug-26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16845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DA5E7-275A-0142-8584-066D5199CC3B}" type="slidenum">
              <a:rPr lang="en-US" smtClean="0"/>
              <a:t>‹#›</a:t>
            </a:fld>
            <a:endParaRPr lang="en-US"/>
          </a:p>
        </p:txBody>
      </p:sp>
      <p:sp>
        <p:nvSpPr>
          <p:cNvPr id="8" name="Date Placeholder 2">
            <a:extLst>
              <a:ext uri="{FF2B5EF4-FFF2-40B4-BE49-F238E27FC236}">
                <a16:creationId xmlns:a16="http://schemas.microsoft.com/office/drawing/2014/main" id="{BC7257D9-CFE4-6187-731B-973A817958BF}"/>
              </a:ext>
            </a:extLst>
          </p:cNvPr>
          <p:cNvSpPr txBox="1">
            <a:spLocks/>
          </p:cNvSpPr>
          <p:nvPr/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9E145AF-2465-1345-A673-F2664B07CED8}" type="datetime5">
              <a:rPr lang="en-US" smtClean="0"/>
              <a:pPr/>
              <a:t>27-Aug-26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9532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881808" y="6308726"/>
            <a:ext cx="8605793" cy="48768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DA5E7-275A-0142-8584-066D5199CC3B}" type="slidenum">
              <a:rPr lang="en-US" smtClean="0"/>
              <a:t>‹#›</a:t>
            </a:fld>
            <a:endParaRPr lang="en-US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346DE585-182D-C90D-7BFC-E67326368F83}"/>
              </a:ext>
            </a:extLst>
          </p:cNvPr>
          <p:cNvSpPr txBox="1">
            <a:spLocks/>
          </p:cNvSpPr>
          <p:nvPr/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9E145AF-2465-1345-A673-F2664B07CED8}" type="datetime5">
              <a:rPr lang="en-US" smtClean="0"/>
              <a:pPr/>
              <a:t>27-Aug-26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3517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957222" y="6308726"/>
            <a:ext cx="8605793" cy="48768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745942" y="6308726"/>
            <a:ext cx="879777" cy="487680"/>
          </a:xfrm>
        </p:spPr>
        <p:txBody>
          <a:bodyPr/>
          <a:lstStyle/>
          <a:p>
            <a:fld id="{8BADA5E7-275A-0142-8584-066D5199CC3B}" type="slidenum">
              <a:rPr lang="en-US" smtClean="0"/>
              <a:t>‹#›</a:t>
            </a:fld>
            <a:endParaRPr lang="en-US"/>
          </a:p>
        </p:txBody>
      </p:sp>
      <p:sp>
        <p:nvSpPr>
          <p:cNvPr id="2" name="Date Placeholder 2">
            <a:extLst>
              <a:ext uri="{FF2B5EF4-FFF2-40B4-BE49-F238E27FC236}">
                <a16:creationId xmlns:a16="http://schemas.microsoft.com/office/drawing/2014/main" id="{ED4BD15D-B8F3-E5F7-61A8-F1581CE5EF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lvl1pPr algn="ctr">
              <a:defRPr sz="1600"/>
            </a:lvl1pPr>
          </a:lstStyle>
          <a:p>
            <a:fld id="{624D9F20-0CDB-DC45-97C1-8E3888B449A2}" type="datetimeFigureOut">
              <a:rPr lang="en-US" smtClean="0"/>
              <a:t>8/27/26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458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B955B-3757-0FEC-8150-652A2829B6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921168"/>
            <a:ext cx="9144000" cy="1015663"/>
          </a:xfrm>
        </p:spPr>
        <p:txBody>
          <a:bodyPr anchor="ctr" anchorCtr="0">
            <a:sp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Section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23134-95A2-6423-76C0-9D75A168C9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4D9F20-0CDB-DC45-97C1-8E3888B449A2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19F5F4-E2F3-BFD8-53AA-6A6F195FC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B90BEB-A9D1-FF29-0E8C-A755B6F98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DA5E7-275A-0142-8584-066D5199C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5247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Image"/>
          <p:cNvSpPr>
            <a:spLocks noGrp="1"/>
          </p:cNvSpPr>
          <p:nvPr>
            <p:ph type="pic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r>
              <a:rPr lang="en-US"/>
              <a:t>Click icon to add picture</a:t>
            </a:r>
            <a:endParaRPr/>
          </a:p>
        </p:txBody>
      </p:sp>
      <p:sp>
        <p:nvSpPr>
          <p:cNvPr id="11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BADA5E7-275A-0142-8584-066D5199C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071310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d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430305"/>
            <a:ext cx="10972800" cy="5695859"/>
          </a:xfrm>
          <a:ln w="25400">
            <a:solidFill>
              <a:schemeClr val="tx1"/>
            </a:solidFill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4D9F20-0CDB-DC45-97C1-8E3888B449A2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DA5E7-275A-0142-8584-066D5199C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1160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DA7DB-B642-A610-5993-34620C31A0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9501FB-B55C-900C-8287-C27C97CC39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6F8267-068D-7A3E-160F-6D196492A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4D9F20-0CDB-DC45-97C1-8E3888B449A2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1ADC4-1D21-CD39-025F-A8CE717B0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BD04B2-BCB9-6C2F-30FA-32FFD0631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DA5E7-275A-0142-8584-066D5199C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5128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16423"/>
            <a:ext cx="10972800" cy="4525963"/>
          </a:xfrm>
          <a:prstGeom prst="rect">
            <a:avLst/>
          </a:prstGeom>
          <a:solidFill>
            <a:schemeClr val="bg1">
              <a:alpha val="95000"/>
            </a:schemeClr>
          </a:solidFill>
          <a:effectLst>
            <a:softEdge rad="63500"/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  <a:solidFill>
            <a:schemeClr val="bg1">
              <a:alpha val="95000"/>
            </a:schemeClr>
          </a:solidFill>
          <a:effectLst>
            <a:softEdge rad="0"/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881808" y="6308726"/>
            <a:ext cx="8605793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95113" y="6308726"/>
            <a:ext cx="987287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ADA5E7-275A-0142-8584-066D5199CC3B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B6740CB2-DC30-5DDB-24B8-219C9C3F59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lvl1pPr algn="ctr">
              <a:defRPr sz="1600"/>
            </a:lvl1pPr>
          </a:lstStyle>
          <a:p>
            <a:fld id="{624D9F20-0CDB-DC45-97C1-8E3888B449A2}" type="datetimeFigureOut">
              <a:rPr lang="en-US" smtClean="0"/>
              <a:t>8/27/26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459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  <p:txStyles>
    <p:titleStyle>
      <a:lvl1pPr algn="ctr" defTabSz="6095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77" indent="-457177" algn="l" defTabSz="609570" rtl="0" eaLnBrk="1" latinLnBrk="0" hangingPunct="1">
        <a:spcBef>
          <a:spcPct val="20000"/>
        </a:spcBef>
        <a:buFont typeface="Arial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51" indent="-380982" algn="l" defTabSz="609570" rtl="0" eaLnBrk="1" latinLnBrk="0" hangingPunct="1">
        <a:spcBef>
          <a:spcPct val="20000"/>
        </a:spcBef>
        <a:buFont typeface="Arial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23" indent="-304784" algn="l" defTabSz="60957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493" indent="-304784" algn="l" defTabSz="609570" rtl="0" eaLnBrk="1" latinLnBrk="0" hangingPunct="1">
        <a:spcBef>
          <a:spcPct val="20000"/>
        </a:spcBef>
        <a:buFont typeface="Arial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063" indent="-304784" algn="l" defTabSz="609570" rtl="0" eaLnBrk="1" latinLnBrk="0" hangingPunct="1">
        <a:spcBef>
          <a:spcPct val="20000"/>
        </a:spcBef>
        <a:buFont typeface="Arial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63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20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771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341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39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musanim.com/miller1956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A21B21B-6185-CD15-7AF7-2B1A0DE21D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Chapter 02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E7FF18-ED33-9A57-DBFE-A7E037FDBE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Ruby for Rails</a:t>
            </a:r>
          </a:p>
        </p:txBody>
      </p:sp>
    </p:spTree>
    <p:extLst>
      <p:ext uri="{BB962C8B-B14F-4D97-AF65-F5344CB8AC3E}">
        <p14:creationId xmlns:p14="http://schemas.microsoft.com/office/powerpoint/2010/main" val="10348375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88035DB-CC76-4905-3B00-2633A119F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Ruby is an interpreted, high-level, general-purpose programming language which supports multiple programming paradigms.</a:t>
            </a:r>
          </a:p>
          <a:p>
            <a:r>
              <a:rPr lang="en-US" dirty="0"/>
              <a:t>It was designed with an emphasis on programming productivity and simplicity.</a:t>
            </a:r>
          </a:p>
          <a:p>
            <a:r>
              <a:rPr lang="en-US" dirty="0"/>
              <a:t>In Ruby, everything is an object, including primitive data types. - Wikipedia</a:t>
            </a:r>
          </a:p>
          <a:p>
            <a:r>
              <a:rPr lang="en-US" dirty="0"/>
              <a:t>Creator: Yukihiro "Matz" Matsumoto (mid-1990s, Japan)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47451E1-C097-EFD5-4D10-F7711BD22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Ruby</a:t>
            </a:r>
          </a:p>
        </p:txBody>
      </p:sp>
    </p:spTree>
    <p:extLst>
      <p:ext uri="{BB962C8B-B14F-4D97-AF65-F5344CB8AC3E}">
        <p14:creationId xmlns:p14="http://schemas.microsoft.com/office/powerpoint/2010/main" val="2934077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D982C38-2732-5081-281B-D0C0FBCE7F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Ruby expresses complicated ideas succinctly</a:t>
            </a:r>
          </a:p>
          <a:p>
            <a:r>
              <a:rPr lang="en-US" dirty="0"/>
              <a:t>Key Benefits</a:t>
            </a:r>
          </a:p>
          <a:p>
            <a:pPr lvl="1"/>
            <a:r>
              <a:rPr lang="en-US" dirty="0"/>
              <a:t>Fewer lines written = fewer bugs written</a:t>
            </a:r>
          </a:p>
          <a:p>
            <a:pPr lvl="1"/>
            <a:r>
              <a:rPr lang="en-US" dirty="0"/>
              <a:t>Object-oriented with unique features</a:t>
            </a:r>
          </a:p>
          <a:p>
            <a:pPr lvl="1"/>
            <a:r>
              <a:rPr lang="en-US" dirty="0"/>
              <a:t>Features not found in many other languages</a:t>
            </a:r>
          </a:p>
          <a:p>
            <a:pPr lvl="1"/>
            <a:r>
              <a:rPr lang="en-US" dirty="0"/>
              <a:t>Expressive and readable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145782-09D2-FC32-35A5-5D0312683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Ruby?</a:t>
            </a:r>
          </a:p>
        </p:txBody>
      </p:sp>
    </p:spTree>
    <p:extLst>
      <p:ext uri="{BB962C8B-B14F-4D97-AF65-F5344CB8AC3E}">
        <p14:creationId xmlns:p14="http://schemas.microsoft.com/office/powerpoint/2010/main" val="397101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FE9CF7B-94EE-25C6-937E-7ECE45751C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By the end of this chapter, you will be able to:</a:t>
            </a:r>
          </a:p>
          <a:p>
            <a:pPr marL="742950" indent="-742950">
              <a:buFont typeface="+mj-lt"/>
              <a:buAutoNum type="arabicPeriod"/>
            </a:pPr>
            <a:r>
              <a:rPr lang="en-US" dirty="0"/>
              <a:t>Leverage the big four OOP principles for better design</a:t>
            </a:r>
          </a:p>
          <a:p>
            <a:pPr marL="742950" indent="-742950">
              <a:buFont typeface="+mj-lt"/>
              <a:buAutoNum type="arabicPeriod"/>
            </a:pPr>
            <a:r>
              <a:rPr lang="en-US" dirty="0"/>
              <a:t>Create appropriate APIs using encapsulation and visibility</a:t>
            </a:r>
          </a:p>
          <a:p>
            <a:pPr marL="742950" indent="-742950">
              <a:buFont typeface="+mj-lt"/>
              <a:buAutoNum type="arabicPeriod"/>
            </a:pPr>
            <a:r>
              <a:rPr lang="en-US" dirty="0"/>
              <a:t>Use Ruby's strengths to create readable, parsimonious programs</a:t>
            </a:r>
          </a:p>
          <a:p>
            <a:pPr marL="742950" indent="-742950">
              <a:buFont typeface="+mj-lt"/>
              <a:buAutoNum type="arabicPeriod"/>
            </a:pPr>
            <a:r>
              <a:rPr lang="en-US" dirty="0"/>
              <a:t>Apply knowledge to other programming languages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8B7F2-DE01-FB05-41E2-90E168EA6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Learning Outcomes</a:t>
            </a:r>
          </a:p>
        </p:txBody>
      </p:sp>
    </p:spTree>
    <p:extLst>
      <p:ext uri="{BB962C8B-B14F-4D97-AF65-F5344CB8AC3E}">
        <p14:creationId xmlns:p14="http://schemas.microsoft.com/office/powerpoint/2010/main" val="156880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CDA0C11-F41E-014B-711F-9050F0B8D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Abstraction - Hiding complexity</a:t>
            </a:r>
          </a:p>
          <a:p>
            <a:r>
              <a:rPr lang="en-US" dirty="0"/>
              <a:t>Encapsulation - Hiding implementation</a:t>
            </a:r>
          </a:p>
          <a:p>
            <a:r>
              <a:rPr lang="en-US" dirty="0"/>
              <a:t>Inheritance - Gaining functionality from parent classes</a:t>
            </a:r>
          </a:p>
          <a:p>
            <a:r>
              <a:rPr lang="en-US" dirty="0"/>
              <a:t>Polymorphism - Many shapes, same interface</a:t>
            </a:r>
          </a:p>
          <a:p>
            <a:r>
              <a:rPr lang="en-US" dirty="0"/>
              <a:t>Dynamic arrays - Auto-sizing arrays</a:t>
            </a:r>
          </a:p>
          <a:p>
            <a:r>
              <a:rPr lang="en-US" dirty="0"/>
              <a:t>Dictionaries - Key/value pairs (Hashes)</a:t>
            </a:r>
          </a:p>
          <a:p>
            <a:r>
              <a:rPr lang="en-US" dirty="0"/>
              <a:t>Symbols - Immutable identifiers</a:t>
            </a:r>
          </a:p>
          <a:p>
            <a:r>
              <a:rPr lang="en-US" dirty="0"/>
              <a:t>Scopes - Visibility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6014593-83A8-91DF-1CAE-1F53D1B73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Key Terms</a:t>
            </a:r>
          </a:p>
        </p:txBody>
      </p:sp>
    </p:spTree>
    <p:extLst>
      <p:ext uri="{BB962C8B-B14F-4D97-AF65-F5344CB8AC3E}">
        <p14:creationId xmlns:p14="http://schemas.microsoft.com/office/powerpoint/2010/main" val="1748908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67290F4-CE05-7543-484B-CD277E79B3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59504"/>
            <a:ext cx="9144000" cy="1938992"/>
          </a:xfrm>
        </p:spPr>
        <p:txBody>
          <a:bodyPr/>
          <a:lstStyle/>
          <a:p>
            <a:r>
              <a:rPr lang="en-US" dirty="0"/>
              <a:t>Object Oriented Programming</a:t>
            </a:r>
          </a:p>
        </p:txBody>
      </p:sp>
    </p:spTree>
    <p:extLst>
      <p:ext uri="{BB962C8B-B14F-4D97-AF65-F5344CB8AC3E}">
        <p14:creationId xmlns:p14="http://schemas.microsoft.com/office/powerpoint/2010/main" val="3521547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5E01B7-2F29-E5A9-C4BE-4C78F157F0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The Challenge: Modern programs are too complex for humans to understand.</a:t>
            </a:r>
          </a:p>
          <a:p>
            <a:r>
              <a:rPr lang="en-US" dirty="0"/>
              <a:t>Miller's Law (1956)</a:t>
            </a:r>
          </a:p>
          <a:p>
            <a:pPr lvl="1"/>
            <a:r>
              <a:rPr lang="en-US" dirty="0"/>
              <a:t>"The Magical Number Seven, Plus or Minus Two”</a:t>
            </a:r>
          </a:p>
          <a:p>
            <a:pPr lvl="2"/>
            <a:r>
              <a:rPr lang="en-US" dirty="0">
                <a:hlinkClick r:id="rId2"/>
              </a:rPr>
              <a:t>https://www.musanim.com/miller1956/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Working memory: 7 ± 2 items</a:t>
            </a:r>
          </a:p>
          <a:p>
            <a:pPr lvl="1"/>
            <a:r>
              <a:rPr lang="en-US" dirty="0"/>
              <a:t>Beyond this, we cannot understand programs</a:t>
            </a:r>
          </a:p>
          <a:p>
            <a:pPr lvl="1"/>
            <a:r>
              <a:rPr lang="en-US" dirty="0"/>
              <a:t>Must narrow focus to manageable chunks</a:t>
            </a:r>
          </a:p>
          <a:p>
            <a:pPr lvl="1"/>
            <a:r>
              <a:rPr lang="en-US" dirty="0"/>
              <a:t>Need to abstract away details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32EC2B9-437F-3687-7162-D7750BF70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OOP?</a:t>
            </a:r>
          </a:p>
        </p:txBody>
      </p:sp>
    </p:spTree>
    <p:extLst>
      <p:ext uri="{BB962C8B-B14F-4D97-AF65-F5344CB8AC3E}">
        <p14:creationId xmlns:p14="http://schemas.microsoft.com/office/powerpoint/2010/main" val="2248377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0FE85DD-ABE0-B975-F617-4D12BB1B3B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Simula 67 (1967)</a:t>
            </a:r>
          </a:p>
          <a:p>
            <a:pPr lvl="1"/>
            <a:r>
              <a:rPr lang="en-US" dirty="0"/>
              <a:t>Introduced objects, classes, inheritance, virtual procedures, garbage collection</a:t>
            </a:r>
          </a:p>
          <a:p>
            <a:r>
              <a:rPr lang="en-US" dirty="0"/>
              <a:t>Smalltalk</a:t>
            </a:r>
          </a:p>
          <a:p>
            <a:pPr lvl="1"/>
            <a:r>
              <a:rPr lang="en-US" dirty="0"/>
              <a:t>Inspired by Simula 67</a:t>
            </a:r>
          </a:p>
          <a:p>
            <a:r>
              <a:rPr lang="en-US" dirty="0"/>
              <a:t>Ruby</a:t>
            </a:r>
          </a:p>
          <a:p>
            <a:pPr lvl="1"/>
            <a:r>
              <a:rPr lang="en-US" dirty="0"/>
              <a:t>Inspired by Smalltalk (and others)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CA49419-5FDF-7515-C1E3-A279ED0B6E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Origins of OOP</a:t>
            </a:r>
          </a:p>
        </p:txBody>
      </p:sp>
    </p:spTree>
    <p:extLst>
      <p:ext uri="{BB962C8B-B14F-4D97-AF65-F5344CB8AC3E}">
        <p14:creationId xmlns:p14="http://schemas.microsoft.com/office/powerpoint/2010/main" val="693259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FBD596A-A800-33A0-66EB-210BB8D2D8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Independent objects holding their own state</a:t>
            </a:r>
          </a:p>
          <a:p>
            <a:pPr lvl="1"/>
            <a:r>
              <a:rPr lang="en-US" dirty="0"/>
              <a:t>State = values object's variables hold</a:t>
            </a:r>
          </a:p>
          <a:p>
            <a:pPr lvl="1"/>
            <a:r>
              <a:rPr lang="en-US" dirty="0"/>
              <a:t>Objects expose services via public messages</a:t>
            </a:r>
          </a:p>
          <a:p>
            <a:pPr lvl="1"/>
            <a:r>
              <a:rPr lang="en-US" dirty="0"/>
              <a:t>Messages = methods</a:t>
            </a:r>
          </a:p>
          <a:p>
            <a:pPr lvl="1"/>
            <a:r>
              <a:rPr lang="en-US" dirty="0"/>
              <a:t>Classes = blueprints for objects</a:t>
            </a:r>
          </a:p>
          <a:p>
            <a:pPr lvl="1"/>
            <a:r>
              <a:rPr lang="en-US" dirty="0"/>
              <a:t>Instantiation = creating new objects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97BF108-C345-01AC-C215-8AEF46E15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Core OOP Concepts</a:t>
            </a:r>
          </a:p>
        </p:txBody>
      </p:sp>
    </p:spTree>
    <p:extLst>
      <p:ext uri="{BB962C8B-B14F-4D97-AF65-F5344CB8AC3E}">
        <p14:creationId xmlns:p14="http://schemas.microsoft.com/office/powerpoint/2010/main" val="4027299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619A7FF-064A-DA7E-353B-F2B27A391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A, E, I, O+1</a:t>
            </a:r>
          </a:p>
          <a:p>
            <a:pPr lvl="1"/>
            <a:r>
              <a:rPr lang="en-US" dirty="0"/>
              <a:t>Mnemonic: The vowels (with off-by-one error)</a:t>
            </a:r>
          </a:p>
          <a:p>
            <a:pPr marL="742950" indent="-742950">
              <a:buFont typeface="+mj-lt"/>
              <a:buAutoNum type="arabicPeriod"/>
            </a:pPr>
            <a:r>
              <a:rPr lang="en-US" dirty="0"/>
              <a:t>A - Abstraction</a:t>
            </a:r>
          </a:p>
          <a:p>
            <a:pPr marL="742950" indent="-742950">
              <a:buFont typeface="+mj-lt"/>
              <a:buAutoNum type="arabicPeriod"/>
            </a:pPr>
            <a:r>
              <a:rPr lang="en-US" dirty="0"/>
              <a:t>E - Encapsulation</a:t>
            </a:r>
          </a:p>
          <a:p>
            <a:pPr marL="742950" indent="-742950">
              <a:buFont typeface="+mj-lt"/>
              <a:buAutoNum type="arabicPeriod"/>
            </a:pPr>
            <a:r>
              <a:rPr lang="en-US" dirty="0"/>
              <a:t>I - Inheritance</a:t>
            </a:r>
          </a:p>
          <a:p>
            <a:pPr marL="742950" indent="-742950">
              <a:buFont typeface="+mj-lt"/>
              <a:buAutoNum type="arabicPeriod"/>
            </a:pPr>
            <a:r>
              <a:rPr lang="en-US" dirty="0"/>
              <a:t>O+1 (P) - Polymorphism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C58E7F4-703D-3173-ABD9-B845B522B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Big Four of OOP</a:t>
            </a:r>
          </a:p>
        </p:txBody>
      </p:sp>
    </p:spTree>
    <p:extLst>
      <p:ext uri="{BB962C8B-B14F-4D97-AF65-F5344CB8AC3E}">
        <p14:creationId xmlns:p14="http://schemas.microsoft.com/office/powerpoint/2010/main" val="2795709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538B5E4-B538-8143-3DD7-242D1D10FD7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Abstraction</a:t>
            </a:r>
          </a:p>
        </p:txBody>
      </p:sp>
    </p:spTree>
    <p:extLst>
      <p:ext uri="{BB962C8B-B14F-4D97-AF65-F5344CB8AC3E}">
        <p14:creationId xmlns:p14="http://schemas.microsoft.com/office/powerpoint/2010/main" val="99708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7693D1-8062-A7EC-6CCF-A5E36CC841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Most important OOP principle</a:t>
            </a:r>
          </a:p>
          <a:p>
            <a:r>
              <a:rPr lang="en-US"/>
              <a:t>Need </a:t>
            </a:r>
            <a:r>
              <a:rPr lang="en-US" dirty="0"/>
              <a:t>to abstract away from data details.</a:t>
            </a:r>
          </a:p>
          <a:p>
            <a:r>
              <a:rPr lang="en-US" dirty="0"/>
              <a:t>In the end, everything is numbers</a:t>
            </a:r>
          </a:p>
          <a:p>
            <a:pPr lvl="1"/>
            <a:r>
              <a:rPr lang="en-US" dirty="0"/>
              <a:t>Booleans = 1-bit numbers</a:t>
            </a:r>
          </a:p>
          <a:p>
            <a:pPr lvl="1"/>
            <a:r>
              <a:rPr lang="en-US" dirty="0"/>
              <a:t>Dates = multiple numbers</a:t>
            </a:r>
          </a:p>
          <a:p>
            <a:pPr lvl="1"/>
            <a:r>
              <a:rPr lang="en-US" dirty="0"/>
              <a:t>Images = files of numbers</a:t>
            </a:r>
          </a:p>
          <a:p>
            <a:pPr lvl="1"/>
            <a:r>
              <a:rPr lang="en-US" dirty="0"/>
              <a:t>Audio/video = numbers representing sounds/frames</a:t>
            </a:r>
          </a:p>
          <a:p>
            <a:pPr lvl="1"/>
            <a:r>
              <a:rPr lang="en-US" dirty="0"/>
              <a:t>Phone numbers = numbers or strings</a:t>
            </a:r>
          </a:p>
          <a:p>
            <a:r>
              <a:rPr lang="en-US" dirty="0"/>
              <a:t>But we don't want to care how data are stored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7A4CEEC-07F5-BF53-0C1D-0B5105E9A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A: Abstraction</a:t>
            </a:r>
          </a:p>
        </p:txBody>
      </p:sp>
    </p:spTree>
    <p:extLst>
      <p:ext uri="{BB962C8B-B14F-4D97-AF65-F5344CB8AC3E}">
        <p14:creationId xmlns:p14="http://schemas.microsoft.com/office/powerpoint/2010/main" val="40706852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4FAEEAE-4894-914F-71D0-E436CBE444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With dates, we don't want to know</a:t>
            </a:r>
          </a:p>
          <a:p>
            <a:pPr lvl="1"/>
            <a:r>
              <a:rPr lang="en-US" dirty="0"/>
              <a:t>Is day, month, or year stored first?</a:t>
            </a:r>
          </a:p>
          <a:p>
            <a:pPr lvl="1"/>
            <a:r>
              <a:rPr lang="en-US" dirty="0"/>
              <a:t>How are leap years handled?</a:t>
            </a:r>
          </a:p>
          <a:p>
            <a:pPr lvl="1"/>
            <a:r>
              <a:rPr lang="en-US" dirty="0"/>
              <a:t>How leap seconds work?</a:t>
            </a:r>
          </a:p>
          <a:p>
            <a:r>
              <a:rPr lang="en-US" dirty="0"/>
              <a:t>We just want</a:t>
            </a:r>
          </a:p>
          <a:p>
            <a:pPr lvl="1"/>
            <a:r>
              <a:rPr lang="en-US" dirty="0"/>
              <a:t>Date arithmetic that works</a:t>
            </a:r>
          </a:p>
          <a:p>
            <a:pPr lvl="1"/>
            <a:r>
              <a:rPr lang="en-US" dirty="0"/>
              <a:t>Invalid dates handled correctly</a:t>
            </a:r>
          </a:p>
          <a:p>
            <a:pPr lvl="1"/>
            <a:r>
              <a:rPr lang="en-US" dirty="0"/>
              <a:t>Assume implementation is correct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438EA07-BB29-CD2A-91C9-29E62EFC1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Abstraction in Practice</a:t>
            </a:r>
          </a:p>
        </p:txBody>
      </p:sp>
    </p:spTree>
    <p:extLst>
      <p:ext uri="{BB962C8B-B14F-4D97-AF65-F5344CB8AC3E}">
        <p14:creationId xmlns:p14="http://schemas.microsoft.com/office/powerpoint/2010/main" val="14475000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4A626A-DF6D-C47F-4CCB-1B76C8E3B1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Every class creates an Application Programming Interface (API)</a:t>
            </a:r>
          </a:p>
          <a:p>
            <a:r>
              <a:rPr lang="en-US" dirty="0"/>
              <a:t>Best Practices</a:t>
            </a:r>
          </a:p>
          <a:p>
            <a:pPr lvl="1"/>
            <a:r>
              <a:rPr lang="en-US" dirty="0"/>
              <a:t>Keep API as constant as possible</a:t>
            </a:r>
          </a:p>
          <a:p>
            <a:pPr lvl="1"/>
            <a:r>
              <a:rPr lang="en-US" dirty="0"/>
              <a:t>Clients know what to expect</a:t>
            </a:r>
          </a:p>
          <a:p>
            <a:pPr lvl="1"/>
            <a:r>
              <a:rPr lang="en-US" dirty="0"/>
              <a:t>Services that work (and we don't care how)</a:t>
            </a:r>
          </a:p>
          <a:p>
            <a:pPr lvl="1"/>
            <a:r>
              <a:rPr lang="en-US" dirty="0"/>
              <a:t>Underlying data/algorithms can change</a:t>
            </a:r>
          </a:p>
          <a:p>
            <a:pPr lvl="1"/>
            <a:r>
              <a:rPr lang="en-US" dirty="0"/>
              <a:t>Interface stays the same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FD8EF8E-0EE1-68D9-FCEC-536A05686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Creating Good APIs</a:t>
            </a:r>
          </a:p>
        </p:txBody>
      </p:sp>
    </p:spTree>
    <p:extLst>
      <p:ext uri="{BB962C8B-B14F-4D97-AF65-F5344CB8AC3E}">
        <p14:creationId xmlns:p14="http://schemas.microsoft.com/office/powerpoint/2010/main" val="28040049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3E015CF-E6EB-F487-54D7-BBF4842F68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Different from most languages</a:t>
            </a:r>
          </a:p>
          <a:p>
            <a:pPr lvl="1"/>
            <a:r>
              <a:rPr lang="en-US" dirty="0"/>
              <a:t>Store values of any type (all references to objects)</a:t>
            </a:r>
          </a:p>
          <a:p>
            <a:pPr lvl="1"/>
            <a:r>
              <a:rPr lang="en-US" dirty="0"/>
              <a:t>Dynamically sized (auto-grow/shrink)</a:t>
            </a:r>
          </a:p>
          <a:p>
            <a:pPr lvl="1"/>
            <a:r>
              <a:rPr lang="en-US" dirty="0"/>
              <a:t>Gaps filled with ‘nil’ </a:t>
            </a:r>
          </a:p>
          <a:p>
            <a:pPr lvl="1"/>
            <a:r>
              <a:rPr lang="en-US" dirty="0"/>
              <a:t>0-based indexing </a:t>
            </a:r>
          </a:p>
          <a:p>
            <a:pPr lvl="1"/>
            <a:r>
              <a:rPr lang="en-US" dirty="0"/>
              <a:t>Negative indices from end</a:t>
            </a:r>
          </a:p>
          <a:p>
            <a:pPr lvl="1"/>
            <a:r>
              <a:rPr lang="en-US" dirty="0"/>
              <a:t>Slices using indices or ranges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EF2F25E-FDE4-C752-B307-18650D54F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Arrays in Ruby</a:t>
            </a:r>
          </a:p>
        </p:txBody>
      </p:sp>
    </p:spTree>
    <p:extLst>
      <p:ext uri="{BB962C8B-B14F-4D97-AF65-F5344CB8AC3E}">
        <p14:creationId xmlns:p14="http://schemas.microsoft.com/office/powerpoint/2010/main" val="2099759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758E20F-DBB4-B77A-1075-466F5E29D4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Set: intersection, union, difference</a:t>
            </a:r>
          </a:p>
          <a:p>
            <a:r>
              <a:rPr lang="en-US" dirty="0"/>
              <a:t>Queue: push, pop, shift, unshift</a:t>
            </a:r>
          </a:p>
          <a:p>
            <a:r>
              <a:rPr lang="en-US" dirty="0"/>
              <a:t>Enumerable: map, each, find, select, grep, sort</a:t>
            </a:r>
          </a:p>
          <a:p>
            <a:r>
              <a:rPr lang="en-US" dirty="0"/>
              <a:t>Functional Programming</a:t>
            </a:r>
          </a:p>
          <a:p>
            <a:pPr lvl="1"/>
            <a:r>
              <a:rPr lang="en-US" dirty="0"/>
              <a:t>Most methods take blocks for functional operations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C801895-E5FA-3714-80DD-D84C34D38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Unconventional Operations</a:t>
            </a:r>
          </a:p>
        </p:txBody>
      </p:sp>
    </p:spTree>
    <p:extLst>
      <p:ext uri="{BB962C8B-B14F-4D97-AF65-F5344CB8AC3E}">
        <p14:creationId xmlns:p14="http://schemas.microsoft.com/office/powerpoint/2010/main" val="34319570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69ABFAA-A03E-0E33-BB34-B3DA2618E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Few Examples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649F24-27E1-6D0F-643B-68D9B99634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 err="1">
                <a:solidFill>
                  <a:schemeClr val="accent5"/>
                </a:solidFill>
              </a:rPr>
              <a:t>irb</a:t>
            </a:r>
            <a:r>
              <a:rPr lang="en-US" dirty="0">
                <a:solidFill>
                  <a:schemeClr val="accent5"/>
                </a:solidFill>
              </a:rPr>
              <a:t>&gt; a = [/regex/]</a:t>
            </a:r>
          </a:p>
          <a:p>
            <a:r>
              <a:rPr lang="en-US" dirty="0">
                <a:solidFill>
                  <a:schemeClr val="accent5"/>
                </a:solidFill>
              </a:rPr>
              <a:t>=&gt; [/regex/]</a:t>
            </a:r>
          </a:p>
          <a:p>
            <a:r>
              <a:rPr lang="en-US" dirty="0" err="1">
                <a:solidFill>
                  <a:schemeClr val="accent5"/>
                </a:solidFill>
              </a:rPr>
              <a:t>irb</a:t>
            </a:r>
            <a:r>
              <a:rPr lang="en-US" dirty="0">
                <a:solidFill>
                  <a:schemeClr val="accent5"/>
                </a:solidFill>
              </a:rPr>
              <a:t>&gt; a[5] = "foo"</a:t>
            </a:r>
          </a:p>
          <a:p>
            <a:r>
              <a:rPr lang="en-US" dirty="0">
                <a:solidFill>
                  <a:schemeClr val="accent5"/>
                </a:solidFill>
              </a:rPr>
              <a:t>=&gt; "foo"</a:t>
            </a:r>
          </a:p>
          <a:p>
            <a:r>
              <a:rPr lang="en-US" dirty="0" err="1">
                <a:solidFill>
                  <a:schemeClr val="accent5"/>
                </a:solidFill>
              </a:rPr>
              <a:t>irb</a:t>
            </a:r>
            <a:r>
              <a:rPr lang="en-US" dirty="0">
                <a:solidFill>
                  <a:schemeClr val="accent5"/>
                </a:solidFill>
              </a:rPr>
              <a:t>&gt; a</a:t>
            </a:r>
          </a:p>
          <a:p>
            <a:r>
              <a:rPr lang="en-US" dirty="0">
                <a:solidFill>
                  <a:schemeClr val="accent5"/>
                </a:solidFill>
              </a:rPr>
              <a:t>=&gt; [/regex/, nil, nil, nil, nil, "foo"]</a:t>
            </a:r>
          </a:p>
          <a:p>
            <a:r>
              <a:rPr lang="en-US" dirty="0" err="1">
                <a:solidFill>
                  <a:schemeClr val="accent5"/>
                </a:solidFill>
              </a:rPr>
              <a:t>irb</a:t>
            </a:r>
            <a:r>
              <a:rPr lang="en-US" dirty="0">
                <a:solidFill>
                  <a:schemeClr val="accent5"/>
                </a:solidFill>
              </a:rPr>
              <a:t>&gt; </a:t>
            </a:r>
            <a:r>
              <a:rPr lang="en-US" dirty="0" err="1">
                <a:solidFill>
                  <a:schemeClr val="accent5"/>
                </a:solidFill>
              </a:rPr>
              <a:t>a.pop</a:t>
            </a:r>
            <a:endParaRPr lang="en-US" dirty="0">
              <a:solidFill>
                <a:schemeClr val="accent5"/>
              </a:solidFill>
            </a:endParaRPr>
          </a:p>
          <a:p>
            <a:r>
              <a:rPr lang="en-US" dirty="0">
                <a:solidFill>
                  <a:schemeClr val="accent5"/>
                </a:solidFill>
              </a:rPr>
              <a:t>=&gt; "foo"</a:t>
            </a:r>
          </a:p>
          <a:p>
            <a:r>
              <a:rPr lang="en-US" dirty="0" err="1">
                <a:solidFill>
                  <a:schemeClr val="accent5"/>
                </a:solidFill>
              </a:rPr>
              <a:t>irb</a:t>
            </a:r>
            <a:r>
              <a:rPr lang="en-US" dirty="0">
                <a:solidFill>
                  <a:schemeClr val="accent5"/>
                </a:solidFill>
              </a:rPr>
              <a:t>&gt; </a:t>
            </a:r>
            <a:r>
              <a:rPr lang="en-US" dirty="0" err="1">
                <a:solidFill>
                  <a:schemeClr val="accent5"/>
                </a:solidFill>
              </a:rPr>
              <a:t>a.compact</a:t>
            </a:r>
            <a:endParaRPr lang="en-US" dirty="0">
              <a:solidFill>
                <a:schemeClr val="accent5"/>
              </a:solidFill>
            </a:endParaRPr>
          </a:p>
          <a:p>
            <a:r>
              <a:rPr lang="en-US" dirty="0">
                <a:solidFill>
                  <a:schemeClr val="accent5"/>
                </a:solidFill>
              </a:rPr>
              <a:t>=&gt; [/regex/]</a:t>
            </a:r>
          </a:p>
          <a:p>
            <a:endParaRPr lang="en-US" dirty="0">
              <a:solidFill>
                <a:schemeClr val="accent5"/>
              </a:solidFill>
            </a:endParaRPr>
          </a:p>
          <a:p>
            <a:r>
              <a:rPr lang="en-US" dirty="0" err="1">
                <a:solidFill>
                  <a:schemeClr val="accent5"/>
                </a:solidFill>
              </a:rPr>
              <a:t>irb</a:t>
            </a:r>
            <a:r>
              <a:rPr lang="en-US" dirty="0">
                <a:solidFill>
                  <a:schemeClr val="accent5"/>
                </a:solidFill>
              </a:rPr>
              <a:t>&gt; b = (0..5).</a:t>
            </a:r>
            <a:r>
              <a:rPr lang="en-US" dirty="0" err="1">
                <a:solidFill>
                  <a:schemeClr val="accent5"/>
                </a:solidFill>
              </a:rPr>
              <a:t>to_a</a:t>
            </a:r>
            <a:endParaRPr lang="en-US" dirty="0">
              <a:solidFill>
                <a:schemeClr val="accent5"/>
              </a:solidFill>
            </a:endParaRPr>
          </a:p>
          <a:p>
            <a:r>
              <a:rPr lang="en-US" dirty="0">
                <a:solidFill>
                  <a:schemeClr val="accent5"/>
                </a:solidFill>
              </a:rPr>
              <a:t>=&gt; [0, 1, 2, 3, 4, 5]</a:t>
            </a:r>
          </a:p>
          <a:p>
            <a:r>
              <a:rPr lang="en-US" dirty="0" err="1">
                <a:solidFill>
                  <a:schemeClr val="accent5"/>
                </a:solidFill>
              </a:rPr>
              <a:t>irb</a:t>
            </a:r>
            <a:r>
              <a:rPr lang="en-US" dirty="0">
                <a:solidFill>
                  <a:schemeClr val="accent5"/>
                </a:solidFill>
              </a:rPr>
              <a:t>&gt; </a:t>
            </a:r>
            <a:r>
              <a:rPr lang="en-US" dirty="0" err="1">
                <a:solidFill>
                  <a:schemeClr val="accent5"/>
                </a:solidFill>
              </a:rPr>
              <a:t>b.map</a:t>
            </a:r>
            <a:r>
              <a:rPr lang="en-US" dirty="0">
                <a:solidFill>
                  <a:schemeClr val="accent5"/>
                </a:solidFill>
              </a:rPr>
              <a:t>{|</a:t>
            </a:r>
            <a:r>
              <a:rPr lang="en-US" dirty="0" err="1">
                <a:solidFill>
                  <a:schemeClr val="accent5"/>
                </a:solidFill>
              </a:rPr>
              <a:t>i</a:t>
            </a:r>
            <a:r>
              <a:rPr lang="en-US" dirty="0">
                <a:solidFill>
                  <a:schemeClr val="accent5"/>
                </a:solidFill>
              </a:rPr>
              <a:t>| </a:t>
            </a:r>
            <a:r>
              <a:rPr lang="en-US" dirty="0" err="1">
                <a:solidFill>
                  <a:schemeClr val="accent5"/>
                </a:solidFill>
              </a:rPr>
              <a:t>i</a:t>
            </a:r>
            <a:r>
              <a:rPr lang="en-US" dirty="0">
                <a:solidFill>
                  <a:schemeClr val="accent5"/>
                </a:solidFill>
              </a:rPr>
              <a:t>*</a:t>
            </a:r>
            <a:r>
              <a:rPr lang="en-US" dirty="0" err="1">
                <a:solidFill>
                  <a:schemeClr val="accent5"/>
                </a:solidFill>
              </a:rPr>
              <a:t>i</a:t>
            </a:r>
            <a:r>
              <a:rPr lang="en-US" dirty="0">
                <a:solidFill>
                  <a:schemeClr val="accent5"/>
                </a:solidFill>
              </a:rPr>
              <a:t>}</a:t>
            </a:r>
          </a:p>
          <a:p>
            <a:r>
              <a:rPr lang="en-US" dirty="0">
                <a:solidFill>
                  <a:schemeClr val="accent5"/>
                </a:solidFill>
              </a:rPr>
              <a:t>=&gt; [0, 1, 4, 9, 16, 25]</a:t>
            </a:r>
          </a:p>
          <a:p>
            <a:r>
              <a:rPr lang="en-US" dirty="0" err="1">
                <a:solidFill>
                  <a:schemeClr val="accent5"/>
                </a:solidFill>
              </a:rPr>
              <a:t>irb</a:t>
            </a:r>
            <a:r>
              <a:rPr lang="en-US" dirty="0">
                <a:solidFill>
                  <a:schemeClr val="accent5"/>
                </a:solidFill>
              </a:rPr>
              <a:t>&gt; </a:t>
            </a:r>
            <a:r>
              <a:rPr lang="en-US" dirty="0" err="1">
                <a:solidFill>
                  <a:schemeClr val="accent5"/>
                </a:solidFill>
              </a:rPr>
              <a:t>b.filter</a:t>
            </a:r>
            <a:r>
              <a:rPr lang="en-US" dirty="0">
                <a:solidFill>
                  <a:schemeClr val="accent5"/>
                </a:solidFill>
              </a:rPr>
              <a:t>{|</a:t>
            </a:r>
            <a:r>
              <a:rPr lang="en-US" dirty="0" err="1">
                <a:solidFill>
                  <a:schemeClr val="accent5"/>
                </a:solidFill>
              </a:rPr>
              <a:t>i</a:t>
            </a:r>
            <a:r>
              <a:rPr lang="en-US" dirty="0">
                <a:solidFill>
                  <a:schemeClr val="accent5"/>
                </a:solidFill>
              </a:rPr>
              <a:t>| </a:t>
            </a:r>
            <a:r>
              <a:rPr lang="en-US" dirty="0" err="1">
                <a:solidFill>
                  <a:schemeClr val="accent5"/>
                </a:solidFill>
              </a:rPr>
              <a:t>i</a:t>
            </a:r>
            <a:r>
              <a:rPr lang="en-US" dirty="0">
                <a:solidFill>
                  <a:schemeClr val="accent5"/>
                </a:solidFill>
              </a:rPr>
              <a:t> &gt; 3}</a:t>
            </a:r>
          </a:p>
          <a:p>
            <a:r>
              <a:rPr lang="en-US" dirty="0">
                <a:solidFill>
                  <a:schemeClr val="accent5"/>
                </a:solidFill>
              </a:rPr>
              <a:t>=&gt; [4, 5]</a:t>
            </a:r>
          </a:p>
        </p:txBody>
      </p:sp>
    </p:spTree>
    <p:extLst>
      <p:ext uri="{BB962C8B-B14F-4D97-AF65-F5344CB8AC3E}">
        <p14:creationId xmlns:p14="http://schemas.microsoft.com/office/powerpoint/2010/main" val="17810480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8BFED-26D0-5A05-F922-E91B92308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4E0ADE-0A92-C4E0-8367-AC984C34FF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 err="1">
                <a:solidFill>
                  <a:schemeClr val="accent5"/>
                </a:solidFill>
              </a:rPr>
              <a:t>irb</a:t>
            </a:r>
            <a:r>
              <a:rPr lang="en-US" dirty="0">
                <a:solidFill>
                  <a:schemeClr val="accent5"/>
                </a:solidFill>
              </a:rPr>
              <a:t>&gt; c = (0..5).</a:t>
            </a:r>
            <a:r>
              <a:rPr lang="en-US" dirty="0" err="1">
                <a:solidFill>
                  <a:schemeClr val="accent5"/>
                </a:solidFill>
              </a:rPr>
              <a:t>to_a</a:t>
            </a:r>
            <a:endParaRPr lang="en-US" dirty="0">
              <a:solidFill>
                <a:schemeClr val="accent5"/>
              </a:solidFill>
            </a:endParaRPr>
          </a:p>
          <a:p>
            <a:r>
              <a:rPr lang="en-US" dirty="0">
                <a:solidFill>
                  <a:schemeClr val="accent5"/>
                </a:solidFill>
              </a:rPr>
              <a:t>=&gt; [0, 1, 2, 3, 4, 5]</a:t>
            </a:r>
          </a:p>
          <a:p>
            <a:r>
              <a:rPr lang="en-US" dirty="0" err="1">
                <a:solidFill>
                  <a:schemeClr val="accent5"/>
                </a:solidFill>
              </a:rPr>
              <a:t>irb</a:t>
            </a:r>
            <a:r>
              <a:rPr lang="en-US" dirty="0">
                <a:solidFill>
                  <a:schemeClr val="accent5"/>
                </a:solidFill>
              </a:rPr>
              <a:t>&gt; d = (4..10).</a:t>
            </a:r>
            <a:r>
              <a:rPr lang="en-US" dirty="0" err="1">
                <a:solidFill>
                  <a:schemeClr val="accent5"/>
                </a:solidFill>
              </a:rPr>
              <a:t>to_a</a:t>
            </a:r>
            <a:endParaRPr lang="en-US" dirty="0">
              <a:solidFill>
                <a:schemeClr val="accent5"/>
              </a:solidFill>
            </a:endParaRPr>
          </a:p>
          <a:p>
            <a:r>
              <a:rPr lang="en-US" dirty="0">
                <a:solidFill>
                  <a:schemeClr val="accent5"/>
                </a:solidFill>
              </a:rPr>
              <a:t>=&gt; [4, 5, 6, 7, 8, 9, 10]</a:t>
            </a:r>
          </a:p>
          <a:p>
            <a:br>
              <a:rPr lang="en-US" dirty="0">
                <a:solidFill>
                  <a:schemeClr val="accent5"/>
                </a:solidFill>
              </a:rPr>
            </a:br>
            <a:endParaRPr lang="en-US" dirty="0">
              <a:solidFill>
                <a:schemeClr val="accent5"/>
              </a:solidFill>
            </a:endParaRPr>
          </a:p>
          <a:p>
            <a:r>
              <a:rPr lang="en-US" dirty="0" err="1">
                <a:solidFill>
                  <a:schemeClr val="accent5"/>
                </a:solidFill>
              </a:rPr>
              <a:t>irb</a:t>
            </a:r>
            <a:r>
              <a:rPr lang="en-US" dirty="0">
                <a:solidFill>
                  <a:schemeClr val="accent5"/>
                </a:solidFill>
              </a:rPr>
              <a:t>&gt; </a:t>
            </a:r>
            <a:r>
              <a:rPr lang="en-US" dirty="0" err="1">
                <a:solidFill>
                  <a:schemeClr val="accent5"/>
                </a:solidFill>
              </a:rPr>
              <a:t>c.union</a:t>
            </a:r>
            <a:r>
              <a:rPr lang="en-US" dirty="0">
                <a:solidFill>
                  <a:schemeClr val="accent5"/>
                </a:solidFill>
              </a:rPr>
              <a:t>(d)</a:t>
            </a:r>
          </a:p>
          <a:p>
            <a:r>
              <a:rPr lang="en-US" dirty="0">
                <a:solidFill>
                  <a:schemeClr val="accent5"/>
                </a:solidFill>
              </a:rPr>
              <a:t>=&gt; [0, 1, 2, 3, 4, 5, 6, 7, 8, 9, 10]</a:t>
            </a:r>
          </a:p>
          <a:p>
            <a:r>
              <a:rPr lang="en-US" dirty="0" err="1">
                <a:solidFill>
                  <a:schemeClr val="accent5"/>
                </a:solidFill>
              </a:rPr>
              <a:t>irb</a:t>
            </a:r>
            <a:r>
              <a:rPr lang="en-US" dirty="0">
                <a:solidFill>
                  <a:schemeClr val="accent5"/>
                </a:solidFill>
              </a:rPr>
              <a:t>&gt; </a:t>
            </a:r>
            <a:r>
              <a:rPr lang="en-US" dirty="0" err="1">
                <a:solidFill>
                  <a:schemeClr val="accent5"/>
                </a:solidFill>
              </a:rPr>
              <a:t>c.intersection</a:t>
            </a:r>
            <a:r>
              <a:rPr lang="en-US" dirty="0">
                <a:solidFill>
                  <a:schemeClr val="accent5"/>
                </a:solidFill>
              </a:rPr>
              <a:t>(d)</a:t>
            </a:r>
          </a:p>
          <a:p>
            <a:r>
              <a:rPr lang="en-US" dirty="0">
                <a:solidFill>
                  <a:schemeClr val="accent5"/>
                </a:solidFill>
              </a:rPr>
              <a:t>=&gt; [4, 5]</a:t>
            </a:r>
          </a:p>
          <a:p>
            <a:r>
              <a:rPr lang="en-US" dirty="0" err="1">
                <a:solidFill>
                  <a:schemeClr val="accent5"/>
                </a:solidFill>
              </a:rPr>
              <a:t>irb</a:t>
            </a:r>
            <a:r>
              <a:rPr lang="en-US" dirty="0">
                <a:solidFill>
                  <a:schemeClr val="accent5"/>
                </a:solidFill>
              </a:rPr>
              <a:t>&gt; </a:t>
            </a:r>
            <a:r>
              <a:rPr lang="en-US" dirty="0" err="1">
                <a:solidFill>
                  <a:schemeClr val="accent5"/>
                </a:solidFill>
              </a:rPr>
              <a:t>c.difference</a:t>
            </a:r>
            <a:r>
              <a:rPr lang="en-US" dirty="0">
                <a:solidFill>
                  <a:schemeClr val="accent5"/>
                </a:solidFill>
              </a:rPr>
              <a:t>(d)</a:t>
            </a:r>
          </a:p>
          <a:p>
            <a:r>
              <a:rPr lang="en-US" dirty="0">
                <a:solidFill>
                  <a:schemeClr val="accent5"/>
                </a:solidFill>
              </a:rPr>
              <a:t>=&gt; [0, 1, 2, 3]</a:t>
            </a:r>
          </a:p>
          <a:p>
            <a:br>
              <a:rPr lang="en-US" dirty="0">
                <a:solidFill>
                  <a:schemeClr val="accent5"/>
                </a:solidFill>
              </a:rPr>
            </a:br>
            <a:endParaRPr lang="en-US" dirty="0">
              <a:solidFill>
                <a:schemeClr val="accent5"/>
              </a:solidFill>
            </a:endParaRPr>
          </a:p>
          <a:p>
            <a:r>
              <a:rPr lang="en-US" dirty="0" err="1">
                <a:solidFill>
                  <a:schemeClr val="accent5"/>
                </a:solidFill>
              </a:rPr>
              <a:t>irb</a:t>
            </a:r>
            <a:r>
              <a:rPr lang="en-US" dirty="0">
                <a:solidFill>
                  <a:schemeClr val="accent5"/>
                </a:solidFill>
              </a:rPr>
              <a:t>&gt; c[-1]</a:t>
            </a:r>
          </a:p>
          <a:p>
            <a:r>
              <a:rPr lang="en-US" dirty="0">
                <a:solidFill>
                  <a:schemeClr val="accent5"/>
                </a:solidFill>
              </a:rPr>
              <a:t>=&gt; 5</a:t>
            </a:r>
          </a:p>
          <a:p>
            <a:r>
              <a:rPr lang="en-US" dirty="0" err="1">
                <a:solidFill>
                  <a:schemeClr val="accent5"/>
                </a:solidFill>
              </a:rPr>
              <a:t>irb</a:t>
            </a:r>
            <a:r>
              <a:rPr lang="en-US" dirty="0">
                <a:solidFill>
                  <a:schemeClr val="accent5"/>
                </a:solidFill>
              </a:rPr>
              <a:t>&gt; c[3,2]</a:t>
            </a:r>
          </a:p>
          <a:p>
            <a:r>
              <a:rPr lang="en-US" dirty="0">
                <a:solidFill>
                  <a:schemeClr val="accent5"/>
                </a:solidFill>
              </a:rPr>
              <a:t>=&gt; [3, 4]</a:t>
            </a:r>
          </a:p>
        </p:txBody>
      </p:sp>
    </p:spTree>
    <p:extLst>
      <p:ext uri="{BB962C8B-B14F-4D97-AF65-F5344CB8AC3E}">
        <p14:creationId xmlns:p14="http://schemas.microsoft.com/office/powerpoint/2010/main" val="2157040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0696D-E29D-00D3-7719-AC46BEF080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Begin with : sigil</a:t>
            </a:r>
          </a:p>
          <a:p>
            <a:pPr>
              <a:buNone/>
            </a:pPr>
            <a:r>
              <a:rPr lang="en-US" dirty="0">
                <a:solidFill>
                  <a:srgbClr val="A0BA66"/>
                </a:solidFill>
                <a:latin typeface="Menlo" panose="020B0609030804020204" pitchFamily="49" charset="0"/>
              </a:rPr>
              <a:t>:</a:t>
            </a:r>
            <a:r>
              <a:rPr lang="en-US" dirty="0" err="1">
                <a:solidFill>
                  <a:srgbClr val="A0BA66"/>
                </a:solidFill>
                <a:latin typeface="Menlo" panose="020B0609030804020204" pitchFamily="49" charset="0"/>
              </a:rPr>
              <a:t>symbol_name</a:t>
            </a:r>
            <a:endParaRPr lang="en-US" dirty="0">
              <a:solidFill>
                <a:srgbClr val="A0BA66"/>
              </a:solidFill>
              <a:latin typeface="Menlo" panose="020B0609030804020204" pitchFamily="49" charset="0"/>
            </a:endParaRPr>
          </a:p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Creates global identifier (not a variable)</a:t>
            </a:r>
          </a:p>
          <a:p>
            <a:pPr lvl="1"/>
            <a:r>
              <a:rPr lang="en-US" dirty="0"/>
              <a:t>Is an object</a:t>
            </a:r>
          </a:p>
          <a:p>
            <a:pPr lvl="1"/>
            <a:r>
              <a:rPr lang="en-US" dirty="0"/>
              <a:t>Cannot assign to or change once created</a:t>
            </a:r>
          </a:p>
          <a:p>
            <a:pPr lvl="1"/>
            <a:r>
              <a:rPr lang="en-US" dirty="0"/>
              <a:t>Added to global set named Symbol</a:t>
            </a:r>
          </a:p>
          <a:p>
            <a:pPr lvl="1"/>
            <a:r>
              <a:rPr lang="en-US" dirty="0"/>
              <a:t>Similar to a dynamic global enumeration</a:t>
            </a:r>
          </a:p>
          <a:p>
            <a:r>
              <a:rPr lang="en-US" dirty="0"/>
              <a:t>Rails uses symbols extensively for parameters</a:t>
            </a:r>
          </a:p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F2F5EC-6741-5A7C-9524-45E0F4A09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Symbols</a:t>
            </a:r>
          </a:p>
        </p:txBody>
      </p:sp>
    </p:spTree>
    <p:extLst>
      <p:ext uri="{BB962C8B-B14F-4D97-AF65-F5344CB8AC3E}">
        <p14:creationId xmlns:p14="http://schemas.microsoft.com/office/powerpoint/2010/main" val="2089797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97EDC1F-7A01-5B6E-5261-CAC5077F1C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Key/value pairs, aka associative arrays, maps, hashes</a:t>
            </a:r>
          </a:p>
          <a:p>
            <a:r>
              <a:rPr lang="en-US" dirty="0"/>
              <a:t>Properties</a:t>
            </a:r>
          </a:p>
          <a:p>
            <a:pPr lvl="1"/>
            <a:r>
              <a:rPr lang="en-US" dirty="0"/>
              <a:t>Values accessed by key</a:t>
            </a:r>
          </a:p>
          <a:p>
            <a:pPr lvl="1"/>
            <a:r>
              <a:rPr lang="en-US" dirty="0"/>
              <a:t>Keys must be unique</a:t>
            </a:r>
          </a:p>
          <a:p>
            <a:pPr lvl="1"/>
            <a:r>
              <a:rPr lang="en-US" dirty="0"/>
              <a:t>Values can duplicate</a:t>
            </a:r>
          </a:p>
          <a:p>
            <a:pPr lvl="1"/>
            <a:r>
              <a:rPr lang="en-US" dirty="0"/>
              <a:t>Last assignment wins</a:t>
            </a:r>
          </a:p>
          <a:p>
            <a:pPr lvl="1"/>
            <a:r>
              <a:rPr lang="en-US" dirty="0"/>
              <a:t>Any object with hash method can be key (including nil, regex)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86F112-BE0C-D7F0-82F7-EB31F2483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Hashes</a:t>
            </a:r>
          </a:p>
        </p:txBody>
      </p:sp>
    </p:spTree>
    <p:extLst>
      <p:ext uri="{BB962C8B-B14F-4D97-AF65-F5344CB8AC3E}">
        <p14:creationId xmlns:p14="http://schemas.microsoft.com/office/powerpoint/2010/main" val="16915462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AAAB0E9-ADC6-D87C-53E9-C2AAB9490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Hash Examples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C1EA768-DBE6-04A2-97C8-B5FA70540B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 err="1">
                <a:solidFill>
                  <a:schemeClr val="accent3"/>
                </a:solidFill>
              </a:rPr>
              <a:t>irb</a:t>
            </a:r>
            <a:r>
              <a:rPr lang="en-US" dirty="0">
                <a:solidFill>
                  <a:schemeClr val="accent3"/>
                </a:solidFill>
              </a:rPr>
              <a:t>&gt; a = {"a" =&gt; "b"}</a:t>
            </a:r>
          </a:p>
          <a:p>
            <a:r>
              <a:rPr lang="en-US" dirty="0">
                <a:solidFill>
                  <a:schemeClr val="accent3"/>
                </a:solidFill>
              </a:rPr>
              <a:t>=&gt; {"a"=&gt;"b"}</a:t>
            </a:r>
          </a:p>
          <a:p>
            <a:r>
              <a:rPr lang="en-US" dirty="0" err="1">
                <a:solidFill>
                  <a:schemeClr val="accent3"/>
                </a:solidFill>
              </a:rPr>
              <a:t>irb</a:t>
            </a:r>
            <a:r>
              <a:rPr lang="en-US" dirty="0">
                <a:solidFill>
                  <a:schemeClr val="accent3"/>
                </a:solidFill>
              </a:rPr>
              <a:t>&gt; a = {:a =&gt; "b"}</a:t>
            </a:r>
          </a:p>
          <a:p>
            <a:r>
              <a:rPr lang="en-US" dirty="0">
                <a:solidFill>
                  <a:schemeClr val="accent3"/>
                </a:solidFill>
              </a:rPr>
              <a:t>=&gt; {:a=&gt;"b"}</a:t>
            </a:r>
          </a:p>
          <a:p>
            <a:r>
              <a:rPr lang="en-US" dirty="0" err="1">
                <a:solidFill>
                  <a:schemeClr val="accent3"/>
                </a:solidFill>
              </a:rPr>
              <a:t>irb</a:t>
            </a:r>
            <a:r>
              <a:rPr lang="en-US" dirty="0">
                <a:solidFill>
                  <a:schemeClr val="accent3"/>
                </a:solidFill>
              </a:rPr>
              <a:t>&gt; a = {a: "b"}    # Symbol shorthand</a:t>
            </a:r>
          </a:p>
          <a:p>
            <a:r>
              <a:rPr lang="en-US" dirty="0">
                <a:solidFill>
                  <a:schemeClr val="accent3"/>
                </a:solidFill>
              </a:rPr>
              <a:t>=&gt; {:a=&gt;"b"}</a:t>
            </a:r>
          </a:p>
          <a:p>
            <a:br>
              <a:rPr lang="en-US" dirty="0">
                <a:solidFill>
                  <a:schemeClr val="accent3"/>
                </a:solidFill>
              </a:rPr>
            </a:br>
            <a:endParaRPr lang="en-US" dirty="0">
              <a:solidFill>
                <a:schemeClr val="accent3"/>
              </a:solidFill>
            </a:endParaRPr>
          </a:p>
          <a:p>
            <a:r>
              <a:rPr lang="en-US" dirty="0" err="1">
                <a:solidFill>
                  <a:schemeClr val="accent3"/>
                </a:solidFill>
              </a:rPr>
              <a:t>irb</a:t>
            </a:r>
            <a:r>
              <a:rPr lang="en-US" dirty="0">
                <a:solidFill>
                  <a:schemeClr val="accent3"/>
                </a:solidFill>
              </a:rPr>
              <a:t>&gt; a = {1 =&gt; "one"}</a:t>
            </a:r>
          </a:p>
          <a:p>
            <a:r>
              <a:rPr lang="en-US" dirty="0">
                <a:solidFill>
                  <a:schemeClr val="accent3"/>
                </a:solidFill>
              </a:rPr>
              <a:t>=&gt; {1=&gt;"one"}</a:t>
            </a:r>
          </a:p>
          <a:p>
            <a:r>
              <a:rPr lang="en-US" dirty="0" err="1">
                <a:solidFill>
                  <a:schemeClr val="accent3"/>
                </a:solidFill>
              </a:rPr>
              <a:t>irb</a:t>
            </a:r>
            <a:r>
              <a:rPr lang="en-US" dirty="0">
                <a:solidFill>
                  <a:schemeClr val="accent3"/>
                </a:solidFill>
              </a:rPr>
              <a:t>&gt; a = {/regex/ =&gt; "regex"}</a:t>
            </a:r>
          </a:p>
          <a:p>
            <a:r>
              <a:rPr lang="en-US" dirty="0">
                <a:solidFill>
                  <a:schemeClr val="accent3"/>
                </a:solidFill>
              </a:rPr>
              <a:t>=&gt; {/regex/=&gt;"regex"}</a:t>
            </a:r>
          </a:p>
          <a:p>
            <a:r>
              <a:rPr lang="en-US" dirty="0" err="1">
                <a:solidFill>
                  <a:schemeClr val="accent3"/>
                </a:solidFill>
              </a:rPr>
              <a:t>irb</a:t>
            </a:r>
            <a:r>
              <a:rPr lang="en-US" dirty="0">
                <a:solidFill>
                  <a:schemeClr val="accent3"/>
                </a:solidFill>
              </a:rPr>
              <a:t>&gt; a = {nil =&gt; "nil"}</a:t>
            </a:r>
          </a:p>
          <a:p>
            <a:r>
              <a:rPr lang="en-US" dirty="0">
                <a:solidFill>
                  <a:schemeClr val="accent3"/>
                </a:solidFill>
              </a:rPr>
              <a:t>=&gt; {nil=&gt;"nil"}</a:t>
            </a:r>
          </a:p>
          <a:p>
            <a:br>
              <a:rPr lang="en-US" dirty="0">
                <a:solidFill>
                  <a:schemeClr val="accent3"/>
                </a:solidFill>
              </a:rPr>
            </a:b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07812-6942-8E08-3E16-BCA49297755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sz="1700" dirty="0" err="1">
                <a:solidFill>
                  <a:schemeClr val="accent3"/>
                </a:solidFill>
              </a:rPr>
              <a:t>irb</a:t>
            </a:r>
            <a:r>
              <a:rPr lang="en-US" sz="1700" dirty="0">
                <a:solidFill>
                  <a:schemeClr val="accent3"/>
                </a:solidFill>
              </a:rPr>
              <a:t>&gt; a = {a: "eh", b: "bee", c: "see"}</a:t>
            </a:r>
          </a:p>
          <a:p>
            <a:r>
              <a:rPr lang="en-US" sz="1700" dirty="0">
                <a:solidFill>
                  <a:schemeClr val="accent3"/>
                </a:solidFill>
              </a:rPr>
              <a:t>=&gt; {:a=&gt;"eh", :b=&gt;"bee", :c=&gt;"see"}</a:t>
            </a:r>
          </a:p>
          <a:p>
            <a:r>
              <a:rPr lang="en-US" sz="1700" dirty="0" err="1">
                <a:solidFill>
                  <a:schemeClr val="accent3"/>
                </a:solidFill>
              </a:rPr>
              <a:t>irb</a:t>
            </a:r>
            <a:r>
              <a:rPr lang="en-US" sz="1700" dirty="0">
                <a:solidFill>
                  <a:schemeClr val="accent3"/>
                </a:solidFill>
              </a:rPr>
              <a:t>&gt; a[:a]</a:t>
            </a:r>
          </a:p>
          <a:p>
            <a:r>
              <a:rPr lang="en-US" sz="1700" dirty="0">
                <a:solidFill>
                  <a:schemeClr val="accent3"/>
                </a:solidFill>
              </a:rPr>
              <a:t>=&gt; "eh"</a:t>
            </a:r>
          </a:p>
          <a:p>
            <a:endParaRPr lang="en-US" sz="17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05736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2217C8F-B7D4-77AB-6C33-6DD016C0D5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</p:spTree>
    <p:extLst>
      <p:ext uri="{BB962C8B-B14F-4D97-AF65-F5344CB8AC3E}">
        <p14:creationId xmlns:p14="http://schemas.microsoft.com/office/powerpoint/2010/main" val="1470375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B950FC-8A40-9F51-9F10-947D2D3EF1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Helps with abstraction and complexity.</a:t>
            </a:r>
          </a:p>
          <a:p>
            <a:r>
              <a:rPr lang="en-US" dirty="0"/>
              <a:t>Historical Context</a:t>
            </a:r>
          </a:p>
          <a:p>
            <a:pPr lvl="1"/>
            <a:r>
              <a:rPr lang="en-US" dirty="0"/>
              <a:t>Unstructured code → Dijkstra's "Go To Statement Considered Harmful" (1968)</a:t>
            </a:r>
          </a:p>
          <a:p>
            <a:pPr lvl="1"/>
            <a:r>
              <a:rPr lang="en-US" dirty="0"/>
              <a:t>Shared mutable data = "go-</a:t>
            </a:r>
            <a:r>
              <a:rPr lang="en-US" dirty="0" err="1"/>
              <a:t>tos</a:t>
            </a:r>
            <a:r>
              <a:rPr lang="en-US" dirty="0"/>
              <a:t>" of data world</a:t>
            </a:r>
          </a:p>
          <a:p>
            <a:pPr lvl="1"/>
            <a:r>
              <a:rPr lang="en-US" dirty="0"/>
              <a:t>Cannot count on values (may be changed by others)</a:t>
            </a:r>
          </a:p>
          <a:p>
            <a:pPr lvl="1"/>
            <a:r>
              <a:rPr lang="en-US" dirty="0"/>
              <a:t>Thread-safety issues</a:t>
            </a:r>
          </a:p>
          <a:p>
            <a:r>
              <a:rPr lang="en-US" dirty="0"/>
              <a:t>Solution: Hide implementation details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36A2935-2BFC-01AC-9746-9703492DF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E: Encapsulation</a:t>
            </a:r>
          </a:p>
        </p:txBody>
      </p:sp>
    </p:spTree>
    <p:extLst>
      <p:ext uri="{BB962C8B-B14F-4D97-AF65-F5344CB8AC3E}">
        <p14:creationId xmlns:p14="http://schemas.microsoft.com/office/powerpoint/2010/main" val="1472417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1F6C7A0-838C-9D77-BFA4-03395B12D8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Referential Transparency</a:t>
            </a:r>
          </a:p>
          <a:p>
            <a:pPr lvl="1"/>
            <a:r>
              <a:rPr lang="en-US" dirty="0"/>
              <a:t>Calculated value ↔ constant value (interchangeable)</a:t>
            </a:r>
          </a:p>
          <a:p>
            <a:pPr lvl="1"/>
            <a:r>
              <a:rPr lang="en-US" dirty="0"/>
              <a:t>Don't care how service is provided</a:t>
            </a:r>
          </a:p>
          <a:p>
            <a:pPr lvl="1"/>
            <a:r>
              <a:rPr lang="en-US" dirty="0"/>
              <a:t>Implementation can change</a:t>
            </a:r>
          </a:p>
          <a:p>
            <a:pPr lvl="1"/>
            <a:r>
              <a:rPr lang="en-US" dirty="0"/>
              <a:t>Interface stays the same</a:t>
            </a:r>
          </a:p>
          <a:p>
            <a:pPr lvl="1"/>
            <a:r>
              <a:rPr lang="en-US" dirty="0"/>
              <a:t>Clients don't notice difference</a:t>
            </a:r>
          </a:p>
          <a:p>
            <a:r>
              <a:rPr lang="en-US" dirty="0"/>
              <a:t>Object behavior shouldn't change during lifetime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20A875-E2C3-C0BF-30CF-619B2791A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Encapsulate?</a:t>
            </a:r>
          </a:p>
        </p:txBody>
      </p:sp>
    </p:spTree>
    <p:extLst>
      <p:ext uri="{BB962C8B-B14F-4D97-AF65-F5344CB8AC3E}">
        <p14:creationId xmlns:p14="http://schemas.microsoft.com/office/powerpoint/2010/main" val="3644594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1B4793-0A97-66D3-E8EF-4E4021BF8D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dirty="0"/>
              <a:t>All variables private/protected - no direct writing by other objects</a:t>
            </a:r>
          </a:p>
          <a:p>
            <a:pPr marL="742950" indent="-742950">
              <a:buFont typeface="+mj-lt"/>
              <a:buAutoNum type="arabicPeriod"/>
            </a:pPr>
            <a:r>
              <a:rPr lang="en-US" dirty="0"/>
              <a:t>All methods reference all variables giving high coherence</a:t>
            </a:r>
          </a:p>
          <a:p>
            <a:pPr marL="742950" indent="-742950">
              <a:buFont typeface="+mj-lt"/>
              <a:buAutoNum type="arabicPeriod"/>
            </a:pPr>
            <a:r>
              <a:rPr lang="en-US" dirty="0"/>
              <a:t>Loosely coupled classes not tightly tied to implementations</a:t>
            </a:r>
          </a:p>
          <a:p>
            <a:pPr marL="742950" indent="-742950">
              <a:buFont typeface="+mj-lt"/>
              <a:buAutoNum type="arabicPeriod"/>
            </a:pPr>
            <a:r>
              <a:rPr lang="en-US" dirty="0"/>
              <a:t>Read-only accessors - no mutators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71DA4D2-36AC-11FC-50A4-4B04DA234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Encapsulation Guidelines</a:t>
            </a:r>
          </a:p>
        </p:txBody>
      </p:sp>
    </p:spTree>
    <p:extLst>
      <p:ext uri="{BB962C8B-B14F-4D97-AF65-F5344CB8AC3E}">
        <p14:creationId xmlns:p14="http://schemas.microsoft.com/office/powerpoint/2010/main" val="1463109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D94F9E6-3A2B-0968-AD06-3B3A57DE62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Ruby uses sigils for scope</a:t>
            </a:r>
          </a:p>
          <a:p>
            <a:pPr lvl="1"/>
            <a:r>
              <a:rPr lang="en-US"/>
              <a:t>Unique </a:t>
            </a:r>
            <a:r>
              <a:rPr lang="en-US" dirty="0"/>
              <a:t>approach</a:t>
            </a:r>
          </a:p>
          <a:p>
            <a:r>
              <a:rPr lang="en-US" dirty="0"/>
              <a:t>A sigil is a type of symbol used in magic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D1DC102-C9AE-7465-6D73-9B223B651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Sigils</a:t>
            </a:r>
          </a:p>
        </p:txBody>
      </p:sp>
    </p:spTree>
    <p:extLst>
      <p:ext uri="{BB962C8B-B14F-4D97-AF65-F5344CB8AC3E}">
        <p14:creationId xmlns:p14="http://schemas.microsoft.com/office/powerpoint/2010/main" val="24415685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E708AA9-9716-6FEE-EC10-0E0AEBB04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Goetic seals from the </a:t>
            </a:r>
            <a:r>
              <a:rPr lang="en-US" sz="4400" i="1" dirty="0"/>
              <a:t>Lesser Key of Solomon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C658A38-F790-1B53-6A6F-B9D787B82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7057" y="1492377"/>
            <a:ext cx="4997885" cy="5090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55863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1031D7-7AC2-90F8-B3C7-E0CD68C0AF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$global - Global variables</a:t>
            </a:r>
          </a:p>
          <a:p>
            <a:r>
              <a:rPr lang="en-US" dirty="0"/>
              <a:t>@@class - Class variables</a:t>
            </a:r>
          </a:p>
          <a:p>
            <a:r>
              <a:rPr lang="en-US" dirty="0"/>
              <a:t>@instance - Instance variables</a:t>
            </a:r>
          </a:p>
          <a:p>
            <a:r>
              <a:rPr lang="en-US" dirty="0"/>
              <a:t>:symbol - Symbols</a:t>
            </a:r>
          </a:p>
          <a:p>
            <a:r>
              <a:rPr lang="en-US" dirty="0"/>
              <a:t>local - Local variables (block scope)</a:t>
            </a:r>
          </a:p>
          <a:p>
            <a:r>
              <a:rPr lang="en-US" dirty="0"/>
              <a:t>Defaults</a:t>
            </a:r>
          </a:p>
          <a:p>
            <a:pPr lvl="1"/>
            <a:r>
              <a:rPr lang="en-US" dirty="0"/>
              <a:t>Class/instance variables: private</a:t>
            </a:r>
          </a:p>
          <a:p>
            <a:pPr lvl="1"/>
            <a:r>
              <a:rPr lang="en-US" dirty="0"/>
              <a:t>Methods: public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3EF9137-BE2F-963C-81D6-4C5F1B110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Scopes and Sigils</a:t>
            </a:r>
          </a:p>
        </p:txBody>
      </p:sp>
    </p:spTree>
    <p:extLst>
      <p:ext uri="{BB962C8B-B14F-4D97-AF65-F5344CB8AC3E}">
        <p14:creationId xmlns:p14="http://schemas.microsoft.com/office/powerpoint/2010/main" val="16130064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2D7F9E0-2284-77E0-0651-2EEAA743B5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Methods</a:t>
            </a:r>
          </a:p>
          <a:p>
            <a:pPr lvl="1"/>
            <a:r>
              <a:rPr lang="en-US" dirty="0"/>
              <a:t>public</a:t>
            </a:r>
          </a:p>
          <a:p>
            <a:pPr lvl="1"/>
            <a:r>
              <a:rPr lang="en-US" dirty="0"/>
              <a:t>private</a:t>
            </a:r>
          </a:p>
          <a:p>
            <a:pPr lvl="1"/>
            <a:r>
              <a:rPr lang="en-US" dirty="0"/>
              <a:t>protected</a:t>
            </a:r>
          </a:p>
          <a:p>
            <a:r>
              <a:rPr lang="en-US" dirty="0"/>
              <a:t>For instance variables</a:t>
            </a:r>
          </a:p>
          <a:p>
            <a:pPr lvl="1"/>
            <a:r>
              <a:rPr lang="en-US" dirty="0" err="1"/>
              <a:t>attr_reader</a:t>
            </a:r>
            <a:r>
              <a:rPr lang="en-US" dirty="0"/>
              <a:t> - read-only</a:t>
            </a:r>
          </a:p>
          <a:p>
            <a:pPr lvl="1"/>
            <a:r>
              <a:rPr lang="en-US" dirty="0" err="1"/>
              <a:t>attr_writer</a:t>
            </a:r>
            <a:r>
              <a:rPr lang="en-US" dirty="0"/>
              <a:t> - write-only</a:t>
            </a:r>
          </a:p>
          <a:p>
            <a:pPr lvl="1"/>
            <a:r>
              <a:rPr lang="en-US" dirty="0" err="1"/>
              <a:t>attr_accessor</a:t>
            </a:r>
            <a:r>
              <a:rPr lang="en-US" dirty="0"/>
              <a:t> - read and write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D61B309-CB42-17E8-131C-86D2D5DF1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Visibility Modifiers</a:t>
            </a:r>
          </a:p>
        </p:txBody>
      </p:sp>
    </p:spTree>
    <p:extLst>
      <p:ext uri="{BB962C8B-B14F-4D97-AF65-F5344CB8AC3E}">
        <p14:creationId xmlns:p14="http://schemas.microsoft.com/office/powerpoint/2010/main" val="312495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203D2D-AEBB-6D5A-CC65-386341F5A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Scope Example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9276A3-6327-A6D0-DA04-9BDE35875B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chemeClr val="accent3"/>
                </a:solidFill>
              </a:rPr>
              <a:t>$global = "global"</a:t>
            </a:r>
          </a:p>
          <a:p>
            <a:r>
              <a:rPr lang="en-US" dirty="0">
                <a:solidFill>
                  <a:schemeClr val="accent3"/>
                </a:solidFill>
              </a:rPr>
              <a:t>local = "local"</a:t>
            </a:r>
          </a:p>
          <a:p>
            <a:br>
              <a:rPr lang="en-US" dirty="0">
                <a:solidFill>
                  <a:schemeClr val="accent3"/>
                </a:solidFill>
              </a:rPr>
            </a:br>
            <a:r>
              <a:rPr lang="en-US" dirty="0">
                <a:solidFill>
                  <a:schemeClr val="accent3"/>
                </a:solidFill>
              </a:rPr>
              <a:t>class Demo</a:t>
            </a:r>
          </a:p>
          <a:p>
            <a:r>
              <a:rPr lang="en-US" dirty="0">
                <a:solidFill>
                  <a:schemeClr val="accent3"/>
                </a:solidFill>
              </a:rPr>
              <a:t>  @@class = "class"</a:t>
            </a:r>
          </a:p>
          <a:p>
            <a:br>
              <a:rPr lang="en-US" dirty="0">
                <a:solidFill>
                  <a:schemeClr val="accent3"/>
                </a:solidFill>
              </a:rPr>
            </a:br>
            <a:r>
              <a:rPr lang="en-US" dirty="0">
                <a:solidFill>
                  <a:schemeClr val="accent3"/>
                </a:solidFill>
              </a:rPr>
              <a:t>  def initialize</a:t>
            </a:r>
          </a:p>
          <a:p>
            <a:r>
              <a:rPr lang="en-US" dirty="0">
                <a:solidFill>
                  <a:schemeClr val="accent3"/>
                </a:solidFill>
              </a:rPr>
              <a:t>    @instance = "instance"</a:t>
            </a:r>
          </a:p>
          <a:p>
            <a:r>
              <a:rPr lang="en-US" dirty="0">
                <a:solidFill>
                  <a:schemeClr val="accent3"/>
                </a:solidFill>
              </a:rPr>
              <a:t>  end</a:t>
            </a:r>
          </a:p>
          <a:p>
            <a:br>
              <a:rPr lang="en-US" dirty="0">
                <a:solidFill>
                  <a:schemeClr val="accent3"/>
                </a:solidFill>
              </a:rPr>
            </a:br>
            <a:endParaRPr lang="en-US" dirty="0">
              <a:solidFill>
                <a:schemeClr val="accent3"/>
              </a:solidFill>
            </a:endParaRPr>
          </a:p>
          <a:p>
            <a:r>
              <a:rPr lang="en-US" dirty="0">
                <a:solidFill>
                  <a:schemeClr val="accent3"/>
                </a:solidFill>
              </a:rPr>
              <a:t> 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8B6374-84E3-4DEB-8F93-7E65A6607AF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sz="2100" dirty="0">
                <a:solidFill>
                  <a:schemeClr val="accent3"/>
                </a:solidFill>
              </a:rPr>
              <a:t>  def scope</a:t>
            </a:r>
          </a:p>
          <a:p>
            <a:r>
              <a:rPr lang="en-US" sz="2100" dirty="0">
                <a:solidFill>
                  <a:schemeClr val="accent3"/>
                </a:solidFill>
              </a:rPr>
              <a:t>    </a:t>
            </a:r>
            <a:r>
              <a:rPr lang="en-US" sz="2100" dirty="0" err="1">
                <a:solidFill>
                  <a:schemeClr val="accent3"/>
                </a:solidFill>
              </a:rPr>
              <a:t>method_local</a:t>
            </a:r>
            <a:r>
              <a:rPr lang="en-US" sz="2100" dirty="0">
                <a:solidFill>
                  <a:schemeClr val="accent3"/>
                </a:solidFill>
              </a:rPr>
              <a:t> = ”local"</a:t>
            </a:r>
          </a:p>
          <a:p>
            <a:r>
              <a:rPr lang="en-US" sz="2100" dirty="0">
                <a:solidFill>
                  <a:schemeClr val="accent3"/>
                </a:solidFill>
              </a:rPr>
              <a:t>    # Access all scopes here</a:t>
            </a:r>
          </a:p>
          <a:p>
            <a:r>
              <a:rPr lang="en-US" sz="2100" dirty="0">
                <a:solidFill>
                  <a:schemeClr val="accent3"/>
                </a:solidFill>
              </a:rPr>
              <a:t>  end</a:t>
            </a:r>
          </a:p>
          <a:p>
            <a:r>
              <a:rPr lang="en-US" sz="2100" dirty="0">
                <a:solidFill>
                  <a:schemeClr val="accent3"/>
                </a:solidFill>
              </a:rPr>
              <a:t>end</a:t>
            </a:r>
          </a:p>
          <a:p>
            <a:endParaRPr lang="en-US" sz="2100" dirty="0">
              <a:solidFill>
                <a:schemeClr val="accent3"/>
              </a:solidFill>
            </a:endParaRPr>
          </a:p>
          <a:p>
            <a:r>
              <a:rPr lang="en-US" sz="2100" dirty="0">
                <a:solidFill>
                  <a:schemeClr val="accent3"/>
                </a:solidFill>
              </a:rPr>
              <a:t>demo = </a:t>
            </a:r>
            <a:r>
              <a:rPr lang="en-US" sz="2100" dirty="0" err="1">
                <a:solidFill>
                  <a:schemeClr val="accent3"/>
                </a:solidFill>
              </a:rPr>
              <a:t>Demo.new</a:t>
            </a:r>
            <a:endParaRPr lang="en-US" sz="2100" dirty="0">
              <a:solidFill>
                <a:schemeClr val="accent3"/>
              </a:solidFill>
            </a:endParaRPr>
          </a:p>
          <a:p>
            <a:r>
              <a:rPr lang="en-US" sz="2100" dirty="0" err="1">
                <a:solidFill>
                  <a:schemeClr val="accent3"/>
                </a:solidFill>
              </a:rPr>
              <a:t>demo.scope</a:t>
            </a:r>
            <a:endParaRPr lang="en-US" sz="2100" dirty="0">
              <a:solidFill>
                <a:schemeClr val="accent3"/>
              </a:solidFill>
            </a:endParaRPr>
          </a:p>
          <a:p>
            <a:endParaRPr lang="en-US" sz="21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3548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D7CB5A2-E42B-3331-ED64-FEE3B95EF98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Inheritance</a:t>
            </a:r>
          </a:p>
        </p:txBody>
      </p:sp>
    </p:spTree>
    <p:extLst>
      <p:ext uri="{BB962C8B-B14F-4D97-AF65-F5344CB8AC3E}">
        <p14:creationId xmlns:p14="http://schemas.microsoft.com/office/powerpoint/2010/main" val="38997970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AFDAFE-3AA8-5245-F163-943A8856C2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Classes gain functionality from parent (super) classes.</a:t>
            </a:r>
          </a:p>
          <a:p>
            <a:r>
              <a:rPr lang="en-US" dirty="0"/>
              <a:t>Key Concepts</a:t>
            </a:r>
          </a:p>
          <a:p>
            <a:pPr lvl="1"/>
            <a:r>
              <a:rPr lang="en-US" dirty="0"/>
              <a:t>Child/derived class extends base/parent class</a:t>
            </a:r>
          </a:p>
          <a:p>
            <a:pPr lvl="1"/>
            <a:r>
              <a:rPr lang="en-US" dirty="0"/>
              <a:t>Access to public and protected members</a:t>
            </a:r>
          </a:p>
          <a:p>
            <a:pPr lvl="1"/>
            <a:r>
              <a:rPr lang="en-US" dirty="0"/>
              <a:t>Use with caution (less flexible than composition)</a:t>
            </a:r>
          </a:p>
          <a:p>
            <a:r>
              <a:rPr lang="en-US" dirty="0"/>
              <a:t>Is-a vs Has-a</a:t>
            </a:r>
          </a:p>
          <a:p>
            <a:pPr lvl="1"/>
            <a:r>
              <a:rPr lang="en-US" dirty="0"/>
              <a:t>Cat is-a mammal is-an animal</a:t>
            </a:r>
          </a:p>
          <a:p>
            <a:pPr lvl="1"/>
            <a:r>
              <a:rPr lang="en-US" dirty="0" err="1"/>
              <a:t>SortedList</a:t>
            </a:r>
            <a:r>
              <a:rPr lang="en-US" dirty="0"/>
              <a:t> has-a List (not is-a)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CF6568-7B8A-3D0E-2979-73E50AAC0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I: Inheritance</a:t>
            </a:r>
          </a:p>
        </p:txBody>
      </p:sp>
    </p:spTree>
    <p:extLst>
      <p:ext uri="{BB962C8B-B14F-4D97-AF65-F5344CB8AC3E}">
        <p14:creationId xmlns:p14="http://schemas.microsoft.com/office/powerpoint/2010/main" val="1988321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EA2BD8-138D-BE7D-C2F2-B898052A7A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Single Inheritance</a:t>
            </a:r>
          </a:p>
          <a:p>
            <a:pPr lvl="1"/>
            <a:r>
              <a:rPr lang="en-US" dirty="0"/>
              <a:t>Inherit from one class only</a:t>
            </a:r>
          </a:p>
          <a:p>
            <a:pPr lvl="1"/>
            <a:r>
              <a:rPr lang="en-US" dirty="0"/>
              <a:t>Easier to understand than multiple inheritance</a:t>
            </a:r>
          </a:p>
          <a:p>
            <a:pPr lvl="1"/>
            <a:r>
              <a:rPr lang="en-US" dirty="0"/>
              <a:t>Limits flexibility</a:t>
            </a:r>
          </a:p>
          <a:p>
            <a:r>
              <a:rPr lang="en-US" dirty="0" err="1"/>
              <a:t>Mixins</a:t>
            </a:r>
            <a:endParaRPr lang="en-US" dirty="0"/>
          </a:p>
          <a:p>
            <a:pPr lvl="1"/>
            <a:r>
              <a:rPr lang="en-US" dirty="0"/>
              <a:t>Alternative way to gain functionality</a:t>
            </a:r>
          </a:p>
          <a:p>
            <a:pPr lvl="1"/>
            <a:r>
              <a:rPr lang="en-US" dirty="0"/>
              <a:t>Uses modules</a:t>
            </a:r>
          </a:p>
          <a:p>
            <a:pPr lvl="1"/>
            <a:r>
              <a:rPr lang="en-US" dirty="0" err="1"/>
              <a:t>Mixins</a:t>
            </a:r>
            <a:r>
              <a:rPr lang="en-US" dirty="0"/>
              <a:t> are more flexible than multiple inheritance</a:t>
            </a:r>
          </a:p>
          <a:p>
            <a:r>
              <a:rPr lang="en-US" dirty="0"/>
              <a:t>Syntax</a:t>
            </a:r>
          </a:p>
          <a:p>
            <a:pPr>
              <a:buNone/>
            </a:pPr>
            <a:r>
              <a:rPr lang="en-US" dirty="0">
                <a:solidFill>
                  <a:srgbClr val="A0BA66"/>
                </a:solidFill>
                <a:latin typeface="Menlo" panose="020B0609030804020204" pitchFamily="49" charset="0"/>
              </a:rPr>
              <a:t>class Child &lt; Parent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6A27FB-241B-DF55-F2B7-E72C5F960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Ruby's Approach</a:t>
            </a:r>
          </a:p>
        </p:txBody>
      </p:sp>
    </p:spTree>
    <p:extLst>
      <p:ext uri="{BB962C8B-B14F-4D97-AF65-F5344CB8AC3E}">
        <p14:creationId xmlns:p14="http://schemas.microsoft.com/office/powerpoint/2010/main" val="3219533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3DB28E-1E84-AD0C-7484-ADF3B336C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0BDA18C-786C-CE5B-8BA1-BDD08E2646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500" dirty="0">
                <a:solidFill>
                  <a:schemeClr val="accent3"/>
                </a:solidFill>
              </a:rPr>
              <a:t>class Animal</a:t>
            </a:r>
          </a:p>
          <a:p>
            <a:r>
              <a:rPr lang="en-US" sz="2500" dirty="0">
                <a:solidFill>
                  <a:schemeClr val="accent3"/>
                </a:solidFill>
              </a:rPr>
              <a:t>  TRAITS = ["eat", "breathe", "move", "reproduce"]</a:t>
            </a:r>
          </a:p>
          <a:p>
            <a:endParaRPr lang="en-US" sz="2500" dirty="0">
              <a:solidFill>
                <a:schemeClr val="accent3"/>
              </a:solidFill>
            </a:endParaRPr>
          </a:p>
          <a:p>
            <a:r>
              <a:rPr lang="en-US" sz="2500" dirty="0">
                <a:solidFill>
                  <a:schemeClr val="accent3"/>
                </a:solidFill>
              </a:rPr>
              <a:t>  def </a:t>
            </a:r>
            <a:r>
              <a:rPr lang="en-US" sz="2500" dirty="0" err="1">
                <a:solidFill>
                  <a:schemeClr val="accent3"/>
                </a:solidFill>
              </a:rPr>
              <a:t>method_missing</a:t>
            </a:r>
            <a:r>
              <a:rPr lang="en-US" sz="2500" dirty="0">
                <a:solidFill>
                  <a:schemeClr val="accent3"/>
                </a:solidFill>
              </a:rPr>
              <a:t>(m, *</a:t>
            </a:r>
            <a:r>
              <a:rPr lang="en-US" sz="2500" dirty="0" err="1">
                <a:solidFill>
                  <a:schemeClr val="accent3"/>
                </a:solidFill>
              </a:rPr>
              <a:t>args</a:t>
            </a:r>
            <a:r>
              <a:rPr lang="en-US" sz="2500" dirty="0">
                <a:solidFill>
                  <a:schemeClr val="accent3"/>
                </a:solidFill>
              </a:rPr>
              <a:t>, &amp;block)</a:t>
            </a:r>
          </a:p>
          <a:p>
            <a:r>
              <a:rPr lang="en-US" sz="2500" dirty="0">
                <a:solidFill>
                  <a:schemeClr val="accent3"/>
                </a:solidFill>
              </a:rPr>
              <a:t>    </a:t>
            </a:r>
            <a:r>
              <a:rPr lang="en-US" sz="2500" dirty="0" err="1">
                <a:solidFill>
                  <a:schemeClr val="accent3"/>
                </a:solidFill>
              </a:rPr>
              <a:t>TRAITS.include</a:t>
            </a:r>
            <a:r>
              <a:rPr lang="en-US" sz="2500" dirty="0">
                <a:solidFill>
                  <a:schemeClr val="accent3"/>
                </a:solidFill>
              </a:rPr>
              <a:t>?("#{m}".sub(/\?/, ""))</a:t>
            </a:r>
          </a:p>
          <a:p>
            <a:r>
              <a:rPr lang="en-US" sz="2500" dirty="0">
                <a:solidFill>
                  <a:schemeClr val="accent3"/>
                </a:solidFill>
              </a:rPr>
              <a:t>  end</a:t>
            </a:r>
          </a:p>
          <a:p>
            <a:r>
              <a:rPr lang="en-US" sz="2500" dirty="0">
                <a:solidFill>
                  <a:schemeClr val="accent3"/>
                </a:solidFill>
              </a:rPr>
              <a:t>end</a:t>
            </a:r>
          </a:p>
          <a:p>
            <a:endParaRPr lang="en-US" sz="2500" dirty="0">
              <a:solidFill>
                <a:schemeClr val="accent3"/>
              </a:solidFill>
            </a:endParaRPr>
          </a:p>
          <a:p>
            <a:endParaRPr lang="en-US" sz="25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8345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A13F1C-477E-2E66-B03A-CF2D79F16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37009-6EBB-ADBD-11FD-1A61E2AAD2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class Mammal &lt; Animal</a:t>
            </a:r>
          </a:p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  TRAITS = ["fur", "hair", "lactate"]</a:t>
            </a:r>
          </a:p>
          <a:p>
            <a:endParaRPr lang="en-US" dirty="0">
              <a:solidFill>
                <a:schemeClr val="accent3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  def 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</a:rPr>
              <a:t>method_missing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(m, *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</a:rPr>
              <a:t>args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, &amp;block)</a:t>
            </a:r>
          </a:p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    if 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</a:rPr>
              <a:t>TRAITS.include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?("#{m}".sub(/\?/, ""))</a:t>
            </a:r>
          </a:p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      true</a:t>
            </a:r>
          </a:p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    else</a:t>
            </a:r>
          </a:p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      super(m, *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</a:rPr>
              <a:t>args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, &amp;block)</a:t>
            </a:r>
          </a:p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    end</a:t>
            </a:r>
          </a:p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  end</a:t>
            </a:r>
          </a:p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end</a:t>
            </a:r>
          </a:p>
          <a:p>
            <a:endParaRPr lang="en-US" dirty="0">
              <a:solidFill>
                <a:schemeClr val="accent3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543969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FF73E-C79B-8D46-F6BE-D2726C4C3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D23D11-7ABB-ABCB-E2C7-780AE2CD5B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solidFill>
                  <a:schemeClr val="accent3"/>
                </a:solidFill>
              </a:rPr>
              <a:t>class Cat &lt; Mammal</a:t>
            </a:r>
          </a:p>
          <a:p>
            <a:r>
              <a:rPr lang="en-US" dirty="0">
                <a:solidFill>
                  <a:schemeClr val="accent3"/>
                </a:solidFill>
              </a:rPr>
              <a:t>  TRAITS = ["claws", "</a:t>
            </a:r>
            <a:r>
              <a:rPr lang="en-US" dirty="0" err="1">
                <a:solidFill>
                  <a:schemeClr val="accent3"/>
                </a:solidFill>
              </a:rPr>
              <a:t>sharp_teeth</a:t>
            </a:r>
            <a:r>
              <a:rPr lang="en-US" dirty="0">
                <a:solidFill>
                  <a:schemeClr val="accent3"/>
                </a:solidFill>
              </a:rPr>
              <a:t>"]</a:t>
            </a:r>
          </a:p>
          <a:p>
            <a:br>
              <a:rPr lang="en-US" dirty="0">
                <a:solidFill>
                  <a:schemeClr val="accent3"/>
                </a:solidFill>
              </a:rPr>
            </a:br>
            <a:r>
              <a:rPr lang="en-US" dirty="0">
                <a:solidFill>
                  <a:schemeClr val="accent3"/>
                </a:solidFill>
              </a:rPr>
              <a:t>  def </a:t>
            </a:r>
            <a:r>
              <a:rPr lang="en-US" dirty="0" err="1">
                <a:solidFill>
                  <a:schemeClr val="accent3"/>
                </a:solidFill>
              </a:rPr>
              <a:t>method_missing</a:t>
            </a:r>
            <a:r>
              <a:rPr lang="en-US" dirty="0">
                <a:solidFill>
                  <a:schemeClr val="accent3"/>
                </a:solidFill>
              </a:rPr>
              <a:t>(m, *</a:t>
            </a:r>
            <a:r>
              <a:rPr lang="en-US" dirty="0" err="1">
                <a:solidFill>
                  <a:schemeClr val="accent3"/>
                </a:solidFill>
              </a:rPr>
              <a:t>args</a:t>
            </a:r>
            <a:r>
              <a:rPr lang="en-US" dirty="0">
                <a:solidFill>
                  <a:schemeClr val="accent3"/>
                </a:solidFill>
              </a:rPr>
              <a:t>, &amp;block)</a:t>
            </a:r>
          </a:p>
          <a:p>
            <a:r>
              <a:rPr lang="en-US" dirty="0">
                <a:solidFill>
                  <a:schemeClr val="accent3"/>
                </a:solidFill>
              </a:rPr>
              <a:t>    if </a:t>
            </a:r>
            <a:r>
              <a:rPr lang="en-US" dirty="0" err="1">
                <a:solidFill>
                  <a:schemeClr val="accent3"/>
                </a:solidFill>
              </a:rPr>
              <a:t>TRAITS.include</a:t>
            </a:r>
            <a:r>
              <a:rPr lang="en-US" dirty="0">
                <a:solidFill>
                  <a:schemeClr val="accent3"/>
                </a:solidFill>
              </a:rPr>
              <a:t>?("#{m}".sub(/\?/, ""))</a:t>
            </a:r>
          </a:p>
          <a:p>
            <a:r>
              <a:rPr lang="en-US" dirty="0">
                <a:solidFill>
                  <a:schemeClr val="accent3"/>
                </a:solidFill>
              </a:rPr>
              <a:t>      true</a:t>
            </a:r>
          </a:p>
          <a:p>
            <a:r>
              <a:rPr lang="en-US" dirty="0">
                <a:solidFill>
                  <a:schemeClr val="accent3"/>
                </a:solidFill>
              </a:rPr>
              <a:t>    else</a:t>
            </a:r>
          </a:p>
          <a:p>
            <a:r>
              <a:rPr lang="en-US" dirty="0">
                <a:solidFill>
                  <a:schemeClr val="accent3"/>
                </a:solidFill>
              </a:rPr>
              <a:t>      super(m, *</a:t>
            </a:r>
            <a:r>
              <a:rPr lang="en-US" dirty="0" err="1">
                <a:solidFill>
                  <a:schemeClr val="accent3"/>
                </a:solidFill>
              </a:rPr>
              <a:t>args</a:t>
            </a:r>
            <a:r>
              <a:rPr lang="en-US" dirty="0">
                <a:solidFill>
                  <a:schemeClr val="accent3"/>
                </a:solidFill>
              </a:rPr>
              <a:t>, &amp;block)</a:t>
            </a:r>
          </a:p>
          <a:p>
            <a:r>
              <a:rPr lang="en-US" dirty="0">
                <a:solidFill>
                  <a:schemeClr val="accent3"/>
                </a:solidFill>
              </a:rPr>
              <a:t>    end</a:t>
            </a:r>
          </a:p>
          <a:p>
            <a:r>
              <a:rPr lang="en-US" dirty="0">
                <a:solidFill>
                  <a:schemeClr val="accent3"/>
                </a:solidFill>
              </a:rPr>
              <a:t>  end</a:t>
            </a:r>
          </a:p>
          <a:p>
            <a:r>
              <a:rPr lang="en-US" dirty="0">
                <a:solidFill>
                  <a:schemeClr val="accent3"/>
                </a:solidFill>
              </a:rPr>
              <a:t>end</a:t>
            </a:r>
          </a:p>
          <a:p>
            <a:endParaRPr lang="en-US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47843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6ECB0FE-6E98-D17D-1ED5-ECC109A09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 (</a:t>
            </a:r>
            <a:r>
              <a:rPr lang="en-US" dirty="0" err="1"/>
              <a:t>Mixins</a:t>
            </a:r>
            <a:r>
              <a:rPr lang="en-US" dirty="0"/>
              <a:t>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7B2B781-4CA3-D31A-FCD5-BE87C5EEA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module Conversions</a:t>
            </a:r>
          </a:p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  @@F2C = 5/9.0</a:t>
            </a:r>
          </a:p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  @@C2F = 9/5.0</a:t>
            </a:r>
          </a:p>
          <a:p>
            <a:endParaRPr lang="en-US" dirty="0">
              <a:solidFill>
                <a:schemeClr val="accent3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  def c2f(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</a:rPr>
              <a:t>celsius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)</a:t>
            </a:r>
          </a:p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    (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</a:rPr>
              <a:t>celsius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 * @@C2F) + 32</a:t>
            </a:r>
          </a:p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  end</a:t>
            </a:r>
          </a:p>
          <a:p>
            <a:endParaRPr lang="en-US" dirty="0">
              <a:solidFill>
                <a:schemeClr val="accent3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  def f2c(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</a:rPr>
              <a:t>fahrenheit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)</a:t>
            </a:r>
          </a:p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    (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</a:rPr>
              <a:t>fahrenheit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 - 32) * @@F2C</a:t>
            </a:r>
          </a:p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  end</a:t>
            </a:r>
          </a:p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end</a:t>
            </a:r>
          </a:p>
          <a:p>
            <a:endParaRPr lang="en-US" dirty="0">
              <a:solidFill>
                <a:schemeClr val="accent3">
                  <a:lumMod val="75000"/>
                </a:schemeClr>
              </a:solidFill>
            </a:endParaRPr>
          </a:p>
          <a:p>
            <a:endParaRPr lang="en-US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57A7A7-1260-B81B-4409-4F1F75B7BFB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include Conversions</a:t>
            </a:r>
          </a:p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p f2c(212)  # =&gt; 100.0</a:t>
            </a:r>
          </a:p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p c2f(100)  # =&gt; 212.0</a:t>
            </a:r>
          </a:p>
        </p:txBody>
      </p:sp>
    </p:spTree>
    <p:extLst>
      <p:ext uri="{BB962C8B-B14F-4D97-AF65-F5344CB8AC3E}">
        <p14:creationId xmlns:p14="http://schemas.microsoft.com/office/powerpoint/2010/main" val="1227812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6255A62-300D-C36D-BD97-8090E256CAB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Polymorphism</a:t>
            </a:r>
          </a:p>
        </p:txBody>
      </p:sp>
    </p:spTree>
    <p:extLst>
      <p:ext uri="{BB962C8B-B14F-4D97-AF65-F5344CB8AC3E}">
        <p14:creationId xmlns:p14="http://schemas.microsoft.com/office/powerpoint/2010/main" val="5886611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EB05CF-C71E-FE60-1992-9A8806193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Greek "many shapes"</a:t>
            </a:r>
          </a:p>
          <a:p>
            <a:r>
              <a:rPr lang="en-US" dirty="0"/>
              <a:t>Methods take different types and perform same operations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4C42922-4EEB-DE81-F4DF-C6D397A53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O+1 (P): Polymorphism</a:t>
            </a:r>
          </a:p>
        </p:txBody>
      </p:sp>
    </p:spTree>
    <p:extLst>
      <p:ext uri="{BB962C8B-B14F-4D97-AF65-F5344CB8AC3E}">
        <p14:creationId xmlns:p14="http://schemas.microsoft.com/office/powerpoint/2010/main" val="29703604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5C03724-7F78-83A0-3B6D-8D80EB042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Sort Polymorphism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7B17F73-440B-3AB5-5FA1-FB9611062B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irb</a:t>
            </a:r>
            <a:r>
              <a:rPr lang="en-US" dirty="0"/>
              <a:t>&gt; ["5", "2", "1"].sort</a:t>
            </a:r>
          </a:p>
          <a:p>
            <a:r>
              <a:rPr lang="en-US" dirty="0"/>
              <a:t>=&gt; ["1", "2", "5"]</a:t>
            </a:r>
          </a:p>
          <a:p>
            <a:br>
              <a:rPr lang="en-US" dirty="0"/>
            </a:br>
            <a:r>
              <a:rPr lang="en-US" dirty="0" err="1"/>
              <a:t>irb</a:t>
            </a:r>
            <a:r>
              <a:rPr lang="en-US" dirty="0"/>
              <a:t>&gt; [5, 2, 1].sort</a:t>
            </a:r>
          </a:p>
          <a:p>
            <a:r>
              <a:rPr lang="en-US" dirty="0"/>
              <a:t>=&gt; [1, 2, 5]</a:t>
            </a:r>
          </a:p>
          <a:p>
            <a:endParaRPr lang="en-US" dirty="0"/>
          </a:p>
          <a:p>
            <a:r>
              <a:rPr lang="en-US" dirty="0" err="1"/>
              <a:t>irb</a:t>
            </a:r>
            <a:r>
              <a:rPr lang="en-US" dirty="0"/>
              <a:t>&gt; </a:t>
            </a:r>
            <a:r>
              <a:rPr lang="en-US" dirty="0" err="1"/>
              <a:t>arr</a:t>
            </a:r>
            <a:r>
              <a:rPr lang="en-US" dirty="0"/>
              <a:t> = ['5', 1, '2', 4, 3]</a:t>
            </a:r>
          </a:p>
          <a:p>
            <a:r>
              <a:rPr lang="en-US" dirty="0"/>
              <a:t>=&gt; ["5", 1, "2", 4, 3]</a:t>
            </a:r>
          </a:p>
          <a:p>
            <a:br>
              <a:rPr lang="en-US" dirty="0"/>
            </a:br>
            <a:r>
              <a:rPr lang="en-US" dirty="0" err="1"/>
              <a:t>irb</a:t>
            </a:r>
            <a:r>
              <a:rPr lang="en-US" dirty="0"/>
              <a:t>&gt; </a:t>
            </a:r>
            <a:r>
              <a:rPr lang="en-US" dirty="0" err="1"/>
              <a:t>arr.sort</a:t>
            </a:r>
            <a:r>
              <a:rPr lang="en-US" dirty="0"/>
              <a:t>{ |x, y| </a:t>
            </a:r>
            <a:r>
              <a:rPr lang="en-US" dirty="0" err="1"/>
              <a:t>x.to_i</a:t>
            </a:r>
            <a:r>
              <a:rPr lang="en-US" dirty="0"/>
              <a:t> &lt;=&gt; </a:t>
            </a:r>
            <a:r>
              <a:rPr lang="en-US" dirty="0" err="1"/>
              <a:t>y.to_i</a:t>
            </a:r>
            <a:r>
              <a:rPr lang="en-US" dirty="0"/>
              <a:t> }</a:t>
            </a:r>
          </a:p>
          <a:p>
            <a:r>
              <a:rPr lang="en-US" dirty="0"/>
              <a:t>=&gt; [1, "2", 3, 4, "5"]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4257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682C81D-A012-A0CF-A08D-7B7C5DBC95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Debugging</a:t>
            </a:r>
          </a:p>
        </p:txBody>
      </p:sp>
    </p:spTree>
    <p:extLst>
      <p:ext uri="{BB962C8B-B14F-4D97-AF65-F5344CB8AC3E}">
        <p14:creationId xmlns:p14="http://schemas.microsoft.com/office/powerpoint/2010/main" val="159973850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9DBAD1-0164-B591-2BBC-9394658B0A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Everyone writes bugs</a:t>
            </a:r>
          </a:p>
          <a:p>
            <a:pPr lvl="1"/>
            <a:r>
              <a:rPr lang="en-US" dirty="0"/>
              <a:t>Become an expert at debugging.</a:t>
            </a:r>
          </a:p>
          <a:p>
            <a:r>
              <a:rPr lang="en-US" dirty="0"/>
              <a:t>Tools Available</a:t>
            </a:r>
          </a:p>
          <a:p>
            <a:pPr lvl="1"/>
            <a:r>
              <a:rPr lang="en-US" dirty="0"/>
              <a:t>Browser developer console</a:t>
            </a:r>
          </a:p>
          <a:p>
            <a:pPr lvl="1"/>
            <a:r>
              <a:rPr lang="en-US" dirty="0"/>
              <a:t>Server logs</a:t>
            </a:r>
          </a:p>
          <a:p>
            <a:pPr lvl="1"/>
            <a:r>
              <a:rPr lang="en-US" dirty="0"/>
              <a:t>Built-in debugging shell</a:t>
            </a:r>
          </a:p>
          <a:p>
            <a:r>
              <a:rPr lang="en-US" dirty="0"/>
              <a:t>Activate Debugger</a:t>
            </a:r>
          </a:p>
          <a:p>
            <a:pPr lvl="1"/>
            <a:r>
              <a:rPr lang="en-US" dirty="0"/>
              <a:t>Add to </a:t>
            </a:r>
            <a:r>
              <a:rPr lang="en-US" dirty="0" err="1"/>
              <a:t>Gemfile</a:t>
            </a:r>
            <a:r>
              <a:rPr lang="en-US" dirty="0"/>
              <a:t> </a:t>
            </a:r>
            <a:r>
              <a:rPr lang="en-US" dirty="0">
                <a:solidFill>
                  <a:srgbClr val="A0BA66"/>
                </a:solidFill>
                <a:latin typeface="Menlo" panose="020B0609030804020204" pitchFamily="49" charset="0"/>
              </a:rPr>
              <a:t>gem 'debug’</a:t>
            </a:r>
          </a:p>
          <a:p>
            <a:pPr lvl="1">
              <a:buNone/>
            </a:pPr>
            <a:r>
              <a:rPr lang="en-US" dirty="0"/>
              <a:t>	Call in code </a:t>
            </a:r>
            <a:r>
              <a:rPr lang="en-US" dirty="0">
                <a:solidFill>
                  <a:srgbClr val="A0BA66"/>
                </a:solidFill>
                <a:latin typeface="Menlo" panose="020B0609030804020204" pitchFamily="49" charset="0"/>
              </a:rPr>
              <a:t>debugger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5D39663-4D0B-C4DA-5FED-00E303382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Rails Debugging</a:t>
            </a:r>
          </a:p>
        </p:txBody>
      </p:sp>
    </p:spTree>
    <p:extLst>
      <p:ext uri="{BB962C8B-B14F-4D97-AF65-F5344CB8AC3E}">
        <p14:creationId xmlns:p14="http://schemas.microsoft.com/office/powerpoint/2010/main" val="1268305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355A278-628A-F6F1-03FB-D9238AD2F8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break - List/set breakpoints</a:t>
            </a:r>
          </a:p>
          <a:p>
            <a:pPr lvl="1"/>
            <a:r>
              <a:rPr lang="en-US" dirty="0"/>
              <a:t>N - line number N in current file</a:t>
            </a:r>
          </a:p>
          <a:p>
            <a:pPr lvl="1"/>
            <a:r>
              <a:rPr lang="en-US" dirty="0"/>
              <a:t>F:N - file F, line N</a:t>
            </a:r>
          </a:p>
          <a:p>
            <a:pPr lvl="1"/>
            <a:r>
              <a:rPr lang="en-US" dirty="0"/>
              <a:t>C#M - class C, method M</a:t>
            </a:r>
          </a:p>
          <a:p>
            <a:r>
              <a:rPr lang="en-US" dirty="0"/>
              <a:t>delete - Delete breakpoints</a:t>
            </a:r>
          </a:p>
          <a:p>
            <a:r>
              <a:rPr lang="en-US" dirty="0"/>
              <a:t>info - Show Rails variables</a:t>
            </a:r>
          </a:p>
          <a:p>
            <a:r>
              <a:rPr lang="en-US" dirty="0"/>
              <a:t>step - Step into next line</a:t>
            </a:r>
          </a:p>
          <a:p>
            <a:r>
              <a:rPr lang="en-US" dirty="0"/>
              <a:t>next - Go to next line (don't step into)</a:t>
            </a:r>
          </a:p>
          <a:p>
            <a:r>
              <a:rPr lang="en-US" dirty="0"/>
              <a:t>continue - Resume until next breakpoint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BC5A48E-9342-A7E9-E1E1-CB5387DE4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Debug Commands</a:t>
            </a:r>
          </a:p>
        </p:txBody>
      </p:sp>
    </p:spTree>
    <p:extLst>
      <p:ext uri="{BB962C8B-B14F-4D97-AF65-F5344CB8AC3E}">
        <p14:creationId xmlns:p14="http://schemas.microsoft.com/office/powerpoint/2010/main" val="1837360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8FF44B-530E-B825-C864-B6FA50D83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AA3C91C-5012-A0F6-79DF-75F9B6DEAA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# POST /items</a:t>
            </a:r>
          </a:p>
          <a:p>
            <a:r>
              <a:rPr lang="en-US" dirty="0"/>
              <a:t>def create</a:t>
            </a:r>
          </a:p>
          <a:p>
            <a:r>
              <a:rPr lang="en-US" dirty="0"/>
              <a:t>  @item = </a:t>
            </a:r>
            <a:r>
              <a:rPr lang="en-US" dirty="0" err="1"/>
              <a:t>Item.new</a:t>
            </a:r>
            <a:r>
              <a:rPr lang="en-US" dirty="0"/>
              <a:t>(</a:t>
            </a:r>
            <a:r>
              <a:rPr lang="en-US" dirty="0" err="1"/>
              <a:t>item_params</a:t>
            </a:r>
            <a:r>
              <a:rPr lang="en-US" dirty="0"/>
              <a:t>)</a:t>
            </a:r>
          </a:p>
          <a:p>
            <a:r>
              <a:rPr lang="en-US" dirty="0"/>
              <a:t>  debugger</a:t>
            </a:r>
          </a:p>
          <a:p>
            <a:r>
              <a:rPr lang="en-US" dirty="0"/>
              <a:t>  # [...]</a:t>
            </a:r>
          </a:p>
          <a:p>
            <a:r>
              <a:rPr lang="en-US" dirty="0"/>
              <a:t>end</a:t>
            </a:r>
          </a:p>
          <a:p>
            <a:r>
              <a:rPr lang="en-US" dirty="0"/>
              <a:t>(</a:t>
            </a:r>
            <a:r>
              <a:rPr lang="en-US" dirty="0" err="1"/>
              <a:t>rdbg</a:t>
            </a:r>
            <a:r>
              <a:rPr lang="en-US" dirty="0"/>
              <a:t>) p </a:t>
            </a:r>
            <a:r>
              <a:rPr lang="en-US" dirty="0" err="1"/>
              <a:t>item_params</a:t>
            </a:r>
            <a:endParaRPr lang="en-US" dirty="0"/>
          </a:p>
          <a:p>
            <a:r>
              <a:rPr lang="en-US" dirty="0"/>
              <a:t>Unpermitted parameter: :priority</a:t>
            </a:r>
          </a:p>
          <a:p>
            <a:r>
              <a:rPr lang="en-US" dirty="0"/>
              <a:t>(</a:t>
            </a:r>
            <a:r>
              <a:rPr lang="en-US" dirty="0" err="1"/>
              <a:t>rdbg</a:t>
            </a:r>
            <a:r>
              <a:rPr lang="en-US" dirty="0"/>
              <a:t>) p @item</a:t>
            </a:r>
          </a:p>
          <a:p>
            <a:r>
              <a:rPr lang="en-US" dirty="0"/>
              <a:t>=&gt; #&lt;Item id: nil, what: "Melissa", priority: nil&gt;</a:t>
            </a:r>
          </a:p>
          <a:p>
            <a:r>
              <a:rPr lang="en-US" dirty="0"/>
              <a:t>(ruby) @</a:t>
            </a:r>
            <a:r>
              <a:rPr lang="en-US" dirty="0" err="1"/>
              <a:t>item.priority</a:t>
            </a:r>
            <a:r>
              <a:rPr lang="en-US" dirty="0"/>
              <a:t>=5</a:t>
            </a:r>
          </a:p>
          <a:p>
            <a:r>
              <a:rPr lang="en-US" dirty="0"/>
              <a:t>5</a:t>
            </a:r>
          </a:p>
          <a:p>
            <a:r>
              <a:rPr lang="en-US" dirty="0"/>
              <a:t>(</a:t>
            </a:r>
            <a:r>
              <a:rPr lang="en-US" dirty="0" err="1"/>
              <a:t>rdbg</a:t>
            </a:r>
            <a:r>
              <a:rPr lang="en-US" dirty="0"/>
              <a:t>) c</a:t>
            </a:r>
          </a:p>
        </p:txBody>
      </p:sp>
    </p:spTree>
    <p:extLst>
      <p:ext uri="{BB962C8B-B14F-4D97-AF65-F5344CB8AC3E}">
        <p14:creationId xmlns:p14="http://schemas.microsoft.com/office/powerpoint/2010/main" val="3428502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AD940F3-4C1A-4FB6-98B5-690B178D0E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77179676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15B27E-8E41-8720-F61D-A47BE740D4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Big Four OOP: Abstraction, Encapsulation, Inheritance, Polymorphism</a:t>
            </a:r>
          </a:p>
          <a:p>
            <a:r>
              <a:rPr lang="en-US" dirty="0"/>
              <a:t>Ruby Arrays: Dynamic, powerful, many operations</a:t>
            </a:r>
          </a:p>
          <a:p>
            <a:r>
              <a:rPr lang="en-US" dirty="0"/>
              <a:t>Symbols: Immutable global identifiers</a:t>
            </a:r>
          </a:p>
          <a:p>
            <a:r>
              <a:rPr lang="en-US" dirty="0"/>
              <a:t>Hashes: Key/value pairs with flexible keys</a:t>
            </a:r>
          </a:p>
          <a:p>
            <a:r>
              <a:rPr lang="en-US" dirty="0"/>
              <a:t>Scopes: Using sigils ($, @@, @, :)</a:t>
            </a:r>
          </a:p>
          <a:p>
            <a:r>
              <a:rPr lang="en-US" dirty="0"/>
              <a:t>Debugging: Built-in tools and commands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2F8FB2-72AD-1E36-1579-D9C76F691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Learned</a:t>
            </a:r>
          </a:p>
        </p:txBody>
      </p:sp>
    </p:spTree>
    <p:extLst>
      <p:ext uri="{BB962C8B-B14F-4D97-AF65-F5344CB8AC3E}">
        <p14:creationId xmlns:p14="http://schemas.microsoft.com/office/powerpoint/2010/main" val="478315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theme/theme1.xml><?xml version="1.0" encoding="utf-8"?>
<a:theme xmlns:a="http://schemas.openxmlformats.org/drawingml/2006/main" name="MSU Denver 16x9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6" id="{19DD2CDB-A181-F945-ADD9-05B41BED0346}" vid="{739F90C6-ACCF-9945-B1AA-B9555E82DD2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Master</Template>
  <TotalTime>10889</TotalTime>
  <Words>2117</Words>
  <Application>Microsoft Macintosh PowerPoint</Application>
  <PresentationFormat>Widescreen</PresentationFormat>
  <Paragraphs>368</Paragraphs>
  <Slides>46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1" baseType="lpstr">
      <vt:lpstr>Aptos</vt:lpstr>
      <vt:lpstr>Arial</vt:lpstr>
      <vt:lpstr>Calibri</vt:lpstr>
      <vt:lpstr>Menlo</vt:lpstr>
      <vt:lpstr>MSU Denver 16x9</vt:lpstr>
      <vt:lpstr>Chapter 02</vt:lpstr>
      <vt:lpstr>Ruby</vt:lpstr>
      <vt:lpstr>Why Ruby?</vt:lpstr>
      <vt:lpstr>Learning Outcomes</vt:lpstr>
      <vt:lpstr>Key Terms</vt:lpstr>
      <vt:lpstr>Object Oriented Programming</vt:lpstr>
      <vt:lpstr>Why OOP?</vt:lpstr>
      <vt:lpstr>Origins of OOP</vt:lpstr>
      <vt:lpstr>Core OOP Concepts</vt:lpstr>
      <vt:lpstr>The Big Four of OOP</vt:lpstr>
      <vt:lpstr>Abstraction</vt:lpstr>
      <vt:lpstr>A: Abstraction</vt:lpstr>
      <vt:lpstr>Abstraction in Practice</vt:lpstr>
      <vt:lpstr>Creating Good APIs</vt:lpstr>
      <vt:lpstr>Arrays in Ruby</vt:lpstr>
      <vt:lpstr>Unconventional Operations</vt:lpstr>
      <vt:lpstr>A Few Examples</vt:lpstr>
      <vt:lpstr>Set Operations</vt:lpstr>
      <vt:lpstr>Symbols</vt:lpstr>
      <vt:lpstr>Hashes</vt:lpstr>
      <vt:lpstr>Hash Examples</vt:lpstr>
      <vt:lpstr>Encapsulation</vt:lpstr>
      <vt:lpstr>The E: Encapsulation</vt:lpstr>
      <vt:lpstr>Why Encapsulate?</vt:lpstr>
      <vt:lpstr>Encapsulation Guidelines</vt:lpstr>
      <vt:lpstr>Sigils</vt:lpstr>
      <vt:lpstr>Goetic seals from the Lesser Key of Solomon</vt:lpstr>
      <vt:lpstr>Scopes and Sigils</vt:lpstr>
      <vt:lpstr>Visibility Modifiers</vt:lpstr>
      <vt:lpstr>Scope Example</vt:lpstr>
      <vt:lpstr>Inheritance</vt:lpstr>
      <vt:lpstr>The I: Inheritance</vt:lpstr>
      <vt:lpstr>Ruby's Approach</vt:lpstr>
      <vt:lpstr>Example</vt:lpstr>
      <vt:lpstr>Example</vt:lpstr>
      <vt:lpstr>Example</vt:lpstr>
      <vt:lpstr>Modules (Mixins)</vt:lpstr>
      <vt:lpstr>Polymorphism</vt:lpstr>
      <vt:lpstr>The O+1 (P): Polymorphism</vt:lpstr>
      <vt:lpstr>Sort Polymorphism</vt:lpstr>
      <vt:lpstr>Debugging</vt:lpstr>
      <vt:lpstr>Rails Debugging</vt:lpstr>
      <vt:lpstr>Debug Commands</vt:lpstr>
      <vt:lpstr>Example</vt:lpstr>
      <vt:lpstr>Summary</vt:lpstr>
      <vt:lpstr>What We Learned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 Beaty</dc:creator>
  <cp:lastModifiedBy>Steve Beaty</cp:lastModifiedBy>
  <cp:revision>20</cp:revision>
  <dcterms:created xsi:type="dcterms:W3CDTF">2025-11-19T23:56:22Z</dcterms:created>
  <dcterms:modified xsi:type="dcterms:W3CDTF">2026-09-01T19:59:24Z</dcterms:modified>
</cp:coreProperties>
</file>