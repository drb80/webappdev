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9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2593"/>
  </p:normalViewPr>
  <p:slideViewPr>
    <p:cSldViewPr snapToGrid="0">
      <p:cViewPr varScale="1">
        <p:scale>
          <a:sx n="76" d="100"/>
          <a:sy n="76" d="100"/>
        </p:scale>
        <p:origin x="21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7FAF9A-0955-624D-88B2-AC31179CA83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658E50-E425-F04A-B341-2ECF24E5A9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439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58E50-E425-F04A-B341-2ECF24E5A95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11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58E50-E425-F04A-B341-2ECF24E5A95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3759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58E50-E425-F04A-B341-2ECF24E5A95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74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58E50-E425-F04A-B341-2ECF24E5A95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683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58E50-E425-F04A-B341-2ECF24E5A95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712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658E50-E425-F04A-B341-2ECF24E5A95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035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058940"/>
            <a:ext cx="10363200" cy="1470025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baseline="0" dirty="0">
                <a:solidFill>
                  <a:schemeClr val="tx1"/>
                </a:solidFill>
              </a:rPr>
              <a:t>Click to edit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281187" y="2983612"/>
            <a:ext cx="7609479" cy="1009561"/>
          </a:xfrm>
          <a:prstGeom prst="roundRect">
            <a:avLst>
              <a:gd name="adj" fmla="val 37895"/>
            </a:avLst>
          </a:prstGeo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 anchor="ctr" anchorCtr="0"/>
          <a:lstStyle>
            <a:lvl1pPr marL="0" indent="0" algn="ctr">
              <a:buNone/>
              <a:defRPr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409C91-6E3E-5409-2F44-4E770C50190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35571CA6-6DF2-9148-B84D-05AEB88A6F3B}" type="datetime1">
              <a:rPr lang="en-US" smtClean="0"/>
              <a:t>10/8/26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118C6-B924-AA1F-AEFC-17607998D78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E93608-8881-8010-4D06-440F9FBB6B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37D050C8-32A2-8944-BC0A-E76DEAECED1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950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39033B-5031-2DE5-AF8A-E269BDEE8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5D654-8466-B040-96CE-9F5E394C34ED}" type="datetime1">
              <a:rPr lang="en-US" smtClean="0"/>
              <a:t>10/8/26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CC0AD20-1FAB-5697-725E-A23B4E11A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0" name="SlideNumberWithTotal">
            <a:extLst>
              <a:ext uri="{FF2B5EF4-FFF2-40B4-BE49-F238E27FC236}">
                <a16:creationId xmlns:a16="http://schemas.microsoft.com/office/drawing/2014/main" id="{C85ADDAF-31A4-85DD-32A3-DD43B60F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949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EEF9C46-CD18-5177-41DC-5A44F050B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6E784-80CE-E540-B473-76F7ED05F7B9}" type="datetime1">
              <a:rPr lang="en-US" smtClean="0"/>
              <a:t>10/8/26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6447FE1-5C78-6FAD-D883-46A9B247C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BEAED22-447D-B036-C934-3337B57F5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96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2488"/>
            <a:ext cx="5321600" cy="4525963"/>
          </a:xfrm>
          <a:ln w="25400" cap="flat">
            <a:solidFill>
              <a:schemeClr val="tx1"/>
            </a:solidFill>
            <a:round/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3C3831-60B9-204A-AB0D-53E619F83C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0800" y="1592837"/>
            <a:ext cx="53216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19512-769A-1A2D-AE4B-615827F538D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8D49D47-5C67-C942-801E-D02AB59464BA}" type="datetime1">
              <a:rPr lang="en-US" smtClean="0"/>
              <a:t>10/8/26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8537417-0F7B-4AB8-2913-FC8911CF4DF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C508543-3E8A-F349-1E14-7A34163E0A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130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406052" y="6308727"/>
            <a:ext cx="1169155" cy="485424"/>
          </a:xfrm>
          <a:prstGeom prst="rect">
            <a:avLst/>
          </a:prstGeom>
        </p:spPr>
        <p:txBody>
          <a:bodyPr/>
          <a:lstStyle/>
          <a:p>
            <a:fld id="{0C0A3EDA-0FB5-C64B-8C97-EEA909CAC639}" type="datetime1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17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92DC31-8A1B-D6EF-9DCB-F31748611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398C8E-5F1F-264A-B7A5-192690BD161C}" type="datetime1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733F8A-5589-31C8-DB78-246D7535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4200DB-D3DA-2D0A-8CD3-6E48E32FC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673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487D0D-A6BE-50D0-4804-465FF9AE0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AF1355-8BED-B940-B46D-02A9461AC1D0}" type="datetime1">
              <a:rPr lang="en-US" smtClean="0"/>
              <a:t>10/8/26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F4343B0-C3EA-68AB-7293-4C580E1ED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8496D9-0557-9109-1A11-35D97D8FD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42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oundRect">
            <a:avLst>
              <a:gd name="adj" fmla="val 44167"/>
            </a:avLst>
          </a:prstGeom>
          <a:solidFill>
            <a:schemeClr val="bg1">
              <a:alpha val="95000"/>
            </a:schemeClr>
          </a:solidFill>
          <a:effectLst>
            <a:softEdge rad="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oundRect">
            <a:avLst/>
          </a:prstGeom>
          <a:solidFill>
            <a:schemeClr val="bg1">
              <a:alpha val="95000"/>
            </a:schemeClr>
          </a:solidFill>
          <a:effectLst>
            <a:softEdge rad="6350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81809" y="6308727"/>
            <a:ext cx="7945363" cy="487680"/>
          </a:xfrm>
          <a:prstGeom prst="roundRect">
            <a:avLst>
              <a:gd name="adj" fmla="val 4889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34686" y="6308727"/>
            <a:ext cx="879777" cy="487680"/>
          </a:xfrm>
          <a:prstGeom prst="roundRect">
            <a:avLst>
              <a:gd name="adj" fmla="val 4303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323A44-C1E5-0B49-AAF6-7E9549B7BFD2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B6740CB2-DC30-5DDB-24B8-219C9C3F5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7"/>
            <a:ext cx="1169155" cy="487680"/>
          </a:xfrm>
          <a:prstGeom prst="roundRect">
            <a:avLst>
              <a:gd name="adj" fmla="val 4889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fld id="{E9EDF633-B6FA-6744-8F1E-B577B0EE3828}" type="datetime1">
              <a:rPr lang="en-US" smtClean="0"/>
              <a:t>10/8/26</a:t>
            </a:fld>
            <a:endParaRPr lang="en-US"/>
          </a:p>
        </p:txBody>
      </p:sp>
      <p:sp>
        <p:nvSpPr>
          <p:cNvPr id="7" name="SlideTotal">
            <a:extLst>
              <a:ext uri="{FF2B5EF4-FFF2-40B4-BE49-F238E27FC236}">
                <a16:creationId xmlns:a16="http://schemas.microsoft.com/office/drawing/2014/main" id="{B74D5B4B-3C60-FF6A-4438-A067B7DE7333}"/>
              </a:ext>
            </a:extLst>
          </p:cNvPr>
          <p:cNvSpPr txBox="1">
            <a:spLocks/>
          </p:cNvSpPr>
          <p:nvPr/>
        </p:nvSpPr>
        <p:spPr>
          <a:xfrm>
            <a:off x="10702624" y="6308727"/>
            <a:ext cx="879777" cy="487680"/>
          </a:xfrm>
          <a:prstGeom prst="roundRect">
            <a:avLst>
              <a:gd name="adj" fmla="val 4303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121920" tIns="60960" rIns="121920" bIns="6096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/>
              <a:t>26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71659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  <p:hf hdr="0"/>
  <p:txStyles>
    <p:titleStyle>
      <a:lvl1pPr algn="ctr" defTabSz="609555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66" indent="-457166" algn="l" defTabSz="609555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26" indent="-380973" algn="l" defTabSz="609555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85" indent="-304776" algn="l" defTabSz="60955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440" indent="-304776" algn="l" defTabSz="60955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2994" indent="-304776" algn="l" defTabSz="60955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6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0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6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w3.org/WAI/WCAG22/quickref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F56F91-C7AB-63AD-4521-B79A1B681E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Views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E90E9A-138F-DEC5-A26D-8C3D8E6574E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35F63D-6122-EB8C-0F14-C7C5D38DE8E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3FE51F0F-724C-5B4F-85F3-E46C0190DCB8}" type="datetime1">
              <a:rPr lang="en-US" smtClean="0"/>
              <a:t>10/8/26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F264AF-C26D-3480-7EAC-61A34180A0A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9D9346-ECB8-2796-FBE7-FD676640D4D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37D050C8-32A2-8944-BC0A-E76DEAECED1E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071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91DE8-70CE-427B-62DE-A1ABF8CDC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Most Familiar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43C09D-CBBC-DDF1-AB34-EEDA4EA32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the front-end, the user-facing part of an application</a:t>
            </a:r>
          </a:p>
          <a:p>
            <a:r>
              <a:rPr lang="en-US" dirty="0"/>
              <a:t>HTML/CSS/JavaScript built-in most everywhere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37E4C-4B6A-40AF-EFEC-8B7B0617A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DDDAC-68F1-7C48-AA0D-61A5609E6F31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D05846-0084-42BA-62B0-D82786731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E2F95D-44DF-F812-87E4-F2D81061B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856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63E59-F722-3C92-5C6C-B3D91F9DF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Accessibility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2E49D-5747-E0A9-B3CE-DC24A2419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Critical to do this from the state and everywhere</a:t>
            </a:r>
          </a:p>
          <a:p>
            <a:pPr lvl="1"/>
            <a:r>
              <a:rPr lang="en-US" dirty="0"/>
              <a:t>Helps people with UI challenges</a:t>
            </a:r>
          </a:p>
          <a:p>
            <a:pPr lvl="2"/>
            <a:r>
              <a:rPr lang="en-US" dirty="0"/>
              <a:t>And we want to reach everyone</a:t>
            </a:r>
          </a:p>
          <a:p>
            <a:pPr lvl="2"/>
            <a:r>
              <a:rPr lang="en-US" dirty="0"/>
              <a:t>E.g., everyone needs to participate in government</a:t>
            </a:r>
          </a:p>
          <a:p>
            <a:pPr lvl="1"/>
            <a:r>
              <a:rPr lang="en-US" dirty="0"/>
              <a:t>Laws and regulations</a:t>
            </a:r>
          </a:p>
          <a:p>
            <a:pPr lvl="1"/>
            <a:r>
              <a:rPr lang="en-US" dirty="0"/>
              <a:t>Ethical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81017E-289B-97B5-B1AD-E5F7C67B0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AE376-5E6B-094C-8715-FE9FB7076379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25A4C2-CE9C-832F-13D6-B011CABD7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3D3026-AB21-68D4-EBAB-46F33D8AD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83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0C58A-8D82-87C7-2AF1-42D23B348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Four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2544C1-64E3-00C9-A2C5-413F8B9A9A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Perceivable</a:t>
            </a:r>
          </a:p>
          <a:p>
            <a:pPr lvl="1"/>
            <a:r>
              <a:rPr lang="en-US" dirty="0"/>
              <a:t>Text for images, etc.</a:t>
            </a:r>
          </a:p>
          <a:p>
            <a:r>
              <a:rPr lang="en-US" dirty="0"/>
              <a:t>Operable</a:t>
            </a:r>
          </a:p>
          <a:p>
            <a:pPr lvl="1"/>
            <a:r>
              <a:rPr lang="en-US" dirty="0"/>
              <a:t>Everything operable by keyboard, enough time…</a:t>
            </a:r>
          </a:p>
          <a:p>
            <a:r>
              <a:rPr lang="en-US" dirty="0"/>
              <a:t>Understandable</a:t>
            </a:r>
          </a:p>
          <a:p>
            <a:pPr lvl="1"/>
            <a:r>
              <a:rPr lang="en-US" dirty="0"/>
              <a:t>Language of user…</a:t>
            </a:r>
          </a:p>
          <a:p>
            <a:r>
              <a:rPr lang="en-US" dirty="0"/>
              <a:t>Robust</a:t>
            </a:r>
          </a:p>
          <a:p>
            <a:pPr lvl="1"/>
            <a:r>
              <a:rPr lang="en-US" dirty="0"/>
              <a:t>Accessible on many devices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D3550-B7DC-9800-80C7-42EC67ED8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CEC7F-10CF-5D44-980E-30B7229CD197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C5AB6-B1BF-99AB-BB0D-DE0E0AF2F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6714FD-2F17-F02C-EA1E-65B79595D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672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FF12F-2F48-99E2-B55C-4FF4BEA42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More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3005D-A06C-B8F4-258C-5DC667B96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https://www.w3.org/WAI/WCAG22/quickref/</a:t>
            </a:r>
            <a:endParaRPr lang="en-US" dirty="0"/>
          </a:p>
          <a:p>
            <a:r>
              <a:rPr lang="en-US" dirty="0"/>
              <a:t>Basis of U.S. 508 standards</a:t>
            </a:r>
          </a:p>
          <a:p>
            <a:pPr lvl="1"/>
            <a:r>
              <a:rPr lang="en-US" dirty="0"/>
              <a:t>https://</a:t>
            </a:r>
            <a:r>
              <a:rPr lang="en-US" dirty="0" err="1"/>
              <a:t>www.access-board.gov</a:t>
            </a:r>
            <a:r>
              <a:rPr lang="en-US" dirty="0"/>
              <a:t>/</a:t>
            </a:r>
            <a:r>
              <a:rPr lang="en-US" dirty="0" err="1"/>
              <a:t>ict</a:t>
            </a:r>
            <a:r>
              <a:rPr lang="en-US" dirty="0"/>
              <a:t>/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D12B23-C476-BFE1-9817-381583F22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26D6A-FE49-3C47-A560-00E7510F5564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96BB5-D4EC-6EFD-8B8A-5F91C1775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0A54A9-AEE0-E2F9-390A-33B911FFF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66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05009-74E5-0BE4-9875-A1C89D42E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Embedded Ruby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D3211-9744-9A72-D150-D9E4B76A7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Embedded Ruby</a:t>
            </a:r>
          </a:p>
          <a:p>
            <a:r>
              <a:rPr lang="en-US" dirty="0"/>
              <a:t>Ruby statements are interlaced with HTML</a:t>
            </a:r>
          </a:p>
          <a:p>
            <a:pPr lvl="1"/>
            <a:r>
              <a:rPr lang="en-US" dirty="0"/>
              <a:t>A typical way to render static content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{{ … }} </a:t>
            </a:r>
            <a:r>
              <a:rPr lang="en-US" dirty="0"/>
              <a:t>often used</a:t>
            </a:r>
          </a:p>
          <a:p>
            <a:r>
              <a:rPr lang="en-US" dirty="0"/>
              <a:t>Files end in .</a:t>
            </a:r>
            <a:r>
              <a:rPr lang="en-US" dirty="0" err="1"/>
              <a:t>erb</a:t>
            </a: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6466B-CC0C-5573-F66F-D027CD95E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2508A-C8AB-0144-BA3E-27A5ECE1A790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E37F5-B7EC-583F-96F0-2FE9E60F9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364AC-EC0F-347F-8F99-15C682964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07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68139-FFB1-D958-D91E-ED624A354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D632D-2F4A-F013-0CAA-A31BC02A44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&lt;% Ruby code %&gt;</a:t>
            </a:r>
          </a:p>
          <a:p>
            <a:pPr lvl="1"/>
            <a:r>
              <a:rPr lang="en-US" dirty="0"/>
              <a:t>Run, but not rendered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&lt;%= Ruby code %&gt;</a:t>
            </a:r>
          </a:p>
          <a:p>
            <a:pPr lvl="1"/>
            <a:r>
              <a:rPr lang="en-US" dirty="0"/>
              <a:t>Run and rendered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&lt;%# Ruby code %&gt;</a:t>
            </a:r>
          </a:p>
          <a:p>
            <a:pPr lvl="1"/>
            <a:r>
              <a:rPr lang="en-US" dirty="0"/>
              <a:t>Comment out Ruby code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DF67F-1122-711F-8E11-4BDDD5ED9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FA721-17B6-B94A-B5BA-BF18169C17D5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78967-878F-78DA-EFDF-4592DBAA4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A939A2-0841-1277-A395-0FCF8FD72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753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B963E-28F4-C96A-13F5-0649EA83F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Called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F2640-1DEB-9A74-9E42-0A4F90844A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controller/method name automatically calls .</a:t>
            </a:r>
            <a:r>
              <a:rPr lang="en-US" dirty="0" err="1"/>
              <a:t>erb</a:t>
            </a:r>
            <a:r>
              <a:rPr lang="en-US" dirty="0"/>
              <a:t> files</a:t>
            </a:r>
          </a:p>
          <a:p>
            <a:pPr lvl="1"/>
            <a:r>
              <a:rPr lang="en-US" dirty="0"/>
              <a:t>Details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routes.rb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51137D-EE34-573F-1569-85508D263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3DEDB-E272-AC49-9172-D5762FEE681A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EAE49-1E12-22B8-D538-E426CE30A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B6CE9-8968-1020-38AD-E99830FA1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87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F0624-86E1-5B1C-04DD-EE2926ADB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ERB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2BE1D-CA0C-256F-E401-EBDA5D970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>
              <a:spcBef>
                <a:spcPts val="300"/>
              </a:spcBef>
              <a:buNone/>
            </a:pPr>
            <a:endParaRPr lang="en-US" dirty="0">
              <a:solidFill>
                <a:srgbClr val="13939F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app/views/items/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index.html.erb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spcBef>
                <a:spcPts val="300"/>
              </a:spcBef>
              <a:buNone/>
            </a:pPr>
            <a:endParaRPr lang="en-US" dirty="0">
              <a:solidFill>
                <a:srgbClr val="13939F"/>
              </a:solidFill>
              <a:effectLst/>
              <a:latin typeface="Menlo" panose="020B0609030804020204" pitchFamily="49" charset="0"/>
            </a:endParaRPr>
          </a:p>
          <a:p>
            <a:pPr>
              <a:spcBef>
                <a:spcPts val="300"/>
              </a:spcBef>
              <a:buNone/>
            </a:pP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149802"/>
                </a:solidFill>
                <a:effectLst/>
                <a:latin typeface="Menlo" panose="020B0609030804020204" pitchFamily="49" charset="0"/>
              </a:rPr>
              <a:t>style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"color: green"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notice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spcBef>
                <a:spcPts val="300"/>
              </a:spcBef>
              <a:buNone/>
            </a:pP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content_for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:title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Items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spcBef>
                <a:spcPts val="300"/>
              </a:spcBef>
              <a:buNone/>
            </a:pP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spcBef>
                <a:spcPts val="300"/>
              </a:spcBef>
              <a:buNone/>
            </a:pP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h1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Items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h1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spcBef>
                <a:spcPts val="300"/>
              </a:spcBef>
              <a:buNone/>
            </a:pP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div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149802"/>
                </a:solidFill>
                <a:effectLst/>
                <a:latin typeface="Menlo" panose="020B0609030804020204" pitchFamily="49" charset="0"/>
              </a:rPr>
              <a:t>id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"items"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9F1410"/>
              </a:solidFill>
              <a:effectLst/>
              <a:latin typeface="Menlo" panose="020B0609030804020204" pitchFamily="49" charset="0"/>
            </a:endParaRPr>
          </a:p>
          <a:p>
            <a:pPr>
              <a:spcBef>
                <a:spcPts val="300"/>
              </a:spcBef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@</a:t>
            </a:r>
            <a:r>
              <a:rPr lang="en-US" dirty="0" err="1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items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.each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do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|item|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spcBef>
                <a:spcPts val="300"/>
              </a:spcBef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render item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spcBef>
                <a:spcPts val="300"/>
              </a:spcBef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spcBef>
                <a:spcPts val="300"/>
              </a:spcBef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link_to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Show this item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, item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spcBef>
                <a:spcPts val="300"/>
              </a:spcBef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spcBef>
                <a:spcPts val="300"/>
              </a:spcBef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end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spcBef>
                <a:spcPts val="300"/>
              </a:spcBef>
              <a:buNone/>
            </a:pP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div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b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</a:b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link_to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New item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new_item_path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F92528-8770-CD2B-2CC7-55D8CAB25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77C84-4BC4-5C4A-84B5-CED3EF7D0C62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BA8065-A436-34A0-9AD4-3E9EBD049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0500D-FCE6-ED9C-1AE5-B0B33F9CD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609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19B42-DF7D-F6D9-6444-8C894BC76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View Helpers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CC65-4F15-05C0-0DAF-F0DD05142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Rails includes quite a few methods/values that help with the rendering of HTML and JSON</a:t>
            </a:r>
          </a:p>
          <a:p>
            <a:r>
              <a:rPr lang="en-US" dirty="0"/>
              <a:t>For example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link_to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"New item",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new_item_path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Has two,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link_to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method </a:t>
            </a:r>
            <a:r>
              <a:rPr lang="en-US" dirty="0"/>
              <a:t>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new_item_path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URL/value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Keep in mind Ruby’s methods do not require parentheses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3D28F0-E48F-7F71-F417-CD323443C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72DC4-3A3E-F143-86A9-9C524B69A913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04BB6-6222-72F0-49D7-9B62AD43C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CDF0F1-B6D8-4586-BDDE-A659EC42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740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00170-9489-E25A-D6AA-2954ADAE9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Preview: rails routes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AAC0A-AB18-27E1-44E6-3BA864C7F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Prefix    Verb   URI Pattern     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Controller#Action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items GET    /items(.:format)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items#index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POST   /items(.:format)   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items#create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new_item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GET    /items/new(.:format)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items#new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edit_item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GET    /items/:id/edit(.:format)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items#edit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item GET    /items/:id(.:format)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items#show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PATCH  /items/:id(.:format)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items#update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PUT    /items/:id(.:format)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items#update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DELETE /items/:id(.:format)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items#destroy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93A19-4A22-DB8D-ED2B-3F860933F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B1CA2-2FBF-BF41-9E07-D11DF1CBDA9F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3CAD3-50D9-5A87-0572-28C24D478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6A7CA1-40D2-B5AC-B1F2-89C0CDD3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190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3508C-FD42-D699-C704-43CF4B41B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1D6CA-A53B-3946-1B94-CED1F46C5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api.rubyonrails.org</a:t>
            </a:r>
            <a:r>
              <a:rPr lang="en-US" dirty="0"/>
              <a:t>/classes/</a:t>
            </a:r>
            <a:r>
              <a:rPr lang="en-US" dirty="0" err="1"/>
              <a:t>ActionView</a:t>
            </a:r>
            <a:r>
              <a:rPr lang="en-US" dirty="0"/>
              <a:t>/Helpers/</a:t>
            </a:r>
            <a:r>
              <a:rPr lang="en-US" dirty="0" err="1"/>
              <a:t>UrlHelper.html#method-i-link_to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6E6854-1464-D443-6E58-15A3F51F5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88872-150D-DA41-BE35-A03612A3EA1B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8610D-3749-75A4-7B08-E8C793838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A085C-5433-694F-EB71-BC279BFF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928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C8077-81B9-ACBF-4495-42CDA80BF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Partials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243104-4571-15A1-8C11-C1796B0647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ERB templates</a:t>
            </a:r>
          </a:p>
          <a:p>
            <a:pPr lvl="1"/>
            <a:r>
              <a:rPr lang="en-US" dirty="0"/>
              <a:t>Not an entire page</a:t>
            </a:r>
          </a:p>
          <a:p>
            <a:pPr lvl="1"/>
            <a:r>
              <a:rPr lang="en-US" dirty="0"/>
              <a:t>Used to keep it DRY (there is only one source of truth)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render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Take the name of an object to display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109F8E-ADA5-DA2D-E7AC-AEB75A7E0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11AABA-87F8-C04D-AFB0-4C4C73800EC5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4E8BA-5D56-64B9-A299-E0624D8C5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438F5C-004F-68FC-BB4E-81DE644D1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152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34094-0306-9AC0-416D-2EF95EF70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views/items/_</a:t>
            </a:r>
            <a:r>
              <a:rPr lang="en-US" dirty="0" err="1"/>
              <a:t>item.html.erb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93984-5FCC-4F4C-D521-4D7DACFCBF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buNone/>
            </a:pP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div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149802"/>
                </a:solidFill>
                <a:effectLst/>
                <a:latin typeface="Menlo" panose="020B0609030804020204" pitchFamily="49" charset="0"/>
              </a:rPr>
              <a:t>id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dom_id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item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strong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US" b="1" dirty="0">
                <a:solidFill>
                  <a:srgbClr val="802A19"/>
                </a:solidFill>
                <a:effectLst/>
                <a:latin typeface="Menlo" panose="020B0609030804020204" pitchFamily="49" charset="0"/>
              </a:rPr>
              <a:t>What: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strong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A6520C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item.what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b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</a:b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strong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US" b="1" dirty="0">
                <a:solidFill>
                  <a:srgbClr val="802A19"/>
                </a:solidFill>
                <a:effectLst/>
                <a:latin typeface="Menlo" panose="020B0609030804020204" pitchFamily="49" charset="0"/>
              </a:rPr>
              <a:t>When: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strong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A6520C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item.when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div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A6520C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589F8-DA74-1D17-6056-79CA451C3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FF26B-50BC-7042-9A11-AF4D15E71BF1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C7680E-2292-4E09-FA51-135F92AAA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92CED-2CD5-F6F7-E69C-DB1C1E8D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20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5ACDF-B8CC-61FF-C0AC-27CDBE01E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Render Will Iterate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1BB5D-7779-413F-BE18-1C3A297DD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&lt;%#</a:t>
            </a:r>
            <a:r>
              <a:rPr lang="en-US" dirty="0">
                <a:solidFill>
                  <a:srgbClr val="3200CA"/>
                </a:solidFill>
                <a:effectLst/>
                <a:latin typeface="Menlo" panose="020B0609030804020204" pitchFamily="49" charset="0"/>
              </a:rPr>
              <a:t> This works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200CA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strong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US" b="1" dirty="0">
                <a:solidFill>
                  <a:srgbClr val="802A19"/>
                </a:solidFill>
                <a:effectLst/>
                <a:latin typeface="Menlo" panose="020B0609030804020204" pitchFamily="49" charset="0"/>
              </a:rPr>
              <a:t>Students: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strong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A6520C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advisor.students.each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do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|student|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render student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end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b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</a:b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&lt;%#</a:t>
            </a:r>
            <a:r>
              <a:rPr lang="en-US" dirty="0">
                <a:solidFill>
                  <a:srgbClr val="3200CA"/>
                </a:solidFill>
                <a:effectLst/>
                <a:latin typeface="Menlo" panose="020B0609030804020204" pitchFamily="49" charset="0"/>
              </a:rPr>
              <a:t> So does this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200CA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strong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US" b="1" dirty="0">
                <a:solidFill>
                  <a:srgbClr val="802A19"/>
                </a:solidFill>
                <a:effectLst/>
                <a:latin typeface="Menlo" panose="020B0609030804020204" pitchFamily="49" charset="0"/>
              </a:rPr>
              <a:t>Students: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strong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A6520C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render 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advisor.students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39FCA-437A-6201-BE7A-0532DD91E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91C48-A5A0-F14F-AF60-5347EF1A101D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1856D-CB27-FDB9-7233-C839B8C8D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BE0701-2294-8A82-E471-1312D4382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722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B8153-6026-764C-89FA-3E1F2D39C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Internationalization (I18N)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4CFBF5-085B-87F7-63FE-53EE052DD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Creating apps that can be localized</a:t>
            </a:r>
          </a:p>
          <a:p>
            <a:r>
              <a:rPr lang="en-US" dirty="0"/>
              <a:t>We don’t put in explicit strings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BC1D99-A180-728C-1213-275C10B3C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FA21D9-C020-E346-9E43-E7572D7428E9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CDA40-53C9-F3F6-6D14-13932E6C1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3A1308-1AE8-E4E6-C7FD-6308271D9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273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51C63-AF4D-A07F-56B2-140B41BD8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Localization (L10N)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D8A25-FE8B-1E06-99A8-7ACEE27AC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Rails ships with 121 localization YAML files</a:t>
            </a:r>
          </a:p>
          <a:p>
            <a:pPr lvl="1"/>
            <a:r>
              <a:rPr lang="en-US" dirty="0"/>
              <a:t>Date and time</a:t>
            </a:r>
          </a:p>
          <a:p>
            <a:pPr lvl="1"/>
            <a:r>
              <a:rPr lang="en-US" dirty="0"/>
              <a:t>Words for select/create, etc.</a:t>
            </a:r>
          </a:p>
          <a:p>
            <a:pPr lvl="1"/>
            <a:r>
              <a:rPr lang="en-US" dirty="0"/>
              <a:t>Currency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translate </a:t>
            </a:r>
            <a:r>
              <a:rPr lang="en-US" dirty="0">
                <a:cs typeface="Courier New" panose="02070309020205020404" pitchFamily="49" charset="0"/>
              </a:rPr>
              <a:t>and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localize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 and l aliases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2B7D7-3D1A-3296-DF01-7D376C43C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9B024-49CD-E84B-9E97-9349959EB1F0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CEEDC6-5337-B45F-4F3C-B1ECF4901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8BD54-35CB-4BD5-9E32-C22C632B3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842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BE48A-5F97-8FBE-42B1-5CC54C6C7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6D0C6-0223-D406-A711-EF2752B8B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 config/locales/</a:t>
            </a:r>
            <a:r>
              <a:rPr lang="en-US" dirty="0" err="1"/>
              <a:t>de.yml</a:t>
            </a:r>
            <a:r>
              <a:rPr lang="en-US" dirty="0"/>
              <a:t> </a:t>
            </a:r>
          </a:p>
          <a:p>
            <a:r>
              <a:rPr lang="en-US" dirty="0"/>
              <a:t>de:</a:t>
            </a:r>
          </a:p>
          <a:p>
            <a:r>
              <a:rPr lang="en-US" dirty="0"/>
              <a:t>  item: "Machen"</a:t>
            </a:r>
          </a:p>
          <a:p>
            <a:r>
              <a:rPr lang="en-US" dirty="0"/>
              <a:t>  items: "Machen"</a:t>
            </a:r>
          </a:p>
          <a:p>
            <a:r>
              <a:rPr lang="en-US" dirty="0"/>
              <a:t>  what: "Was"</a:t>
            </a:r>
          </a:p>
          <a:p>
            <a:r>
              <a:rPr lang="en-US" dirty="0"/>
              <a:t>  when: "Wann”</a:t>
            </a:r>
          </a:p>
          <a:p>
            <a:r>
              <a:rPr lang="en-US" dirty="0"/>
              <a:t>  bathroom: “Bad”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39164-2184-3BC7-7744-F8D12D18A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9CAA6-1EB0-A14A-B584-1FD091AECF07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8F661-7720-6E2B-3033-C21CE543C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01C39-BF42-5629-4F4E-73661A25C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090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3EC4C-CF45-066E-0A6A-F50807407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4E31B-9352-8F86-7BA5-9263164AEF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# app/views/items/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index.html.erb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h1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t 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:items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h1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9F1410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</a:t>
            </a: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# app/views/items/_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item.html.erb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div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149802"/>
                </a:solidFill>
                <a:effectLst/>
                <a:latin typeface="Menlo" panose="020B0609030804020204" pitchFamily="49" charset="0"/>
              </a:rPr>
              <a:t>id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dom_id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item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strong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t 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:what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strong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A6520C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item.what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</a:t>
            </a: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strong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t 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:when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strong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A6520C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 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item.when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p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</a:p>
          <a:p>
            <a:pPr>
              <a:buNone/>
            </a:pP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div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A6520C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</a:t>
            </a: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# app/views/items/</a:t>
            </a:r>
            <a:r>
              <a:rPr lang="en-US" dirty="0" err="1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edit.html.erb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h1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Editing item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&lt;/</a:t>
            </a:r>
            <a:r>
              <a:rPr lang="en-US" dirty="0">
                <a:solidFill>
                  <a:srgbClr val="A6520C"/>
                </a:solidFill>
                <a:effectLst/>
                <a:latin typeface="Menlo" panose="020B0609030804020204" pitchFamily="49" charset="0"/>
              </a:rPr>
              <a:t>h1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&gt;</a:t>
            </a:r>
            <a:endParaRPr lang="en-US" dirty="0">
              <a:solidFill>
                <a:srgbClr val="B000B2"/>
              </a:solidFill>
              <a:effectLst/>
              <a:latin typeface="Menlo" panose="020B060903080402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 </a:t>
            </a:r>
          </a:p>
          <a:p>
            <a:pPr>
              <a:buNone/>
            </a:pP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t 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:item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9F1410"/>
              </a:solidFill>
              <a:effectLst/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&lt;%=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render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form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dirty="0">
                <a:solidFill>
                  <a:srgbClr val="9F1410"/>
                </a:solidFill>
                <a:effectLst/>
                <a:latin typeface="Menlo" panose="020B0609030804020204" pitchFamily="49" charset="0"/>
              </a:rPr>
              <a:t>item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: </a:t>
            </a:r>
            <a:r>
              <a:rPr lang="en-US" dirty="0">
                <a:solidFill>
                  <a:srgbClr val="13939F"/>
                </a:solidFill>
                <a:effectLst/>
                <a:latin typeface="Menlo" panose="020B0609030804020204" pitchFamily="49" charset="0"/>
              </a:rPr>
              <a:t>@item</a:t>
            </a:r>
            <a:r>
              <a:rPr lang="en-US" dirty="0">
                <a:solidFill>
                  <a:srgbClr val="3B2322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>
                <a:solidFill>
                  <a:srgbClr val="B000B2"/>
                </a:solidFill>
                <a:effectLst/>
                <a:latin typeface="Menlo" panose="020B0609030804020204" pitchFamily="49" charset="0"/>
              </a:rPr>
              <a:t>%&gt;</a:t>
            </a:r>
            <a:endParaRPr lang="en-US" dirty="0">
              <a:solidFill>
                <a:srgbClr val="3B2322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18FE8-8530-6DA4-DADC-857D8FBB4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76ADC0-5EE2-E24B-892E-2727936368B0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0F05EA-5EF6-7247-A118-5462870C1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5E8544-6251-5522-F369-1669BAA02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750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8A59D-7BC2-F34C-18CC-12CB2755D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Rich Text Editor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0B9A77-7731-F1AC-86F0-B6E88C455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not RTF</a:t>
            </a:r>
          </a:p>
          <a:p>
            <a:r>
              <a:rPr lang="en-US" dirty="0"/>
              <a:t>Trix is essentially built in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06EE6B-61DB-4FA1-B848-E65728869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6F1E2-559E-CD40-8FDD-BC65FD519493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C2AEF-4D55-9A24-FF98-3CEC08B54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8C02C8-844E-61C6-F987-B52C773D2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651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C53C9-46A4-B3A7-22BF-DA94839C1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Trix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586C9-2E18-8D92-6DDC-2AFA12C6E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rails new </a:t>
            </a:r>
            <a:r>
              <a:rPr lang="en-US" sz="2400" dirty="0" err="1"/>
              <a:t>trix</a:t>
            </a:r>
            <a:endParaRPr lang="en-US" sz="2400" dirty="0"/>
          </a:p>
          <a:p>
            <a:r>
              <a:rPr lang="en-US" sz="2400" dirty="0"/>
              <a:t>cd </a:t>
            </a:r>
            <a:r>
              <a:rPr lang="en-US" sz="2400" dirty="0" err="1"/>
              <a:t>trix</a:t>
            </a:r>
            <a:endParaRPr lang="en-US" sz="2400" dirty="0"/>
          </a:p>
          <a:p>
            <a:r>
              <a:rPr lang="en-US" sz="2400" dirty="0"/>
              <a:t>./bin/rails </a:t>
            </a:r>
            <a:r>
              <a:rPr lang="en-US" sz="2400" dirty="0" err="1"/>
              <a:t>action_text:install</a:t>
            </a:r>
            <a:endParaRPr lang="en-US" sz="2400" dirty="0"/>
          </a:p>
          <a:p>
            <a:r>
              <a:rPr lang="en-US" sz="2400" dirty="0"/>
              <a:t>./bin/rails generate scaffold Message </a:t>
            </a:r>
            <a:r>
              <a:rPr lang="en-US" sz="2400" dirty="0" err="1"/>
              <a:t>content:rich_text</a:t>
            </a:r>
            <a:endParaRPr lang="en-US" sz="2400" dirty="0"/>
          </a:p>
          <a:p>
            <a:r>
              <a:rPr lang="en-US" sz="2400" dirty="0"/>
              <a:t>./bin/rails </a:t>
            </a:r>
            <a:r>
              <a:rPr lang="en-US" sz="2400" dirty="0" err="1"/>
              <a:t>db:migrate</a:t>
            </a:r>
            <a:endParaRPr lang="en-US" sz="2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D43FAB-43EF-5AB3-31A7-CA74307DE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C0705-4495-8D4A-8E55-F91F7F0B9562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ED21B-437A-7D8C-D49B-0EAB6AC99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7EF48-E94F-D52B-224A-1E04D2426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103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12235-BEB4-13E8-3CF0-439706F37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Cascading Style Sheets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9ABE5D-D1B8-DB9A-24A7-EF34E37ABF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Separation of concerns</a:t>
            </a:r>
          </a:p>
          <a:p>
            <a:pPr lvl="1"/>
            <a:r>
              <a:rPr lang="en-US" dirty="0"/>
              <a:t>HTML: document structure</a:t>
            </a:r>
          </a:p>
          <a:p>
            <a:pPr lvl="1"/>
            <a:r>
              <a:rPr lang="en-US" dirty="0"/>
              <a:t>CSS: document style</a:t>
            </a:r>
          </a:p>
          <a:p>
            <a:pPr lvl="1"/>
            <a:r>
              <a:rPr lang="en-US" dirty="0"/>
              <a:t>JavaScript: interactivity</a:t>
            </a:r>
          </a:p>
          <a:p>
            <a:r>
              <a:rPr lang="en-US" dirty="0"/>
              <a:t>Helps with consistency of style</a:t>
            </a:r>
          </a:p>
          <a:p>
            <a:pPr lvl="1"/>
            <a:r>
              <a:rPr lang="en-US" dirty="0"/>
              <a:t>DRY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CC35C3-575D-E740-F6A0-7237EE5DA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5FA16-E373-094F-836C-8CF74F19E0EA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FFF81-D2FA-C999-D3E5-D8606ECE1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C45B6C-AD4C-4F05-0224-23D08897F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900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2CB1C-9D96-A59B-58C2-C1BE43210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98D2B-EA63-B3F7-41B1-8DFB020BF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Helps with differing screen sizes</a:t>
            </a:r>
          </a:p>
          <a:p>
            <a:r>
              <a:rPr lang="en-US" dirty="0"/>
              <a:t>Rails has five frameworks available</a:t>
            </a:r>
          </a:p>
          <a:p>
            <a:pPr lvl="1"/>
            <a:r>
              <a:rPr lang="en-US" dirty="0"/>
              <a:t>E.g., menu vs. hamburger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CC7269-18FE-A487-796E-286D2E9D2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4CD1E-0B0E-CE4D-B6AC-D8F996642D51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C593B-567C-63E2-FDDB-A492F1276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643CC-35A1-CD7E-BFAB-E41216BDE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81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1CE13-86A8-E505-19D4-CF25CB965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Tailwind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8D15-3FF0-20EB-1773-C5286F66D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rails new Todos --minimal --</a:t>
            </a:r>
            <a:r>
              <a:rPr lang="en-US" dirty="0" err="1"/>
              <a:t>css</a:t>
            </a:r>
            <a:r>
              <a:rPr lang="en-US" dirty="0"/>
              <a:t>=tailwind</a:t>
            </a:r>
          </a:p>
          <a:p>
            <a:r>
              <a:rPr lang="en-US" dirty="0"/>
              <a:t>cd Todos</a:t>
            </a:r>
          </a:p>
          <a:p>
            <a:r>
              <a:rPr lang="en-US" dirty="0"/>
              <a:t>rails </a:t>
            </a:r>
            <a:r>
              <a:rPr lang="en-US" dirty="0" err="1"/>
              <a:t>tailwindcss:build</a:t>
            </a:r>
            <a:endParaRPr lang="en-US" dirty="0"/>
          </a:p>
          <a:p>
            <a:r>
              <a:rPr lang="en-US" dirty="0"/>
              <a:t>rails generate scaffold Item </a:t>
            </a:r>
            <a:r>
              <a:rPr lang="en-US" dirty="0" err="1"/>
              <a:t>what:string</a:t>
            </a:r>
            <a:r>
              <a:rPr lang="en-US" dirty="0"/>
              <a:t> </a:t>
            </a:r>
            <a:r>
              <a:rPr lang="en-US" dirty="0" err="1"/>
              <a:t>when:date</a:t>
            </a:r>
            <a:endParaRPr lang="en-US" dirty="0"/>
          </a:p>
          <a:p>
            <a:r>
              <a:rPr lang="en-US" dirty="0"/>
              <a:t>rails </a:t>
            </a:r>
            <a:r>
              <a:rPr lang="en-US" dirty="0" err="1"/>
              <a:t>db:migrate</a:t>
            </a:r>
            <a:endParaRPr lang="en-US" dirty="0"/>
          </a:p>
          <a:p>
            <a:r>
              <a:rPr lang="en-US" dirty="0"/>
              <a:t>rails server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B3795-34C1-F2A4-A70C-B38CD179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ACF1B-4B08-B74D-9BB0-08D9597D5D0C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448A2-D132-20A4-CFD1-3930BAFF9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84012-167A-ED19-F64C-2079E2193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9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BCFBA-766F-CFF8-FC35-A2F325447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Just In Time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D51E81-2C06-E9A5-F7C6-D56CCB8D72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Changes in CSS are not immediately seen</a:t>
            </a:r>
          </a:p>
          <a:p>
            <a:pPr lvl="1"/>
            <a:r>
              <a:rPr lang="en-US" dirty="0"/>
              <a:t>Keeps traffic down, speeds up reloads</a:t>
            </a:r>
          </a:p>
          <a:p>
            <a:pPr lvl="1"/>
            <a:r>
              <a:rPr lang="en-US" dirty="0"/>
              <a:t>Part of the asset pipeline used to send data</a:t>
            </a:r>
          </a:p>
          <a:p>
            <a:r>
              <a:rPr lang="en-US" dirty="0"/>
              <a:t>To rebuild the package that is delivered each time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./bin/dev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DDF4C8-EC16-B864-0373-0B627388C1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E85FF-3CFF-3E48-8F83-05377E2A1EC9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14D023-6F76-E97E-7651-F973FB109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0ADF3-51F7-6C88-AC6E-144BB1488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595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AD62-3408-8C85-3D8D-7953C6628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Asset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01E3B-AEE0-04A4-681A-211D376A5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Creates the final content sent from disparate sources</a:t>
            </a:r>
          </a:p>
          <a:p>
            <a:pPr lvl="1"/>
            <a:r>
              <a:rPr lang="en-US" dirty="0"/>
              <a:t>HTML, CSS, JavaScript, etc.</a:t>
            </a:r>
          </a:p>
          <a:p>
            <a:r>
              <a:rPr lang="en-US" dirty="0"/>
              <a:t>Rails has Sprockets that creates a single response to send</a:t>
            </a:r>
          </a:p>
          <a:p>
            <a:pPr lvl="1"/>
            <a:r>
              <a:rPr lang="en-US" dirty="0"/>
              <a:t>No additional requests needed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734FA-708B-0946-9916-E0FFCD8F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3CCF6-9DD5-7944-99F3-DF3412A0C717}" type="datetime1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8C67A-34A2-34C9-2123-EB7CC9392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834ACA-DFC1-112C-48EB-6067A518F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23A44-C1E5-0B49-AAF6-7E9549B7BFD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239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SU Denver 16x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9DA9736E-330F-4D40-A0AF-1CC780C29072}" vid="{881790AE-4280-6941-9F6C-19A6C408C4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</Template>
  <TotalTime>10057</TotalTime>
  <Words>1312</Words>
  <Application>Microsoft Macintosh PowerPoint</Application>
  <PresentationFormat>Widescreen</PresentationFormat>
  <Paragraphs>268</Paragraphs>
  <Slides>26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Arial</vt:lpstr>
      <vt:lpstr>Calibri</vt:lpstr>
      <vt:lpstr>Courier New</vt:lpstr>
      <vt:lpstr>Menlo</vt:lpstr>
      <vt:lpstr>MSU Denver 16x9</vt:lpstr>
      <vt:lpstr>Views</vt:lpstr>
      <vt:lpstr>Most Familiar</vt:lpstr>
      <vt:lpstr>Accessibility</vt:lpstr>
      <vt:lpstr>Four Principles</vt:lpstr>
      <vt:lpstr>More Information</vt:lpstr>
      <vt:lpstr>Embedded Ruby</vt:lpstr>
      <vt:lpstr>Three Types</vt:lpstr>
      <vt:lpstr>Called</vt:lpstr>
      <vt:lpstr>ERB Example</vt:lpstr>
      <vt:lpstr>View Helpers</vt:lpstr>
      <vt:lpstr>Preview: rails routes</vt:lpstr>
      <vt:lpstr>PowerPoint Presentation</vt:lpstr>
      <vt:lpstr>Partials</vt:lpstr>
      <vt:lpstr>views/items/_item.html.erb</vt:lpstr>
      <vt:lpstr>Render Will Iterate</vt:lpstr>
      <vt:lpstr>Internationalization (I18N)</vt:lpstr>
      <vt:lpstr>Localization (L10N)</vt:lpstr>
      <vt:lpstr>Bad Example</vt:lpstr>
      <vt:lpstr>Now</vt:lpstr>
      <vt:lpstr>Rich Text Editor</vt:lpstr>
      <vt:lpstr>Trix</vt:lpstr>
      <vt:lpstr>Cascading Style Sheets</vt:lpstr>
      <vt:lpstr>CSS</vt:lpstr>
      <vt:lpstr>Tailwind</vt:lpstr>
      <vt:lpstr>Just In Time</vt:lpstr>
      <vt:lpstr>Asset 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Beaty</dc:creator>
  <cp:lastModifiedBy>Steve Beaty</cp:lastModifiedBy>
  <cp:revision>12</cp:revision>
  <dcterms:created xsi:type="dcterms:W3CDTF">2025-07-22T14:26:01Z</dcterms:created>
  <dcterms:modified xsi:type="dcterms:W3CDTF">2026-10-08T20:05:20Z</dcterms:modified>
</cp:coreProperties>
</file>