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0" r:id="rId1"/>
  </p:sldMasterIdLst>
  <p:notesMasterIdLst>
    <p:notesMasterId r:id="rId104"/>
  </p:notesMasterIdLst>
  <p:sldIdLst>
    <p:sldId id="256" r:id="rId2"/>
    <p:sldId id="275" r:id="rId3"/>
    <p:sldId id="257" r:id="rId4"/>
    <p:sldId id="258" r:id="rId5"/>
    <p:sldId id="259" r:id="rId6"/>
    <p:sldId id="260" r:id="rId7"/>
    <p:sldId id="262" r:id="rId8"/>
    <p:sldId id="261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  <p:sldId id="381" r:id="rId62"/>
    <p:sldId id="317" r:id="rId63"/>
    <p:sldId id="318" r:id="rId64"/>
    <p:sldId id="319" r:id="rId65"/>
    <p:sldId id="320" r:id="rId66"/>
    <p:sldId id="321" r:id="rId67"/>
    <p:sldId id="322" r:id="rId68"/>
    <p:sldId id="330" r:id="rId69"/>
    <p:sldId id="323" r:id="rId70"/>
    <p:sldId id="324" r:id="rId71"/>
    <p:sldId id="325" r:id="rId72"/>
    <p:sldId id="326" r:id="rId73"/>
    <p:sldId id="355" r:id="rId74"/>
    <p:sldId id="354" r:id="rId75"/>
    <p:sldId id="356" r:id="rId76"/>
    <p:sldId id="357" r:id="rId77"/>
    <p:sldId id="285" r:id="rId78"/>
    <p:sldId id="351" r:id="rId79"/>
    <p:sldId id="358" r:id="rId80"/>
    <p:sldId id="327" r:id="rId81"/>
    <p:sldId id="329" r:id="rId82"/>
    <p:sldId id="328" r:id="rId83"/>
    <p:sldId id="372" r:id="rId84"/>
    <p:sldId id="359" r:id="rId85"/>
    <p:sldId id="369" r:id="rId86"/>
    <p:sldId id="370" r:id="rId87"/>
    <p:sldId id="371" r:id="rId88"/>
    <p:sldId id="361" r:id="rId89"/>
    <p:sldId id="362" r:id="rId90"/>
    <p:sldId id="363" r:id="rId91"/>
    <p:sldId id="364" r:id="rId92"/>
    <p:sldId id="365" r:id="rId93"/>
    <p:sldId id="366" r:id="rId94"/>
    <p:sldId id="367" r:id="rId95"/>
    <p:sldId id="373" r:id="rId96"/>
    <p:sldId id="374" r:id="rId97"/>
    <p:sldId id="375" r:id="rId98"/>
    <p:sldId id="376" r:id="rId99"/>
    <p:sldId id="377" r:id="rId100"/>
    <p:sldId id="378" r:id="rId101"/>
    <p:sldId id="379" r:id="rId102"/>
    <p:sldId id="380" r:id="rId10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16"/>
    <p:restoredTop sz="94542"/>
  </p:normalViewPr>
  <p:slideViewPr>
    <p:cSldViewPr snapToGrid="0">
      <p:cViewPr varScale="1">
        <p:scale>
          <a:sx n="82" d="100"/>
          <a:sy n="82" d="100"/>
        </p:scale>
        <p:origin x="8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theme" Target="theme/theme1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AFFC25-7D9C-3148-BAE3-9461709ECBC8}" type="datetimeFigureOut">
              <a:rPr lang="en-US" smtClean="0"/>
              <a:t>10/8/26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3015E-46F7-BA42-920D-B0F9D08B09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2934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23015E-46F7-BA42-920D-B0F9D08B091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0315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23015E-46F7-BA42-920D-B0F9D08B091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9434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23015E-46F7-BA42-920D-B0F9D08B091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2579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23015E-46F7-BA42-920D-B0F9D08B091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9539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23015E-46F7-BA42-920D-B0F9D08B091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3038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23015E-46F7-BA42-920D-B0F9D08B091E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851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23015E-46F7-BA42-920D-B0F9D08B091E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8877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23015E-46F7-BA42-920D-B0F9D08B091E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2651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23015E-46F7-BA42-920D-B0F9D08B091E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4298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en.wikipedia.org</a:t>
            </a:r>
            <a:r>
              <a:rPr lang="en-US" dirty="0"/>
              <a:t>/wiki/</a:t>
            </a:r>
            <a:r>
              <a:rPr lang="en-US" dirty="0" err="1"/>
              <a:t>Alice_and_Bob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93896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xkcd.com</a:t>
            </a:r>
            <a:r>
              <a:rPr lang="en-US" dirty="0"/>
              <a:t>/2691</a:t>
            </a:r>
          </a:p>
        </p:txBody>
      </p:sp>
    </p:spTree>
    <p:extLst>
      <p:ext uri="{BB962C8B-B14F-4D97-AF65-F5344CB8AC3E}">
        <p14:creationId xmlns:p14="http://schemas.microsoft.com/office/powerpoint/2010/main" val="24985728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02079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en.wikipedia.org</a:t>
            </a:r>
            <a:r>
              <a:rPr lang="en-US" dirty="0"/>
              <a:t>/wiki/</a:t>
            </a:r>
            <a:r>
              <a:rPr lang="en-US" dirty="0" err="1"/>
              <a:t>Ross_Ulbricht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23015E-46F7-BA42-920D-B0F9D08B091E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3201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en.wikipedia.org</a:t>
            </a:r>
            <a:r>
              <a:rPr lang="en-US" dirty="0"/>
              <a:t>/wiki/</a:t>
            </a:r>
            <a:r>
              <a:rPr lang="en-US" dirty="0" err="1"/>
              <a:t>Silk_Road</a:t>
            </a:r>
            <a:r>
              <a:rPr lang="en-US" dirty="0"/>
              <a:t>_(marketplace)#Silk_Road_2.0</a:t>
            </a:r>
          </a:p>
        </p:txBody>
      </p:sp>
    </p:spTree>
    <p:extLst>
      <p:ext uri="{BB962C8B-B14F-4D97-AF65-F5344CB8AC3E}">
        <p14:creationId xmlns:p14="http://schemas.microsoft.com/office/powerpoint/2010/main" val="21595186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en.wikipedia.org</a:t>
            </a:r>
            <a:r>
              <a:rPr lang="en-US" dirty="0"/>
              <a:t>/wiki/</a:t>
            </a:r>
            <a:r>
              <a:rPr lang="en-US" dirty="0" err="1"/>
              <a:t>AlphaBay</a:t>
            </a:r>
            <a:endParaRPr lang="en-US" dirty="0"/>
          </a:p>
          <a:p>
            <a:r>
              <a:rPr lang="en-US" dirty="0"/>
              <a:t>Have everyone bring up tor and search for </a:t>
            </a:r>
            <a:r>
              <a:rPr lang="en-US" dirty="0" err="1"/>
              <a:t>herion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6253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1058940"/>
            <a:ext cx="10363200" cy="1470025"/>
          </a:xfrm>
          <a:solidFill>
            <a:schemeClr val="bg1">
              <a:alpha val="95000"/>
            </a:schemeClr>
          </a:solidFill>
          <a:effectLst>
            <a:softEdge rad="63500"/>
          </a:effectLst>
        </p:spPr>
        <p:txBody>
          <a:bodyPr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 baseline="0" dirty="0">
                <a:solidFill>
                  <a:schemeClr val="tx1"/>
                </a:solidFill>
              </a:rPr>
              <a:t>Click to edit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2281187" y="2983612"/>
            <a:ext cx="7609479" cy="1009561"/>
          </a:xfrm>
          <a:prstGeom prst="roundRect">
            <a:avLst>
              <a:gd name="adj" fmla="val 37895"/>
            </a:avLst>
          </a:prstGeom>
          <a:solidFill>
            <a:schemeClr val="bg1">
              <a:alpha val="95000"/>
            </a:schemeClr>
          </a:solidFill>
          <a:effectLst>
            <a:softEdge rad="63500"/>
          </a:effectLst>
        </p:spPr>
        <p:txBody>
          <a:bodyPr anchor="ctr" anchorCtr="0"/>
          <a:lstStyle>
            <a:lvl1pPr marL="0" indent="0" algn="ctr">
              <a:buNone/>
              <a:defRPr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B409C91-6E3E-5409-2F44-4E770C50190C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8AABFC5D-56BF-F140-A0A3-12E4C10EEF12}" type="datetime1">
              <a:rPr lang="en-US" smtClean="0"/>
              <a:t>10/8/26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4118C6-B924-AA1F-AEFC-17607998D78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E93608-8881-8010-4D06-440F9FBB6BE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37D050C8-32A2-8944-BC0A-E76DEAECED1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989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B39033B-5031-2DE5-AF8A-E269BDEE8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06D07F-8D50-8442-9118-6B8C63209AAC}" type="datetime1">
              <a:rPr lang="en-US" smtClean="0"/>
              <a:t>10/8/26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CC0AD20-1FAB-5697-725E-A23B4E11A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10" name="SlideNumberWithTotal">
            <a:extLst>
              <a:ext uri="{FF2B5EF4-FFF2-40B4-BE49-F238E27FC236}">
                <a16:creationId xmlns:a16="http://schemas.microsoft.com/office/drawing/2014/main" id="{C85ADDAF-31A4-85DD-32A3-DD43B60F6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708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  <a:ln w="25400">
            <a:solidFill>
              <a:schemeClr val="tx1"/>
            </a:solidFill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EEF9C46-CD18-5177-41DC-5A44F050B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6F3CDB-3FBB-014D-B8AB-A2E905FA2F7B}" type="datetime1">
              <a:rPr lang="en-US" smtClean="0"/>
              <a:t>10/8/26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6447FE1-5C78-6FAD-D883-46A9B247C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BEAED22-447D-B036-C934-3337B57F5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4054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wo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2488"/>
            <a:ext cx="5321600" cy="4525963"/>
          </a:xfrm>
          <a:ln w="25400" cap="flat">
            <a:solidFill>
              <a:schemeClr val="tx1"/>
            </a:solidFill>
            <a:round/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F3C3831-60B9-204A-AB0D-53E619F83C5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0800" y="1592837"/>
            <a:ext cx="5321600" cy="4525963"/>
          </a:xfrm>
          <a:ln w="25400">
            <a:solidFill>
              <a:schemeClr val="tx1"/>
            </a:solidFill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1D19512-769A-1A2D-AE4B-615827F538D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02D8663-2FDA-D844-8514-993DB841494F}" type="datetime1">
              <a:rPr lang="en-US" smtClean="0"/>
              <a:t>10/8/26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8537417-0F7B-4AB8-2913-FC8911CF4DF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C508543-3E8A-F349-1E14-7A34163E0A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898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406052" y="6308727"/>
            <a:ext cx="1169155" cy="485424"/>
          </a:xfrm>
          <a:prstGeom prst="rect">
            <a:avLst/>
          </a:prstGeom>
        </p:spPr>
        <p:txBody>
          <a:bodyPr/>
          <a:lstStyle/>
          <a:p>
            <a:fld id="{1B3AD073-AF83-3341-8CD7-C6A7EB7D5BB0}" type="datetime1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6505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92DC31-8A1B-D6EF-9DCB-F31748611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EEE30-5212-0641-AED8-5BB0ADA07053}" type="datetime1">
              <a:rPr lang="en-US" smtClean="0"/>
              <a:t>10/8/26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E733F8A-5589-31C8-DB78-246D75351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F4200DB-D3DA-2D0A-8CD3-6E48E32FC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107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C487D0D-A6BE-50D0-4804-465FF9AE0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FA3EF9-D462-A744-870F-15763033B82D}" type="datetime1">
              <a:rPr lang="en-US" smtClean="0"/>
              <a:t>10/8/26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F4343B0-C3EA-68AB-7293-4C580E1ED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98496D9-0557-9109-1A11-35D97D8FD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23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B955B-3757-0FEC-8150-652A2829B6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921168"/>
            <a:ext cx="9144000" cy="1015663"/>
          </a:xfrm>
        </p:spPr>
        <p:txBody>
          <a:bodyPr anchor="ctr" anchorCtr="0">
            <a:sp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Section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23134-95A2-6423-76C0-9D75A168C9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CB1C6-D031-A34B-B60F-B1CBB0EB3EC2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19F5F4-E2F3-BFD8-53AA-6A6F195FC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B90BEB-A9D1-FF29-0E8C-A755B6F98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334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Image"/>
          <p:cNvSpPr>
            <a:spLocks noGrp="1"/>
          </p:cNvSpPr>
          <p:nvPr>
            <p:ph type="pic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11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40302808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d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430305"/>
            <a:ext cx="10972800" cy="5695859"/>
          </a:xfrm>
          <a:ln w="25400">
            <a:solidFill>
              <a:schemeClr val="tx1"/>
            </a:solidFill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C6903-437A-4B49-865C-368179C972AE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868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oundRect">
            <a:avLst>
              <a:gd name="adj" fmla="val 44167"/>
            </a:avLst>
          </a:prstGeom>
          <a:solidFill>
            <a:schemeClr val="bg1">
              <a:alpha val="95000"/>
            </a:schemeClr>
          </a:solidFill>
          <a:effectLst>
            <a:softEdge rad="0"/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oundRect">
            <a:avLst/>
          </a:prstGeom>
          <a:solidFill>
            <a:schemeClr val="bg1">
              <a:alpha val="95000"/>
            </a:schemeClr>
          </a:solidFill>
          <a:effectLst>
            <a:softEdge rad="63500"/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881809" y="6308727"/>
            <a:ext cx="7945363" cy="487680"/>
          </a:xfrm>
          <a:prstGeom prst="roundRect">
            <a:avLst>
              <a:gd name="adj" fmla="val 48894"/>
            </a:avLst>
          </a:prstGeom>
          <a:solidFill>
            <a:schemeClr val="bg1"/>
          </a:solidFill>
          <a:effectLst>
            <a:softEdge rad="63500"/>
          </a:effectLst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34686" y="6308727"/>
            <a:ext cx="879777" cy="487680"/>
          </a:xfrm>
          <a:prstGeom prst="roundRect">
            <a:avLst>
              <a:gd name="adj" fmla="val 43034"/>
            </a:avLst>
          </a:prstGeom>
          <a:solidFill>
            <a:schemeClr val="bg1"/>
          </a:solidFill>
          <a:effectLst>
            <a:softEdge rad="63500"/>
          </a:effectLst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E08FFA-7F03-3A4E-B3F8-2C550F8B5FDD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B6740CB2-DC30-5DDB-24B8-219C9C3F59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5141" y="6308727"/>
            <a:ext cx="1169155" cy="487680"/>
          </a:xfrm>
          <a:prstGeom prst="roundRect">
            <a:avLst>
              <a:gd name="adj" fmla="val 48894"/>
            </a:avLst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lvl1pPr algn="ctr">
              <a:defRPr sz="1600"/>
            </a:lvl1pPr>
          </a:lstStyle>
          <a:p>
            <a:fld id="{8D3945F7-7F0E-5B4D-B24D-D6BEFF05099E}" type="datetime1">
              <a:rPr lang="en-US" smtClean="0"/>
              <a:t>10/8/26</a:t>
            </a:fld>
            <a:endParaRPr lang="en-US"/>
          </a:p>
        </p:txBody>
      </p:sp>
      <p:sp>
        <p:nvSpPr>
          <p:cNvPr id="7" name="SlideTotal">
            <a:extLst>
              <a:ext uri="{FF2B5EF4-FFF2-40B4-BE49-F238E27FC236}">
                <a16:creationId xmlns:a16="http://schemas.microsoft.com/office/drawing/2014/main" id="{B74D5B4B-3C60-FF6A-4438-A067B7DE7333}"/>
              </a:ext>
            </a:extLst>
          </p:cNvPr>
          <p:cNvSpPr txBox="1">
            <a:spLocks/>
          </p:cNvSpPr>
          <p:nvPr/>
        </p:nvSpPr>
        <p:spPr>
          <a:xfrm>
            <a:off x="10702624" y="6308727"/>
            <a:ext cx="879777" cy="487680"/>
          </a:xfrm>
          <a:prstGeom prst="roundRect">
            <a:avLst>
              <a:gd name="adj" fmla="val 43034"/>
            </a:avLst>
          </a:prstGeom>
          <a:solidFill>
            <a:schemeClr val="bg1"/>
          </a:solidFill>
          <a:effectLst>
            <a:softEdge rad="63500"/>
          </a:effectLst>
        </p:spPr>
        <p:txBody>
          <a:bodyPr vert="horz" lIns="121920" tIns="60960" rIns="121920" bIns="6096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/>
              <a:t>102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743762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</p:sldLayoutIdLst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  <p:hf hdr="0"/>
  <p:txStyles>
    <p:titleStyle>
      <a:lvl1pPr algn="ctr" defTabSz="609555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66" indent="-457166" algn="l" defTabSz="609555" rtl="0" eaLnBrk="1" latinLnBrk="0" hangingPunct="1">
        <a:spcBef>
          <a:spcPct val="20000"/>
        </a:spcBef>
        <a:buFont typeface="Arial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26" indent="-380973" algn="l" defTabSz="609555" rtl="0" eaLnBrk="1" latinLnBrk="0" hangingPunct="1">
        <a:spcBef>
          <a:spcPct val="20000"/>
        </a:spcBef>
        <a:buFont typeface="Arial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885" indent="-304776" algn="l" defTabSz="609555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440" indent="-304776" algn="l" defTabSz="609555" rtl="0" eaLnBrk="1" latinLnBrk="0" hangingPunct="1">
        <a:spcBef>
          <a:spcPct val="20000"/>
        </a:spcBef>
        <a:buFont typeface="Arial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2994" indent="-304776" algn="l" defTabSz="609555" rtl="0" eaLnBrk="1" latinLnBrk="0" hangingPunct="1">
        <a:spcBef>
          <a:spcPct val="20000"/>
        </a:spcBef>
        <a:buFont typeface="Arial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6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0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6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ve.org/CVERecord?id=CVE-2005-0036" TargetMode="External"/><Relationship Id="rId2" Type="http://schemas.openxmlformats.org/officeDocument/2006/relationships/hyperlink" Target="https://www.cve.org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cve.org/CVERecord?id=CVE-2005-0038" TargetMode="External"/><Relationship Id="rId4" Type="http://schemas.openxmlformats.org/officeDocument/2006/relationships/hyperlink" Target="https://www.cve.org/CVERecord?id=CVE-2005-0037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anCanCommunity/cancancan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localhost:3000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letsencrypt.org/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torproject.org/download/" TargetMode="Externa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0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0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0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hyperlink" Target="http://yvudsnnux372gj2nvg3bnkficwf4niel6drfqyhbtglgdsf2l75xfqqd.onion/" TargetMode="Externa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0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hyperlink" Target="https://metrics.torproject.org/" TargetMode="Externa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hyperlink" Target="https://owasp.org/" TargetMode="Externa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AA05B8C-6186-B60F-D2F7-55F7D9AB9C2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Chapter 06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CC15E8-55B0-490D-9B7C-56EBF7423C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Security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F79CAF-E46B-0C5D-8B47-E678F05A0C6D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01D8007-15A8-6540-89C4-39125FAE3EB4}" type="datetime1">
              <a:rPr lang="en-US" smtClean="0"/>
              <a:t>10/8/26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88415C-E9C3-3895-3B4A-087A5BE350F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9F8FC8-D9E3-9EB6-63DA-0E0A2620AF2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37D050C8-32A2-8944-BC0A-E76DEAECED1E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3809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4557B-5361-1B39-F626-E97F0892D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Text 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AD3968-A9BB-3125-6BCD-B9EFF98B1D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Ruby code in fixed-width font and indented</a:t>
            </a:r>
          </a:p>
          <a:p>
            <a:pPr marL="609569" lvl="1" indent="0">
              <a:buNone/>
            </a:pP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root "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items#index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”</a:t>
            </a:r>
          </a:p>
          <a:p>
            <a:r>
              <a:rPr lang="en-US" dirty="0"/>
              <a:t>Command lines start with '$', are in a fixed-width font, and are not indented</a:t>
            </a:r>
          </a:p>
          <a:p>
            <a:pPr marL="0" indent="0">
              <a:buNone/>
            </a:pP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$ ls -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lta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640A3A-AA91-EBAA-A854-779D0A630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8523C5-967E-63C5-E5B7-80CA16918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2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6ED8F64-BB08-D3CB-CED7-9F40E2443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CF74A8-3A8A-C74E-8EB9-BBBDDB484573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411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D3117-E483-89A2-21D0-BAD472876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Sun Tzu, The Art of War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CC530C-7AD7-410F-0385-897B89C32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If you know the enemy and know yourself, you need not fear the result of a hundred battles</a:t>
            </a:r>
          </a:p>
          <a:p>
            <a:r>
              <a:rPr lang="en-US" dirty="0"/>
              <a:t> If you know yourself but not the enemy, for every victory gained you will also suffer a defeat</a:t>
            </a:r>
          </a:p>
          <a:p>
            <a:r>
              <a:rPr lang="en-US" dirty="0"/>
              <a:t>If you know neither the enemy nor yourself, you will succumb in every battle.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F14D98-AB19-A2BF-A086-8A0732984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921FF1-A5B0-4DDC-C0DA-7ACE840D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3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CC27C94-8A74-D1A2-7A1D-E052071B1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4EB0B-B8FE-6844-955A-E93D751DE863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0561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159C6A-F22A-996E-F8BF-C06A8023F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Security 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F3C4C-F40F-7197-4EE7-2599BEF3D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Common Vulnerabilities and Exposures (CVE) database (</a:t>
            </a:r>
            <a:r>
              <a:rPr lang="en-US" dirty="0">
                <a:hlinkClick r:id="rId2"/>
              </a:rPr>
              <a:t>https://www.cve.org/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40,077 a year = ~110</a:t>
            </a:r>
            <a:r>
              <a:rPr lang="en-US" b="1" dirty="0"/>
              <a:t> </a:t>
            </a:r>
            <a:r>
              <a:rPr lang="en-US" dirty="0"/>
              <a:t>new vulnerabilities per day</a:t>
            </a:r>
          </a:p>
          <a:p>
            <a:pPr lvl="1"/>
            <a:r>
              <a:rPr lang="en-US" dirty="0"/>
              <a:t>19,600 SQL vulnerabilities</a:t>
            </a:r>
          </a:p>
          <a:p>
            <a:pPr lvl="1"/>
            <a:r>
              <a:rPr lang="en-US" dirty="0"/>
              <a:t>39,497 cross-site scripting exposures</a:t>
            </a:r>
          </a:p>
          <a:p>
            <a:pPr lvl="1"/>
            <a:r>
              <a:rPr lang="en-US" dirty="0"/>
              <a:t>Everyone’s favorites</a:t>
            </a:r>
          </a:p>
          <a:p>
            <a:pPr lvl="2"/>
            <a:r>
              <a:rPr lang="en-US" dirty="0">
                <a:hlinkClick r:id="rId3"/>
              </a:rPr>
              <a:t>https://www.cve.org/CVERecord?id=CVE-2005-0036</a:t>
            </a:r>
            <a:r>
              <a:rPr lang="en-US" dirty="0"/>
              <a:t> </a:t>
            </a:r>
            <a:r>
              <a:rPr lang="en-US" dirty="0">
                <a:hlinkClick r:id="rId4"/>
              </a:rPr>
              <a:t>https://www.cve.org/CVERecord?id=CVE-2005-0037</a:t>
            </a:r>
            <a:r>
              <a:rPr lang="en-US" dirty="0"/>
              <a:t>  </a:t>
            </a:r>
            <a:r>
              <a:rPr lang="en-US" dirty="0">
                <a:hlinkClick r:id="rId5"/>
              </a:rPr>
              <a:t>https://www.cve.org/CVERecord?id=CVE-2005-0038</a:t>
            </a:r>
            <a:r>
              <a:rPr lang="en-US" dirty="0"/>
              <a:t> </a:t>
            </a:r>
          </a:p>
          <a:p>
            <a:r>
              <a:rPr lang="en-US" dirty="0"/>
              <a:t>As more IoT devices have built-in web servers, our attack surface increases along with our responsibility.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9E92E2-E6DA-700B-892B-102F9CD90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25C7F5-0E11-2F3F-235B-DFEE11C84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4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5D3DCC4-A665-126E-A9FE-A739015E2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28247-2DF1-D34C-A8F8-80E39BB33D1F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974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969ED-864A-03AD-1DAD-C2256D6F8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Learning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C2419-3487-7FE5-29AD-5DBA54CED1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By the end of this chapter, you will be able to</a:t>
            </a:r>
          </a:p>
          <a:p>
            <a:pPr lvl="1"/>
            <a:r>
              <a:rPr lang="en-US" dirty="0"/>
              <a:t>Create secure applications resistant to SQL and XSS injections</a:t>
            </a:r>
          </a:p>
          <a:p>
            <a:pPr lvl="1"/>
            <a:r>
              <a:rPr lang="en-US" dirty="0"/>
              <a:t>Generate applications requiring authentication and authorization</a:t>
            </a:r>
          </a:p>
          <a:p>
            <a:pPr lvl="1"/>
            <a:r>
              <a:rPr lang="en-US" dirty="0"/>
              <a:t>Construct applications with data encrypted at rest and in flight</a:t>
            </a:r>
          </a:p>
          <a:p>
            <a:pPr lvl="1"/>
            <a:r>
              <a:rPr lang="en-US" dirty="0"/>
              <a:t>Augment your server with CORS directives</a:t>
            </a:r>
          </a:p>
          <a:p>
            <a:pPr lvl="1"/>
            <a:r>
              <a:rPr lang="en-US" dirty="0"/>
              <a:t>Browse the dark web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ECD8FA-FC73-A918-5C58-BD29B4585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536E0D-5AA6-9E6B-B874-ACA40E6DF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5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BBD26F9-E19D-94DE-DCFE-6B4E416FA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D6555-D0E1-CB48-8B19-652F0BDDF194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731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4E35F-AF90-4874-CF02-8163003F9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Key Terms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FA994-C83D-93F3-790A-AA489136EB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Authentication - Proving who you are</a:t>
            </a:r>
          </a:p>
          <a:p>
            <a:r>
              <a:rPr lang="en-US" dirty="0"/>
              <a:t>Authorization - What you're allowed to do</a:t>
            </a:r>
          </a:p>
          <a:p>
            <a:r>
              <a:rPr lang="en-US" dirty="0"/>
              <a:t>Encryption at rest and in transit - Data protection</a:t>
            </a:r>
          </a:p>
          <a:p>
            <a:r>
              <a:rPr lang="en-US" dirty="0"/>
              <a:t>Static and dynamic code analysis - Security testing</a:t>
            </a:r>
          </a:p>
          <a:p>
            <a:r>
              <a:rPr lang="en-US" dirty="0"/>
              <a:t>Injections - Malicious input attacks</a:t>
            </a:r>
          </a:p>
          <a:p>
            <a:r>
              <a:rPr lang="en-US" dirty="0"/>
              <a:t>The dark web - Anonymous internet overlay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CCFD76-5CEC-5619-DAFC-EA569657F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BCDD7C-80B8-CEBB-E78D-3FD708B6B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6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A052629-F59D-137F-6D40-EEF26B004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4AE68-7244-7C40-AF9B-C9853FC86FFE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017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9CA5821-FA9A-12FC-194F-080515A14D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DB Encryption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02DF12-412E-291B-C9DE-569A2DF73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CCB634-527C-2EC8-909B-41DA05436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7</a:t>
            </a:fld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917BAA-2859-24EE-60A1-A81796244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227EF-FE04-EE47-8FD6-8548CF79ADB9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544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B33E0-81C4-1E99-B59E-BFCCD18C2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Active Record Encryption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4352FE-2C67-B33A-0AD4-B097B937E6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Sensitive data should be encrypted so that when exfiltrated, it cannot be read.</a:t>
            </a:r>
          </a:p>
          <a:p>
            <a:r>
              <a:rPr lang="en-US" dirty="0"/>
              <a:t>Two Types of Encryption:</a:t>
            </a:r>
          </a:p>
          <a:p>
            <a:pPr marL="1352519" lvl="1" indent="-742950">
              <a:buFont typeface="+mj-lt"/>
              <a:buAutoNum type="arabicPeriod"/>
            </a:pPr>
            <a:r>
              <a:rPr lang="en-US" dirty="0"/>
              <a:t>Non-deterministic - Same text produces different encrypted output</a:t>
            </a:r>
          </a:p>
          <a:p>
            <a:pPr marL="1352519" lvl="1" indent="-742950">
              <a:buFont typeface="+mj-lt"/>
              <a:buAutoNum type="arabicPeriod"/>
            </a:pPr>
            <a:r>
              <a:rPr lang="en-US" dirty="0"/>
              <a:t>Deterministic - Same text always produces the same encrypted output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A5C554-7114-1A51-9EF8-33A235D06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DEE946-9DA9-90C9-BC97-E727C8BDB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8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99678E3-474F-30BB-7193-DDAE4F979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35E5C-5CAB-BA4A-A09B-BCA9712D2410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88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80DD1-BD27-7F0D-3CC6-1D650D79E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Choosing Encryption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ABEC01-2B69-9166-7EF2-61DD6D5B02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Non-Deterministic</a:t>
            </a:r>
          </a:p>
          <a:p>
            <a:pPr lvl="1"/>
            <a:r>
              <a:rPr lang="en-US" dirty="0"/>
              <a:t>Stronger security</a:t>
            </a:r>
          </a:p>
          <a:p>
            <a:pPr lvl="1"/>
            <a:r>
              <a:rPr lang="en-US" dirty="0"/>
              <a:t>Cannot search encrypted fields</a:t>
            </a:r>
          </a:p>
          <a:p>
            <a:r>
              <a:rPr lang="en-US" dirty="0"/>
              <a:t>Deterministic:</a:t>
            </a:r>
          </a:p>
          <a:p>
            <a:pPr lvl="1"/>
            <a:r>
              <a:rPr lang="en-US" dirty="0"/>
              <a:t>Allows searching</a:t>
            </a:r>
          </a:p>
          <a:p>
            <a:pPr lvl="1"/>
            <a:r>
              <a:rPr lang="en-US" dirty="0"/>
              <a:t>Slightly weaker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7237FD-FA8D-ECA1-CAAD-13F8072BA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1A9206-2BEE-A5B4-E553-33FC658A9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9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20F898C-33BC-6192-831D-BAB4A2B54A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D26162-BFEB-A046-8E67-FD203923193A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3863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8C1F7-ECA8-1C60-F783-AF5F898A0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Initialize Encryption 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09041-09CB-0737-BDA1-FD09D24997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609569" lvl="1" indent="0">
              <a:buNone/>
            </a:pP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bin/rails </a:t>
            </a:r>
            <a:r>
              <a:rPr lang="en-US" sz="2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db:encryption:init</a:t>
            </a:r>
            <a:endParaRPr lang="en-US" sz="2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dirty="0"/>
              <a:t>Output</a:t>
            </a:r>
          </a:p>
          <a:p>
            <a:pPr marL="609569" lvl="1" indent="0">
              <a:buNone/>
            </a:pPr>
            <a:r>
              <a:rPr lang="en-US" sz="2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active_record_encryption</a:t>
            </a: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</a:t>
            </a:r>
          </a:p>
          <a:p>
            <a:pPr marL="609569" lvl="1" indent="0">
              <a:buNone/>
            </a:pP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</a:t>
            </a:r>
            <a:r>
              <a:rPr lang="en-US" sz="2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primary_key</a:t>
            </a: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a77fQ0lBeMehQtOaDy0m0vWVTLRBvInQ</a:t>
            </a:r>
          </a:p>
          <a:p>
            <a:pPr marL="609569" lvl="1" indent="0">
              <a:buNone/>
            </a:pP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</a:t>
            </a:r>
            <a:r>
              <a:rPr lang="en-US" sz="2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deterministic_key</a:t>
            </a: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cXf5O9hIpZuySQDuAxY4H8pk6aL3aduk</a:t>
            </a:r>
          </a:p>
          <a:p>
            <a:pPr marL="609569" lvl="1" indent="0">
              <a:buNone/>
            </a:pP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</a:t>
            </a:r>
            <a:r>
              <a:rPr lang="en-US" sz="2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key_derivation_salt</a:t>
            </a: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US" sz="2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LbZooLJhrUCdqWliVxlwgcqmOtPsQnRN</a:t>
            </a:r>
            <a:endParaRPr lang="en-US" sz="2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dirty="0"/>
              <a:t>Warning: Don't use these exact keys in production of course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E70E68-733E-7AFF-21E8-393635815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20A783-D808-A9F8-D61F-7910E78FE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10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3A97DBB-52E8-333D-6311-EB10999F6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9D289-5417-1949-9A24-2EA06ECAF374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9068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0851B-E41D-8E69-6900-9C4CFF25C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Configure Credentials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2FFD01-A86B-2945-A352-E094D02726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Add the encryption keys to your credentials</a:t>
            </a:r>
          </a:p>
          <a:p>
            <a:pPr marL="609569" lvl="1" indent="0">
              <a:buNone/>
            </a:pP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bin/rails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credentials:edit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dirty="0"/>
              <a:t>Add the four lines from initialization output</a:t>
            </a:r>
          </a:p>
          <a:p>
            <a:r>
              <a:rPr lang="en-US" dirty="0"/>
              <a:t>Now ready to encrypt model fields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DD0904-D986-19A8-286F-60DFCEDD8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7AF77C-FC2E-3A75-F568-546781CFB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11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E8722A9-C732-9F40-EC3B-690836D46E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078B5-E116-7445-8E6C-4432A27D4A83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0044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4111E-EA82-9E3C-32C2-9DBE1F6C9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Encrypt Model Attributes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67C9EA-E69A-5E61-868F-0DF42F01B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app/models/</a:t>
            </a:r>
            <a:r>
              <a:rPr lang="en-US" dirty="0" err="1"/>
              <a:t>item.rb</a:t>
            </a:r>
            <a:endParaRPr lang="en-US" dirty="0"/>
          </a:p>
          <a:p>
            <a:pPr marL="609569" lvl="1" indent="0">
              <a:buNone/>
            </a:pP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encrypts :what</a:t>
            </a:r>
          </a:p>
          <a:p>
            <a:r>
              <a:rPr lang="en-US" dirty="0"/>
              <a:t>Or</a:t>
            </a:r>
          </a:p>
          <a:p>
            <a:pPr marL="609569" lvl="1" indent="0">
              <a:buNone/>
            </a:pP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encrypts :what, deterministic: true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0DB2FE-002A-E4B5-4FFD-AA4CBCDCD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B7F947-4CF1-D52D-F3C2-B5B315E33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12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505ACCB-D131-7288-E992-9BE79BE73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939FD2-1EAA-8140-8140-4000072A148C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8270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15FA0-E2E9-12DF-44AE-BB82BF323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Encrypted Data Looks Like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F1FC27-EDD2-5C1D-994D-DC3CA47D1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609569" lvl="1" indent="0">
              <a:buNone/>
            </a:pP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INSERT INTO items</a:t>
            </a:r>
          </a:p>
          <a:p>
            <a:pPr marL="609569" lvl="1" indent="0">
              <a:buNone/>
            </a:pP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VALUES(1,'{"p":"pe8n","h":{"iv":"</a:t>
            </a:r>
            <a:r>
              <a:rPr lang="en-US" sz="2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yFiXHOKTlDoMTszy</a:t>
            </a: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",</a:t>
            </a:r>
          </a:p>
          <a:p>
            <a:pPr marL="609569" lvl="1" indent="0">
              <a:buNone/>
            </a:pP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"at":"1HVSccg9M2qzSla/</a:t>
            </a:r>
            <a:r>
              <a:rPr lang="en-US" sz="2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sdD+lQ</a:t>
            </a: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=="}}',</a:t>
            </a:r>
          </a:p>
          <a:p>
            <a:pPr marL="609569" lvl="1" indent="0">
              <a:buNone/>
            </a:pP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'2023-04-19','2023-04-19 10:46:30.880533',</a:t>
            </a:r>
          </a:p>
          <a:p>
            <a:pPr marL="609569" lvl="1" indent="0">
              <a:buNone/>
            </a:pP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'2023-04-19 10:46:30.880533');</a:t>
            </a:r>
          </a:p>
          <a:p>
            <a:r>
              <a:rPr lang="en-US" dirty="0"/>
              <a:t>Data are now protected even when the database is compromised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A94DEF-BE94-70C6-B5DB-49A0BEC45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75A7FE-36D3-3D5B-F7BA-0A33B6BE2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13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8D18F78-DDF8-FC39-647A-668431954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24A8A-3EAF-F24E-B6F1-1FFE882DD868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221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5E333-ADDD-534E-7F37-87EDC4B8F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Fix Tests with Encrypted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02D6C2-AB07-6433-F97B-D6D2C4D12F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Tests assume unencrypted fixture data</a:t>
            </a:r>
          </a:p>
          <a:p>
            <a:r>
              <a:rPr lang="en-US" dirty="0"/>
              <a:t>Add to `config/environments/</a:t>
            </a:r>
            <a:r>
              <a:rPr lang="en-US" dirty="0" err="1"/>
              <a:t>test.rb</a:t>
            </a:r>
            <a:r>
              <a:rPr lang="en-US" dirty="0"/>
              <a:t>`</a:t>
            </a:r>
          </a:p>
          <a:p>
            <a:pPr marL="609569" lvl="1" indent="0">
              <a:buNone/>
            </a:pPr>
            <a:r>
              <a:rPr lang="en-US" sz="2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config.active_record.encryption.encrypt_fixtures</a:t>
            </a: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true</a:t>
            </a:r>
          </a:p>
          <a:p>
            <a:r>
              <a:rPr lang="en-US" dirty="0"/>
              <a:t>This makes tests work with encrypted fixtures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E3D42F-8729-CF36-81CE-2474AD1B5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AB769C-9303-D331-0517-5EF4DD477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14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A84AA3B-ECA5-9D7B-F847-E2B7519CE9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6F30C-07C5-F14B-BEF2-9754B2DCD3E8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22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59098ED-5E87-53E3-32BC-0850E6436E1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Authentication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C91F63-632F-4882-993C-EC49B13C1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BBF9B-6267-321B-9CC1-99A888C41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15</a:t>
            </a:fld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D45E82-6A69-7DDB-ACF6-287C16ADC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C5F4EB-00FA-1F4F-B345-4E29955BF7A0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947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6291C2F-38DD-4DD1-5284-46FBC3146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Auth/n vs Auth/z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349B94-66C5-8569-2687-BFF9EF30C8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Authentication (auth/n):</a:t>
            </a:r>
          </a:p>
          <a:p>
            <a:pPr lvl="1"/>
            <a:r>
              <a:rPr lang="en-US" dirty="0"/>
              <a:t>Proving who you are</a:t>
            </a:r>
          </a:p>
          <a:p>
            <a:r>
              <a:rPr lang="en-US" dirty="0"/>
              <a:t>Authorization (auth/z):</a:t>
            </a:r>
          </a:p>
          <a:p>
            <a:pPr lvl="1"/>
            <a:r>
              <a:rPr lang="en-US" dirty="0"/>
              <a:t>What you're allowed to do</a:t>
            </a:r>
          </a:p>
          <a:p>
            <a:r>
              <a:rPr lang="en-US" dirty="0"/>
              <a:t>Important: These are different concepts</a:t>
            </a:r>
          </a:p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BB07BA-5C8A-69CD-2F11-28A6696B7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5F9251-774C-084F-AD1E-53F71DB10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16</a:t>
            </a:fld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0608CF-B4E4-CDFB-D470-285749585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5D052-984B-0D48-88A9-FA92A11CA769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9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665E7-12F8-E6B6-FCFA-C679A655C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Three Authentication Factors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A3A0A-9AD4-4721-B57F-BADF692D10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dirty="0"/>
              <a:t>Something you know</a:t>
            </a:r>
          </a:p>
          <a:p>
            <a:pPr marL="1276324" lvl="1" indent="-742950"/>
            <a:r>
              <a:rPr lang="en-US" dirty="0"/>
              <a:t>Passwords, PINs</a:t>
            </a:r>
          </a:p>
          <a:p>
            <a:pPr marL="742950" indent="-742950">
              <a:buFont typeface="+mj-lt"/>
              <a:buAutoNum type="arabicPeriod"/>
            </a:pPr>
            <a:r>
              <a:rPr lang="en-US" dirty="0"/>
              <a:t>Something you have</a:t>
            </a:r>
          </a:p>
          <a:p>
            <a:pPr marL="1276324" lvl="1" indent="-742950"/>
            <a:r>
              <a:rPr lang="en-US" dirty="0"/>
              <a:t>Phone, passport, driver's license</a:t>
            </a:r>
          </a:p>
          <a:p>
            <a:pPr marL="742950" indent="-742950">
              <a:buFont typeface="+mj-lt"/>
              <a:buAutoNum type="arabicPeriod"/>
            </a:pPr>
            <a:r>
              <a:rPr lang="en-US" dirty="0"/>
              <a:t>Something you are</a:t>
            </a:r>
          </a:p>
          <a:p>
            <a:pPr marL="1276324" lvl="1" indent="-742950"/>
            <a:r>
              <a:rPr lang="en-US" dirty="0"/>
              <a:t>Biometrics: fingerprint, facial recognition</a:t>
            </a:r>
          </a:p>
          <a:p>
            <a:r>
              <a:rPr lang="en-US" dirty="0"/>
              <a:t>MFA/2FA: Uses more than one factor (e.g., password + text message)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2EDFA4-C2AF-3040-17E5-1E7C719A97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4FA5E1-50C9-1989-3458-D0196A3C0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17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A588890-A7D4-AE92-9E1F-B9717DE03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89CD7-3A88-8C48-A6C0-23C03EE8BC89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330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BAD8C-4C5F-4DFF-F3BF-008BD077C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Devise Authentication Gem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3DF48-FDF8-EEBD-A9F2-0A66CB0002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GitHub: 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heartcombo</a:t>
            </a:r>
            <a:r>
              <a:rPr lang="en-US" dirty="0"/>
              <a:t>/devise</a:t>
            </a:r>
          </a:p>
          <a:p>
            <a:r>
              <a:rPr lang="en-US" dirty="0"/>
              <a:t>Features</a:t>
            </a:r>
          </a:p>
          <a:p>
            <a:pPr lvl="1"/>
            <a:r>
              <a:rPr lang="en-US" dirty="0"/>
              <a:t>Local database storage OR external authenticators (</a:t>
            </a:r>
            <a:r>
              <a:rPr lang="en-US" dirty="0" err="1"/>
              <a:t>OmniAuth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Email confirmation and password recovery</a:t>
            </a:r>
          </a:p>
          <a:p>
            <a:pPr lvl="1"/>
            <a:r>
              <a:rPr lang="en-US" dirty="0"/>
              <a:t>Login tracking and failed attempt locking</a:t>
            </a:r>
          </a:p>
          <a:p>
            <a:pPr lvl="1"/>
            <a:r>
              <a:rPr lang="en-US" dirty="0"/>
              <a:t>Session timeout configuration</a:t>
            </a:r>
          </a:p>
          <a:p>
            <a:r>
              <a:rPr lang="en-US" dirty="0"/>
              <a:t>Best practice: Use external authenticators to avoid storing credentials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6170D4-EC81-B765-1532-35EC01124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D8D113-7490-64CD-F6D8-8C6B88076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18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F5BBF81-FF8F-23F3-60E6-A854D80CE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E3EC42-C75C-2645-ADB1-62681F15D70E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504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825F8-361C-004A-80B3-32E2EF20F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 Setting Up Devise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29CDAB-6804-F622-EFC5-F886646828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609569" lvl="1" indent="0">
              <a:buNone/>
            </a:pP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bundle add devise</a:t>
            </a:r>
          </a:p>
          <a:p>
            <a:pPr marL="609569" lvl="1" indent="0">
              <a:buNone/>
            </a:pP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rails generate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devise:install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609569" lvl="1" indent="0">
              <a:buNone/>
            </a:pP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rails generate devise User</a:t>
            </a:r>
          </a:p>
          <a:p>
            <a:r>
              <a:rPr lang="en-US" dirty="0"/>
              <a:t>Configure features in:</a:t>
            </a:r>
          </a:p>
          <a:p>
            <a:pPr lvl="1"/>
            <a:r>
              <a:rPr lang="en-US" dirty="0"/>
              <a:t>app/models/</a:t>
            </a:r>
            <a:r>
              <a:rPr lang="en-US" dirty="0" err="1"/>
              <a:t>user.rb</a:t>
            </a:r>
            <a:endParaRPr lang="en-US" dirty="0"/>
          </a:p>
          <a:p>
            <a:pPr lvl="1"/>
            <a:r>
              <a:rPr lang="en-US" dirty="0" err="1"/>
              <a:t>db</a:t>
            </a:r>
            <a:r>
              <a:rPr lang="en-US" dirty="0"/>
              <a:t>/migrate/[...]_</a:t>
            </a:r>
            <a:r>
              <a:rPr lang="en-US" dirty="0" err="1"/>
              <a:t>devise_create_users.rb</a:t>
            </a:r>
            <a:endParaRPr lang="en-US" dirty="0"/>
          </a:p>
          <a:p>
            <a:pPr lvl="1"/>
            <a:r>
              <a:rPr lang="en-US" dirty="0"/>
              <a:t>config/initializers/</a:t>
            </a:r>
            <a:r>
              <a:rPr lang="en-US" dirty="0" err="1"/>
              <a:t>devise.rb</a:t>
            </a: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949F85-643A-6129-E7F1-D42A072CE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98F97B-81F0-E172-97F5-84CBC8930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19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774D610-C300-1A90-F1AE-1C4AD04D5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3E496-7C41-CA4E-8647-0404A71A58D0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629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EC2EE-2CAA-3D50-A67D-2B7863EEC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Devise Route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2D102-1021-0779-B169-7C973AF61A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Must have default route in ‘config/</a:t>
            </a:r>
            <a:r>
              <a:rPr lang="en-US" dirty="0" err="1"/>
              <a:t>routes.rb</a:t>
            </a:r>
            <a:r>
              <a:rPr lang="en-US" dirty="0"/>
              <a:t>’</a:t>
            </a:r>
          </a:p>
          <a:p>
            <a:pPr marL="609569" lvl="1" indent="0">
              <a:buNone/>
            </a:pP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root "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items#index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"</a:t>
            </a:r>
          </a:p>
          <a:p>
            <a:r>
              <a:rPr lang="en-US" dirty="0"/>
              <a:t>In controllers requiring authentication:</a:t>
            </a:r>
          </a:p>
          <a:p>
            <a:pPr marL="609569" lvl="1" indent="0">
              <a:buNone/>
            </a:pP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before_action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: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authenticate_user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!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243874-257E-5A91-E372-5A220A35F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36FF0C-82C7-2721-C892-60F90AF0C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20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804283E-4E9E-29F9-832B-947930C05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43A2E-8494-FD4A-BA43-793BDB16528D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336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9D37B-D5F3-42A3-707F-808E26BF0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Adding Logout Functionality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95BA55-CD37-7609-ACA3-1AA3D9F01C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 your HTML/ERB files</a:t>
            </a:r>
          </a:p>
          <a:p>
            <a:pPr marL="609569" lvl="1" indent="0">
              <a:buNone/>
            </a:pPr>
            <a:r>
              <a:rPr lang="en-US" sz="3000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&lt;%= </a:t>
            </a:r>
            <a:r>
              <a:rPr lang="en-US" sz="3000" dirty="0" err="1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link_to</a:t>
            </a:r>
            <a:r>
              <a:rPr lang="en-US" sz="3000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"Log out", </a:t>
            </a:r>
            <a:r>
              <a:rPr lang="en-US" sz="3000" dirty="0" err="1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destroy_user_session_path</a:t>
            </a:r>
            <a:r>
              <a:rPr lang="en-US" sz="3000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data: { "turbo-method": :delete } %&gt;</a:t>
            </a:r>
          </a:p>
          <a:p>
            <a:pPr marL="609569" lvl="1" indent="0">
              <a:buNone/>
            </a:pPr>
            <a:r>
              <a:rPr lang="en-US" sz="3000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&lt;%= </a:t>
            </a:r>
            <a:r>
              <a:rPr lang="en-US" sz="3000" dirty="0" err="1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button_to</a:t>
            </a:r>
            <a:r>
              <a:rPr lang="en-US" sz="3000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"Log out", </a:t>
            </a:r>
            <a:r>
              <a:rPr lang="en-US" sz="3000" dirty="0" err="1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destroy_user_session_path</a:t>
            </a:r>
            <a:r>
              <a:rPr lang="en-US" sz="3000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method: :delete  %&gt;</a:t>
            </a:r>
          </a:p>
          <a:p>
            <a:pPr marL="609569" lvl="1" indent="0">
              <a:buNone/>
            </a:pPr>
            <a:r>
              <a:rPr lang="en-US" dirty="0"/>
              <a:t>This creates a logout link that properly destroys the session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0F2E92-F0CC-3FE8-1C8B-1142C8BA9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99B79E-FBCA-D036-8CD0-02DA35147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21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D97A552-68E8-F214-65E6-1BDE74CCE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3B036-7000-A94E-8279-10AFB58179BB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103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423A7-C0C6-5BF3-49D9-BD15F15E0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Devise Test Helpers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5A9CE9-4BDE-16DB-090C-2C506216D1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At the top of controller tests: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 </a:t>
            </a:r>
            <a:r>
              <a:rPr lang="en-US" dirty="0" err="1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ItemsControllerTest</a:t>
            </a: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&lt; </a:t>
            </a:r>
            <a:r>
              <a:rPr lang="en-US" dirty="0" err="1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ActionDispatch</a:t>
            </a: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::</a:t>
            </a:r>
            <a:r>
              <a:rPr lang="en-US" dirty="0" err="1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IntegrationTest</a:t>
            </a:r>
            <a:endParaRPr lang="en-US" dirty="0">
              <a:solidFill>
                <a:schemeClr val="accent1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include Devise::Test::</a:t>
            </a:r>
            <a:r>
              <a:rPr lang="en-US" dirty="0" err="1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IntegrationHelpers</a:t>
            </a:r>
            <a:endParaRPr lang="en-US" dirty="0">
              <a:solidFill>
                <a:schemeClr val="accent1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609569" lvl="1" indent="0">
              <a:buNone/>
            </a:pPr>
            <a:b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setup do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  </a:t>
            </a:r>
            <a:r>
              <a:rPr lang="en-US" dirty="0" err="1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sign_in</a:t>
            </a: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users(:one)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  @item = items(:one)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end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737BC5-D5BF-5A77-787B-FBC0173D5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893B91-E27C-5EEC-A1F7-2CEF603ED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22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E855145-B8B4-A119-1AAD-CC154C3E0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A80CC-5C52-B543-8C20-D983D7ED9B96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082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5902F46-6252-78AA-5799-7681655D8BF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Authorization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50C68F-56C5-8335-D8C6-019133E91C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C16334-8AF2-7F89-3D01-E33A8A607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23</a:t>
            </a:fld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4B8AD0-2CC3-029B-9062-ABE9BE60D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869F2-6237-F847-BCAD-2D1521B9C07D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93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A85A962-916B-B05A-AE4C-2FB851B18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CanCanCan</a:t>
            </a:r>
            <a:r>
              <a:rPr lang="en-US" dirty="0"/>
              <a:t> Authorization Gem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930211-EE14-81CB-52AA-DAEDE193C2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GitHub: </a:t>
            </a:r>
            <a:r>
              <a:rPr lang="en-US" dirty="0">
                <a:hlinkClick r:id="rId2"/>
              </a:rPr>
              <a:t>https://github.com/CanCanCommunity/cancancan</a:t>
            </a:r>
            <a:endParaRPr lang="en-US" dirty="0"/>
          </a:p>
          <a:p>
            <a:r>
              <a:rPr lang="en-US" dirty="0"/>
              <a:t>Ability-Based Approach</a:t>
            </a:r>
          </a:p>
          <a:p>
            <a:pPr lvl="1"/>
            <a:r>
              <a:rPr lang="en-US" dirty="0"/>
              <a:t>Decouples users from permissions</a:t>
            </a:r>
          </a:p>
          <a:p>
            <a:pPr lvl="1"/>
            <a:r>
              <a:rPr lang="en-US" dirty="0"/>
              <a:t>More flexible than role-based</a:t>
            </a:r>
          </a:p>
          <a:p>
            <a:pPr lvl="1"/>
            <a:r>
              <a:rPr lang="en-US" dirty="0"/>
              <a:t>Integrates well with Devise</a:t>
            </a:r>
          </a:p>
          <a:p>
            <a:pPr lvl="1"/>
            <a:r>
              <a:rPr lang="en-US" dirty="0"/>
              <a:t>Decisions based on many factors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6D423C-DD1A-1130-1627-0C0C74430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63392D-F194-751D-2FBD-9340E9002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24</a:t>
            </a:fld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21F5CF-4DC8-8D2A-54D7-2D4FA55FB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0D798-53B2-6347-8DE1-E1045FE5B0FF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711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01D64-F391-E73A-A5A6-552350E88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Setting Up </a:t>
            </a:r>
            <a:r>
              <a:rPr lang="en-US" dirty="0" err="1"/>
              <a:t>CanCanCan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86F9E-F299-383F-D29B-3AC19642E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Assuming Devise is already installed: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$ bundle add </a:t>
            </a:r>
            <a:r>
              <a:rPr lang="en-US" dirty="0" err="1">
                <a:solidFill>
                  <a:schemeClr val="accent3"/>
                </a:solidFill>
              </a:rPr>
              <a:t>cancancan</a:t>
            </a:r>
            <a:endParaRPr lang="en-US" dirty="0">
              <a:solidFill>
                <a:schemeClr val="accent3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$ rails generate </a:t>
            </a:r>
            <a:r>
              <a:rPr lang="en-US" dirty="0" err="1">
                <a:solidFill>
                  <a:schemeClr val="accent3"/>
                </a:solidFill>
              </a:rPr>
              <a:t>cancan:ability</a:t>
            </a:r>
            <a:endParaRPr lang="en-US" dirty="0">
              <a:solidFill>
                <a:schemeClr val="accent3"/>
              </a:solidFill>
            </a:endParaRPr>
          </a:p>
          <a:p>
            <a:r>
              <a:rPr lang="en-US" dirty="0"/>
              <a:t>Creates `app/models/</a:t>
            </a:r>
            <a:r>
              <a:rPr lang="en-US" dirty="0" err="1"/>
              <a:t>ability.rb</a:t>
            </a:r>
            <a:r>
              <a:rPr lang="en-US" dirty="0"/>
              <a:t>` for defining permissions.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CBE06D-6276-072C-40C1-14EBCA454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AD106E-4C15-289B-B276-7BF8FFDB0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25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9924530-7FAA-F89A-D021-ABF20B13E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A774C-2FE5-D045-9858-5620ABB70D8E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27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0B8E3-88AA-5305-C62E-5E3C63433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Basic Ability Configuration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640ED3-04E1-E64F-0480-FC050A529C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In `app/models/</a:t>
            </a:r>
            <a:r>
              <a:rPr lang="en-US" dirty="0" err="1"/>
              <a:t>ability.rb</a:t>
            </a:r>
            <a:r>
              <a:rPr lang="en-US" dirty="0"/>
              <a:t>`: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 Ability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include </a:t>
            </a:r>
            <a:r>
              <a:rPr lang="en-US" dirty="0" err="1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CanCan</a:t>
            </a: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::Ability</a:t>
            </a:r>
          </a:p>
          <a:p>
            <a:pPr marL="609569" lvl="1" indent="0">
              <a:buNone/>
            </a:pPr>
            <a:endParaRPr lang="en-US" dirty="0">
              <a:solidFill>
                <a:schemeClr val="accent1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def initialize(user)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  return unless </a:t>
            </a:r>
            <a:r>
              <a:rPr lang="en-US" dirty="0" err="1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user.present</a:t>
            </a: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?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  can :read, :all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end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end</a:t>
            </a:r>
          </a:p>
          <a:p>
            <a:r>
              <a:rPr lang="en-US" dirty="0"/>
              <a:t>Only allows reading if user is logged in.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5FF00C-E806-2409-F0AB-18B4B1CB3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C51BE9-EABD-0BA3-1ABA-8B74F134C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26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5B72DDE-9F4F-1914-32FC-14AF389D8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014B12-300F-D544-8753-1DF08DFA1680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5882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B001D-587D-3FF3-D2A0-04EE60785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Using </a:t>
            </a:r>
            <a:r>
              <a:rPr lang="en-US" dirty="0" err="1"/>
              <a:t>CanCanCan</a:t>
            </a:r>
            <a:r>
              <a:rPr lang="en-US" dirty="0"/>
              <a:t> in Controllers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9AF690-50CF-19F1-DCDF-AF85F52ADC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‘app/controllers/</a:t>
            </a:r>
            <a:r>
              <a:rPr lang="en-US" dirty="0" err="1"/>
              <a:t>posts_controller.rb</a:t>
            </a:r>
            <a:r>
              <a:rPr lang="en-US" dirty="0"/>
              <a:t>’</a:t>
            </a:r>
          </a:p>
          <a:p>
            <a:pPr marL="609569" lvl="1" indent="0">
              <a:buNone/>
            </a:pP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 </a:t>
            </a:r>
            <a:r>
              <a:rPr lang="en-US" sz="20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PostsController</a:t>
            </a: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&lt; </a:t>
            </a:r>
            <a:r>
              <a:rPr lang="en-US" sz="20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ApplicationController</a:t>
            </a:r>
            <a:endParaRPr lang="en-US" sz="20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609569" lvl="1" indent="0">
              <a:buNone/>
            </a:pP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</a:t>
            </a:r>
            <a:r>
              <a:rPr lang="en-US" sz="20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before_action</a:t>
            </a: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:</a:t>
            </a:r>
            <a:r>
              <a:rPr lang="en-US" sz="20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authenticate_user</a:t>
            </a: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!</a:t>
            </a:r>
          </a:p>
          <a:p>
            <a:pPr marL="609569" lvl="1" indent="0">
              <a:buNone/>
            </a:pP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</a:t>
            </a:r>
            <a:r>
              <a:rPr lang="en-US" sz="20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before_action</a:t>
            </a: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:</a:t>
            </a:r>
            <a:r>
              <a:rPr lang="en-US" sz="20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set_post</a:t>
            </a: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only: %</a:t>
            </a:r>
            <a:r>
              <a:rPr lang="en-US" sz="20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</a:t>
            </a: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[show edit update destroy]</a:t>
            </a:r>
          </a:p>
          <a:p>
            <a:pPr marL="609569" lvl="1" indent="0">
              <a:buNone/>
            </a:pP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</a:t>
            </a:r>
            <a:r>
              <a:rPr lang="en-US" sz="20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load_and_authorize_resource</a:t>
            </a:r>
            <a:endParaRPr lang="en-US" sz="20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609569" lvl="1" indent="0">
              <a:buNone/>
            </a:pP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end</a:t>
            </a:r>
          </a:p>
          <a:p>
            <a:r>
              <a:rPr lang="en-US" dirty="0"/>
              <a:t>This is a simplistic example - </a:t>
            </a:r>
            <a:r>
              <a:rPr lang="en-US" dirty="0" err="1"/>
              <a:t>CanCanCan</a:t>
            </a:r>
            <a:r>
              <a:rPr lang="en-US" dirty="0"/>
              <a:t> allows much more flexibility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00FF7F-1E68-9D31-3E37-C47AAAF75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87CDE2-8F4D-2F86-1421-7C094DF51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27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ACCAB75-02AD-A34B-5DFC-58B6BEFAC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4B00C-A88B-C949-8319-0D13DB82509E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377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5310909-4B21-90D2-6DC7-0A5C47EB4E2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HTTPS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DB7B2B-955F-2868-0CDE-73B5BAAE4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9656B7-52D8-D1C2-CC1A-67FB1C816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28</a:t>
            </a:fld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A2948DB-7755-425C-EE04-6579D456D8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08249E-E113-9946-98B7-2902149F4992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642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E4E3939-36B6-A165-0C81-AC3DC010D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Securing Data in Transit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E6BE99-283E-C687-D3FD-10FAD852A8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Never use HTTP for production applications</a:t>
            </a:r>
          </a:p>
          <a:p>
            <a:r>
              <a:rPr lang="en-US" dirty="0"/>
              <a:t>HTTPS keeps all data secure during transmission.</a:t>
            </a:r>
          </a:p>
          <a:p>
            <a:r>
              <a:rPr lang="en-US" dirty="0"/>
              <a:t>Need</a:t>
            </a:r>
          </a:p>
          <a:p>
            <a:pPr lvl="1"/>
            <a:r>
              <a:rPr lang="en-US" dirty="0"/>
              <a:t>Public/private key pair</a:t>
            </a:r>
          </a:p>
          <a:p>
            <a:pPr lvl="1"/>
            <a:r>
              <a:rPr lang="en-US" dirty="0"/>
              <a:t>Certificate </a:t>
            </a:r>
          </a:p>
          <a:p>
            <a:pPr lvl="1"/>
            <a:r>
              <a:rPr lang="en-US" dirty="0"/>
              <a:t>Self-signed for dev, CA-signed for production</a:t>
            </a:r>
          </a:p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92B319-B562-B685-BBA0-580A430E6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24868C-4B33-E014-2132-5A07CC693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29</a:t>
            </a:fld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FD4C58-C9A5-BC4F-EA90-316B98AA9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DF089-CE49-E94E-AE15-523A52C62FD0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361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A4CAD-1FAD-7D03-4FEF-12921443B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Generate SSL Certificate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F528D7-700E-7C32-9E36-FF300FD90E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Using OpenSSL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$ </a:t>
            </a:r>
            <a:r>
              <a:rPr lang="en-US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openssl</a:t>
            </a: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req -x509 -sha256 -nodes \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-</a:t>
            </a:r>
            <a:r>
              <a:rPr lang="en-US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newkey</a:t>
            </a: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rsa:2048 -days 365 \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-</a:t>
            </a:r>
            <a:r>
              <a:rPr lang="en-US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keyout</a:t>
            </a: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US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localhost.key</a:t>
            </a: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-out </a:t>
            </a:r>
            <a:r>
              <a:rPr lang="en-US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localhost.crt</a:t>
            </a:r>
            <a:endParaRPr lang="en-US" dirty="0">
              <a:solidFill>
                <a:schemeClr val="accent3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dirty="0"/>
              <a:t>‘.key’ file = private key (keep secret)</a:t>
            </a:r>
          </a:p>
          <a:p>
            <a:r>
              <a:rPr lang="en-US" dirty="0"/>
              <a:t>‘.</a:t>
            </a:r>
            <a:r>
              <a:rPr lang="en-US" dirty="0" err="1"/>
              <a:t>crt</a:t>
            </a:r>
            <a:r>
              <a:rPr lang="en-US" dirty="0"/>
              <a:t>’ file = self-signed certificate</a:t>
            </a:r>
          </a:p>
          <a:p>
            <a:r>
              <a:rPr lang="en-US" dirty="0"/>
              <a:t>Warning: Never commit private key to public repositories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E2388C-3BC8-C44F-B8AC-3A3C3F0B7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E5A9E8-EA3C-136D-E731-9B3C48D0D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30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A4FE869-A3D5-2951-681B-4633FFD5E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B47268-2796-7940-BD05-25F3984017EA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066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58A76-247A-D37C-2D6E-945016898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Certificate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8DBA47-2787-FA03-80E2-8C3E97392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When creating certificate, answer these questions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Country Name (2 letter code) []: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State or Province Name (full name) []: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Locality Name (</a:t>
            </a:r>
            <a:r>
              <a:rPr lang="en-US" dirty="0" err="1">
                <a:solidFill>
                  <a:schemeClr val="accent3"/>
                </a:solidFill>
              </a:rPr>
              <a:t>eg</a:t>
            </a:r>
            <a:r>
              <a:rPr lang="en-US" dirty="0">
                <a:solidFill>
                  <a:schemeClr val="accent3"/>
                </a:solidFill>
              </a:rPr>
              <a:t>, city) []: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Organization Name (</a:t>
            </a:r>
            <a:r>
              <a:rPr lang="en-US" dirty="0" err="1">
                <a:solidFill>
                  <a:schemeClr val="accent3"/>
                </a:solidFill>
              </a:rPr>
              <a:t>eg</a:t>
            </a:r>
            <a:r>
              <a:rPr lang="en-US" dirty="0">
                <a:solidFill>
                  <a:schemeClr val="accent3"/>
                </a:solidFill>
              </a:rPr>
              <a:t>, company) []: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Organizational Unit Name (</a:t>
            </a:r>
            <a:r>
              <a:rPr lang="en-US" dirty="0" err="1">
                <a:solidFill>
                  <a:schemeClr val="accent3"/>
                </a:solidFill>
              </a:rPr>
              <a:t>eg</a:t>
            </a:r>
            <a:r>
              <a:rPr lang="en-US" dirty="0">
                <a:solidFill>
                  <a:schemeClr val="accent3"/>
                </a:solidFill>
              </a:rPr>
              <a:t>, section) []: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Common Name (</a:t>
            </a:r>
            <a:r>
              <a:rPr lang="en-US" dirty="0" err="1">
                <a:solidFill>
                  <a:schemeClr val="accent3"/>
                </a:solidFill>
              </a:rPr>
              <a:t>eg</a:t>
            </a:r>
            <a:r>
              <a:rPr lang="en-US" dirty="0">
                <a:solidFill>
                  <a:schemeClr val="accent3"/>
                </a:solidFill>
              </a:rPr>
              <a:t>, fully qualified host name) []: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Email Address []:</a:t>
            </a:r>
          </a:p>
          <a:p>
            <a:r>
              <a:rPr lang="en-US" dirty="0"/>
              <a:t>For local development, accuracy doesn't matter much.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F24A97-6D29-684C-7579-1015D325CC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ADC21C-936B-E6CB-DA5F-7F7496C6E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31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2893C2C-23EE-C723-048C-80597641C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2C0B9-2AD0-E74A-AB66-93EF51597B52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0388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B3A5C-EF84-428E-ABA2-8377473F3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Run Rails with SSL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113F9E-6F37-3D47-5222-728232B46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solidFill>
                  <a:schemeClr val="accent3"/>
                </a:solidFill>
              </a:rPr>
              <a:t>$ rails s -b '</a:t>
            </a:r>
            <a:r>
              <a:rPr lang="en-US" sz="2800" dirty="0" err="1">
                <a:solidFill>
                  <a:schemeClr val="accent3"/>
                </a:solidFill>
              </a:rPr>
              <a:t>ssl</a:t>
            </a:r>
            <a:r>
              <a:rPr lang="en-US" sz="2800" dirty="0">
                <a:solidFill>
                  <a:schemeClr val="accent3"/>
                </a:solidFill>
              </a:rPr>
              <a:t>://localhost:3000?key=</a:t>
            </a:r>
            <a:r>
              <a:rPr lang="en-US" sz="2800" dirty="0" err="1">
                <a:solidFill>
                  <a:schemeClr val="accent3"/>
                </a:solidFill>
              </a:rPr>
              <a:t>localhost.key&amp;cert</a:t>
            </a:r>
            <a:r>
              <a:rPr lang="en-US" sz="2800" dirty="0">
                <a:solidFill>
                  <a:schemeClr val="accent3"/>
                </a:solidFill>
              </a:rPr>
              <a:t>=</a:t>
            </a:r>
            <a:r>
              <a:rPr lang="en-US" sz="2800" dirty="0" err="1">
                <a:solidFill>
                  <a:schemeClr val="accent3"/>
                </a:solidFill>
              </a:rPr>
              <a:t>localhost.crt</a:t>
            </a:r>
            <a:r>
              <a:rPr lang="en-US" sz="2800" dirty="0">
                <a:solidFill>
                  <a:schemeClr val="accent3"/>
                </a:solidFill>
              </a:rPr>
              <a:t>'</a:t>
            </a:r>
          </a:p>
          <a:p>
            <a:r>
              <a:rPr lang="en-US" dirty="0"/>
              <a:t>‘-b’ binds to a specific port</a:t>
            </a:r>
          </a:p>
          <a:p>
            <a:r>
              <a:rPr lang="en-US" dirty="0"/>
              <a:t>Processes key and certificate files</a:t>
            </a:r>
          </a:p>
          <a:p>
            <a:r>
              <a:rPr lang="en-US" dirty="0"/>
              <a:t>Now accessible at `https://localhost:3000/`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7E8AA8-95A1-7681-0ED9-8CF5F426C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25F050-FE2D-0BFF-1579-18F9BF79F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32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88086D0-B710-26E7-DBEE-757D68187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ECFF76-585B-3D48-9DD3-DC56C4903F9E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3228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CDF08-CEEF-ECD7-6307-09182872F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Certificate Trust Warning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877603-A800-F3B2-2312-B8749FF19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When visiting </a:t>
            </a:r>
            <a:r>
              <a:rPr lang="en-US" dirty="0">
                <a:hlinkClick r:id="rId3"/>
              </a:rPr>
              <a:t>https://localhost:3000/</a:t>
            </a:r>
            <a:endParaRPr lang="en-US" dirty="0"/>
          </a:p>
          <a:p>
            <a:pPr marL="0" indent="0">
              <a:buNone/>
            </a:pPr>
            <a:r>
              <a:rPr lang="en-US" sz="2600" dirty="0">
                <a:solidFill>
                  <a:schemeClr val="accent2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Your connection is not private</a:t>
            </a:r>
          </a:p>
          <a:p>
            <a:pPr marL="0" indent="0">
              <a:buNone/>
            </a:pPr>
            <a:r>
              <a:rPr lang="en-US" sz="2600" dirty="0">
                <a:solidFill>
                  <a:schemeClr val="accent2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Attackers might be trying to steal your information</a:t>
            </a:r>
          </a:p>
          <a:p>
            <a:pPr marL="0" indent="0">
              <a:buNone/>
            </a:pPr>
            <a:r>
              <a:rPr lang="en-US" sz="2600" dirty="0">
                <a:solidFill>
                  <a:schemeClr val="accent2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NET::ERR_CERT_AUTHORITY_INVALID</a:t>
            </a:r>
          </a:p>
          <a:p>
            <a:r>
              <a:rPr lang="en-US" dirty="0"/>
              <a:t>Why? Browser doesn't trust self-signed certificates</a:t>
            </a:r>
          </a:p>
          <a:p>
            <a:r>
              <a:rPr lang="en-US" dirty="0"/>
              <a:t>Solution: Click "Advanced" and proceed (dev only)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E79738-A573-658E-819A-616054FB9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AEC4B4-690B-33C0-FC3E-68D764E86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33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B8239F0-D192-6F4C-4924-3A38D8A46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F2AFC1-EC8C-F145-8529-5647B2F6C74A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5183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68CAB-F18B-8A53-1AE2-0FACD340B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BB481A-9429-7544-E32E-83CFC9D6C1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Connection is Actually Encrypted</a:t>
            </a:r>
          </a:p>
          <a:p>
            <a:r>
              <a:rPr lang="en-US" dirty="0"/>
              <a:t>Even with the warning, connection uses:</a:t>
            </a:r>
          </a:p>
          <a:p>
            <a:pPr lvl="1"/>
            <a:r>
              <a:rPr lang="en-US" dirty="0"/>
              <a:t>TLS_AES_256_GCM_SHA384</a:t>
            </a:r>
          </a:p>
          <a:p>
            <a:pPr lvl="1"/>
            <a:r>
              <a:rPr lang="en-US" dirty="0"/>
              <a:t>256-bit keys</a:t>
            </a:r>
          </a:p>
          <a:p>
            <a:pPr lvl="1"/>
            <a:r>
              <a:rPr lang="en-US" dirty="0"/>
              <a:t>TLS 1.3</a:t>
            </a:r>
          </a:p>
          <a:p>
            <a:r>
              <a:rPr lang="en-US" dirty="0"/>
              <a:t>Data are encrypted, just not validated by Certificate Authority.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5B535B-5A6E-A8A2-6F0C-90773B8C2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AB66E1-ABD9-9D15-B48A-50770B663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34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26C0421-500E-4D22-C753-6F4B33086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2A99A-3483-7D4A-8613-6F5643036A5D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15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4F022-EFC1-041C-60E5-6ECA07D3E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Certificate Authorities (CA)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301FD-C626-7AB3-BEBF-98DA88FF25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For production, need CA-signed certificate</a:t>
            </a:r>
          </a:p>
          <a:p>
            <a:r>
              <a:rPr lang="en-US" dirty="0"/>
              <a:t>Let's Encrypt</a:t>
            </a:r>
          </a:p>
          <a:p>
            <a:pPr lvl="1"/>
            <a:r>
              <a:rPr lang="en-US" dirty="0"/>
              <a:t>Free, trusted certificates</a:t>
            </a:r>
          </a:p>
          <a:p>
            <a:pPr lvl="1"/>
            <a:r>
              <a:rPr lang="en-US" dirty="0">
                <a:hlinkClick r:id="rId2"/>
              </a:rPr>
              <a:t>https://letsencrypt.org/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No reason to deploy unencrypted</a:t>
            </a:r>
          </a:p>
          <a:p>
            <a:r>
              <a:rPr lang="en-US" dirty="0"/>
              <a:t>Each server/deployment has a different setup approach</a:t>
            </a:r>
          </a:p>
          <a:p>
            <a:r>
              <a:rPr lang="en-US" dirty="0"/>
              <a:t>chrome://certificate-manager/</a:t>
            </a:r>
            <a:r>
              <a:rPr lang="en-US" dirty="0" err="1"/>
              <a:t>crscerts</a:t>
            </a: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1167E8-B08A-790F-4558-1454A8B556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18D848-2D54-1199-E295-6D8ABDD1F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35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F77DFFF-4B37-01EC-B610-AC222D028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E647B2-AC05-DA47-BC46-C101C6EFEE07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507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2D730DB-CAEF-2740-6D1A-246AA7550F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Browser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BC4092-FD4F-A1F8-A33D-329D536A77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6C2B38-AB6B-CC8B-77AB-843290466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36</a:t>
            </a:fld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E04C10-70D1-3C52-2157-B4817FF762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79A93-90BF-A244-9CD7-2BDD0BB34706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296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6DD88F4-9B72-182E-CD2B-B25F1271F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Same-Origin Policy (SOP)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F2E230-5EAD-8523-03BD-96AB247460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Browsers trust content from sites they explicitly visit</a:t>
            </a:r>
          </a:p>
          <a:p>
            <a:r>
              <a:rPr lang="en-US" dirty="0"/>
              <a:t>Origin = scheme + host + port</a:t>
            </a:r>
          </a:p>
          <a:p>
            <a:r>
              <a:rPr lang="en-US" dirty="0"/>
              <a:t>Example: http://</a:t>
            </a:r>
            <a:r>
              <a:rPr lang="en-US" dirty="0" err="1"/>
              <a:t>www.example.com</a:t>
            </a:r>
            <a:r>
              <a:rPr lang="en-US" dirty="0"/>
              <a:t>/</a:t>
            </a:r>
            <a:r>
              <a:rPr lang="en-US" dirty="0" err="1"/>
              <a:t>pathA</a:t>
            </a:r>
            <a:endParaRPr lang="en-US" dirty="0"/>
          </a:p>
          <a:p>
            <a:r>
              <a:rPr lang="en-US" dirty="0"/>
              <a:t>Matches</a:t>
            </a:r>
          </a:p>
          <a:p>
            <a:pPr lvl="1"/>
            <a:r>
              <a:rPr lang="en-US" dirty="0"/>
              <a:t>http://</a:t>
            </a:r>
            <a:r>
              <a:rPr lang="en-US" dirty="0" err="1"/>
              <a:t>www.example.com</a:t>
            </a:r>
            <a:r>
              <a:rPr lang="en-US" dirty="0"/>
              <a:t>/</a:t>
            </a:r>
            <a:r>
              <a:rPr lang="en-US" dirty="0" err="1"/>
              <a:t>pathB</a:t>
            </a:r>
            <a:endParaRPr lang="en-US" dirty="0"/>
          </a:p>
          <a:p>
            <a:r>
              <a:rPr lang="en-US" dirty="0"/>
              <a:t>Does not Match</a:t>
            </a:r>
          </a:p>
          <a:p>
            <a:pPr lvl="1"/>
            <a:r>
              <a:rPr lang="en-US" dirty="0"/>
              <a:t>https://</a:t>
            </a:r>
            <a:r>
              <a:rPr lang="en-US" dirty="0" err="1"/>
              <a:t>www.example.com</a:t>
            </a:r>
            <a:r>
              <a:rPr lang="en-US" dirty="0"/>
              <a:t>/</a:t>
            </a:r>
            <a:r>
              <a:rPr lang="en-US" dirty="0" err="1"/>
              <a:t>pathA</a:t>
            </a:r>
            <a:r>
              <a:rPr lang="en-US" dirty="0"/>
              <a:t> (different scheme)</a:t>
            </a:r>
          </a:p>
          <a:p>
            <a:pPr lvl="1"/>
            <a:r>
              <a:rPr lang="en-US" dirty="0"/>
              <a:t>http://</a:t>
            </a:r>
            <a:r>
              <a:rPr lang="en-US" dirty="0" err="1"/>
              <a:t>host.example.com</a:t>
            </a:r>
            <a:r>
              <a:rPr lang="en-US" dirty="0"/>
              <a:t>/</a:t>
            </a:r>
            <a:r>
              <a:rPr lang="en-US" dirty="0" err="1"/>
              <a:t>pathA</a:t>
            </a:r>
            <a:r>
              <a:rPr lang="en-US" dirty="0"/>
              <a:t> (different host)</a:t>
            </a:r>
          </a:p>
          <a:p>
            <a:pPr lvl="1"/>
            <a:r>
              <a:rPr lang="en-US" dirty="0"/>
              <a:t>http://www.example.com:3000/</a:t>
            </a:r>
            <a:r>
              <a:rPr lang="en-US" dirty="0" err="1"/>
              <a:t>pathA</a:t>
            </a:r>
            <a:r>
              <a:rPr lang="en-US" dirty="0"/>
              <a:t> (different port)</a:t>
            </a:r>
          </a:p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983D8C-A4AA-831E-5B84-667FA6EF5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3067F6-83C8-A3B0-D46B-89A162C1E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37</a:t>
            </a:fld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4AA17B-4DE6-D163-8C6D-3EE82C1C6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2B1833-2FEF-A043-83E3-5963DCC17BE7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677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98306-B5EB-DA06-E96D-D56EA335E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SOP Allows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3A5F2-E4F0-45EE-068E-4F3085C6B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Scripts: `&lt;script </a:t>
            </a:r>
            <a:r>
              <a:rPr lang="en-US" dirty="0" err="1"/>
              <a:t>src</a:t>
            </a:r>
            <a:r>
              <a:rPr lang="en-US" dirty="0"/>
              <a:t>="..."&gt;&lt;/script&gt;`</a:t>
            </a:r>
          </a:p>
          <a:p>
            <a:r>
              <a:rPr lang="en-US" dirty="0"/>
              <a:t>CSS: `&lt;link </a:t>
            </a:r>
            <a:r>
              <a:rPr lang="en-US" dirty="0" err="1"/>
              <a:t>rel</a:t>
            </a:r>
            <a:r>
              <a:rPr lang="en-US" dirty="0"/>
              <a:t>="stylesheet" ...&gt;`</a:t>
            </a:r>
          </a:p>
          <a:p>
            <a:r>
              <a:rPr lang="en-US" dirty="0"/>
              <a:t>Media: `&lt;</a:t>
            </a:r>
            <a:r>
              <a:rPr lang="en-US" dirty="0" err="1"/>
              <a:t>img</a:t>
            </a:r>
            <a:r>
              <a:rPr lang="en-US" dirty="0"/>
              <a:t>&gt;`, `&lt;video&gt;`, `&lt;audio&gt;`</a:t>
            </a:r>
          </a:p>
          <a:p>
            <a:r>
              <a:rPr lang="en-US" dirty="0"/>
              <a:t>Form submission with complete URL</a:t>
            </a:r>
          </a:p>
          <a:p>
            <a:r>
              <a:rPr lang="en-US" dirty="0"/>
              <a:t>Why allow these?</a:t>
            </a:r>
          </a:p>
          <a:p>
            <a:pPr lvl="1"/>
            <a:r>
              <a:rPr lang="en-US" dirty="0"/>
              <a:t>Pervasive use (and CDNs) - blocking would break the web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864A7D-1999-4E4B-F032-081DB0A8E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0EFB4E-9BAE-768D-6442-EE8491A9A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38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28BA7E5-0D7F-5DC5-31CC-B05483ACE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F5DACE-EE9E-EE42-8340-05BC99D2BC8D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3198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01592-BD76-7836-C017-573DB0559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SOP Can Block APIs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6E15AF-0237-877F-B542-18855EF424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Example: SPA at `localhost:3001` requests data from `localhost:3000`</a:t>
            </a:r>
          </a:p>
          <a:p>
            <a:r>
              <a:rPr lang="en-US" dirty="0"/>
              <a:t>Browser console error</a:t>
            </a:r>
          </a:p>
          <a:p>
            <a:pPr marL="609569" lvl="1" indent="0">
              <a:buNone/>
            </a:pPr>
            <a:r>
              <a:rPr lang="en-US" dirty="0"/>
              <a:t>Cross-Origin Request Blocked: The Same Origin Policy disallows</a:t>
            </a:r>
          </a:p>
          <a:p>
            <a:pPr marL="609569" lvl="1" indent="0">
              <a:buNone/>
            </a:pPr>
            <a:r>
              <a:rPr lang="en-US" dirty="0"/>
              <a:t>reading the remote resource at http://localhost:3000/</a:t>
            </a:r>
            <a:r>
              <a:rPr lang="en-US" dirty="0" err="1"/>
              <a:t>items.json</a:t>
            </a:r>
            <a:r>
              <a:rPr lang="en-US" dirty="0"/>
              <a:t>.</a:t>
            </a:r>
          </a:p>
          <a:p>
            <a:pPr marL="609569" lvl="1" indent="0">
              <a:buNone/>
            </a:pPr>
            <a:r>
              <a:rPr lang="en-US" dirty="0"/>
              <a:t>(Reason: CORS header 'Access-Control-Allow-Origin' missing).</a:t>
            </a:r>
          </a:p>
          <a:p>
            <a:r>
              <a:rPr lang="en-US" dirty="0"/>
              <a:t>Note: SOP is a browser restriction, not a server restriction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7BEB2E-B9E4-72A6-DB4C-1E7FF4A96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C9E34F-E0A7-DB6D-87B8-8FCEA776C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39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2DBA5F8-CA4D-9899-1F5F-E241120A2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0A69-AD6E-E14B-A447-5F83FC285B8A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963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0FAEA0-E9DA-C7DA-CB6C-7F9AFF7D0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Cross-Origin Resource Sharing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7125E-9502-9313-1B56-F76B6F0DB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HTTP header-based approach for servers to share trusted resources with browsers</a:t>
            </a:r>
          </a:p>
          <a:p>
            <a:r>
              <a:rPr lang="en-US" dirty="0"/>
              <a:t>Purpose: Allow controlled violations of SOP</a:t>
            </a:r>
          </a:p>
          <a:p>
            <a:r>
              <a:rPr lang="en-US" dirty="0"/>
              <a:t>For Rails: Rack CORS gem</a:t>
            </a:r>
          </a:p>
          <a:p>
            <a:pPr lvl="1"/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cyu</a:t>
            </a:r>
            <a:r>
              <a:rPr lang="en-US" dirty="0"/>
              <a:t>/rack-</a:t>
            </a:r>
            <a:r>
              <a:rPr lang="en-US" dirty="0" err="1"/>
              <a:t>cors</a:t>
            </a: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B5EE6D-1D1F-2695-809F-5D7C9ECA2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1C921F-6FC7-CE1A-C352-BE0B9F9F6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40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8A1713F-2209-BC57-9B4F-5FFA9BEE6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CF8F39-DACC-0748-AD13-05CA43DED4DD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162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691B8-8B57-A5F5-0A07-32B05DFF7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Setting Up CORS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C13A10-4031-BD6E-F6BB-0D8A245DB1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$ bundle add rack-</a:t>
            </a:r>
            <a:r>
              <a:rPr lang="en-US" dirty="0" err="1">
                <a:solidFill>
                  <a:schemeClr val="accent1"/>
                </a:solidFill>
              </a:rPr>
              <a:t>cors</a:t>
            </a:r>
            <a:endParaRPr lang="en-US" dirty="0">
              <a:solidFill>
                <a:schemeClr val="accent1"/>
              </a:solidFill>
            </a:endParaRPr>
          </a:p>
          <a:p>
            <a:r>
              <a:rPr lang="en-US" dirty="0"/>
              <a:t>Create configuration in `config/initializers/</a:t>
            </a:r>
            <a:r>
              <a:rPr lang="en-US" dirty="0" err="1"/>
              <a:t>cors.rb</a:t>
            </a:r>
            <a:r>
              <a:rPr lang="en-US" dirty="0"/>
              <a:t>`:</a:t>
            </a:r>
          </a:p>
          <a:p>
            <a:pPr marL="533374" lvl="1" indent="0">
              <a:buNone/>
            </a:pPr>
            <a:r>
              <a:rPr lang="en-US" dirty="0" err="1">
                <a:solidFill>
                  <a:schemeClr val="accent3"/>
                </a:solidFill>
              </a:rPr>
              <a:t>Rails.application.config.middleware.insert_before</a:t>
            </a:r>
            <a:r>
              <a:rPr lang="en-US" dirty="0">
                <a:solidFill>
                  <a:schemeClr val="accent3"/>
                </a:solidFill>
              </a:rPr>
              <a:t> 0, Rack::</a:t>
            </a:r>
            <a:r>
              <a:rPr lang="en-US" dirty="0" err="1">
                <a:solidFill>
                  <a:schemeClr val="accent3"/>
                </a:solidFill>
              </a:rPr>
              <a:t>Cors</a:t>
            </a:r>
            <a:r>
              <a:rPr lang="en-US" dirty="0">
                <a:solidFill>
                  <a:schemeClr val="accent3"/>
                </a:solidFill>
              </a:rPr>
              <a:t> do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</a:rPr>
              <a:t>  allow do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</a:rPr>
              <a:t>    origins "localhost:3001"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</a:rPr>
              <a:t>    resource "*",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</a:rPr>
              <a:t>      headers: :any,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</a:rPr>
              <a:t>      methods: [:get, :post, :put, :patch, :delete, :options, :head]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</a:rPr>
              <a:t>  end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</a:rPr>
              <a:t>end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0A9AA0-9707-199C-94F0-10D59608A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E87CA0-BF07-F36C-BD33-6B5ED0C4E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41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05962C7-E409-09EB-C132-F5E52198C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52DDB-F403-C945-9A8F-F06AF035F03C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566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A7BC8-F62C-A25E-E9A8-0589BDA74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CORS Security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96568B-63C3-4F36-2E52-80808DF8E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21467"/>
            <a:ext cx="109728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Don't wildcard origins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origins "*"  # BAD Allows scripts from anywhere</a:t>
            </a:r>
          </a:p>
          <a:p>
            <a:r>
              <a:rPr lang="en-US" dirty="0"/>
              <a:t>Do specify exact origins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origins "localhost:3001", "</a:t>
            </a:r>
            <a:r>
              <a:rPr lang="en-US" dirty="0" err="1">
                <a:solidFill>
                  <a:schemeClr val="accent3"/>
                </a:solidFill>
              </a:rPr>
              <a:t>example.com</a:t>
            </a:r>
            <a:r>
              <a:rPr lang="en-US" dirty="0">
                <a:solidFill>
                  <a:schemeClr val="accent3"/>
                </a:solidFill>
              </a:rPr>
              <a:t>"  #  GOOD</a:t>
            </a:r>
            <a:endParaRPr lang="en-US" dirty="0"/>
          </a:p>
          <a:p>
            <a:r>
              <a:rPr lang="en-US" dirty="0"/>
              <a:t>Tighten access to specific resources and methods as needed.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97FC17-788B-77A9-0810-65E477BA6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AE15F0-D445-9F52-4056-3E25AC23F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42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BC08819-BDA7-D502-47A2-20AD5656A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E41B4-CB6E-6746-B462-8A09E4D4C7D2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895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5BD81-ADDE-94BE-F2E1-7F7480C4D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CORS Headers in 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90B29-0BF4-6DF8-D954-DE5F6868D4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Request	</a:t>
            </a:r>
          </a:p>
          <a:p>
            <a:pPr marL="609569" lvl="1" indent="0">
              <a:buNone/>
            </a:pPr>
            <a:r>
              <a:rPr lang="en-US" sz="2800" dirty="0">
                <a:solidFill>
                  <a:srgbClr val="A0BA66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GET /</a:t>
            </a:r>
            <a:r>
              <a:rPr lang="en-US" sz="2800" dirty="0" err="1">
                <a:solidFill>
                  <a:srgbClr val="A0BA66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items.json</a:t>
            </a:r>
            <a:r>
              <a:rPr lang="en-US" sz="2800" dirty="0">
                <a:solidFill>
                  <a:srgbClr val="A0BA66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HTTP/1.1</a:t>
            </a:r>
          </a:p>
          <a:p>
            <a:pPr marL="609569" lvl="1" indent="0">
              <a:buNone/>
            </a:pPr>
            <a:r>
              <a:rPr lang="en-US" sz="2800" dirty="0">
                <a:solidFill>
                  <a:srgbClr val="A0BA66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Host: localhost:3000</a:t>
            </a:r>
          </a:p>
          <a:p>
            <a:pPr marL="609569" lvl="1" indent="0">
              <a:buNone/>
            </a:pPr>
            <a:r>
              <a:rPr lang="en-US" sz="2800" dirty="0">
                <a:solidFill>
                  <a:srgbClr val="A0BA66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Origin: http://localhost:3001</a:t>
            </a:r>
          </a:p>
          <a:p>
            <a:r>
              <a:rPr lang="en-US" dirty="0"/>
              <a:t>Response</a:t>
            </a:r>
          </a:p>
          <a:p>
            <a:pPr marL="609569" lvl="1" indent="0">
              <a:buNone/>
            </a:pPr>
            <a:r>
              <a:rPr lang="en-US" sz="3000" dirty="0">
                <a:solidFill>
                  <a:srgbClr val="A0BA66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HTTP/1.1 200 OK</a:t>
            </a:r>
          </a:p>
          <a:p>
            <a:pPr marL="609569" lvl="1" indent="0">
              <a:buNone/>
            </a:pPr>
            <a:r>
              <a:rPr lang="en-US" sz="3000" dirty="0">
                <a:solidFill>
                  <a:srgbClr val="A0BA66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access-control-allow-origin: http://localhost:3001</a:t>
            </a:r>
          </a:p>
          <a:p>
            <a:pPr marL="609569" lvl="1" indent="0">
              <a:buNone/>
            </a:pPr>
            <a:r>
              <a:rPr lang="en-US" sz="3000" dirty="0">
                <a:solidFill>
                  <a:srgbClr val="A0BA66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access-control-allow-methods: GET, POST, PUT, PATCH, DELETE, OPTIONS, HEAD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603A1C-5832-1011-0537-83895C1DA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B3BCE0-8E1C-AA67-E756-08A408FC7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43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BDF3AD6-FD18-96EE-DFC4-675A1BFA99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1A1ED-AA03-9B4B-814E-AD3E05CBD0CA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384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7F229-F2CB-35C5-EAF7-A0F6F79CF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Avoiding CORS Issues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83A9AB-05CA-76C3-455B-C8EB3F1EA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Place scripts in:</a:t>
            </a:r>
          </a:p>
          <a:p>
            <a:pPr lvl="1"/>
            <a:r>
              <a:rPr lang="en-US" dirty="0"/>
              <a:t>‘public’ directory</a:t>
            </a:r>
          </a:p>
          <a:p>
            <a:pPr lvl="1"/>
            <a:r>
              <a:rPr lang="en-US" dirty="0"/>
              <a:t>‘app/</a:t>
            </a:r>
            <a:r>
              <a:rPr lang="en-US" dirty="0" err="1"/>
              <a:t>javascript</a:t>
            </a:r>
            <a:r>
              <a:rPr lang="en-US" dirty="0"/>
              <a:t>/’ directory</a:t>
            </a:r>
          </a:p>
          <a:p>
            <a:r>
              <a:rPr lang="en-US" dirty="0"/>
              <a:t>Scripts don't cross origins, no CORS errors.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6652F5-80BB-C871-7391-4ECB78E17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8E421E-76F9-92D6-6889-2991FAC7D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44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6975BB0-551E-E881-BD6A-78F7321C7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8E53D-0F7E-9049-B7EF-FA8CACE8D228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51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397F59B-0B69-9102-1AE1-171B543F01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Injections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DB396D-85FF-17A3-C683-B0E70CEE1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04B222-0725-6608-19EB-6B3B28401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45</a:t>
            </a:fld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91333C-69E0-F33B-89E6-1B31C68161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83091-FABF-4B43-AB8F-B3B33326D001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105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2660BC4-73EC-96BD-8945-A59E9078E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Injection Attacks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E32164-1386-3EC8-1A14-6C419BA01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Use specially crafted input to:</a:t>
            </a:r>
          </a:p>
          <a:p>
            <a:pPr lvl="1"/>
            <a:r>
              <a:rPr lang="en-US" dirty="0"/>
              <a:t>Expose data</a:t>
            </a:r>
          </a:p>
          <a:p>
            <a:pPr lvl="1"/>
            <a:r>
              <a:rPr lang="en-US" dirty="0"/>
              <a:t>Trick users into entering personal information</a:t>
            </a:r>
          </a:p>
          <a:p>
            <a:r>
              <a:rPr lang="en-US" dirty="0"/>
              <a:t>Types</a:t>
            </a:r>
          </a:p>
          <a:p>
            <a:pPr lvl="1"/>
            <a:r>
              <a:rPr lang="en-US" dirty="0"/>
              <a:t>SQL Injection (SQLi)</a:t>
            </a:r>
          </a:p>
          <a:p>
            <a:pPr lvl="1"/>
            <a:r>
              <a:rPr lang="en-US" dirty="0"/>
              <a:t>Cross-Site Scripting (XSS)</a:t>
            </a:r>
          </a:p>
          <a:p>
            <a:pPr lvl="1"/>
            <a:r>
              <a:rPr lang="en-US" dirty="0"/>
              <a:t>Cross-Site Request Forgery (CSRF)</a:t>
            </a:r>
          </a:p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A4DB87-7398-2C9E-DEE1-6E38D744D9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EBC2C2-FA29-6447-ABC9-47B9AB6E3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46</a:t>
            </a:fld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E440344-5E88-A651-5445-65D7D9739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9A2A2-6A5A-344B-96CE-7DA138BC59EF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125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6BAC3-8B1B-ADDB-F824-82CAFC509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SQL Injection (SQLi)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4B9E67-63DA-1590-F3D1-850EF4B07B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Works against many databases, not just SQL.</a:t>
            </a:r>
          </a:p>
          <a:p>
            <a:r>
              <a:rPr lang="en-US" dirty="0"/>
              <a:t>Normal Query</a:t>
            </a:r>
          </a:p>
          <a:p>
            <a:pPr marL="609569" lvl="1" indent="0">
              <a:buNone/>
            </a:pP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SELECT * FROM person WHERE email='</a:t>
            </a:r>
            <a:r>
              <a:rPr lang="en-US" sz="2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alice@example.com</a:t>
            </a: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'</a:t>
            </a:r>
          </a:p>
          <a:p>
            <a:r>
              <a:rPr lang="en-US" dirty="0"/>
              <a:t>Injected Query</a:t>
            </a:r>
          </a:p>
          <a:p>
            <a:pPr marL="609569" lvl="1" indent="0">
              <a:buNone/>
            </a:pP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SELECT * FROM person WHERE email='foo' OR '1' = '1'</a:t>
            </a:r>
          </a:p>
          <a:p>
            <a:r>
              <a:rPr lang="en-US" dirty="0"/>
              <a:t>Returns ALL records</a:t>
            </a:r>
          </a:p>
          <a:p>
            <a:pPr lvl="1"/>
            <a:r>
              <a:rPr lang="en-US" dirty="0"/>
              <a:t>Tautology '1' = '1' is always true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DECB5A-EBF0-54C6-4153-007F7861C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1A056E-3AEC-7E15-E7DD-3E9A84B27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47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7A8453A-F20A-CD5B-EE65-A55409635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B5C26-64E7-C14F-8551-A4FD955A9BDE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5600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A3779-BB07-E4B0-3ADB-3315CFC59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 Real-World SQLi Attack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BE87AF-99CA-3FDF-A980-C769DF6BDC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&lt;%= </a:t>
            </a:r>
            <a:r>
              <a:rPr lang="en-US" dirty="0" err="1">
                <a:solidFill>
                  <a:schemeClr val="accent3"/>
                </a:solidFill>
              </a:rPr>
              <a:t>form.search_field</a:t>
            </a:r>
            <a:r>
              <a:rPr lang="en-US" dirty="0">
                <a:solidFill>
                  <a:schemeClr val="accent3"/>
                </a:solidFill>
              </a:rPr>
              <a:t>(:query, value: params[:query]) %&gt;</a:t>
            </a:r>
          </a:p>
          <a:p>
            <a:r>
              <a:rPr lang="en-US" dirty="0"/>
              <a:t>Vulnerable controller:</a:t>
            </a:r>
          </a:p>
          <a:p>
            <a:pPr marL="0" indent="0">
              <a:buNone/>
            </a:pPr>
            <a:r>
              <a:rPr lang="en-US" dirty="0" err="1">
                <a:solidFill>
                  <a:schemeClr val="accent3"/>
                </a:solidFill>
              </a:rPr>
              <a:t>Person.where</a:t>
            </a:r>
            <a:r>
              <a:rPr lang="en-US" dirty="0">
                <a:solidFill>
                  <a:schemeClr val="accent3"/>
                </a:solidFill>
              </a:rPr>
              <a:t>("email LIKE '%#{params[:query]}%'")</a:t>
            </a:r>
          </a:p>
          <a:p>
            <a:r>
              <a:rPr lang="en-US" dirty="0"/>
              <a:t>Attacker enters foo' OR '%' = '</a:t>
            </a:r>
          </a:p>
          <a:p>
            <a:r>
              <a:rPr lang="en-US" dirty="0"/>
              <a:t>Resulting query:</a:t>
            </a:r>
          </a:p>
          <a:p>
            <a:pPr marL="0" indent="0">
              <a:buNone/>
            </a:pPr>
            <a:r>
              <a:rPr lang="en-US" sz="3800" dirty="0">
                <a:solidFill>
                  <a:schemeClr val="accent3"/>
                </a:solidFill>
              </a:rPr>
              <a:t>SELECT * FROM people WHERE (email LIKE '%foo' OR '%' = '%')</a:t>
            </a:r>
          </a:p>
          <a:p>
            <a:r>
              <a:rPr lang="en-US" dirty="0"/>
              <a:t>All people returned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B98AEA-49C7-E394-CF4D-9DE185A71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09B216-8635-8CB8-2994-DC48D8227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48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618C09B-A75E-6D8F-5381-AF407042D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28453-BE1A-274F-B837-02C966A92E8C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6507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D5E3-916F-6B7C-5249-D8E40AD48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Rails SQLi Protection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FDC4A-7EB2-915B-A593-7D10A98104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Use ? placeholder in queries:</a:t>
            </a:r>
          </a:p>
          <a:p>
            <a:r>
              <a:rPr lang="en-US" dirty="0"/>
              <a:t>Vulnerable</a:t>
            </a:r>
          </a:p>
          <a:p>
            <a:pPr marL="0" indent="0">
              <a:buNone/>
            </a:pPr>
            <a:r>
              <a:rPr lang="en-US" sz="3900" dirty="0" err="1">
                <a:solidFill>
                  <a:schemeClr val="accent3"/>
                </a:solidFill>
              </a:rPr>
              <a:t>Person.where</a:t>
            </a:r>
            <a:r>
              <a:rPr lang="en-US" sz="3900" dirty="0">
                <a:solidFill>
                  <a:schemeClr val="accent3"/>
                </a:solidFill>
              </a:rPr>
              <a:t>("email LIKE '%#{params[:query]}%'")</a:t>
            </a:r>
          </a:p>
          <a:p>
            <a:r>
              <a:rPr lang="en-US" dirty="0"/>
              <a:t>Protected</a:t>
            </a:r>
          </a:p>
          <a:p>
            <a:pPr marL="0" indent="0">
              <a:buNone/>
            </a:pPr>
            <a:r>
              <a:rPr lang="en-US" sz="3900" dirty="0" err="1">
                <a:solidFill>
                  <a:schemeClr val="accent3"/>
                </a:solidFill>
              </a:rPr>
              <a:t>Person.where</a:t>
            </a:r>
            <a:r>
              <a:rPr lang="en-US" sz="3900" dirty="0">
                <a:solidFill>
                  <a:schemeClr val="accent3"/>
                </a:solidFill>
              </a:rPr>
              <a:t>("email LIKE ?", "%#{params[:query]}%")</a:t>
            </a:r>
          </a:p>
          <a:p>
            <a:r>
              <a:rPr lang="en-US" dirty="0"/>
              <a:t>The `?` invokes Rails' built-in SQLi protection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E3AAF5-C1B5-76B2-3255-1A71E5EFD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7B4B05-DFBA-89CB-C591-9BAB4A147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49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19C4AEC-C501-C933-E537-90FB9B011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0B1DE7-834C-8644-BF74-15D87AC92C43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8821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4497B9C-BEAC-0C86-58B3-AB158A7F8D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Code Analysis Tools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E382D0-AD0A-A447-909E-A84A4EA8B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4306D-6C1F-F709-5236-0D358B6A1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50</a:t>
            </a:fld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80FD9E-254A-C48D-0A8F-EB45A251D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A9AAE-DC97-B244-BFD2-EF0A8B13696A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5754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5FD27B7-4C5C-95A5-15F9-5203BDC77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Program Analysis Tools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72CCC4-6B7C-702C-21B3-B96B4C4BC7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Static Analysis</a:t>
            </a:r>
          </a:p>
          <a:p>
            <a:pPr lvl="1"/>
            <a:r>
              <a:rPr lang="en-US" dirty="0"/>
              <a:t>Analyzes code before running</a:t>
            </a:r>
          </a:p>
          <a:p>
            <a:pPr lvl="1"/>
            <a:r>
              <a:rPr lang="en-US" dirty="0"/>
              <a:t>Looks at written code for typical errors</a:t>
            </a:r>
          </a:p>
          <a:p>
            <a:pPr lvl="1"/>
            <a:r>
              <a:rPr lang="en-US" dirty="0"/>
              <a:t>Brakeman, </a:t>
            </a:r>
            <a:r>
              <a:rPr lang="en-US" dirty="0" err="1"/>
              <a:t>Rubocop</a:t>
            </a:r>
            <a:endParaRPr lang="en-US" dirty="0"/>
          </a:p>
          <a:p>
            <a:r>
              <a:rPr lang="en-US" dirty="0"/>
              <a:t>Dynamic Analysis</a:t>
            </a:r>
          </a:p>
          <a:p>
            <a:pPr lvl="1"/>
            <a:r>
              <a:rPr lang="en-US" dirty="0"/>
              <a:t>Analyzes while program runs</a:t>
            </a:r>
          </a:p>
          <a:p>
            <a:pPr lvl="1"/>
            <a:r>
              <a:rPr lang="en-US" dirty="0"/>
              <a:t>Traces execution of instructions</a:t>
            </a:r>
          </a:p>
          <a:p>
            <a:pPr lvl="1"/>
            <a:r>
              <a:rPr lang="en-US" dirty="0"/>
              <a:t>Emphasizes memory, performance issues</a:t>
            </a:r>
          </a:p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ADEBBE-42FF-BDA6-0163-B089EA94D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76995F-A53F-E006-209C-DC7027709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51</a:t>
            </a:fld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34433F-CDB5-4EA6-BFD1-F2855E6BD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1A1E9-D2B8-CE4B-8755-E89DA0454603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9182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A9067-7047-3FBE-333E-2ABA6D8EF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Brakeman Static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AFE44-9C08-E333-79E1-6A013E887D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Rails-specific security analysis tool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$ gem install brakeman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$ brakeman  # Run in application directory</a:t>
            </a:r>
          </a:p>
          <a:p>
            <a:r>
              <a:rPr lang="en-US" dirty="0"/>
              <a:t>Example Output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Confidence: High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Category: SQL Injection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Message: Possible SQL injection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Code: </a:t>
            </a:r>
            <a:r>
              <a:rPr lang="en-US" dirty="0" err="1">
                <a:solidFill>
                  <a:schemeClr val="accent1"/>
                </a:solidFill>
              </a:rPr>
              <a:t>Person.where</a:t>
            </a:r>
            <a:r>
              <a:rPr lang="en-US" dirty="0">
                <a:solidFill>
                  <a:schemeClr val="accent1"/>
                </a:solidFill>
              </a:rPr>
              <a:t>("email LIKE '%#{params[:query]}%'")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File: app/controllers/</a:t>
            </a:r>
            <a:r>
              <a:rPr lang="en-US" dirty="0" err="1">
                <a:solidFill>
                  <a:schemeClr val="accent1"/>
                </a:solidFill>
              </a:rPr>
              <a:t>people_controller.rb</a:t>
            </a: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Line: 20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4D8F03-5FEE-49D2-FD05-FC8A7B8C4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85FB09-030E-4609-7481-21921CDD5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52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C9A82A2-60B6-8462-4BD3-D0C50C13B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C0B78-97D6-2D49-A0C3-18E8EBEC528F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570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BA73E-7DB2-B3DC-1597-2EEAC951A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RuboCop</a:t>
            </a:r>
            <a:r>
              <a:rPr lang="en-US" dirty="0"/>
              <a:t> for Rails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82E0AB-DFC9-A349-E960-DF98F4E6E2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GitHub: 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rubocop</a:t>
            </a:r>
            <a:r>
              <a:rPr lang="en-US" dirty="0"/>
              <a:t>/</a:t>
            </a:r>
            <a:r>
              <a:rPr lang="en-US" dirty="0" err="1"/>
              <a:t>rubocop</a:t>
            </a:r>
            <a:r>
              <a:rPr lang="en-US" dirty="0"/>
              <a:t>-rails</a:t>
            </a:r>
          </a:p>
          <a:p>
            <a:r>
              <a:rPr lang="en-US" dirty="0"/>
              <a:t>Analyzes wide variety of Ruby and Rails concerns:</a:t>
            </a:r>
          </a:p>
          <a:p>
            <a:pPr lvl="1"/>
            <a:r>
              <a:rPr lang="en-US" dirty="0"/>
              <a:t>Code style</a:t>
            </a:r>
          </a:p>
          <a:p>
            <a:pPr lvl="1"/>
            <a:r>
              <a:rPr lang="en-US" dirty="0"/>
              <a:t>Security issues</a:t>
            </a:r>
          </a:p>
          <a:p>
            <a:pPr lvl="1"/>
            <a:r>
              <a:rPr lang="en-US" dirty="0"/>
              <a:t>Performance problems</a:t>
            </a:r>
          </a:p>
          <a:p>
            <a:pPr lvl="1"/>
            <a:r>
              <a:rPr lang="en-US" dirty="0"/>
              <a:t>Best practices</a:t>
            </a:r>
          </a:p>
          <a:p>
            <a:r>
              <a:rPr lang="en-US" dirty="0"/>
              <a:t>Include in CI/CD workflows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A2A1D7-635A-C422-F90B-428083247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852A87-4E32-EDF5-9290-FC261DE7C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53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A05A0DB-FF06-208D-C385-087401DEA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A84527-D3EC-B94C-A5E0-7C13BBC607B8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604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729B84-BF9B-A701-AA04-63F05D333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Protecting User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67159C-DD9D-9FAB-9E4E-B8EA6B4072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Web applications gather Personally Identifiable Information (PII).</a:t>
            </a:r>
          </a:p>
          <a:p>
            <a:r>
              <a:rPr lang="en-US" dirty="0"/>
              <a:t>We are morally bound to protect that data to the best of our ability.</a:t>
            </a:r>
          </a:p>
          <a:p>
            <a:r>
              <a:rPr lang="en-US" dirty="0"/>
              <a:t>Learn More</a:t>
            </a:r>
          </a:p>
          <a:p>
            <a:pPr lvl="1"/>
            <a:r>
              <a:rPr lang="en-US" dirty="0"/>
              <a:t>ZAP: https://</a:t>
            </a:r>
            <a:r>
              <a:rPr lang="en-US" dirty="0" err="1"/>
              <a:t>www.zaproxy.org</a:t>
            </a:r>
            <a:r>
              <a:rPr lang="en-US" dirty="0"/>
              <a:t>/</a:t>
            </a:r>
          </a:p>
          <a:p>
            <a:pPr lvl="1"/>
            <a:r>
              <a:rPr lang="en-US" dirty="0" err="1"/>
              <a:t>WebGoat</a:t>
            </a:r>
            <a:r>
              <a:rPr lang="en-US" dirty="0"/>
              <a:t>: https://</a:t>
            </a:r>
            <a:r>
              <a:rPr lang="en-US" dirty="0" err="1"/>
              <a:t>owasp.org</a:t>
            </a:r>
            <a:r>
              <a:rPr lang="en-US" dirty="0"/>
              <a:t>/www-project-</a:t>
            </a:r>
            <a:r>
              <a:rPr lang="en-US" dirty="0" err="1"/>
              <a:t>webgoat</a:t>
            </a:r>
            <a:r>
              <a:rPr lang="en-US" dirty="0"/>
              <a:t>/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F5BDA5-A06E-F2A8-37CD-C82D407A2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5DDA0B-AEFA-94C4-B711-6C3AE341A3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54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CAFF356-BAD1-4468-AD81-63CB5B55C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BD4BE-FF0A-4242-A0A4-F71A317B3EB1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7967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8960A-AC7D-B3EE-CC85-4438BA057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Cross-Site Scripting (XSS)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1AF118-674D-6C18-24CA-A7162A77D6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Bad actor injects script into text field.</a:t>
            </a:r>
          </a:p>
          <a:p>
            <a:r>
              <a:rPr lang="en-US" dirty="0"/>
              <a:t>When another user displays the text, script runs in their browser.</a:t>
            </a:r>
          </a:p>
          <a:p>
            <a:r>
              <a:rPr lang="en-US" dirty="0"/>
              <a:t>Why it works</a:t>
            </a:r>
          </a:p>
          <a:p>
            <a:pPr lvl="1"/>
            <a:r>
              <a:rPr lang="en-US" dirty="0"/>
              <a:t>Browsers trust content from sites via Same-Origin Policy (SOP)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0843CD-F64E-6B35-1A44-0A353BB22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911252-10A7-5561-4849-46F9CE2AE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55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4BFF649-933F-BB09-F9D2-767F1C85B4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3CAEE8-EC9E-8946-B46F-4D38B3604C32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323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BED3D-0663-3C90-AD84-F4816F5BB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XSS Attack Scenario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FB4E4C-C306-221C-A516-1C208D8297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User enters in comment field: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&lt;script&gt;alert("XSS!")&lt;/script&gt;</a:t>
            </a:r>
          </a:p>
          <a:p>
            <a:r>
              <a:rPr lang="en-US" dirty="0"/>
              <a:t>When someone else reads the comment, the script executes</a:t>
            </a:r>
          </a:p>
          <a:p>
            <a:r>
              <a:rPr lang="en-US" dirty="0"/>
              <a:t>What scripts can do</a:t>
            </a:r>
          </a:p>
          <a:p>
            <a:pPr lvl="1"/>
            <a:r>
              <a:rPr lang="en-US" dirty="0"/>
              <a:t>Modify all page content</a:t>
            </a:r>
          </a:p>
          <a:p>
            <a:pPr lvl="1"/>
            <a:r>
              <a:rPr lang="en-US" dirty="0"/>
              <a:t>Access site history</a:t>
            </a:r>
          </a:p>
          <a:p>
            <a:pPr lvl="1"/>
            <a:r>
              <a:rPr lang="en-US" dirty="0"/>
              <a:t>Redirect to different sites</a:t>
            </a:r>
          </a:p>
          <a:p>
            <a:pPr lvl="1"/>
            <a:r>
              <a:rPr lang="en-US" dirty="0"/>
              <a:t>Steal credentials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819C71-E53F-1B0F-9EEE-4242C8D75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33DFE9-BD30-B062-3EBA-FA133C922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56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6167394-0F40-8B3B-969A-1C417684A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591FD-30B7-4140-BEAE-A0B5CA95ACC1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7523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A2FFB-C0E5-E1CA-92BF-200FCE19D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Built-In XSS Defense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9E9E5-BD6C-E069-474E-E126122AC0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Rails automatically escapes XSS scripts before displaying</a:t>
            </a:r>
          </a:p>
          <a:p>
            <a:r>
              <a:rPr lang="en-US" dirty="0"/>
              <a:t>Scripts persist in database but are escaped in views</a:t>
            </a:r>
          </a:p>
          <a:p>
            <a:r>
              <a:rPr lang="en-US" dirty="0"/>
              <a:t>How to Subvert</a:t>
            </a:r>
          </a:p>
          <a:p>
            <a:pPr marL="0" indent="0">
              <a:buNone/>
            </a:pPr>
            <a:r>
              <a:rPr lang="en-US" sz="3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&lt;%== </a:t>
            </a:r>
            <a:r>
              <a:rPr lang="en-US" sz="3000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person.name</a:t>
            </a:r>
            <a:r>
              <a:rPr lang="en-US" sz="3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%&gt;</a:t>
            </a:r>
          </a:p>
          <a:p>
            <a:pPr marL="0" indent="0">
              <a:buNone/>
            </a:pPr>
            <a:r>
              <a:rPr lang="en-US" sz="3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&lt;%= </a:t>
            </a:r>
            <a:r>
              <a:rPr lang="en-US" sz="3000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person.name.html_safe</a:t>
            </a:r>
            <a:r>
              <a:rPr lang="en-US" sz="3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%&gt;</a:t>
            </a:r>
          </a:p>
          <a:p>
            <a:pPr marL="0" indent="0">
              <a:buNone/>
            </a:pPr>
            <a:r>
              <a:rPr lang="en-US" sz="3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&lt;%= raw </a:t>
            </a:r>
            <a:r>
              <a:rPr lang="en-US" sz="3000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person.name</a:t>
            </a:r>
            <a:r>
              <a:rPr lang="en-US" sz="3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%&gt;</a:t>
            </a:r>
            <a:endParaRPr lang="en-US" sz="43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23DF3E-96C6-67EE-AA6E-294966D94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7E5AE2-7EB1-2073-0DA4-10B5B492C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57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6D22F1B-345D-7468-0E6B-6DD5B6E59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5A801-D20C-1648-BAE5-4419628E5A43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3755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3FDCFDF-D9F0-BF9F-4C65-CBE65CA7B6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CSRF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C17F4A-9AF2-E285-025C-BA3FAAA3D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A468F8-E423-CF5F-4A93-5D55422F0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58</a:t>
            </a:fld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E61A9A7-1B23-CAC1-D1FE-C96664DEE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AB9D9-B9E1-D140-81AD-8D85B5F6B7D2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60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0581FFE-9796-73DA-7439-F8912025B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Cross-Site Request Forgery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8C5DA6-AD4A-8513-0002-046079DD20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One webpage sends a request to another website</a:t>
            </a:r>
          </a:p>
          <a:p>
            <a:r>
              <a:rPr lang="en-US" dirty="0"/>
              <a:t>Typically relies on the user being logged in to target site</a:t>
            </a:r>
          </a:p>
          <a:p>
            <a:r>
              <a:rPr lang="en-US" dirty="0"/>
              <a:t>Two Types</a:t>
            </a:r>
          </a:p>
          <a:p>
            <a:pPr marL="1352519" lvl="1" indent="-742950">
              <a:buFont typeface="+mj-lt"/>
              <a:buAutoNum type="arabicPeriod"/>
            </a:pPr>
            <a:r>
              <a:rPr lang="en-US" dirty="0"/>
              <a:t>Web bugs (GET requests) - tracking</a:t>
            </a:r>
          </a:p>
          <a:p>
            <a:pPr marL="1352519" lvl="1" indent="-742950">
              <a:buFont typeface="+mj-lt"/>
              <a:buAutoNum type="arabicPeriod"/>
            </a:pPr>
            <a:r>
              <a:rPr lang="en-US" dirty="0"/>
              <a:t>Malicious actions (POST/PUT/PATCH/DELETE)</a:t>
            </a:r>
          </a:p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F90CD4-5D92-E66E-8824-356832865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4AE552-FC32-6672-A8B6-69D8E9EF1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59</a:t>
            </a:fld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FBE7531-2700-D40C-0B3F-68D18CF71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3FE68-3459-1149-BB33-712D6914B462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700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76815-1F70-675D-FE34-FDD4E5C01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Web Bug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EEB81-0B62-1154-7520-68F10FE7F0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HTML page with invisible image: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&lt;!DOCTYPE HTML&gt;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&lt;html&gt;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&lt;head&gt;&lt;title&gt;Web bug demo&lt;/title&gt;&lt;/head&gt;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&lt;body&gt;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&lt;</a:t>
            </a:r>
            <a:r>
              <a:rPr lang="en-US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img</a:t>
            </a: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US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src</a:t>
            </a: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="http://localhost:3000/people/1"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      width="0" height="0" border="0"&gt;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&lt;/body&gt;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&lt;/html&gt;</a:t>
            </a:r>
            <a:endParaRPr lang="en-US" dirty="0"/>
          </a:p>
          <a:p>
            <a:r>
              <a:rPr lang="en-US" dirty="0"/>
              <a:t>Request is sent with all identifying information (IP, cookies, etc.)</a:t>
            </a:r>
          </a:p>
          <a:p>
            <a:r>
              <a:rPr lang="en-US" dirty="0"/>
              <a:t>Used for tracking users across websites for targeted ads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266F8A-2030-5D3F-6A4F-849252427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1BB706-B114-E08C-2FB5-3AD9D46FB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60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F075048-662F-1258-59FC-B19666BE0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387B7-FBDB-BA44-A100-B4126640D2D7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008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6D468CA-5B4D-E270-E4D5-17C9E9927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Overriding Rails’ Protection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D5D4C3C-207A-9AD4-35F9-C69A6813E4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skip</a:t>
            </a:r>
            <a:r>
              <a:rPr lang="en-US" dirty="0" err="1"/>
              <a:t>_forgery_protection</a:t>
            </a:r>
            <a:r>
              <a:rPr lang="en-US" dirty="0"/>
              <a:t> if </a:t>
            </a:r>
            <a:r>
              <a:rPr lang="en-US" dirty="0" err="1"/>
              <a:t>Rails.env.development</a:t>
            </a:r>
            <a:r>
              <a:rPr lang="en-US" dirty="0"/>
              <a:t>?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60243-F096-FDC5-BA91-B14F90363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F2F7C5-0EDD-81B6-02BA-CCEF819A7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61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1B8D4DF-6C1F-3270-7285-4ECEB8BE5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6CE4BE-EBB5-0A47-8F7D-F95BA9BEA8A6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2324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03121-5ECF-F9BB-8300-585E4E486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CSRF Attack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55277A-4BD8-D6A2-AD71-A28E8E33BE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Webpage that auto-submits DELETE:</a:t>
            </a:r>
          </a:p>
          <a:p>
            <a:pPr marL="533374" lvl="1" indent="0">
              <a:buNone/>
            </a:pPr>
            <a:r>
              <a:rPr lang="en-US" sz="2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&lt;!DOCTYPE HTML&gt;</a:t>
            </a:r>
          </a:p>
          <a:p>
            <a:pPr marL="533374" lvl="1" indent="0">
              <a:buNone/>
            </a:pPr>
            <a:r>
              <a:rPr lang="en-US" sz="2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&lt;html&gt;</a:t>
            </a:r>
          </a:p>
          <a:p>
            <a:pPr marL="533374" lvl="1" indent="0">
              <a:buNone/>
            </a:pPr>
            <a:r>
              <a:rPr lang="en-US" sz="2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&lt;head&gt;&lt;title&gt;CSRF&lt;/title&gt;&lt;/head&gt;</a:t>
            </a:r>
          </a:p>
          <a:p>
            <a:pPr marL="533374" lvl="1" indent="0">
              <a:buNone/>
            </a:pPr>
            <a:r>
              <a:rPr lang="en-US" sz="2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&lt;body onload="</a:t>
            </a:r>
            <a:r>
              <a:rPr lang="en-US" sz="2000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document.forms</a:t>
            </a:r>
            <a:r>
              <a:rPr lang="en-US" sz="2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[0].submit()"&gt;</a:t>
            </a:r>
          </a:p>
          <a:p>
            <a:pPr marL="533374" lvl="1" indent="0">
              <a:buNone/>
            </a:pPr>
            <a:r>
              <a:rPr lang="en-US" sz="2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&lt;form action="http://localhost:3000/people/1" method="POST"&gt;</a:t>
            </a:r>
          </a:p>
          <a:p>
            <a:pPr marL="533374" lvl="1" indent="0">
              <a:buNone/>
            </a:pPr>
            <a:r>
              <a:rPr lang="en-US" sz="2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&lt;input type="hidden" name="_method" value="delete" /&gt;</a:t>
            </a:r>
          </a:p>
          <a:p>
            <a:pPr marL="533374" lvl="1" indent="0">
              <a:buNone/>
            </a:pPr>
            <a:r>
              <a:rPr lang="en-US" sz="2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&lt;/form&gt;</a:t>
            </a:r>
          </a:p>
          <a:p>
            <a:pPr marL="533374" lvl="1" indent="0">
              <a:buNone/>
            </a:pPr>
            <a:r>
              <a:rPr lang="en-US" sz="2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&lt;/body&gt;</a:t>
            </a:r>
          </a:p>
          <a:p>
            <a:pPr marL="533374" lvl="1" indent="0">
              <a:buNone/>
            </a:pPr>
            <a:r>
              <a:rPr lang="en-US" sz="2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&lt;/html&gt;</a:t>
            </a:r>
            <a:endParaRPr lang="en-US" dirty="0">
              <a:solidFill>
                <a:schemeClr val="accent3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37B1CC-BCF4-ADCB-7983-996D1CC57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3E9D5B-0C4D-07F0-D5D2-018FA2694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62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13B002E-5F46-2559-C0ED-74800CB73B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06F813-90A4-6449-B59D-0CCB9DF47583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562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CE299-8F2C-9C04-6660-DAB99CAA9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Rails Defense Mechanism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24E8FD-964F-DBB7-BED2-B63AB509CA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Rails console output:</a:t>
            </a:r>
          </a:p>
          <a:p>
            <a:pPr marL="533374" lvl="1" indent="0">
              <a:buNone/>
            </a:pPr>
            <a:r>
              <a:rPr lang="en-US" sz="28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Started DELETE "/people/1" for ::1</a:t>
            </a:r>
          </a:p>
          <a:p>
            <a:pPr marL="533374" lvl="1" indent="0">
              <a:buNone/>
            </a:pPr>
            <a:r>
              <a:rPr lang="en-US" sz="28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Processing by </a:t>
            </a:r>
            <a:r>
              <a:rPr lang="en-US" sz="2800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PeopleController#destroy</a:t>
            </a:r>
            <a:r>
              <a:rPr lang="en-US" sz="28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as HTML</a:t>
            </a:r>
          </a:p>
          <a:p>
            <a:pPr marL="533374" lvl="1" indent="0">
              <a:buNone/>
            </a:pPr>
            <a:r>
              <a:rPr lang="en-US" sz="28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Can't verify CSRF token authenticity.</a:t>
            </a:r>
          </a:p>
          <a:p>
            <a:pPr marL="533374" lvl="1" indent="0">
              <a:buNone/>
            </a:pPr>
            <a:r>
              <a:rPr lang="en-US" sz="28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Completed 422 </a:t>
            </a:r>
            <a:r>
              <a:rPr lang="en-US" sz="2800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Unprocessable</a:t>
            </a:r>
            <a:r>
              <a:rPr lang="en-US" sz="28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Entity</a:t>
            </a:r>
          </a:p>
          <a:p>
            <a:r>
              <a:rPr lang="en-US" dirty="0"/>
              <a:t>Why it failed: Rails checks authenticity token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B44FDE-C5CD-B427-204D-A9DAE5D8E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7531B7-F2E7-5B08-E469-77FEA4959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63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1F0A79C-E558-8F9C-7008-65DD077CA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EB11B-B1F7-884D-B16E-82F326014B77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927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B1AF3-BBA1-62DD-157A-0D95493A7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Rails Prevents CSRF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DEA0D2-FA0F-7DCF-758D-EAA320C1A4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Rails adds a hidden authenticity token to forms: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&lt;input type="hidden”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name="</a:t>
            </a:r>
            <a:r>
              <a:rPr lang="en-US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authenticity_token</a:t>
            </a: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”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value="CaJ0OO...”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autocomplete="off" /&gt;</a:t>
            </a:r>
          </a:p>
          <a:p>
            <a:r>
              <a:rPr lang="en-US" dirty="0"/>
              <a:t>Token changes each time the form loads</a:t>
            </a:r>
          </a:p>
          <a:p>
            <a:r>
              <a:rPr lang="en-US" dirty="0"/>
              <a:t>Attack sites don't know the token</a:t>
            </a:r>
          </a:p>
          <a:p>
            <a:r>
              <a:rPr lang="en-US" dirty="0"/>
              <a:t>Can't send valid requests without it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E316CC-780A-38D9-B677-638077279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90E47F-0C9E-78A9-2B96-ADDAB47D6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64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6FCB24B-6C83-56A6-1270-897F6CA4C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DC823-CADB-4749-BFD8-E56FDC3CDDEC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100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287F2-C256-4A56-EA33-AF63059C2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Additional CSRF Defenses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914F99-5866-202D-E02E-CDAEFCAD57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Sensitive sites use multiple techniques</a:t>
            </a:r>
          </a:p>
          <a:p>
            <a:pPr lvl="1"/>
            <a:r>
              <a:rPr lang="en-US" dirty="0"/>
              <a:t>Single-use tokens</a:t>
            </a:r>
          </a:p>
          <a:p>
            <a:pPr lvl="2"/>
            <a:r>
              <a:rPr lang="en-US" dirty="0"/>
              <a:t>“nonce” refers to a single-use value in cryptography</a:t>
            </a:r>
          </a:p>
          <a:p>
            <a:pPr lvl="1"/>
            <a:r>
              <a:rPr lang="en-US" dirty="0"/>
              <a:t>Encourage logout when done</a:t>
            </a:r>
          </a:p>
          <a:p>
            <a:pPr lvl="1"/>
            <a:r>
              <a:rPr lang="en-US" dirty="0"/>
              <a:t>Force logout after inactivity</a:t>
            </a:r>
          </a:p>
          <a:p>
            <a:pPr lvl="1"/>
            <a:r>
              <a:rPr lang="en-US" dirty="0"/>
              <a:t>Session validation</a:t>
            </a:r>
          </a:p>
          <a:p>
            <a:pPr lvl="1"/>
            <a:r>
              <a:rPr lang="en-US" dirty="0"/>
              <a:t>Transaction confirmation</a:t>
            </a:r>
          </a:p>
          <a:p>
            <a:r>
              <a:rPr lang="en-US" dirty="0"/>
              <a:t>Always log out of sensitive sites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EFD9C9-FF79-C631-F110-12646B77B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AD4798-B3BD-EBBC-7992-825FB5E81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65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F0105CA-8821-D337-AFE7-ECAF9AE6B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18817-5C2B-D440-B3E3-AA83BA11F3E1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579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C984E07-5861-8843-5470-61E25C26CE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Dark Web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1C644D-BA57-30BE-628D-C47417BB2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0D8643-855B-6196-3D4F-9A22578FA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66</a:t>
            </a:fld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7651AD-A33E-01E5-E578-06EB7B119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632C4-2339-8B49-8EF1-CE93877342FB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572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D8B6E3F-53A9-C62F-7D4A-088904EB3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Surface, Deep, and Dark Web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652AB0-17A2-FBE2-8426-769F86D0B2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Surface Web</a:t>
            </a:r>
          </a:p>
          <a:p>
            <a:pPr lvl="1"/>
            <a:r>
              <a:rPr lang="en-US" dirty="0"/>
              <a:t>Available to everyone</a:t>
            </a:r>
          </a:p>
          <a:p>
            <a:pPr lvl="1"/>
            <a:r>
              <a:rPr lang="en-US" dirty="0"/>
              <a:t>Indexed by search engines</a:t>
            </a:r>
          </a:p>
          <a:p>
            <a:r>
              <a:rPr lang="en-US" dirty="0"/>
              <a:t>Deep Web</a:t>
            </a:r>
          </a:p>
          <a:p>
            <a:pPr lvl="1"/>
            <a:r>
              <a:rPr lang="en-US" dirty="0"/>
              <a:t>Requires credentials</a:t>
            </a:r>
          </a:p>
          <a:p>
            <a:pPr lvl="1"/>
            <a:r>
              <a:rPr lang="en-US" dirty="0"/>
              <a:t>School, financial, and medical accounts</a:t>
            </a:r>
          </a:p>
          <a:p>
            <a:pPr lvl="1"/>
            <a:r>
              <a:rPr lang="en-US" dirty="0"/>
              <a:t>Larger than the surface web</a:t>
            </a:r>
          </a:p>
          <a:p>
            <a:r>
              <a:rPr lang="en-US" dirty="0"/>
              <a:t>Dark Web:</a:t>
            </a:r>
          </a:p>
          <a:p>
            <a:pPr lvl="1"/>
            <a:r>
              <a:rPr lang="en-US" dirty="0"/>
              <a:t>Requires a special browser (TOR)</a:t>
            </a:r>
          </a:p>
          <a:p>
            <a:pPr lvl="1"/>
            <a:r>
              <a:rPr lang="en-US" dirty="0"/>
              <a:t>Anonymous communication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D84E09-AE26-8954-BB00-4F6A31771D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D9B0B-1ADA-2A73-2ECD-062886A46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67</a:t>
            </a:fld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7023BF9-7C36-9BFC-B6E2-041F9FFD3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920A56-4D98-564E-BF4B-4B69D53BB38F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598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3724" y="378372"/>
            <a:ext cx="4724552" cy="5633539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B78CA88-9240-D5C5-4D95-5F222E85D801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77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EB8EF-DA16-505D-C17C-559E17272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TOR = The Onion Router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FFEDF1-3124-AB8C-354E-936BB1F36A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https://www.torproject.org/download/</a:t>
            </a:r>
            <a:r>
              <a:rPr lang="en-US" dirty="0"/>
              <a:t> </a:t>
            </a:r>
          </a:p>
          <a:p>
            <a:r>
              <a:rPr lang="en-US" dirty="0"/>
              <a:t>Site blocked at MSU Denver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21EA26-9D8A-BD6E-2F5D-7DBD84B0E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2F95DC-4BC8-9451-1204-DE86621D7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69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2CA6AED-A9FC-786C-3C60-CC3658291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2575A-DF4D-E247-9B94-BBB408AFBCA9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698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0EC64-6759-FD1C-B75F-CDEA98BC6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95F3A-A6D3-87A5-8663-741F65D9F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 information through multiple machines to anonymize communication</a:t>
            </a:r>
          </a:p>
          <a:p>
            <a:r>
              <a:rPr lang="en-US" dirty="0"/>
              <a:t>An overlay network on top of the regular internet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4CC329-555C-8030-C640-A52A0CCDA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975749-34B1-5D0A-59A2-4C786A36A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70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AB926F5-3025-05B3-FF03-D6F1F9E81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9D7A7-0AD7-8947-95E7-F37F10CD9C6F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881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EBD09-7841-070A-52F4-6F84C20BE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E3E773-753A-1741-F11A-DFA00E50D8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Three types of nodes</a:t>
            </a:r>
          </a:p>
          <a:p>
            <a:pPr marL="742950" indent="-742950">
              <a:buFont typeface="+mj-lt"/>
              <a:buAutoNum type="arabicPeriod"/>
            </a:pPr>
            <a:r>
              <a:rPr lang="en-US" dirty="0"/>
              <a:t>Guard - Where browser initially connects</a:t>
            </a:r>
          </a:p>
          <a:p>
            <a:pPr marL="742950" indent="-742950">
              <a:buFont typeface="+mj-lt"/>
              <a:buAutoNum type="arabicPeriod"/>
            </a:pPr>
            <a:r>
              <a:rPr lang="en-US" dirty="0"/>
              <a:t>Middle - Anonymizes communication (any number)</a:t>
            </a:r>
          </a:p>
          <a:p>
            <a:pPr marL="742950" indent="-742950">
              <a:buFont typeface="+mj-lt"/>
              <a:buAutoNum type="arabicPeriod"/>
            </a:pPr>
            <a:r>
              <a:rPr lang="en-US" dirty="0"/>
              <a:t>Exit - Where circuit exits to regular web</a:t>
            </a:r>
          </a:p>
          <a:p>
            <a:r>
              <a:rPr lang="en-US" dirty="0"/>
              <a:t>Circuits typically change every ~10 minutes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72C46A-95D2-D50B-837E-423900D3C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12C645-3FB3-83D2-CB2F-ABEDD03F5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71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8C4378A-45B9-D8CE-663C-49B7AD83D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278CE-4213-B44A-B6BA-B87FD4CDC6F2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59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B6F60-A6D0-D9B1-CEF6-23A641FBA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TOR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F016AB-A1E6-4237-F9C4-E33F776D0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Packet has multiple layers of encrypted routing</a:t>
            </a:r>
          </a:p>
          <a:p>
            <a:pPr lvl="1"/>
            <a:r>
              <a:rPr lang="en-US" dirty="0"/>
              <a:t>Each node decrypts one layer (like peeling an onion)</a:t>
            </a:r>
          </a:p>
          <a:p>
            <a:pPr lvl="1"/>
            <a:r>
              <a:rPr lang="en-US" dirty="0"/>
              <a:t>Each node knows only previous and next router</a:t>
            </a:r>
          </a:p>
          <a:p>
            <a:pPr lvl="1"/>
            <a:r>
              <a:rPr lang="en-US" dirty="0"/>
              <a:t>After two hops, origin/destination cannot be derived</a:t>
            </a:r>
          </a:p>
          <a:p>
            <a:r>
              <a:rPr lang="en-US" dirty="0"/>
              <a:t>Result: Effectively anonymous communication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855154-5D11-4521-968A-284B3EB92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CED6E4-BDB1-9193-1F3E-67959DE6F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72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A9589CF-0DAE-475C-85CC-2410D6A1A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33697-41A9-6343-8872-FCD11B940DFE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610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84B2F-7639-9EA5-08D5-CE6A25DBC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Alice, Bob, and Carol (A, B, C)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22AD4A-A1B3-B3F6-43DF-F070133D80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Alice and Bob characters were invented by Ron Rivest, Adi Shamir, and Leonard Adleman in their 1978 paper </a:t>
            </a:r>
            <a:r>
              <a:rPr lang="en-US" i="1" dirty="0"/>
              <a:t>A Method for Obtaining Digital Signatures and Public-key Cryptosystems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BAE5C1-AE70-0614-C5BC-9E302DF505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EE3B0F-7A43-974E-9F6E-4AC2F769C099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FD367-BE79-3DC5-F5DB-79727EE109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45C52B-C78E-19B8-8BEA-FAFEF6C54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0572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6ECA6-3260-B926-8163-A4F4BA3DA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Obligatory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94AF6-D17A-DD0A-B48F-FAC8EC37BF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5E92F9-B5BB-EBAE-A0DB-36FA7948BAB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3266A04-EDDE-8746-9866-E18C9291155F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B79263-8BB7-9A2F-27B3-C7550699D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56DC63-B824-55B8-DD5F-4815EB295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74</a:t>
            </a:fld>
            <a:endParaRPr lang="en-US"/>
          </a:p>
        </p:txBody>
      </p:sp>
      <p:pic>
        <p:nvPicPr>
          <p:cNvPr id="8194" name="Picture 2" descr="Encryption">
            <a:extLst>
              <a:ext uri="{FF2B5EF4-FFF2-40B4-BE49-F238E27FC236}">
                <a16:creationId xmlns:a16="http://schemas.microsoft.com/office/drawing/2014/main" id="{AC7D2B7A-C8A0-6F01-60A7-C7A1EF8DE4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6526" y="1600201"/>
            <a:ext cx="2798951" cy="45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302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htw1.png" descr="htw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651" y="430305"/>
            <a:ext cx="8910699" cy="569585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95A2AE-82C4-43DE-A9C3-80DB3AF45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52B08-92D5-CA4F-AE39-74DAF9C6ACD6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DD21E0-A798-CF26-D936-E5563F330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8056B7-EC5D-78F3-F35D-52506E226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75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htw2.png" descr="htw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651" y="430305"/>
            <a:ext cx="8910699" cy="569585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1C8CA5-3AD8-D0E8-6376-598DF57A6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AD728-5074-1E48-8999-9C391896AC28}" type="datetime1">
              <a:rPr lang="en-US" smtClean="0"/>
              <a:t>10/8/26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5EF7DF-B468-D17C-A41C-252FCC89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A5A177-D788-1FB1-7AD7-905E213B3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76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htw3.png" descr="ht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650" y="430305"/>
            <a:ext cx="8910700" cy="569585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55BC63-292C-4C2E-507A-2F0038449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3E5EF-F7F3-9C4D-8903-BCC5151618B0}" type="datetime1">
              <a:rPr lang="en-US" smtClean="0"/>
              <a:t>10/8/26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81EACB-75D0-E356-5236-1E8D63C8F7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C1739A-8A1C-ED9C-5DC6-BBF87AD19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77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814660F4-8893-C065-88B9-F1FD5B3393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62195" y="430305"/>
            <a:ext cx="8667611" cy="5695859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2EDD33F9-5749-887E-A2A7-CB705CAED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F535A6-2A1D-564F-BEDF-7A30BF632D01}" type="datetime1">
              <a:rPr lang="en-US" smtClean="0"/>
              <a:t>10/8/26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AADAD83D-5865-A98B-E408-BB40885BE7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D1777687-7526-2261-5AA5-2F00E5BBA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812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2A23EA8-1F8C-774C-9BA1-8A5104998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Opaque Envelopes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883ED6C-A761-AE4F-193A-20B5B727D5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605EEA-71A4-16C6-865F-09C912D9189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C1F4BCF-B238-C748-A57D-9C19D1D869DC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7F95C9-1C4E-8037-AB46-17B6CD880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8E4344-5CB9-F3D3-3E2A-86942B8D6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79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601EBF-5765-AEF5-1D33-54B5B325C3F4}"/>
              </a:ext>
            </a:extLst>
          </p:cNvPr>
          <p:cNvSpPr/>
          <p:nvPr/>
        </p:nvSpPr>
        <p:spPr>
          <a:xfrm>
            <a:off x="1227172" y="3135552"/>
            <a:ext cx="2724304" cy="145526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/>
              <a:t>From: A</a:t>
            </a:r>
          </a:p>
          <a:p>
            <a:r>
              <a:rPr lang="en-US" sz="2400" dirty="0"/>
              <a:t>	To: B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834DAF8-4C36-6265-EB2C-48C9914D3A24}"/>
              </a:ext>
            </a:extLst>
          </p:cNvPr>
          <p:cNvSpPr/>
          <p:nvPr/>
        </p:nvSpPr>
        <p:spPr>
          <a:xfrm>
            <a:off x="4733848" y="3135552"/>
            <a:ext cx="2724304" cy="145526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/>
              <a:t>From: B</a:t>
            </a:r>
          </a:p>
          <a:p>
            <a:r>
              <a:rPr lang="en-US" sz="2400" dirty="0"/>
              <a:t>	To: C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50F4F2-7F79-27EA-B3D8-51ED9BAE4C9C}"/>
              </a:ext>
            </a:extLst>
          </p:cNvPr>
          <p:cNvSpPr/>
          <p:nvPr/>
        </p:nvSpPr>
        <p:spPr>
          <a:xfrm>
            <a:off x="8240524" y="3135552"/>
            <a:ext cx="2724304" cy="145526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/>
              <a:t>From: C</a:t>
            </a:r>
          </a:p>
          <a:p>
            <a:r>
              <a:rPr lang="en-US" sz="2400" dirty="0"/>
              <a:t>	To: D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E8A277F-3CD0-5173-7DE8-50BD4E84AA5E}"/>
              </a:ext>
            </a:extLst>
          </p:cNvPr>
          <p:cNvSpPr/>
          <p:nvPr/>
        </p:nvSpPr>
        <p:spPr>
          <a:xfrm>
            <a:off x="1784193" y="1631255"/>
            <a:ext cx="1610263" cy="1108117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A’s</a:t>
            </a:r>
          </a:p>
          <a:p>
            <a:pPr algn="ctr"/>
            <a:r>
              <a:rPr lang="en-US" sz="2400" dirty="0"/>
              <a:t>Encrypted</a:t>
            </a:r>
          </a:p>
          <a:p>
            <a:pPr algn="ctr"/>
            <a:r>
              <a:rPr lang="en-US" sz="2400" dirty="0"/>
              <a:t>Message</a:t>
            </a: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600AB7FD-650E-EAB7-23EF-8879331C8874}"/>
              </a:ext>
            </a:extLst>
          </p:cNvPr>
          <p:cNvSpPr/>
          <p:nvPr/>
        </p:nvSpPr>
        <p:spPr>
          <a:xfrm>
            <a:off x="3951477" y="3600092"/>
            <a:ext cx="748695" cy="527945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21FF8AA3-DA5C-41B1-B524-A5F6053EAFE9}"/>
              </a:ext>
            </a:extLst>
          </p:cNvPr>
          <p:cNvSpPr/>
          <p:nvPr/>
        </p:nvSpPr>
        <p:spPr>
          <a:xfrm>
            <a:off x="7424476" y="3600092"/>
            <a:ext cx="816049" cy="527945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14" name="Down Arrow 13">
            <a:extLst>
              <a:ext uri="{FF2B5EF4-FFF2-40B4-BE49-F238E27FC236}">
                <a16:creationId xmlns:a16="http://schemas.microsoft.com/office/drawing/2014/main" id="{031E740A-4CC8-DE74-87A1-D837882C5ABC}"/>
              </a:ext>
            </a:extLst>
          </p:cNvPr>
          <p:cNvSpPr/>
          <p:nvPr/>
        </p:nvSpPr>
        <p:spPr>
          <a:xfrm>
            <a:off x="2347783" y="2771955"/>
            <a:ext cx="483080" cy="363597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5" name="Down Arrow 14">
            <a:extLst>
              <a:ext uri="{FF2B5EF4-FFF2-40B4-BE49-F238E27FC236}">
                <a16:creationId xmlns:a16="http://schemas.microsoft.com/office/drawing/2014/main" id="{7A4828B4-8701-FD9B-6777-A8D5C46E48ED}"/>
              </a:ext>
            </a:extLst>
          </p:cNvPr>
          <p:cNvSpPr/>
          <p:nvPr/>
        </p:nvSpPr>
        <p:spPr>
          <a:xfrm>
            <a:off x="9361136" y="4599775"/>
            <a:ext cx="483080" cy="363597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C287CF75-6CC0-6376-52AF-95075896A2C7}"/>
              </a:ext>
            </a:extLst>
          </p:cNvPr>
          <p:cNvSpPr/>
          <p:nvPr/>
        </p:nvSpPr>
        <p:spPr>
          <a:xfrm>
            <a:off x="8797545" y="4963372"/>
            <a:ext cx="1610263" cy="1108117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A’s</a:t>
            </a:r>
          </a:p>
          <a:p>
            <a:pPr algn="ctr"/>
            <a:r>
              <a:rPr lang="en-US" sz="2400" dirty="0"/>
              <a:t>Encrypted</a:t>
            </a:r>
          </a:p>
          <a:p>
            <a:pPr algn="ctr"/>
            <a:r>
              <a:rPr lang="en-US" sz="2400" dirty="0"/>
              <a:t>Message</a:t>
            </a:r>
          </a:p>
        </p:txBody>
      </p:sp>
    </p:spTree>
    <p:extLst>
      <p:ext uri="{BB962C8B-B14F-4D97-AF65-F5344CB8AC3E}">
        <p14:creationId xmlns:p14="http://schemas.microsoft.com/office/powerpoint/2010/main" val="155368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08DAC-78F4-70E7-ADA7-AC24C1A46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Why Use TOR?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023D6-9923-C004-CFC4-12264D35C6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Legitimate Uses</a:t>
            </a:r>
          </a:p>
          <a:p>
            <a:pPr lvl="1"/>
            <a:r>
              <a:rPr lang="en-US" dirty="0"/>
              <a:t>Browse web anonymously</a:t>
            </a:r>
          </a:p>
          <a:p>
            <a:pPr lvl="1"/>
            <a:r>
              <a:rPr lang="en-US" dirty="0"/>
              <a:t>Protect privacy</a:t>
            </a:r>
          </a:p>
          <a:p>
            <a:pPr lvl="1"/>
            <a:r>
              <a:rPr lang="en-US" dirty="0"/>
              <a:t>Bypass censorship</a:t>
            </a:r>
          </a:p>
          <a:p>
            <a:pPr lvl="1"/>
            <a:r>
              <a:rPr lang="en-US" dirty="0"/>
              <a:t>Journalist, whistleblower protection</a:t>
            </a:r>
          </a:p>
          <a:p>
            <a:r>
              <a:rPr lang="en-US" dirty="0"/>
              <a:t>Main Use Case:</a:t>
            </a:r>
          </a:p>
          <a:p>
            <a:pPr lvl="1"/>
            <a:r>
              <a:rPr lang="en-US" dirty="0"/>
              <a:t>Access hidden services in the dark web.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B8366E-A65D-7106-721C-4D57DA52A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B6E1F2-8FCA-072A-B894-857358E4F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80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9F4DD49-2DFE-D9CD-2D32-1165BCF47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ECCE-62CA-454C-92EC-160D68E4B8AD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312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3A08D-C465-603D-BA9C-1A8EFFB52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Interesting TOR Facts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53F085-1181-0EF8-C47D-CC8305091A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Created by U.S. Naval Research Laboratory</a:t>
            </a:r>
          </a:p>
          <a:p>
            <a:r>
              <a:rPr lang="en-US" dirty="0"/>
              <a:t>Still funded by U.S. government</a:t>
            </a:r>
          </a:p>
          <a:p>
            <a:r>
              <a:rPr lang="en-US" dirty="0"/>
              <a:t>Opened to public to decrease signal-to-noise ratio</a:t>
            </a:r>
          </a:p>
          <a:p>
            <a:r>
              <a:rPr lang="en-US" dirty="0"/>
              <a:t>Bitcoin greatly accelerated dark web use</a:t>
            </a:r>
          </a:p>
          <a:p>
            <a:r>
              <a:rPr lang="en-US" dirty="0"/>
              <a:t>Some markets have been infiltrated by law enforcement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1B8035-4D3F-B1D1-5A4A-8833E3498B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14F99D-1D71-98BE-92AC-E338E11D9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81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1BA6AE6-31DE-43E4-D0E6-23DEAD994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F24DB-2FAD-F048-80A2-AB381C272DF4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104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8CCE8-9DC6-EF9B-D2A2-DA5FC29FF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Dark Web 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996A3F-99F7-24D2-8554-F20F61461C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TOR allows creating hidden services</a:t>
            </a:r>
          </a:p>
          <a:p>
            <a:pPr lvl="1"/>
            <a:r>
              <a:rPr lang="en-US" dirty="0"/>
              <a:t>Web servers</a:t>
            </a:r>
          </a:p>
          <a:p>
            <a:pPr lvl="1"/>
            <a:r>
              <a:rPr lang="en-US" dirty="0"/>
              <a:t>Chat servers</a:t>
            </a:r>
          </a:p>
          <a:p>
            <a:pPr lvl="1"/>
            <a:r>
              <a:rPr lang="en-US" dirty="0"/>
              <a:t>Email servers</a:t>
            </a:r>
          </a:p>
          <a:p>
            <a:pPr lvl="1"/>
            <a:r>
              <a:rPr lang="en-US" dirty="0"/>
              <a:t>Any service on surface web</a:t>
            </a:r>
          </a:p>
          <a:p>
            <a:r>
              <a:rPr lang="en-US" dirty="0"/>
              <a:t>Addresses end in .onion</a:t>
            </a:r>
          </a:p>
          <a:p>
            <a:r>
              <a:rPr lang="en-US" dirty="0"/>
              <a:t>Many are illegal on surface web (illicit markets, etc.)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82DBF5-1BCF-2977-1D58-B554A9D24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6F4A26-8B8B-07D7-435D-0DF7AB54B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82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15721B7-AB84-46C4-E50C-600748837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66E7BE-FC5E-6A4C-ACA7-642A7FEBD4A5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0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D178162-A4A3-2E80-6E3E-1F6BC19F7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Toby’s Site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1B09E5D-60EB-6F4F-9F5F-F5D794AA30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http://yvudsnnux372gj2nvg3bnkficwf4niel6drfqyhbtglgdsf2l75xfqqd.onion/</a:t>
            </a:r>
            <a:r>
              <a:rPr lang="en-US" dirty="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5295AE-815E-1F51-AED9-F65225CE4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FF750B-2DCA-FC1A-2E43-EE65A9335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83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4457B96-A87C-E352-A977-5F83FB838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5462D-AF23-FD4F-8EB8-97C138B32E44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387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9318" y="430305"/>
            <a:ext cx="2933365" cy="569585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1CF9CE-D78E-CE2B-E407-AEF6EEE6E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5D5E2-B518-664A-A44F-051E4461470A}" type="datetime1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FBFF79-5F87-2145-3D6E-C4E5164CA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F26D3B-857F-B8EA-1C7B-F25218F25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061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B32EE3B-EB68-9949-0453-BC389EDA3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Ross Ulbricht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B29EA2-C4CD-A2E8-6EAA-81F8FD73E6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Dread Pirate Roberts</a:t>
            </a:r>
          </a:p>
          <a:p>
            <a:pPr lvl="1"/>
            <a:r>
              <a:rPr lang="en-US" dirty="0"/>
              <a:t>From </a:t>
            </a:r>
            <a:r>
              <a:rPr lang="en-US" i="1" dirty="0"/>
              <a:t>The Princess Bride</a:t>
            </a:r>
          </a:p>
          <a:p>
            <a:r>
              <a:rPr lang="en-US" dirty="0"/>
              <a:t>In 2015, he was convicted of engaging in a continuing criminal enterprise, distributing narcotics by means of the internet, conspiracy to commit money laundering, conspiracy to traffic fraudulent identity documents, and conspiracy to commit computer hacking</a:t>
            </a:r>
          </a:p>
          <a:p>
            <a:r>
              <a:rPr lang="en-US" dirty="0"/>
              <a:t>He was sentenced to double life in prison plus 40 years without the possibility of parole</a:t>
            </a:r>
          </a:p>
          <a:p>
            <a:r>
              <a:rPr lang="en-US" dirty="0"/>
              <a:t>After serving 12 years, he was released from prison in January 2025, when he received a full and unconditional pardon from U.S. President Donald Trump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D7689F-CE80-C866-267A-B5C575784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8C9EB7-5A48-06F9-2F23-837148C28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85</a:t>
            </a:fld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60081C-8373-04B8-B5F7-3D3925F12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0FF070-DB09-3F4D-A1B5-583C76808363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1703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8C3FB-1491-7150-4ED7-D2C45FB63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Ross Ulbricht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825BDE-3CE5-FAE3-2C4A-07366FCB4C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Ulbricht attended the University of Texas at Dallas on a full academic scholarship and graduated in 2006 with a bachelor's degree in physics</a:t>
            </a:r>
          </a:p>
          <a:p>
            <a:r>
              <a:rPr lang="en-US" dirty="0"/>
              <a:t>Ulbricht received an additional scholarship to attend Pennsylvania State University, where he was in a master's degree program in materials science and engineering and studied crystallography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D7259A-CEA3-398F-353B-48DEF8813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E9A4CC-D40A-1D49-EC6B-F1800EF63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86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2EDBF35-5545-7E72-E716-868F11A3B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87BC58-7E1F-0F42-A574-B0C87D8F8BC3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4013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791D8-B920-DFFA-51F5-CD5B52B20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Tracking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8AEF27-FA4F-7125-2394-C55654E436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Law enforcement seized a Silk Road server in Iceland</a:t>
            </a:r>
          </a:p>
          <a:p>
            <a:r>
              <a:rPr lang="en-US" dirty="0"/>
              <a:t>Ulbricht was connected to "Dread Pirate Roberts" by Gary Alford, an Internal Revenue Service investigator working with the Drug Enforcement Administration on the Silk Road case, in mid-2013</a:t>
            </a:r>
          </a:p>
          <a:p>
            <a:r>
              <a:rPr lang="en-US" dirty="0"/>
              <a:t>The connection was made by linking the username "</a:t>
            </a:r>
            <a:r>
              <a:rPr lang="en-US" dirty="0" err="1"/>
              <a:t>altoid</a:t>
            </a:r>
            <a:r>
              <a:rPr lang="en-US" dirty="0"/>
              <a:t>", used during Silk Road's early days to announce the website, and a forum post in which Ulbricht, posting under the nickname "</a:t>
            </a:r>
            <a:r>
              <a:rPr lang="en-US" dirty="0" err="1"/>
              <a:t>altoid</a:t>
            </a:r>
            <a:r>
              <a:rPr lang="en-US" dirty="0"/>
              <a:t>", asked for programming help and gave his email address, which contained his full name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9C3BE6-F3B5-9DF4-ABB4-DE0CD5A46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7B7BA6-DE89-C464-9C45-083153165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87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C26EA7C-3B47-84DC-086D-853EEE60A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470D4-4102-504C-82E9-C87BF905B8E1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752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188" y="2155422"/>
            <a:ext cx="10715624" cy="2547157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76F9E-0943-72EE-A0E0-A2AB03C171B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0A2D441-36CB-4F4F-9DEC-9194C105A4DF}" type="datetime1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CB7854-4A82-8770-F8B9-A16F275C0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5B2BA-41E2-AFED-76EB-4FC62B907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073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Silk Road 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Silk Road 2.0 came online, run by former administrators of Silk Road</a:t>
            </a:r>
          </a:p>
          <a:p>
            <a:r>
              <a:rPr lang="en-US" dirty="0"/>
              <a:t>It too was shut down and the alleged operator was arrested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7E483E-B863-615F-85A1-64EC387D2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91C859-FDFF-E56C-71A3-21CC11A5D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89</a:t>
            </a:fld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F18806-2277-A754-2A5F-ED7E67777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BFF12-5B30-B94B-BC7C-FEC94A870A6F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441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953" y="2251676"/>
            <a:ext cx="10745273" cy="2350529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686196-DD5A-664F-D5E1-43631029847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9229198-D655-F742-A0F9-1B00D41DA04D}" type="datetime1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7951ED-655E-B9F8-3620-375D59381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23D94-8EEA-297A-E9ED-8DF305386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8039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Alphabay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Was shut down after a law enforcement action as a part of Operation Bayonet </a:t>
            </a:r>
          </a:p>
          <a:p>
            <a:r>
              <a:rPr lang="en-US" dirty="0"/>
              <a:t>The alleged founder, Alexandre </a:t>
            </a:r>
            <a:r>
              <a:rPr lang="en-US" dirty="0" err="1"/>
              <a:t>Cazes</a:t>
            </a:r>
            <a:r>
              <a:rPr lang="en-US" dirty="0"/>
              <a:t>, a Canadian citizen was found dead in his cell in Thailand several days after his arrest; suicide is suspected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B7221C-0575-95E4-EC69-E20019468F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AC5FB6A-899F-A047-A7A2-E01FFFBDF897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8750B-DBD6-701F-7DD3-6297A32C1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C15FAE-9B4F-5D7F-8BDF-1288523F9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566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CC3D1-6D56-DC4B-9451-C402626E9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Trust No One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CF600F-D788-1642-8C1D-FB4AD83B7C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Sites come and go</a:t>
            </a:r>
          </a:p>
          <a:p>
            <a:r>
              <a:rPr lang="en-US" dirty="0"/>
              <a:t>The data you entered are on them</a:t>
            </a:r>
          </a:p>
          <a:p>
            <a:r>
              <a:rPr lang="en-US" dirty="0"/>
              <a:t>Pay attention to ratings and escrow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687F16-B204-69BE-CC84-2D5293B3F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B5FBCA-7987-3F9D-981B-3F704BDDC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92</a:t>
            </a:fld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46D8A0-8BB6-509E-8959-40F526136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47355B-D8B2-6241-9A2F-E5B5B33A6A68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975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3DBD660-8B58-6BF8-A6E2-5F1ADA20C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Size of TOR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745E7C-D734-39E6-D2ED-83203BD034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https://metrics.torproject.org</a:t>
            </a:r>
            <a:r>
              <a:rPr lang="en-US" dirty="0"/>
              <a:t>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D8A4732-B730-0FF3-0CB7-7CB83C4B0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7E64B0-B167-9F4B-09D3-21A2D71FC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effectLst/>
              </a:defRPr>
            </a:pPr>
            <a:fld id="{86CB4B4D-7CA3-9044-876B-883B54F8677D}" type="slidenum">
              <a:rPr lang="en-US" smtClean="0"/>
              <a:t>93</a:t>
            </a:fld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AFE463-D09B-28B6-ACDE-00C8AF4A3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A73BA-8F1F-694F-8D88-27FE62097734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760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E949E2-8F91-A5DA-0739-EC5D4C0AE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Exercise Caution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98A9F3-2F50-717C-53DA-2CDBBA80A5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Most sites have illicit content</a:t>
            </a:r>
          </a:p>
          <a:p>
            <a:pPr lvl="1"/>
            <a:r>
              <a:rPr lang="en-US" dirty="0"/>
              <a:t>You can’t, in general, be tracked</a:t>
            </a:r>
          </a:p>
          <a:p>
            <a:r>
              <a:rPr lang="en-US" dirty="0"/>
              <a:t>Can contain web bugs</a:t>
            </a:r>
          </a:p>
          <a:p>
            <a:r>
              <a:rPr lang="en-US" dirty="0"/>
              <a:t>May place illegal images in browser cache</a:t>
            </a:r>
          </a:p>
          <a:p>
            <a:r>
              <a:rPr lang="en-US" dirty="0"/>
              <a:t>You are legally liable for your actions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C7C4A8-9620-6A9E-CF1B-9231B8BC5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CE0A58-800B-A013-746E-EDFE9BA82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94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CE8D4E5-4BB5-ABA6-F10B-F7E59FCD5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1104B-0295-644A-BB52-4D2350E662DD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094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DC606BE-ECC6-0C32-D3B3-43118CC401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8C301F-4A03-3ECB-55BA-E04A707F8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4A3CAA-D84F-11B4-AFA5-3853ED886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95</a:t>
            </a:fld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8B6FAD-F685-9F4C-8FB0-545EF727B3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02F0-DFE8-0E4B-8E2A-5D7A147B6ECC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759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45F8254-F712-C100-5A7D-B3416AFED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Security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E3DBB0-B18A-2E09-4CF8-C5D3AB1882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The Landscape:</a:t>
            </a:r>
          </a:p>
          <a:p>
            <a:pPr lvl="1"/>
            <a:r>
              <a:rPr lang="en-US" dirty="0"/>
              <a:t>70+ new vulnerabilities per day</a:t>
            </a:r>
          </a:p>
          <a:p>
            <a:pPr lvl="1"/>
            <a:r>
              <a:rPr lang="en-US" dirty="0"/>
              <a:t>Tens of thousands of SQL and XSS exposures</a:t>
            </a:r>
          </a:p>
          <a:p>
            <a:pPr lvl="1"/>
            <a:r>
              <a:rPr lang="en-US" dirty="0"/>
              <a:t>Growing attack surface (IoT devices)</a:t>
            </a:r>
          </a:p>
          <a:p>
            <a:pPr lvl="1"/>
            <a:r>
              <a:rPr lang="en-US" dirty="0"/>
              <a:t>Ransomware and data breaches increasing</a:t>
            </a:r>
          </a:p>
          <a:p>
            <a:r>
              <a:rPr lang="en-US" dirty="0"/>
              <a:t>We must take security seriously</a:t>
            </a:r>
          </a:p>
          <a:p>
            <a:pPr lvl="1"/>
            <a:r>
              <a:rPr lang="en-US" dirty="0"/>
              <a:t>Affect all us us</a:t>
            </a:r>
          </a:p>
          <a:p>
            <a:pPr lvl="1"/>
            <a:r>
              <a:rPr lang="en-US" dirty="0"/>
              <a:t>And our </a:t>
            </a:r>
            <a:r>
              <a:rPr lang="en-US" dirty="0" err="1"/>
              <a:t>custormers</a:t>
            </a:r>
            <a:endParaRPr lang="en-US" dirty="0"/>
          </a:p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C64865-B191-2738-1D22-00BA6CA03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2244CE-ACB2-1C84-C698-EF0138C62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96</a:t>
            </a:fld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98ACDE-E77F-5704-DCA1-9647C6C80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FE409C-E9A6-EE46-BB79-C0CAE413C860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5879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285F971-1BC3-181D-BD20-855ED32F5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Encryption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1FF63C-0A2C-36A6-5BA9-5E9EE9AEDF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Active Record Encryption</a:t>
            </a:r>
          </a:p>
          <a:p>
            <a:pPr lvl="1"/>
            <a:r>
              <a:rPr lang="en-US" dirty="0"/>
              <a:t>Non-deterministic: More secure, can't search</a:t>
            </a:r>
          </a:p>
          <a:p>
            <a:pPr lvl="1"/>
            <a:r>
              <a:rPr lang="en-US" dirty="0"/>
              <a:t>Deterministic: Less secure, searchable</a:t>
            </a:r>
          </a:p>
          <a:p>
            <a:pPr lvl="1"/>
            <a:r>
              <a:rPr lang="en-US" dirty="0"/>
              <a:t>Protects data when exfiltrated</a:t>
            </a:r>
          </a:p>
          <a:p>
            <a:r>
              <a:rPr lang="en-US" dirty="0"/>
              <a:t>HTTPS</a:t>
            </a:r>
          </a:p>
          <a:p>
            <a:pPr lvl="1"/>
            <a:r>
              <a:rPr lang="en-US" dirty="0"/>
              <a:t>Encrypts data in transit</a:t>
            </a:r>
          </a:p>
          <a:p>
            <a:pPr lvl="1"/>
            <a:r>
              <a:rPr lang="en-US" dirty="0"/>
              <a:t>Use Let's Encrypt for free certificates</a:t>
            </a:r>
          </a:p>
          <a:p>
            <a:pPr lvl="1"/>
            <a:r>
              <a:rPr lang="en-US" dirty="0"/>
              <a:t>Never deploy without HTTPS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815090-C44D-72DB-6ABC-9F05D5DF6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60593E-A356-0CC9-26FA-4F490F479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97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7761494-6E1F-94E4-23BB-5061235B29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442BB-E303-014C-8F81-886157C81FAE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993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F811477-062E-0412-6F1C-1F24ECA15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Authentication &amp; Authorization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0BFBC1A-91CF-4063-E805-526AC7D457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Authentication</a:t>
            </a:r>
          </a:p>
          <a:p>
            <a:pPr lvl="1"/>
            <a:r>
              <a:rPr lang="en-US" dirty="0"/>
              <a:t>Prove who you are</a:t>
            </a:r>
          </a:p>
          <a:p>
            <a:pPr lvl="1"/>
            <a:r>
              <a:rPr lang="en-US" dirty="0"/>
              <a:t>MFA for stronger security</a:t>
            </a:r>
          </a:p>
          <a:p>
            <a:pPr lvl="1"/>
            <a:r>
              <a:rPr lang="en-US" dirty="0"/>
              <a:t>Use external authenticators when possible</a:t>
            </a:r>
          </a:p>
          <a:p>
            <a:r>
              <a:rPr lang="en-US" dirty="0"/>
              <a:t>Authorization</a:t>
            </a:r>
          </a:p>
          <a:p>
            <a:pPr lvl="1"/>
            <a:r>
              <a:rPr lang="en-US" dirty="0"/>
              <a:t>Control what users can do</a:t>
            </a:r>
          </a:p>
          <a:p>
            <a:pPr lvl="1"/>
            <a:r>
              <a:rPr lang="en-US" dirty="0"/>
              <a:t>Ability-based permissions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C99793-263C-8C6D-B2EC-C284E7F6D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F4D633-43B3-A109-5BF2-3C4AF5109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98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EF58D7E-8E5A-D5A2-9769-109E9239D3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E33E-F081-404E-8492-82351653C046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984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299498E-AFDC-3322-5E4D-CACB001A3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Injection Prevention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4F9001-9D73-6C7C-78AB-49FF82FD9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SQL Injection</a:t>
            </a:r>
          </a:p>
          <a:p>
            <a:pPr lvl="1"/>
            <a:r>
              <a:rPr lang="en-US" dirty="0"/>
              <a:t>Use `?` placeholders in queries</a:t>
            </a:r>
          </a:p>
          <a:p>
            <a:pPr lvl="1"/>
            <a:r>
              <a:rPr lang="en-US" dirty="0"/>
              <a:t>Never interpolate user input directly</a:t>
            </a:r>
          </a:p>
          <a:p>
            <a:r>
              <a:rPr lang="en-US" dirty="0"/>
              <a:t>XSS</a:t>
            </a:r>
          </a:p>
          <a:p>
            <a:pPr lvl="1"/>
            <a:r>
              <a:rPr lang="en-US" dirty="0"/>
              <a:t>Rails escapes by default</a:t>
            </a:r>
          </a:p>
          <a:p>
            <a:pPr lvl="1"/>
            <a:r>
              <a:rPr lang="en-US" dirty="0"/>
              <a:t>Still stored in database</a:t>
            </a:r>
          </a:p>
          <a:p>
            <a:pPr lvl="1"/>
            <a:r>
              <a:rPr lang="en-US" dirty="0"/>
              <a:t>Don't use ‘&lt;%==‘, ‘</a:t>
            </a:r>
            <a:r>
              <a:rPr lang="en-US" dirty="0" err="1"/>
              <a:t>html_safe</a:t>
            </a:r>
            <a:r>
              <a:rPr lang="en-US" dirty="0"/>
              <a:t>’, or ‘raw’ unnecessarily</a:t>
            </a:r>
          </a:p>
          <a:p>
            <a:r>
              <a:rPr lang="en-US" dirty="0"/>
              <a:t>CSRF</a:t>
            </a:r>
          </a:p>
          <a:p>
            <a:r>
              <a:rPr lang="en-US" dirty="0"/>
              <a:t>- Rails includes authenticity tokens</a:t>
            </a:r>
          </a:p>
          <a:p>
            <a:r>
              <a:rPr lang="en-US" dirty="0"/>
              <a:t>- Protects POST/PUT/PATCH/DELETE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D7C141-CD1E-17D0-B15C-209A27DC7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92EA33-FB1F-DD20-7FA4-E7F002DD6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99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270A580-7F06-3260-CD6B-A3BC86A3A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8A-8571-5E45-9FF3-DB04B727C933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448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084D952-9CFB-7FEB-46E1-CF7129B39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Browser Security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9AD933-415C-BC12-7194-AF4F151BD8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Same-Origin Policy:</a:t>
            </a:r>
          </a:p>
          <a:p>
            <a:pPr lvl="1"/>
            <a:r>
              <a:rPr lang="en-US" dirty="0"/>
              <a:t>Browsers restrict cross-origin scripts</a:t>
            </a:r>
          </a:p>
          <a:p>
            <a:pPr lvl="1"/>
            <a:r>
              <a:rPr lang="en-US" dirty="0"/>
              <a:t>Necessary for security</a:t>
            </a:r>
          </a:p>
          <a:p>
            <a:r>
              <a:rPr lang="en-US" dirty="0"/>
              <a:t>CORS</a:t>
            </a:r>
          </a:p>
          <a:p>
            <a:pPr lvl="1"/>
            <a:r>
              <a:rPr lang="en-US" dirty="0"/>
              <a:t>Allow controlled cross-origin access</a:t>
            </a:r>
          </a:p>
          <a:p>
            <a:pPr lvl="1"/>
            <a:r>
              <a:rPr lang="en-US" dirty="0"/>
              <a:t>Don't wildcard origins</a:t>
            </a:r>
          </a:p>
          <a:p>
            <a:pPr lvl="1"/>
            <a:r>
              <a:rPr lang="en-US" dirty="0"/>
              <a:t>Specify exact trusted sources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6E719-F53E-EBDE-AD78-B8F88A894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519438-BB23-8D54-3D24-15E821839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100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6AA178A-D52B-D75B-9146-F29B9577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43285-07E1-3C41-8C81-79D4C91E62A8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615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9F07123-4177-68AB-08DE-4269D8933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Tools &amp; Testing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2A64C89-0853-C074-639D-6AB5F7DDE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There are tools that help</a:t>
            </a:r>
          </a:p>
          <a:p>
            <a:r>
              <a:rPr lang="en-US" dirty="0"/>
              <a:t>Static Analysis</a:t>
            </a:r>
          </a:p>
          <a:p>
            <a:pPr lvl="1"/>
            <a:r>
              <a:rPr lang="en-US" dirty="0"/>
              <a:t>Brakeman - Rails security scanner</a:t>
            </a:r>
          </a:p>
          <a:p>
            <a:pPr lvl="1"/>
            <a:r>
              <a:rPr lang="en-US" dirty="0" err="1"/>
              <a:t>RuboCop</a:t>
            </a:r>
            <a:r>
              <a:rPr lang="en-US" dirty="0"/>
              <a:t> - Code quality and security</a:t>
            </a:r>
          </a:p>
          <a:p>
            <a:pPr lvl="1"/>
            <a:r>
              <a:rPr lang="en-US" dirty="0"/>
              <a:t>Include in CI/CD</a:t>
            </a:r>
          </a:p>
          <a:p>
            <a:r>
              <a:rPr lang="en-US" dirty="0"/>
              <a:t>Learn More</a:t>
            </a:r>
          </a:p>
          <a:p>
            <a:pPr lvl="1"/>
            <a:r>
              <a:rPr lang="en-US" dirty="0">
                <a:hlinkClick r:id="rId2"/>
              </a:rPr>
              <a:t>https://owasp.org/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ZAP (Zed Attack Proxy)</a:t>
            </a:r>
          </a:p>
          <a:p>
            <a:pPr lvl="1"/>
            <a:r>
              <a:rPr lang="en-US" dirty="0" err="1"/>
              <a:t>WebGoat</a:t>
            </a:r>
            <a:r>
              <a:rPr lang="en-US" dirty="0"/>
              <a:t> (practice attacks)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065F88-8E15-D00C-E7BD-ECEDF542A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CCA8A9-141A-B994-DD59-9193483F4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101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008437B-1E26-8226-8682-678293844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C0457-A918-1D45-8403-603643699B8B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746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81DB28-1011-1D9E-DBEA-9D605C792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Our Duty to Users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F196CBC-BCFD-28BF-15BF-C5C51F9494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Users trust us with their Personally Identifiable Information (PII).</a:t>
            </a:r>
          </a:p>
          <a:p>
            <a:r>
              <a:rPr lang="en-US" dirty="0"/>
              <a:t>We must</a:t>
            </a:r>
          </a:p>
          <a:p>
            <a:pPr lvl="1"/>
            <a:r>
              <a:rPr lang="en-US" dirty="0"/>
              <a:t>Be ethical with their data</a:t>
            </a:r>
          </a:p>
          <a:p>
            <a:pPr lvl="1"/>
            <a:r>
              <a:rPr lang="en-US" dirty="0"/>
              <a:t>Protect it to the best of our ability</a:t>
            </a:r>
          </a:p>
          <a:p>
            <a:pPr lvl="1"/>
            <a:r>
              <a:rPr lang="en-US" dirty="0"/>
              <a:t>Use encryption and secure practices</a:t>
            </a:r>
          </a:p>
          <a:p>
            <a:pPr lvl="1"/>
            <a:r>
              <a:rPr lang="en-US" dirty="0"/>
              <a:t>Stay current on </a:t>
            </a:r>
            <a:r>
              <a:rPr lang="en-US"/>
              <a:t>security threats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53EB41-4A8D-FFF2-03A9-849D0076D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9024FB-4B03-4D70-E078-36207CC83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102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7E4FCC4-94CB-78FB-70D9-BDDABF9EA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FD96C-CD59-934B-AC0F-18D1C8BD32C6}" type="datetime1">
              <a:rPr lang="en-US" smtClean="0"/>
              <a:t>10/8/26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2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MSU Denver 16x9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9DA9736E-330F-4D40-A0AF-1CC780C29072}" vid="{881790AE-4280-6941-9F6C-19A6C408C4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Master</Template>
  <TotalTime>13533</TotalTime>
  <Words>4698</Words>
  <Application>Microsoft Macintosh PowerPoint</Application>
  <PresentationFormat>Widescreen</PresentationFormat>
  <Paragraphs>900</Paragraphs>
  <Slides>102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102</vt:i4>
      </vt:variant>
    </vt:vector>
  </HeadingPairs>
  <TitlesOfParts>
    <vt:vector size="107" baseType="lpstr">
      <vt:lpstr>Aptos</vt:lpstr>
      <vt:lpstr>Arial</vt:lpstr>
      <vt:lpstr>Calibri</vt:lpstr>
      <vt:lpstr>Menlo</vt:lpstr>
      <vt:lpstr>MSU Denver 16x9</vt:lpstr>
      <vt:lpstr>Chapter 06</vt:lpstr>
      <vt:lpstr>Text Conventions</vt:lpstr>
      <vt:lpstr>Sun Tzu, The Art of War</vt:lpstr>
      <vt:lpstr>The Security Challenge</vt:lpstr>
      <vt:lpstr>Learning Outcomes</vt:lpstr>
      <vt:lpstr>Key Terms</vt:lpstr>
      <vt:lpstr>DB Encryption</vt:lpstr>
      <vt:lpstr>Active Record Encryption</vt:lpstr>
      <vt:lpstr>Choosing Encryption Types</vt:lpstr>
      <vt:lpstr>Initialize Encryption Keys</vt:lpstr>
      <vt:lpstr>Configure Credentials</vt:lpstr>
      <vt:lpstr>Encrypt Model Attributes</vt:lpstr>
      <vt:lpstr>What Encrypted Data Looks Like</vt:lpstr>
      <vt:lpstr>Fix Tests with Encrypted Data</vt:lpstr>
      <vt:lpstr>Authentication</vt:lpstr>
      <vt:lpstr>Auth/n vs Auth/z</vt:lpstr>
      <vt:lpstr>Three Authentication Factors</vt:lpstr>
      <vt:lpstr>Devise Authentication Gem</vt:lpstr>
      <vt:lpstr> Setting Up Devise</vt:lpstr>
      <vt:lpstr>Devise Route Setup</vt:lpstr>
      <vt:lpstr>Adding Logout Functionality</vt:lpstr>
      <vt:lpstr>Devise Test Helpers</vt:lpstr>
      <vt:lpstr>Authorization</vt:lpstr>
      <vt:lpstr>CanCanCan Authorization Gem</vt:lpstr>
      <vt:lpstr>Setting Up CanCanCan</vt:lpstr>
      <vt:lpstr>Basic Ability Configuration</vt:lpstr>
      <vt:lpstr>Using CanCanCan in Controllers</vt:lpstr>
      <vt:lpstr>HTTPS</vt:lpstr>
      <vt:lpstr>Securing Data in Transit</vt:lpstr>
      <vt:lpstr>Generate SSL Certificate</vt:lpstr>
      <vt:lpstr>Certificate Information</vt:lpstr>
      <vt:lpstr>Run Rails with SSL</vt:lpstr>
      <vt:lpstr>Certificate Trust Warning</vt:lpstr>
      <vt:lpstr>PowerPoint Presentation</vt:lpstr>
      <vt:lpstr>Certificate Authorities (CA)</vt:lpstr>
      <vt:lpstr>Browser Security</vt:lpstr>
      <vt:lpstr>Same-Origin Policy (SOP)</vt:lpstr>
      <vt:lpstr>What SOP Allows</vt:lpstr>
      <vt:lpstr>SOP Can Block APIs</vt:lpstr>
      <vt:lpstr>Cross-Origin Resource Sharing</vt:lpstr>
      <vt:lpstr>Setting Up CORS</vt:lpstr>
      <vt:lpstr>CORS Security Tips</vt:lpstr>
      <vt:lpstr>CORS Headers in Action</vt:lpstr>
      <vt:lpstr>Avoiding CORS Issues</vt:lpstr>
      <vt:lpstr>Injections</vt:lpstr>
      <vt:lpstr>Injection Attacks</vt:lpstr>
      <vt:lpstr>SQL Injection (SQLi)</vt:lpstr>
      <vt:lpstr> Real-World SQLi Attack</vt:lpstr>
      <vt:lpstr>Rails SQLi Protection</vt:lpstr>
      <vt:lpstr>Code Analysis Tools</vt:lpstr>
      <vt:lpstr>Program Analysis Tools</vt:lpstr>
      <vt:lpstr>Brakeman Static Analysis</vt:lpstr>
      <vt:lpstr>RuboCop for Rails</vt:lpstr>
      <vt:lpstr>Protecting User Data</vt:lpstr>
      <vt:lpstr>Cross-Site Scripting (XSS)</vt:lpstr>
      <vt:lpstr>XSS Attack Scenario</vt:lpstr>
      <vt:lpstr>Built-In XSS Defense</vt:lpstr>
      <vt:lpstr>CSRF</vt:lpstr>
      <vt:lpstr>Cross-Site Request Forgery</vt:lpstr>
      <vt:lpstr>Web Bug Demo</vt:lpstr>
      <vt:lpstr>Overriding Rails’ Protection</vt:lpstr>
      <vt:lpstr>CSRF Attack Example</vt:lpstr>
      <vt:lpstr>Rails Defense Mechanism</vt:lpstr>
      <vt:lpstr>How Rails Prevents CSRF</vt:lpstr>
      <vt:lpstr>Additional CSRF Defenses</vt:lpstr>
      <vt:lpstr>The Dark Web</vt:lpstr>
      <vt:lpstr>Surface, Deep, and Dark Web</vt:lpstr>
      <vt:lpstr>PowerPoint Presentation</vt:lpstr>
      <vt:lpstr>TOR = The Onion Router</vt:lpstr>
      <vt:lpstr>Purpose</vt:lpstr>
      <vt:lpstr>Architecture</vt:lpstr>
      <vt:lpstr>How TOR Works</vt:lpstr>
      <vt:lpstr>Alice, Bob, and Carol (A, B, C)</vt:lpstr>
      <vt:lpstr>Obligatory</vt:lpstr>
      <vt:lpstr>PowerPoint Presentation</vt:lpstr>
      <vt:lpstr>PowerPoint Presentation</vt:lpstr>
      <vt:lpstr>PowerPoint Presentation</vt:lpstr>
      <vt:lpstr>PowerPoint Presentation</vt:lpstr>
      <vt:lpstr>Opaque Envelopes</vt:lpstr>
      <vt:lpstr>Why Use TOR?</vt:lpstr>
      <vt:lpstr>Interesting TOR Facts</vt:lpstr>
      <vt:lpstr>Dark Web Services</vt:lpstr>
      <vt:lpstr>Toby’s Site</vt:lpstr>
      <vt:lpstr>PowerPoint Presentation</vt:lpstr>
      <vt:lpstr>Ross Ulbricht</vt:lpstr>
      <vt:lpstr>Ross Ulbricht</vt:lpstr>
      <vt:lpstr>Tracking</vt:lpstr>
      <vt:lpstr>PowerPoint Presentation</vt:lpstr>
      <vt:lpstr>Silk Road 2</vt:lpstr>
      <vt:lpstr>PowerPoint Presentation</vt:lpstr>
      <vt:lpstr>Alphabay</vt:lpstr>
      <vt:lpstr>Trust No One</vt:lpstr>
      <vt:lpstr>The Size of TOR</vt:lpstr>
      <vt:lpstr>Exercise Caution</vt:lpstr>
      <vt:lpstr>Summary</vt:lpstr>
      <vt:lpstr>Security</vt:lpstr>
      <vt:lpstr>Encryption</vt:lpstr>
      <vt:lpstr>Authentication &amp; Authorization</vt:lpstr>
      <vt:lpstr>Injection Prevention</vt:lpstr>
      <vt:lpstr>Browser Security</vt:lpstr>
      <vt:lpstr>Tools &amp; Testing</vt:lpstr>
      <vt:lpstr>Our Duty to Users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 Beaty</dc:creator>
  <cp:lastModifiedBy>Steve Beaty</cp:lastModifiedBy>
  <cp:revision>74</cp:revision>
  <dcterms:created xsi:type="dcterms:W3CDTF">2025-10-29T01:48:04Z</dcterms:created>
  <dcterms:modified xsi:type="dcterms:W3CDTF">2026-10-08T20:07:07Z</dcterms:modified>
</cp:coreProperties>
</file>