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9" r:id="rId1"/>
  </p:sldMasterIdLst>
  <p:notesMasterIdLst>
    <p:notesMasterId r:id="rId103"/>
  </p:notesMasterIdLst>
  <p:sldIdLst>
    <p:sldId id="256" r:id="rId2"/>
    <p:sldId id="275" r:id="rId3"/>
    <p:sldId id="257" r:id="rId4"/>
    <p:sldId id="258" r:id="rId5"/>
    <p:sldId id="259" r:id="rId6"/>
    <p:sldId id="260" r:id="rId7"/>
    <p:sldId id="262" r:id="rId8"/>
    <p:sldId id="261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6" r:id="rId51"/>
    <p:sldId id="307" r:id="rId52"/>
    <p:sldId id="308" r:id="rId53"/>
    <p:sldId id="309" r:id="rId54"/>
    <p:sldId id="310" r:id="rId55"/>
    <p:sldId id="311" r:id="rId56"/>
    <p:sldId id="312" r:id="rId57"/>
    <p:sldId id="313" r:id="rId58"/>
    <p:sldId id="314" r:id="rId59"/>
    <p:sldId id="315" r:id="rId60"/>
    <p:sldId id="316" r:id="rId61"/>
    <p:sldId id="317" r:id="rId62"/>
    <p:sldId id="318" r:id="rId63"/>
    <p:sldId id="319" r:id="rId64"/>
    <p:sldId id="320" r:id="rId65"/>
    <p:sldId id="321" r:id="rId66"/>
    <p:sldId id="322" r:id="rId67"/>
    <p:sldId id="330" r:id="rId68"/>
    <p:sldId id="323" r:id="rId69"/>
    <p:sldId id="324" r:id="rId70"/>
    <p:sldId id="325" r:id="rId71"/>
    <p:sldId id="326" r:id="rId72"/>
    <p:sldId id="355" r:id="rId73"/>
    <p:sldId id="354" r:id="rId74"/>
    <p:sldId id="356" r:id="rId75"/>
    <p:sldId id="357" r:id="rId76"/>
    <p:sldId id="285" r:id="rId77"/>
    <p:sldId id="351" r:id="rId78"/>
    <p:sldId id="358" r:id="rId79"/>
    <p:sldId id="327" r:id="rId80"/>
    <p:sldId id="329" r:id="rId81"/>
    <p:sldId id="328" r:id="rId82"/>
    <p:sldId id="372" r:id="rId83"/>
    <p:sldId id="359" r:id="rId84"/>
    <p:sldId id="369" r:id="rId85"/>
    <p:sldId id="370" r:id="rId86"/>
    <p:sldId id="371" r:id="rId87"/>
    <p:sldId id="361" r:id="rId88"/>
    <p:sldId id="362" r:id="rId89"/>
    <p:sldId id="363" r:id="rId90"/>
    <p:sldId id="364" r:id="rId91"/>
    <p:sldId id="365" r:id="rId92"/>
    <p:sldId id="366" r:id="rId93"/>
    <p:sldId id="367" r:id="rId94"/>
    <p:sldId id="373" r:id="rId95"/>
    <p:sldId id="374" r:id="rId96"/>
    <p:sldId id="375" r:id="rId97"/>
    <p:sldId id="376" r:id="rId98"/>
    <p:sldId id="377" r:id="rId99"/>
    <p:sldId id="378" r:id="rId100"/>
    <p:sldId id="379" r:id="rId101"/>
    <p:sldId id="380" r:id="rId10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23"/>
    <p:restoredTop sz="94662"/>
  </p:normalViewPr>
  <p:slideViewPr>
    <p:cSldViewPr snapToGrid="0">
      <p:cViewPr varScale="1">
        <p:scale>
          <a:sx n="131" d="100"/>
          <a:sy n="131" d="100"/>
        </p:scale>
        <p:origin x="200" y="3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tableStyles" Target="tableStyle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AFFC25-7D9C-3148-BAE3-9461709ECBC8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3015E-46F7-BA42-920D-B0F9D08B09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42934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23015E-46F7-BA42-920D-B0F9D08B091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0315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23015E-46F7-BA42-920D-B0F9D08B091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9434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23015E-46F7-BA42-920D-B0F9D08B091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2579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23015E-46F7-BA42-920D-B0F9D08B091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9539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23015E-46F7-BA42-920D-B0F9D08B091E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3038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23015E-46F7-BA42-920D-B0F9D08B091E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5851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23015E-46F7-BA42-920D-B0F9D08B091E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18877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23015E-46F7-BA42-920D-B0F9D08B091E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2651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23015E-46F7-BA42-920D-B0F9D08B091E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4298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en.wikipedia.org</a:t>
            </a:r>
            <a:r>
              <a:rPr lang="en-US" dirty="0"/>
              <a:t>/wiki/</a:t>
            </a:r>
            <a:r>
              <a:rPr lang="en-US" dirty="0" err="1"/>
              <a:t>Alice_and_Bob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93896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xkcd.com</a:t>
            </a:r>
            <a:r>
              <a:rPr lang="en-US" dirty="0"/>
              <a:t>/2691</a:t>
            </a:r>
          </a:p>
        </p:txBody>
      </p:sp>
    </p:spTree>
    <p:extLst>
      <p:ext uri="{BB962C8B-B14F-4D97-AF65-F5344CB8AC3E}">
        <p14:creationId xmlns:p14="http://schemas.microsoft.com/office/powerpoint/2010/main" val="249857286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02079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en.wikipedia.org</a:t>
            </a:r>
            <a:r>
              <a:rPr lang="en-US" dirty="0"/>
              <a:t>/wiki/</a:t>
            </a:r>
            <a:r>
              <a:rPr lang="en-US" dirty="0" err="1"/>
              <a:t>Ross_Ulbricht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23015E-46F7-BA42-920D-B0F9D08B091E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832015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en.wikipedia.org</a:t>
            </a:r>
            <a:r>
              <a:rPr lang="en-US" dirty="0"/>
              <a:t>/wiki/</a:t>
            </a:r>
            <a:r>
              <a:rPr lang="en-US" dirty="0" err="1"/>
              <a:t>Silk_Road</a:t>
            </a:r>
            <a:r>
              <a:rPr lang="en-US" dirty="0"/>
              <a:t>_(marketplace)#Silk_Road_2.0</a:t>
            </a:r>
          </a:p>
        </p:txBody>
      </p:sp>
    </p:spTree>
    <p:extLst>
      <p:ext uri="{BB962C8B-B14F-4D97-AF65-F5344CB8AC3E}">
        <p14:creationId xmlns:p14="http://schemas.microsoft.com/office/powerpoint/2010/main" val="21595186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en.wikipedia.org</a:t>
            </a:r>
            <a:r>
              <a:rPr lang="en-US" dirty="0"/>
              <a:t>/wiki/</a:t>
            </a:r>
            <a:r>
              <a:rPr lang="en-US" dirty="0" err="1"/>
              <a:t>AlphaBay</a:t>
            </a:r>
            <a:endParaRPr lang="en-US" dirty="0"/>
          </a:p>
          <a:p>
            <a:r>
              <a:rPr lang="en-US" dirty="0"/>
              <a:t>Have everyone bring up tor and search for </a:t>
            </a:r>
            <a:r>
              <a:rPr lang="en-US" dirty="0" err="1"/>
              <a:t>herion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6253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1058938"/>
            <a:ext cx="10363200" cy="1470025"/>
          </a:xfrm>
          <a:solidFill>
            <a:schemeClr val="bg1">
              <a:alpha val="95000"/>
            </a:schemeClr>
          </a:solidFill>
          <a:effectLst>
            <a:softEdge rad="63500"/>
          </a:effectLst>
        </p:spPr>
        <p:txBody>
          <a:bodyPr/>
          <a:lstStyle>
            <a:lvl1pPr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en-US" baseline="0" dirty="0">
                <a:solidFill>
                  <a:schemeClr val="tx1"/>
                </a:solidFill>
              </a:rPr>
              <a:t>Click to edit title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2281186" y="2983610"/>
            <a:ext cx="7609479" cy="1009561"/>
          </a:xfrm>
          <a:solidFill>
            <a:schemeClr val="bg1">
              <a:alpha val="95000"/>
            </a:schemeClr>
          </a:solidFill>
          <a:effectLst>
            <a:softEdge rad="63500"/>
          </a:effectLst>
        </p:spPr>
        <p:txBody>
          <a:bodyPr anchor="ctr" anchorCtr="0"/>
          <a:lstStyle>
            <a:lvl1pPr marL="0" indent="0" algn="ctr">
              <a:buNone/>
              <a:defRPr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subtitle</a:t>
            </a:r>
          </a:p>
        </p:txBody>
      </p:sp>
    </p:spTree>
    <p:extLst>
      <p:ext uri="{BB962C8B-B14F-4D97-AF65-F5344CB8AC3E}">
        <p14:creationId xmlns:p14="http://schemas.microsoft.com/office/powerpoint/2010/main" val="32431965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5259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‹#›</a:t>
            </a:fld>
            <a:endParaRPr lang="en-US"/>
          </a:p>
        </p:txBody>
      </p:sp>
      <p:sp>
        <p:nvSpPr>
          <p:cNvPr id="7" name="Date Placeholder 2">
            <a:extLst>
              <a:ext uri="{FF2B5EF4-FFF2-40B4-BE49-F238E27FC236}">
                <a16:creationId xmlns:a16="http://schemas.microsoft.com/office/drawing/2014/main" id="{FD3C3453-6596-1340-01B9-8877C1567E49}"/>
              </a:ext>
            </a:extLst>
          </p:cNvPr>
          <p:cNvSpPr txBox="1">
            <a:spLocks/>
          </p:cNvSpPr>
          <p:nvPr/>
        </p:nvSpPr>
        <p:spPr>
          <a:xfrm>
            <a:off x="605141" y="6308726"/>
            <a:ext cx="1169155" cy="487680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anchor="ctr" anchorCtr="0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9E145AF-2465-1345-A673-F2664B07CED8}" type="datetime5">
              <a:rPr lang="en-US" smtClean="0"/>
              <a:pPr/>
              <a:t>11-Nov-25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30267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525963"/>
          </a:xfrm>
          <a:ln w="25400">
            <a:solidFill>
              <a:schemeClr val="tx1"/>
            </a:solidFill>
          </a:ln>
        </p:spPr>
        <p:txBody>
          <a:bodyPr tIns="228600">
            <a:normAutofit/>
          </a:bodyPr>
          <a:lstStyle>
            <a:lvl1pPr marL="0" indent="0">
              <a:buNone/>
              <a:defRPr sz="2667" b="0" i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‹#›</a:t>
            </a:fld>
            <a:endParaRPr lang="en-US"/>
          </a:p>
        </p:txBody>
      </p:sp>
      <p:sp>
        <p:nvSpPr>
          <p:cNvPr id="7" name="Date Placeholder 2">
            <a:extLst>
              <a:ext uri="{FF2B5EF4-FFF2-40B4-BE49-F238E27FC236}">
                <a16:creationId xmlns:a16="http://schemas.microsoft.com/office/drawing/2014/main" id="{9887BBEB-32D5-2D50-07CA-3F51A75FA0E8}"/>
              </a:ext>
            </a:extLst>
          </p:cNvPr>
          <p:cNvSpPr txBox="1">
            <a:spLocks/>
          </p:cNvSpPr>
          <p:nvPr/>
        </p:nvSpPr>
        <p:spPr>
          <a:xfrm>
            <a:off x="605141" y="6308726"/>
            <a:ext cx="1169155" cy="487680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anchor="ctr" anchorCtr="0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9E145AF-2465-1345-A673-F2664B07CED8}" type="datetime5">
              <a:rPr lang="en-US" smtClean="0"/>
              <a:pPr/>
              <a:t>11-Nov-25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13193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wo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2487"/>
            <a:ext cx="5321600" cy="4525963"/>
          </a:xfrm>
          <a:ln w="25400" cap="flat">
            <a:solidFill>
              <a:schemeClr val="tx1"/>
            </a:solidFill>
            <a:round/>
          </a:ln>
        </p:spPr>
        <p:txBody>
          <a:bodyPr tIns="228600">
            <a:normAutofit/>
          </a:bodyPr>
          <a:lstStyle>
            <a:lvl1pPr marL="0" indent="0">
              <a:buNone/>
              <a:defRPr sz="2667" b="0" i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F3C3831-60B9-204A-AB0D-53E619F83C5B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60800" y="1592837"/>
            <a:ext cx="5321600" cy="4525963"/>
          </a:xfrm>
          <a:ln w="25400">
            <a:solidFill>
              <a:schemeClr val="tx1"/>
            </a:solidFill>
          </a:ln>
        </p:spPr>
        <p:txBody>
          <a:bodyPr tIns="228600">
            <a:normAutofit/>
          </a:bodyPr>
          <a:lstStyle>
            <a:lvl1pPr marL="0" indent="0">
              <a:buNone/>
              <a:defRPr sz="2667" b="0" i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2">
            <a:extLst>
              <a:ext uri="{FF2B5EF4-FFF2-40B4-BE49-F238E27FC236}">
                <a16:creationId xmlns:a16="http://schemas.microsoft.com/office/drawing/2014/main" id="{7DDEEDF1-8A77-85F3-9C93-920E453307BB}"/>
              </a:ext>
            </a:extLst>
          </p:cNvPr>
          <p:cNvSpPr txBox="1">
            <a:spLocks/>
          </p:cNvSpPr>
          <p:nvPr/>
        </p:nvSpPr>
        <p:spPr>
          <a:xfrm>
            <a:off x="605141" y="6308726"/>
            <a:ext cx="1169155" cy="487680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anchor="ctr" anchorCtr="0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9E145AF-2465-1345-A673-F2664B07CED8}" type="datetime5">
              <a:rPr lang="en-US" smtClean="0"/>
              <a:pPr/>
              <a:t>11-Nov-25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00987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Date Placeholder 2">
            <a:extLst>
              <a:ext uri="{FF2B5EF4-FFF2-40B4-BE49-F238E27FC236}">
                <a16:creationId xmlns:a16="http://schemas.microsoft.com/office/drawing/2014/main" id="{BC7257D9-CFE4-6187-731B-973A817958BF}"/>
              </a:ext>
            </a:extLst>
          </p:cNvPr>
          <p:cNvSpPr txBox="1">
            <a:spLocks/>
          </p:cNvSpPr>
          <p:nvPr/>
        </p:nvSpPr>
        <p:spPr>
          <a:xfrm>
            <a:off x="605141" y="6308726"/>
            <a:ext cx="1169155" cy="487680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anchor="ctr" anchorCtr="0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9E145AF-2465-1345-A673-F2664B07CED8}" type="datetime5">
              <a:rPr lang="en-US" smtClean="0"/>
              <a:pPr/>
              <a:t>11-Nov-25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7325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881808" y="6308726"/>
            <a:ext cx="8605793" cy="487680"/>
          </a:xfrm>
        </p:spPr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‹#›</a:t>
            </a:fld>
            <a:endParaRPr lang="en-US"/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346DE585-182D-C90D-7BFC-E67326368F83}"/>
              </a:ext>
            </a:extLst>
          </p:cNvPr>
          <p:cNvSpPr txBox="1">
            <a:spLocks/>
          </p:cNvSpPr>
          <p:nvPr/>
        </p:nvSpPr>
        <p:spPr>
          <a:xfrm>
            <a:off x="605141" y="6308726"/>
            <a:ext cx="1169155" cy="487680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anchor="ctr" anchorCtr="0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9E145AF-2465-1345-A673-F2664B07CED8}" type="datetime5">
              <a:rPr lang="en-US" smtClean="0"/>
              <a:pPr/>
              <a:t>11-Nov-25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92682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957222" y="6308726"/>
            <a:ext cx="8605793" cy="487680"/>
          </a:xfrm>
        </p:spPr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745942" y="6308726"/>
            <a:ext cx="879777" cy="487680"/>
          </a:xfrm>
        </p:spPr>
        <p:txBody>
          <a:bodyPr/>
          <a:lstStyle/>
          <a:p>
            <a:fld id="{AFE08FFA-7F03-3A4E-B3F8-2C550F8B5FDD}" type="slidenum">
              <a:rPr lang="en-US" smtClean="0"/>
              <a:t>‹#›</a:t>
            </a:fld>
            <a:endParaRPr lang="en-US"/>
          </a:p>
        </p:txBody>
      </p:sp>
      <p:sp>
        <p:nvSpPr>
          <p:cNvPr id="2" name="Date Placeholder 2">
            <a:extLst>
              <a:ext uri="{FF2B5EF4-FFF2-40B4-BE49-F238E27FC236}">
                <a16:creationId xmlns:a16="http://schemas.microsoft.com/office/drawing/2014/main" id="{ED4BD15D-B8F3-E5F7-61A8-F1581CE5EF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5141" y="6308726"/>
            <a:ext cx="1169155" cy="487680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anchor="ctr" anchorCtr="0"/>
          <a:lstStyle>
            <a:lvl1pPr algn="ctr">
              <a:defRPr sz="1600"/>
            </a:lvl1pPr>
          </a:lstStyle>
          <a:p>
            <a:fld id="{F7714C69-287E-E443-97C2-5C868A5EEBBE}" type="datetime1">
              <a:rPr lang="en-US" smtClean="0"/>
              <a:t>11/11/25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034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B955B-3757-0FEC-8150-652A2829B60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2921168"/>
            <a:ext cx="9144000" cy="1015663"/>
          </a:xfrm>
        </p:spPr>
        <p:txBody>
          <a:bodyPr anchor="ctr" anchorCtr="0">
            <a:sp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Section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323134-95A2-6423-76C0-9D75A168C9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90ECD-9D68-3C44-AA7C-041F4B4B3003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19F5F4-E2F3-BFD8-53AA-6A6F195FC6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B90BEB-A9D1-FF29-0E8C-A755B6F98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994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Image"/>
          <p:cNvSpPr>
            <a:spLocks noGrp="1"/>
          </p:cNvSpPr>
          <p:nvPr>
            <p:ph type="pic" idx="13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11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>
                <a:effectLst/>
              </a:defRPr>
            </a:pPr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16893362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d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430305"/>
            <a:ext cx="10972800" cy="5695859"/>
          </a:xfrm>
          <a:ln w="25400">
            <a:solidFill>
              <a:schemeClr val="tx1"/>
            </a:solidFill>
          </a:ln>
        </p:spPr>
        <p:txBody>
          <a:bodyPr tIns="228600">
            <a:normAutofit/>
          </a:bodyPr>
          <a:lstStyle>
            <a:lvl1pPr marL="0" indent="0">
              <a:buNone/>
              <a:defRPr sz="2667" b="0" i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8CCD3-E4CF-ED48-912D-3228D88653A3}" type="datetime1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 as cited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effectLst/>
              </a:defRPr>
            </a:pPr>
            <a:fld id="{86CB4B4D-7CA3-9044-876B-883B54F867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3455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16423"/>
            <a:ext cx="10972800" cy="4525963"/>
          </a:xfrm>
          <a:prstGeom prst="rect">
            <a:avLst/>
          </a:prstGeom>
          <a:solidFill>
            <a:schemeClr val="bg1">
              <a:alpha val="95000"/>
            </a:schemeClr>
          </a:solidFill>
          <a:effectLst>
            <a:softEdge rad="63500"/>
          </a:effectLst>
          <a:scene3d>
            <a:camera prst="orthographicFront"/>
            <a:lightRig rig="threePt" dir="t"/>
          </a:scene3d>
          <a:sp3d>
            <a:bevelT/>
          </a:sp3d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0" cy="1143000"/>
          </a:xfrm>
          <a:prstGeom prst="rect">
            <a:avLst/>
          </a:prstGeom>
          <a:solidFill>
            <a:schemeClr val="bg1">
              <a:alpha val="95000"/>
            </a:schemeClr>
          </a:solidFill>
          <a:effectLst>
            <a:softEdge rad="0"/>
          </a:effectLst>
          <a:scene3d>
            <a:camera prst="orthographicFront"/>
            <a:lightRig rig="threePt" dir="t"/>
          </a:scene3d>
          <a:sp3d>
            <a:bevelT/>
          </a:sp3d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881808" y="6308726"/>
            <a:ext cx="8605793" cy="487680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95113" y="6308726"/>
            <a:ext cx="987287" cy="487680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E08FFA-7F03-3A4E-B3F8-2C550F8B5FDD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B6740CB2-DC30-5DDB-24B8-219C9C3F59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5141" y="6308726"/>
            <a:ext cx="1169155" cy="487680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anchor="ctr" anchorCtr="0"/>
          <a:lstStyle>
            <a:lvl1pPr algn="ctr">
              <a:defRPr sz="1600"/>
            </a:lvl1pPr>
          </a:lstStyle>
          <a:p>
            <a:fld id="{9C9125FC-FC67-7140-8E1A-D6FB4D8643C9}" type="datetime1">
              <a:rPr lang="en-US" smtClean="0"/>
              <a:t>11/11/25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471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  <p:sldLayoutId id="2147483682" r:id="rId3"/>
    <p:sldLayoutId id="2147483683" r:id="rId4"/>
    <p:sldLayoutId id="2147483684" r:id="rId5"/>
    <p:sldLayoutId id="2147483685" r:id="rId6"/>
    <p:sldLayoutId id="2147483686" r:id="rId7"/>
    <p:sldLayoutId id="2147483687" r:id="rId8"/>
    <p:sldLayoutId id="2147483688" r:id="rId9"/>
    <p:sldLayoutId id="2147483689" r:id="rId10"/>
  </p:sldLayoutIdLst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  <p:hf hdr="0" dt="0"/>
  <p:txStyles>
    <p:titleStyle>
      <a:lvl1pPr algn="ctr" defTabSz="6095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77" indent="-457177" algn="l" defTabSz="609570" rtl="0" eaLnBrk="1" latinLnBrk="0" hangingPunct="1">
        <a:spcBef>
          <a:spcPct val="20000"/>
        </a:spcBef>
        <a:buFont typeface="Arial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51" indent="-380982" algn="l" defTabSz="609570" rtl="0" eaLnBrk="1" latinLnBrk="0" hangingPunct="1">
        <a:spcBef>
          <a:spcPct val="20000"/>
        </a:spcBef>
        <a:buFont typeface="Arial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23" indent="-304784" algn="l" defTabSz="60957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493" indent="-304784" algn="l" defTabSz="609570" rtl="0" eaLnBrk="1" latinLnBrk="0" hangingPunct="1">
        <a:spcBef>
          <a:spcPct val="20000"/>
        </a:spcBef>
        <a:buFont typeface="Arial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063" indent="-304784" algn="l" defTabSz="609570" rtl="0" eaLnBrk="1" latinLnBrk="0" hangingPunct="1">
        <a:spcBef>
          <a:spcPct val="20000"/>
        </a:spcBef>
        <a:buFont typeface="Arial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63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20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771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341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7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39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09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7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84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417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987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557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ve.org/CVERecord?id=CVE-2005-0036" TargetMode="External"/><Relationship Id="rId2" Type="http://schemas.openxmlformats.org/officeDocument/2006/relationships/hyperlink" Target="https://www.cve.org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cve.org/CVERecord?id=CVE-2005-0038" TargetMode="External"/><Relationship Id="rId4" Type="http://schemas.openxmlformats.org/officeDocument/2006/relationships/hyperlink" Target="https://www.cve.org/CVERecord?id=CVE-2005-0037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CanCanCommunity/cancancan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localhost:3000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letsencrypt.org/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torproject.org/download/" TargetMode="Externa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0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0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0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8.svg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hyperlink" Target="http://yvudsnnux372gj2nvg3bnkficwf4niel6drfqyhbtglgdsf2l75xfqqd.onion/" TargetMode="Externa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0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hyperlink" Target="https://metrics.torproject.org/" TargetMode="Externa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hyperlink" Target="https://owasp.org/" TargetMode="Externa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AA05B8C-6186-B60F-D2F7-55F7D9AB9C2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Chapter 06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CC15E8-55B0-490D-9B7C-56EBF7423C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Security</a:t>
            </a:r>
          </a:p>
        </p:txBody>
      </p:sp>
    </p:spTree>
    <p:extLst>
      <p:ext uri="{BB962C8B-B14F-4D97-AF65-F5344CB8AC3E}">
        <p14:creationId xmlns:p14="http://schemas.microsoft.com/office/powerpoint/2010/main" val="2513809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4557B-5361-1B39-F626-E97F0892D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Text Conventions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AD3968-A9BB-3125-6BCD-B9EFF98B1D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Ruby code in fixed-width font and indented</a:t>
            </a:r>
          </a:p>
          <a:p>
            <a:pPr marL="609569" lvl="1" indent="0">
              <a:buNone/>
            </a:pP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root "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items#index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”</a:t>
            </a:r>
          </a:p>
          <a:p>
            <a:r>
              <a:rPr lang="en-US" dirty="0"/>
              <a:t>Command lines start with '$', are in a fixed-width font, and are not indented</a:t>
            </a:r>
          </a:p>
          <a:p>
            <a:pPr marL="0" indent="0">
              <a:buNone/>
            </a:pP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$ ls -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lta</a:t>
            </a:r>
            <a:endParaRPr lang="en-US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640A3A-AA91-EBAA-A854-779D0A630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8523C5-967E-63C5-E5B7-80CA16918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8411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D3117-E483-89A2-21D0-BAD472876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Sun Tzu, The Art of War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CC530C-7AD7-410F-0385-897B89C323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If you know the enemy and know yourself, you need not fear the result of a hundred battles</a:t>
            </a:r>
          </a:p>
          <a:p>
            <a:r>
              <a:rPr lang="en-US" dirty="0"/>
              <a:t> If you know yourself but not the enemy, for every victory gained you will also suffer a defeat</a:t>
            </a:r>
          </a:p>
          <a:p>
            <a:r>
              <a:rPr lang="en-US" dirty="0"/>
              <a:t>If you know neither the enemy nor yourself, you will succumb in every battle.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F14D98-AB19-A2BF-A086-8A0732984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921FF1-A5B0-4DDC-C0DA-7ACE840D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20561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159C6A-F22A-996E-F8BF-C06A8023F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Security 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EF3C4C-F40F-7197-4EE7-2599BEF3D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Common Vulnerabilities and Exposures (CVE) database (</a:t>
            </a:r>
            <a:r>
              <a:rPr lang="en-US" dirty="0">
                <a:hlinkClick r:id="rId2"/>
              </a:rPr>
              <a:t>https://www.cve.org/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40,077 a year = ~110</a:t>
            </a:r>
            <a:r>
              <a:rPr lang="en-US" b="1" dirty="0"/>
              <a:t> </a:t>
            </a:r>
            <a:r>
              <a:rPr lang="en-US" dirty="0"/>
              <a:t>new vulnerabilities per day</a:t>
            </a:r>
          </a:p>
          <a:p>
            <a:pPr lvl="1"/>
            <a:r>
              <a:rPr lang="en-US" dirty="0"/>
              <a:t>19,600 SQL vulnerabilities</a:t>
            </a:r>
          </a:p>
          <a:p>
            <a:pPr lvl="1"/>
            <a:r>
              <a:rPr lang="en-US" dirty="0"/>
              <a:t>39,497 cross-site scripting exposures</a:t>
            </a:r>
          </a:p>
          <a:p>
            <a:pPr lvl="1"/>
            <a:r>
              <a:rPr lang="en-US" dirty="0"/>
              <a:t>Everyone’s favorites</a:t>
            </a:r>
          </a:p>
          <a:p>
            <a:pPr lvl="2"/>
            <a:r>
              <a:rPr lang="en-US" dirty="0">
                <a:hlinkClick r:id="rId3"/>
              </a:rPr>
              <a:t>https://www.cve.org/CVERecord?id=CVE-2005-0036</a:t>
            </a:r>
            <a:r>
              <a:rPr lang="en-US" dirty="0"/>
              <a:t> </a:t>
            </a:r>
            <a:r>
              <a:rPr lang="en-US" dirty="0">
                <a:hlinkClick r:id="rId4"/>
              </a:rPr>
              <a:t>https://www.cve.org/CVERecord?id=CVE-2005-0037</a:t>
            </a:r>
            <a:r>
              <a:rPr lang="en-US" dirty="0"/>
              <a:t>  </a:t>
            </a:r>
            <a:r>
              <a:rPr lang="en-US" dirty="0">
                <a:hlinkClick r:id="rId5"/>
              </a:rPr>
              <a:t>https://www.cve.org/CVERecord?id=CVE-2005-0038</a:t>
            </a:r>
            <a:r>
              <a:rPr lang="en-US" dirty="0"/>
              <a:t> </a:t>
            </a:r>
          </a:p>
          <a:p>
            <a:r>
              <a:rPr lang="en-US" dirty="0"/>
              <a:t>As more IoT devices have built-in web servers, our attack surface increases along with our responsibility.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C9E92E2-E6DA-700B-892B-102F9CD900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25C7F5-0E11-2F3F-235B-DFEE11C84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7974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B969ED-864A-03AD-1DAD-C2256D6F8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Learning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DC2419-3487-7FE5-29AD-5DBA54CED1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By the end of this chapter, you will be able to</a:t>
            </a:r>
          </a:p>
          <a:p>
            <a:pPr lvl="1"/>
            <a:r>
              <a:rPr lang="en-US" dirty="0"/>
              <a:t>Create secure applications resistant to SQL and XSS injections</a:t>
            </a:r>
          </a:p>
          <a:p>
            <a:pPr lvl="1"/>
            <a:r>
              <a:rPr lang="en-US" dirty="0"/>
              <a:t>Generate applications requiring authentication and authorization</a:t>
            </a:r>
          </a:p>
          <a:p>
            <a:pPr lvl="1"/>
            <a:r>
              <a:rPr lang="en-US" dirty="0"/>
              <a:t>Construct applications with data encrypted at rest and in flight</a:t>
            </a:r>
          </a:p>
          <a:p>
            <a:pPr lvl="1"/>
            <a:r>
              <a:rPr lang="en-US" dirty="0"/>
              <a:t>Augment your server with CORS directives</a:t>
            </a:r>
          </a:p>
          <a:p>
            <a:pPr lvl="1"/>
            <a:r>
              <a:rPr lang="en-US" dirty="0"/>
              <a:t>Browse the dark web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ECD8FA-FC73-A918-5C58-BD29B45854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536E0D-5AA6-9E6B-B874-ACA40E6DF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731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4E35F-AF90-4874-CF02-8163003F91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Key Terms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FA994-C83D-93F3-790A-AA489136EB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Authentication - Proving who you are</a:t>
            </a:r>
          </a:p>
          <a:p>
            <a:r>
              <a:rPr lang="en-US" dirty="0"/>
              <a:t>Authorization - What you're allowed to do</a:t>
            </a:r>
          </a:p>
          <a:p>
            <a:r>
              <a:rPr lang="en-US" dirty="0"/>
              <a:t>Encryption at rest and in transit - Data protection</a:t>
            </a:r>
          </a:p>
          <a:p>
            <a:r>
              <a:rPr lang="en-US" dirty="0"/>
              <a:t>Static and dynamic code analysis - Security testing</a:t>
            </a:r>
          </a:p>
          <a:p>
            <a:r>
              <a:rPr lang="en-US" dirty="0"/>
              <a:t>Injections - Malicious input attacks</a:t>
            </a:r>
          </a:p>
          <a:p>
            <a:r>
              <a:rPr lang="en-US" dirty="0"/>
              <a:t>The dark web - Anonymous internet overlay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CCFD76-5CEC-5619-DAFC-EA569657F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BCDD7C-80B8-CEBB-E78D-3FD708B6B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017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9CA5821-FA9A-12FC-194F-080515A14D5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DB Encryption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02DF12-412E-291B-C9DE-569A2DF73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CCB634-527C-2EC8-909B-41DA05436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544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B33E0-81C4-1E99-B59E-BFCCD18C2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Active Record Encryption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4352FE-2C67-B33A-0AD4-B097B937E6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Sensitive data should be encrypted so that when exfiltrated, it cannot be read.</a:t>
            </a:r>
          </a:p>
          <a:p>
            <a:r>
              <a:rPr lang="en-US" dirty="0"/>
              <a:t>Two Types of Encryption:</a:t>
            </a:r>
          </a:p>
          <a:p>
            <a:pPr marL="1352519" lvl="1" indent="-742950">
              <a:buFont typeface="+mj-lt"/>
              <a:buAutoNum type="arabicPeriod"/>
            </a:pPr>
            <a:r>
              <a:rPr lang="en-US" dirty="0"/>
              <a:t>Non-deterministic - Same text produces different encrypted output</a:t>
            </a:r>
          </a:p>
          <a:p>
            <a:pPr marL="1352519" lvl="1" indent="-742950">
              <a:buFont typeface="+mj-lt"/>
              <a:buAutoNum type="arabicPeriod"/>
            </a:pPr>
            <a:r>
              <a:rPr lang="en-US" dirty="0"/>
              <a:t>Deterministic - Same text always produces the same encrypted output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A5C554-7114-1A51-9EF8-33A235D06D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DEE946-9DA9-90C9-BC97-E727C8BDB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88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80DD1-BD27-7F0D-3CC6-1D650D79E6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Choosing Encryption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ABEC01-2B69-9166-7EF2-61DD6D5B02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Non-Deterministic</a:t>
            </a:r>
          </a:p>
          <a:p>
            <a:pPr lvl="1"/>
            <a:r>
              <a:rPr lang="en-US" dirty="0"/>
              <a:t>Stronger security</a:t>
            </a:r>
          </a:p>
          <a:p>
            <a:pPr lvl="1"/>
            <a:r>
              <a:rPr lang="en-US" dirty="0"/>
              <a:t>Cannot search encrypted fields</a:t>
            </a:r>
          </a:p>
          <a:p>
            <a:r>
              <a:rPr lang="en-US" dirty="0"/>
              <a:t>Deterministic:</a:t>
            </a:r>
          </a:p>
          <a:p>
            <a:pPr lvl="1"/>
            <a:r>
              <a:rPr lang="en-US" dirty="0"/>
              <a:t>Allows searching</a:t>
            </a:r>
          </a:p>
          <a:p>
            <a:pPr lvl="1"/>
            <a:r>
              <a:rPr lang="en-US" dirty="0"/>
              <a:t>Slightly weaker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7237FD-FA8D-ECA1-CAAD-13F8072BA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1A9206-2BEE-A5B4-E553-33FC658A9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3863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8C1F7-ECA8-1C60-F783-AF5F898A0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Initialize Encryption 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709041-09CB-0737-BDA1-FD09D24997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609569" lvl="1" indent="0">
              <a:buNone/>
            </a:pPr>
            <a:r>
              <a:rPr lang="en-US" sz="2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bin/rails </a:t>
            </a:r>
            <a:r>
              <a:rPr lang="en-US" sz="2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db:encryption:init</a:t>
            </a:r>
            <a:endParaRPr lang="en-US" sz="2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dirty="0"/>
              <a:t>Output</a:t>
            </a:r>
          </a:p>
          <a:p>
            <a:pPr marL="609569" lvl="1" indent="0">
              <a:buNone/>
            </a:pPr>
            <a:r>
              <a:rPr lang="en-US" sz="2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active_record_encryption</a:t>
            </a:r>
            <a:r>
              <a:rPr lang="en-US" sz="2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</a:t>
            </a:r>
          </a:p>
          <a:p>
            <a:pPr marL="609569" lvl="1" indent="0">
              <a:buNone/>
            </a:pPr>
            <a:r>
              <a:rPr lang="en-US" sz="2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 </a:t>
            </a:r>
            <a:r>
              <a:rPr lang="en-US" sz="2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primary_key</a:t>
            </a:r>
            <a:r>
              <a:rPr lang="en-US" sz="2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a77fQ0lBeMehQtOaDy0m0vWVTLRBvInQ</a:t>
            </a:r>
          </a:p>
          <a:p>
            <a:pPr marL="609569" lvl="1" indent="0">
              <a:buNone/>
            </a:pPr>
            <a:r>
              <a:rPr lang="en-US" sz="2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 </a:t>
            </a:r>
            <a:r>
              <a:rPr lang="en-US" sz="2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deterministic_key</a:t>
            </a:r>
            <a:r>
              <a:rPr lang="en-US" sz="2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cXf5O9hIpZuySQDuAxY4H8pk6aL3aduk</a:t>
            </a:r>
          </a:p>
          <a:p>
            <a:pPr marL="609569" lvl="1" indent="0">
              <a:buNone/>
            </a:pPr>
            <a:r>
              <a:rPr lang="en-US" sz="2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 </a:t>
            </a:r>
            <a:r>
              <a:rPr lang="en-US" sz="2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key_derivation_salt</a:t>
            </a:r>
            <a:r>
              <a:rPr lang="en-US" sz="2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</a:t>
            </a:r>
            <a:r>
              <a:rPr lang="en-US" sz="2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LbZooLJhrUCdqWliVxlwgcqmOtPsQnRN</a:t>
            </a:r>
            <a:endParaRPr lang="en-US" sz="2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dirty="0"/>
              <a:t>Warning: Don't use these exact keys in production of course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2E70E68-733E-7AFF-21E8-393635815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20A783-D808-A9F8-D61F-7910E78FE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9068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0851B-E41D-8E69-6900-9C4CFF25C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Configure Credentials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2FFD01-A86B-2945-A352-E094D02726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Add the encryption keys to your credentials</a:t>
            </a:r>
          </a:p>
          <a:p>
            <a:pPr marL="609569" lvl="1" indent="0">
              <a:buNone/>
            </a:pP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bin/rails 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credentials:edit</a:t>
            </a:r>
            <a:endParaRPr lang="en-US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dirty="0"/>
              <a:t>Add the four lines from initialization output</a:t>
            </a:r>
          </a:p>
          <a:p>
            <a:r>
              <a:rPr lang="en-US" dirty="0"/>
              <a:t>Now ready to encrypt model fields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DD0904-D986-19A8-286F-60DFCEDD8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7AF77C-FC2E-3A75-F568-546781CFB3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0044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4111E-EA82-9E3C-32C2-9DBE1F6C9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Encrypt Model Attributes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67C9EA-E69A-5E61-868F-0DF42F01BE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app/models/</a:t>
            </a:r>
            <a:r>
              <a:rPr lang="en-US" dirty="0" err="1"/>
              <a:t>item.rb</a:t>
            </a:r>
            <a:endParaRPr lang="en-US" dirty="0"/>
          </a:p>
          <a:p>
            <a:pPr marL="609569" lvl="1" indent="0">
              <a:buNone/>
            </a:pP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encrypts :what</a:t>
            </a:r>
          </a:p>
          <a:p>
            <a:r>
              <a:rPr lang="en-US" dirty="0"/>
              <a:t>Or</a:t>
            </a:r>
          </a:p>
          <a:p>
            <a:pPr marL="609569" lvl="1" indent="0">
              <a:buNone/>
            </a:pP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encrypts :what, deterministic: true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0DB2FE-002A-E4B5-4FFD-AA4CBCDCD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B7F947-4CF1-D52D-F3C2-B5B315E33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8270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15FA0-E2E9-12DF-44AE-BB82BF323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Encrypted Data Looks Like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F1FC27-EDD2-5C1D-994D-DC3CA47D1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609569" lvl="1" indent="0">
              <a:buNone/>
            </a:pPr>
            <a:r>
              <a:rPr lang="en-US" sz="2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INSERT INTO items</a:t>
            </a:r>
          </a:p>
          <a:p>
            <a:pPr marL="609569" lvl="1" indent="0">
              <a:buNone/>
            </a:pPr>
            <a:r>
              <a:rPr lang="en-US" sz="2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VALUES(1,'{"p":"pe8n","h":{"iv":"</a:t>
            </a:r>
            <a:r>
              <a:rPr lang="en-US" sz="2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yFiXHOKTlDoMTszy</a:t>
            </a:r>
            <a:r>
              <a:rPr lang="en-US" sz="2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",</a:t>
            </a:r>
          </a:p>
          <a:p>
            <a:pPr marL="609569" lvl="1" indent="0">
              <a:buNone/>
            </a:pPr>
            <a:r>
              <a:rPr lang="en-US" sz="2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"at":"1HVSccg9M2qzSla/</a:t>
            </a:r>
            <a:r>
              <a:rPr lang="en-US" sz="2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sdD+lQ</a:t>
            </a:r>
            <a:r>
              <a:rPr lang="en-US" sz="2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=="}}',</a:t>
            </a:r>
          </a:p>
          <a:p>
            <a:pPr marL="609569" lvl="1" indent="0">
              <a:buNone/>
            </a:pPr>
            <a:r>
              <a:rPr lang="en-US" sz="2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'2023-04-19','2023-04-19 10:46:30.880533',</a:t>
            </a:r>
          </a:p>
          <a:p>
            <a:pPr marL="609569" lvl="1" indent="0">
              <a:buNone/>
            </a:pPr>
            <a:r>
              <a:rPr lang="en-US" sz="2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'2023-04-19 10:46:30.880533');</a:t>
            </a:r>
          </a:p>
          <a:p>
            <a:r>
              <a:rPr lang="en-US" dirty="0"/>
              <a:t>Data are now protected even when the database is compromised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A94DEF-BE94-70C6-B5DB-49A0BEC45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75A7FE-36D3-3D5B-F7BA-0A33B6BE2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7221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5E333-ADDD-534E-7F37-87EDC4B8F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Fix Tests with Encrypted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02D6C2-AB07-6433-F97B-D6D2C4D12F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Tests assume unencrypted fixture data</a:t>
            </a:r>
          </a:p>
          <a:p>
            <a:r>
              <a:rPr lang="en-US" dirty="0"/>
              <a:t>Add to `config/environments/</a:t>
            </a:r>
            <a:r>
              <a:rPr lang="en-US" dirty="0" err="1"/>
              <a:t>test.rb</a:t>
            </a:r>
            <a:r>
              <a:rPr lang="en-US" dirty="0"/>
              <a:t>`</a:t>
            </a:r>
          </a:p>
          <a:p>
            <a:pPr marL="609569" lvl="1" indent="0">
              <a:buNone/>
            </a:pPr>
            <a:r>
              <a:rPr lang="en-US" sz="2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config.active_record.encryption.encrypt_fixtures</a:t>
            </a:r>
            <a:r>
              <a:rPr lang="en-US" sz="2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true</a:t>
            </a:r>
          </a:p>
          <a:p>
            <a:r>
              <a:rPr lang="en-US" dirty="0"/>
              <a:t>This makes tests work with encrypted fixtures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E3D42F-8729-CF36-81CE-2474AD1B5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AB769C-9303-D331-0517-5EF4DD477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322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59098ED-5E87-53E3-32BC-0850E6436E1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Authentication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C91F63-632F-4882-993C-EC49B13C1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BBF9B-6267-321B-9CC1-99A888C41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947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6291C2F-38DD-4DD1-5284-46FBC3146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Auth/n vs Auth/z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349B94-66C5-8569-2687-BFF9EF30C8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Authentication (auth/n):</a:t>
            </a:r>
          </a:p>
          <a:p>
            <a:pPr lvl="1"/>
            <a:r>
              <a:rPr lang="en-US" dirty="0"/>
              <a:t>Proving who you are</a:t>
            </a:r>
          </a:p>
          <a:p>
            <a:r>
              <a:rPr lang="en-US" dirty="0"/>
              <a:t>Authorization (auth/z):</a:t>
            </a:r>
          </a:p>
          <a:p>
            <a:pPr lvl="1"/>
            <a:r>
              <a:rPr lang="en-US" dirty="0"/>
              <a:t>What you're allowed to do</a:t>
            </a:r>
          </a:p>
          <a:p>
            <a:r>
              <a:rPr lang="en-US" dirty="0"/>
              <a:t>Important: These are different concepts</a:t>
            </a:r>
          </a:p>
          <a:p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BB07BA-5C8A-69CD-2F11-28A6696B7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5F9251-774C-084F-AD1E-53F71DB10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90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665E7-12F8-E6B6-FCFA-C679A655C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Three Authentication Factors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A3A0A-9AD4-4721-B57F-BADF692D10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742950" indent="-742950">
              <a:buFont typeface="+mj-lt"/>
              <a:buAutoNum type="arabicPeriod"/>
            </a:pPr>
            <a:r>
              <a:rPr lang="en-US" dirty="0"/>
              <a:t>Something you know</a:t>
            </a:r>
          </a:p>
          <a:p>
            <a:pPr marL="1276324" lvl="1" indent="-742950"/>
            <a:r>
              <a:rPr lang="en-US" dirty="0"/>
              <a:t>Passwords, PINs</a:t>
            </a:r>
          </a:p>
          <a:p>
            <a:pPr marL="742950" indent="-742950">
              <a:buFont typeface="+mj-lt"/>
              <a:buAutoNum type="arabicPeriod"/>
            </a:pPr>
            <a:r>
              <a:rPr lang="en-US" dirty="0"/>
              <a:t>Something you have</a:t>
            </a:r>
          </a:p>
          <a:p>
            <a:pPr marL="1276324" lvl="1" indent="-742950"/>
            <a:r>
              <a:rPr lang="en-US" dirty="0"/>
              <a:t>Phone, passport, driver's license</a:t>
            </a:r>
          </a:p>
          <a:p>
            <a:pPr marL="742950" indent="-742950">
              <a:buFont typeface="+mj-lt"/>
              <a:buAutoNum type="arabicPeriod"/>
            </a:pPr>
            <a:r>
              <a:rPr lang="en-US" dirty="0"/>
              <a:t>Something you are</a:t>
            </a:r>
          </a:p>
          <a:p>
            <a:pPr marL="1276324" lvl="1" indent="-742950"/>
            <a:r>
              <a:rPr lang="en-US" dirty="0"/>
              <a:t>Biometrics: fingerprint, facial recognition</a:t>
            </a:r>
          </a:p>
          <a:p>
            <a:r>
              <a:rPr lang="en-US" dirty="0"/>
              <a:t>MFA/2FA: Uses more than one factor (e.g., password + text message)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2EDFA4-C2AF-3040-17E5-1E7C719A97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4FA5E1-50C9-1989-3458-D0196A3C0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3301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BAD8C-4C5F-4DFF-F3BF-008BD077C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Devise Authentication Gem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D3DF48-FDF8-EEBD-A9F2-0A66CB0002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GitHub: 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heartcombo</a:t>
            </a:r>
            <a:r>
              <a:rPr lang="en-US" dirty="0"/>
              <a:t>/devise</a:t>
            </a:r>
          </a:p>
          <a:p>
            <a:r>
              <a:rPr lang="en-US" dirty="0"/>
              <a:t>Features</a:t>
            </a:r>
          </a:p>
          <a:p>
            <a:pPr lvl="1"/>
            <a:r>
              <a:rPr lang="en-US" dirty="0"/>
              <a:t>Local database storage OR external authenticators (</a:t>
            </a:r>
            <a:r>
              <a:rPr lang="en-US" dirty="0" err="1"/>
              <a:t>OmniAuth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Email confirmation and password recovery</a:t>
            </a:r>
          </a:p>
          <a:p>
            <a:pPr lvl="1"/>
            <a:r>
              <a:rPr lang="en-US" dirty="0"/>
              <a:t>Login tracking and failed attempt locking</a:t>
            </a:r>
          </a:p>
          <a:p>
            <a:pPr lvl="1"/>
            <a:r>
              <a:rPr lang="en-US" dirty="0"/>
              <a:t>Session timeout configuration</a:t>
            </a:r>
          </a:p>
          <a:p>
            <a:r>
              <a:rPr lang="en-US" dirty="0"/>
              <a:t>Best practice: Use external authenticators to avoid storing credentials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6170D4-EC81-B765-1532-35EC01124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D8D113-7490-64CD-F6D8-8C6B88076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504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1825F8-361C-004A-80B3-32E2EF20F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 Setting Up Devise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29CDAB-6804-F622-EFC5-F886646828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609569" lvl="1" indent="0">
              <a:buNone/>
            </a:pP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bundle add devise</a:t>
            </a:r>
          </a:p>
          <a:p>
            <a:pPr marL="609569" lvl="1" indent="0">
              <a:buNone/>
            </a:pP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rails generate 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devise:install</a:t>
            </a:r>
            <a:endParaRPr lang="en-US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marL="609569" lvl="1" indent="0">
              <a:buNone/>
            </a:pP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rails generate devise User</a:t>
            </a:r>
          </a:p>
          <a:p>
            <a:r>
              <a:rPr lang="en-US" dirty="0"/>
              <a:t>Configure features in:</a:t>
            </a:r>
          </a:p>
          <a:p>
            <a:pPr lvl="1"/>
            <a:r>
              <a:rPr lang="en-US" dirty="0"/>
              <a:t>app/models/</a:t>
            </a:r>
            <a:r>
              <a:rPr lang="en-US" dirty="0" err="1"/>
              <a:t>user.rb</a:t>
            </a:r>
            <a:endParaRPr lang="en-US" dirty="0"/>
          </a:p>
          <a:p>
            <a:pPr lvl="1"/>
            <a:r>
              <a:rPr lang="en-US" dirty="0" err="1"/>
              <a:t>db</a:t>
            </a:r>
            <a:r>
              <a:rPr lang="en-US" dirty="0"/>
              <a:t>/migrate/[...]_</a:t>
            </a:r>
            <a:r>
              <a:rPr lang="en-US" dirty="0" err="1"/>
              <a:t>devise_create_users.rb</a:t>
            </a:r>
            <a:endParaRPr lang="en-US" dirty="0"/>
          </a:p>
          <a:p>
            <a:pPr lvl="1"/>
            <a:r>
              <a:rPr lang="en-US" dirty="0"/>
              <a:t>config/initializers/</a:t>
            </a:r>
            <a:r>
              <a:rPr lang="en-US" dirty="0" err="1"/>
              <a:t>devise.rb</a:t>
            </a:r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949F85-643A-6129-E7F1-D42A072CE3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98F97B-81F0-E172-97F5-84CBC8930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629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EC2EE-2CAA-3D50-A67D-2B7863EEC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Devise Route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2D102-1021-0779-B169-7C973AF61A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Must have default route in ‘config/</a:t>
            </a:r>
            <a:r>
              <a:rPr lang="en-US" dirty="0" err="1"/>
              <a:t>routes.rb</a:t>
            </a:r>
            <a:r>
              <a:rPr lang="en-US" dirty="0"/>
              <a:t>’</a:t>
            </a:r>
          </a:p>
          <a:p>
            <a:pPr marL="609569" lvl="1" indent="0">
              <a:buNone/>
            </a:pP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root "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items#index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"</a:t>
            </a:r>
          </a:p>
          <a:p>
            <a:r>
              <a:rPr lang="en-US" dirty="0"/>
              <a:t>In controllers requiring authentication:</a:t>
            </a:r>
          </a:p>
          <a:p>
            <a:pPr marL="609569" lvl="1" indent="0">
              <a:buNone/>
            </a:pP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before_action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: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authenticate_user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!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243874-257E-5A91-E372-5A220A35F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36FF0C-82C7-2721-C892-60F90AF0C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336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9D37B-D5F3-42A3-707F-808E26BF0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Adding Logout Functionality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95BA55-CD37-7609-ACA3-1AA3D9F01C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 your HTML/ERB files</a:t>
            </a:r>
          </a:p>
          <a:p>
            <a:pPr marL="609569" lvl="1" indent="0">
              <a:buNone/>
            </a:pPr>
            <a:r>
              <a:rPr lang="en-US" sz="3000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&lt;%= </a:t>
            </a:r>
            <a:r>
              <a:rPr lang="en-US" sz="3000" dirty="0" err="1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link_to</a:t>
            </a:r>
            <a:r>
              <a:rPr lang="en-US" sz="3000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"Log out", </a:t>
            </a:r>
            <a:r>
              <a:rPr lang="en-US" sz="3000" dirty="0" err="1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destroy_user_session_path</a:t>
            </a:r>
            <a:r>
              <a:rPr lang="en-US" sz="3000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data: { "turbo-method": :delete } %&gt;</a:t>
            </a:r>
          </a:p>
          <a:p>
            <a:pPr marL="609569" lvl="1" indent="0">
              <a:buNone/>
            </a:pPr>
            <a:r>
              <a:rPr lang="en-US" sz="3000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&lt;%= </a:t>
            </a:r>
            <a:r>
              <a:rPr lang="en-US" sz="3000" dirty="0" err="1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button_to</a:t>
            </a:r>
            <a:r>
              <a:rPr lang="en-US" sz="3000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"Log out", </a:t>
            </a:r>
            <a:r>
              <a:rPr lang="en-US" sz="3000" dirty="0" err="1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destroy_user_session_path</a:t>
            </a:r>
            <a:r>
              <a:rPr lang="en-US" sz="3000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method: :delete  %&gt;</a:t>
            </a:r>
          </a:p>
          <a:p>
            <a:pPr marL="609569" lvl="1" indent="0">
              <a:buNone/>
            </a:pPr>
            <a:r>
              <a:rPr lang="en-US" dirty="0"/>
              <a:t>This creates a logout link that properly destroys the session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0F2E92-F0CC-3FE8-1C8B-1142C8BA9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99B79E-FBCA-D036-8CD0-02DA35147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6103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423A7-C0C6-5BF3-49D9-BD15F15E0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Devise Test Helpers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5A9CE9-4BDE-16DB-090C-2C506216D1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At the top of controller tests:</a:t>
            </a:r>
          </a:p>
          <a:p>
            <a:pPr marL="609569" lvl="1" indent="0">
              <a:buNone/>
            </a:pP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class </a:t>
            </a:r>
            <a:r>
              <a:rPr lang="en-US" dirty="0" err="1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ItemsControllerTest</a:t>
            </a: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&lt; </a:t>
            </a:r>
            <a:r>
              <a:rPr lang="en-US" dirty="0" err="1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ActionDispatch</a:t>
            </a: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::</a:t>
            </a:r>
            <a:r>
              <a:rPr lang="en-US" dirty="0" err="1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IntegrationTest</a:t>
            </a:r>
            <a:endParaRPr lang="en-US" dirty="0">
              <a:solidFill>
                <a:schemeClr val="accent1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marL="609569" lvl="1" indent="0">
              <a:buNone/>
            </a:pP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 include Devise::Test::</a:t>
            </a:r>
            <a:r>
              <a:rPr lang="en-US" dirty="0" err="1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IntegrationHelpers</a:t>
            </a:r>
            <a:endParaRPr lang="en-US" dirty="0">
              <a:solidFill>
                <a:schemeClr val="accent1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marL="609569" lvl="1" indent="0">
              <a:buNone/>
            </a:pPr>
            <a:b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 setup do</a:t>
            </a:r>
          </a:p>
          <a:p>
            <a:pPr marL="609569" lvl="1" indent="0">
              <a:buNone/>
            </a:pP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   </a:t>
            </a:r>
            <a:r>
              <a:rPr lang="en-US" dirty="0" err="1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sign_in</a:t>
            </a: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users(:one)</a:t>
            </a:r>
          </a:p>
          <a:p>
            <a:pPr marL="609569" lvl="1" indent="0">
              <a:buNone/>
            </a:pP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   @item = items(:one)</a:t>
            </a:r>
          </a:p>
          <a:p>
            <a:pPr marL="609569" lvl="1" indent="0">
              <a:buNone/>
            </a:pP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 end</a:t>
            </a:r>
          </a:p>
          <a:p>
            <a:pPr marL="609569" lvl="1" indent="0">
              <a:buNone/>
            </a:pP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737BC5-D5BF-5A77-787B-FBC0173D56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893B91-E27C-5EEC-A1F7-2CEF603ED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082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B5902F46-6252-78AA-5799-7681655D8BF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Authorization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50C68F-56C5-8335-D8C6-019133E91C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C16334-8AF2-7F89-3D01-E33A8A607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936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A85A962-916B-B05A-AE4C-2FB851B18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CanCanCan</a:t>
            </a:r>
            <a:r>
              <a:rPr lang="en-US" dirty="0"/>
              <a:t> Authorization Gem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930211-EE14-81CB-52AA-DAEDE193C2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GitHub: </a:t>
            </a:r>
            <a:r>
              <a:rPr lang="en-US" dirty="0">
                <a:hlinkClick r:id="rId2"/>
              </a:rPr>
              <a:t>https://github.com/CanCanCommunity/cancancan</a:t>
            </a:r>
            <a:endParaRPr lang="en-US" dirty="0"/>
          </a:p>
          <a:p>
            <a:r>
              <a:rPr lang="en-US" dirty="0"/>
              <a:t>Ability-Based Approach</a:t>
            </a:r>
          </a:p>
          <a:p>
            <a:pPr lvl="1"/>
            <a:r>
              <a:rPr lang="en-US" dirty="0"/>
              <a:t>Decouples users from permissions</a:t>
            </a:r>
          </a:p>
          <a:p>
            <a:pPr lvl="1"/>
            <a:r>
              <a:rPr lang="en-US" dirty="0"/>
              <a:t>More flexible than role-based</a:t>
            </a:r>
          </a:p>
          <a:p>
            <a:pPr lvl="1"/>
            <a:r>
              <a:rPr lang="en-US" dirty="0"/>
              <a:t>Integrates well with Devise</a:t>
            </a:r>
          </a:p>
          <a:p>
            <a:pPr lvl="1"/>
            <a:r>
              <a:rPr lang="en-US" dirty="0"/>
              <a:t>Decisions based on many factors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6D423C-DD1A-1130-1627-0C0C74430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63392D-F194-751D-2FBD-9340E9002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7110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01D64-F391-E73A-A5A6-552350E88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Setting Up </a:t>
            </a:r>
            <a:r>
              <a:rPr lang="en-US" dirty="0" err="1"/>
              <a:t>CanCanCan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86F9E-F299-383F-D29B-3AC19642E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Assuming Devise is already installed: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$ bundle add </a:t>
            </a:r>
            <a:r>
              <a:rPr lang="en-US" dirty="0" err="1">
                <a:solidFill>
                  <a:schemeClr val="accent3"/>
                </a:solidFill>
              </a:rPr>
              <a:t>cancancan</a:t>
            </a:r>
            <a:endParaRPr lang="en-US" dirty="0">
              <a:solidFill>
                <a:schemeClr val="accent3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$ rails generate </a:t>
            </a:r>
            <a:r>
              <a:rPr lang="en-US" dirty="0" err="1">
                <a:solidFill>
                  <a:schemeClr val="accent3"/>
                </a:solidFill>
              </a:rPr>
              <a:t>cancan:ability</a:t>
            </a:r>
            <a:endParaRPr lang="en-US" dirty="0">
              <a:solidFill>
                <a:schemeClr val="accent3"/>
              </a:solidFill>
            </a:endParaRPr>
          </a:p>
          <a:p>
            <a:r>
              <a:rPr lang="en-US" dirty="0"/>
              <a:t>Creates `app/models/</a:t>
            </a:r>
            <a:r>
              <a:rPr lang="en-US" dirty="0" err="1"/>
              <a:t>ability.rb</a:t>
            </a:r>
            <a:r>
              <a:rPr lang="en-US" dirty="0"/>
              <a:t>` for defining permissions.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CBE06D-6276-072C-40C1-14EBCA4542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AD106E-4C15-289B-B276-7BF8FFDB01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27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0B8E3-88AA-5305-C62E-5E3C63433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Basic Ability Configuration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640ED3-04E1-E64F-0480-FC050A529C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In `app/models/</a:t>
            </a:r>
            <a:r>
              <a:rPr lang="en-US" dirty="0" err="1"/>
              <a:t>ability.rb</a:t>
            </a:r>
            <a:r>
              <a:rPr lang="en-US" dirty="0"/>
              <a:t>`:</a:t>
            </a:r>
          </a:p>
          <a:p>
            <a:pPr marL="609569" lvl="1" indent="0">
              <a:buNone/>
            </a:pP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class Ability</a:t>
            </a:r>
          </a:p>
          <a:p>
            <a:pPr marL="609569" lvl="1" indent="0">
              <a:buNone/>
            </a:pP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 include </a:t>
            </a:r>
            <a:r>
              <a:rPr lang="en-US" dirty="0" err="1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CanCan</a:t>
            </a: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::Ability</a:t>
            </a:r>
          </a:p>
          <a:p>
            <a:pPr marL="609569" lvl="1" indent="0">
              <a:buNone/>
            </a:pPr>
            <a:endParaRPr lang="en-US" dirty="0">
              <a:solidFill>
                <a:schemeClr val="accent1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marL="609569" lvl="1" indent="0">
              <a:buNone/>
            </a:pP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 def initialize(user)</a:t>
            </a:r>
          </a:p>
          <a:p>
            <a:pPr marL="609569" lvl="1" indent="0">
              <a:buNone/>
            </a:pP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   return unless </a:t>
            </a:r>
            <a:r>
              <a:rPr lang="en-US" dirty="0" err="1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user.present</a:t>
            </a: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?</a:t>
            </a:r>
          </a:p>
          <a:p>
            <a:pPr marL="609569" lvl="1" indent="0">
              <a:buNone/>
            </a:pP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   can :read, :all</a:t>
            </a:r>
          </a:p>
          <a:p>
            <a:pPr marL="609569" lvl="1" indent="0">
              <a:buNone/>
            </a:pP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 end</a:t>
            </a:r>
          </a:p>
          <a:p>
            <a:pPr marL="609569" lvl="1" indent="0">
              <a:buNone/>
            </a:pP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end</a:t>
            </a:r>
          </a:p>
          <a:p>
            <a:r>
              <a:rPr lang="en-US" dirty="0"/>
              <a:t>Only allows reading if user is logged in.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5FF00C-E806-2409-F0AB-18B4B1CB3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C51BE9-EABD-0BA3-1ABA-8B74F134C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5882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B001D-587D-3FF3-D2A0-04EE60785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Using </a:t>
            </a:r>
            <a:r>
              <a:rPr lang="en-US" dirty="0" err="1"/>
              <a:t>CanCanCan</a:t>
            </a:r>
            <a:r>
              <a:rPr lang="en-US" dirty="0"/>
              <a:t> in Controllers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9AF690-50CF-19F1-DCDF-AF85F52ADC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‘app/controllers/</a:t>
            </a:r>
            <a:r>
              <a:rPr lang="en-US" dirty="0" err="1"/>
              <a:t>posts_controller.rb</a:t>
            </a:r>
            <a:r>
              <a:rPr lang="en-US" dirty="0"/>
              <a:t>’</a:t>
            </a:r>
          </a:p>
          <a:p>
            <a:pPr marL="609569" lvl="1" indent="0">
              <a:buNone/>
            </a:pPr>
            <a:r>
              <a:rPr lang="en-US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class </a:t>
            </a:r>
            <a:r>
              <a:rPr lang="en-US" sz="20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PostsController</a:t>
            </a:r>
            <a:r>
              <a:rPr lang="en-US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&lt; </a:t>
            </a:r>
            <a:r>
              <a:rPr lang="en-US" sz="20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ApplicationController</a:t>
            </a:r>
            <a:endParaRPr lang="en-US" sz="20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marL="609569" lvl="1" indent="0">
              <a:buNone/>
            </a:pPr>
            <a:r>
              <a:rPr lang="en-US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 </a:t>
            </a:r>
            <a:r>
              <a:rPr lang="en-US" sz="20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before_action</a:t>
            </a:r>
            <a:r>
              <a:rPr lang="en-US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:</a:t>
            </a:r>
            <a:r>
              <a:rPr lang="en-US" sz="20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authenticate_user</a:t>
            </a:r>
            <a:r>
              <a:rPr lang="en-US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!</a:t>
            </a:r>
          </a:p>
          <a:p>
            <a:pPr marL="609569" lvl="1" indent="0">
              <a:buNone/>
            </a:pPr>
            <a:r>
              <a:rPr lang="en-US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 </a:t>
            </a:r>
            <a:r>
              <a:rPr lang="en-US" sz="20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before_action</a:t>
            </a:r>
            <a:r>
              <a:rPr lang="en-US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:</a:t>
            </a:r>
            <a:r>
              <a:rPr lang="en-US" sz="20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set_post</a:t>
            </a:r>
            <a:r>
              <a:rPr lang="en-US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only: %</a:t>
            </a:r>
            <a:r>
              <a:rPr lang="en-US" sz="20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</a:t>
            </a:r>
            <a:r>
              <a:rPr lang="en-US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[show edit update destroy]</a:t>
            </a:r>
          </a:p>
          <a:p>
            <a:pPr marL="609569" lvl="1" indent="0">
              <a:buNone/>
            </a:pPr>
            <a:r>
              <a:rPr lang="en-US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 </a:t>
            </a:r>
            <a:r>
              <a:rPr lang="en-US" sz="20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load_and_authorize_resource</a:t>
            </a:r>
            <a:endParaRPr lang="en-US" sz="20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marL="609569" lvl="1" indent="0">
              <a:buNone/>
            </a:pPr>
            <a:r>
              <a:rPr lang="en-US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end</a:t>
            </a:r>
          </a:p>
          <a:p>
            <a:r>
              <a:rPr lang="en-US" dirty="0"/>
              <a:t>This is a simplistic example - </a:t>
            </a:r>
            <a:r>
              <a:rPr lang="en-US" dirty="0" err="1"/>
              <a:t>CanCanCan</a:t>
            </a:r>
            <a:r>
              <a:rPr lang="en-US" dirty="0"/>
              <a:t> allows much more flexibility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00FF7F-1E68-9D31-3E37-C47AAAF75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87CDE2-8F4D-2F86-1421-7C094DF51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377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5310909-4B21-90D2-6DC7-0A5C47EB4E2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HTTPS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DB7B2B-955F-2868-0CDE-73B5BAAE4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9656B7-52D8-D1C2-CC1A-67FB1C816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642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E4E3939-36B6-A165-0C81-AC3DC010D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Securing Data in Transit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E6BE99-283E-C687-D3FD-10FAD852A8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Never use HTTP for production applications</a:t>
            </a:r>
          </a:p>
          <a:p>
            <a:r>
              <a:rPr lang="en-US" dirty="0"/>
              <a:t>HTTPS keeps all data secure during transmission.</a:t>
            </a:r>
          </a:p>
          <a:p>
            <a:r>
              <a:rPr lang="en-US" dirty="0"/>
              <a:t>Need</a:t>
            </a:r>
          </a:p>
          <a:p>
            <a:pPr lvl="1"/>
            <a:r>
              <a:rPr lang="en-US" dirty="0"/>
              <a:t>Public/private key pair</a:t>
            </a:r>
          </a:p>
          <a:p>
            <a:pPr lvl="1"/>
            <a:r>
              <a:rPr lang="en-US" dirty="0"/>
              <a:t>Certificate </a:t>
            </a:r>
          </a:p>
          <a:p>
            <a:pPr lvl="1"/>
            <a:r>
              <a:rPr lang="en-US" dirty="0"/>
              <a:t>Self-signed for dev, CA-signed for production</a:t>
            </a:r>
          </a:p>
          <a:p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92B319-B562-B685-BBA0-580A430E6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24868C-4B33-E014-2132-5A07CC693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3613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A4CAD-1FAD-7D03-4FEF-12921443B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Generate SSL Certificate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F528D7-700E-7C32-9E36-FF300FD90E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Using OpenSSL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$ </a:t>
            </a:r>
            <a:r>
              <a:rPr lang="en-US" dirty="0" err="1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openssl</a:t>
            </a: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req -x509 -sha256 -nodes \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-</a:t>
            </a:r>
            <a:r>
              <a:rPr lang="en-US" dirty="0" err="1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newkey</a:t>
            </a: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rsa:2048 -days 365 \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-</a:t>
            </a:r>
            <a:r>
              <a:rPr lang="en-US" dirty="0" err="1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keyout</a:t>
            </a: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US" dirty="0" err="1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localhost.key</a:t>
            </a: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-out </a:t>
            </a:r>
            <a:r>
              <a:rPr lang="en-US" dirty="0" err="1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localhost.crt</a:t>
            </a:r>
            <a:endParaRPr lang="en-US" dirty="0">
              <a:solidFill>
                <a:schemeClr val="accent3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dirty="0"/>
              <a:t>‘.key’ file = private key (keep secret)</a:t>
            </a:r>
          </a:p>
          <a:p>
            <a:r>
              <a:rPr lang="en-US" dirty="0"/>
              <a:t>‘.</a:t>
            </a:r>
            <a:r>
              <a:rPr lang="en-US" dirty="0" err="1"/>
              <a:t>crt</a:t>
            </a:r>
            <a:r>
              <a:rPr lang="en-US" dirty="0"/>
              <a:t>’ file = self-signed certificate</a:t>
            </a:r>
          </a:p>
          <a:p>
            <a:r>
              <a:rPr lang="en-US" dirty="0"/>
              <a:t>Warning: Never commit private key to public repositories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E2388C-3BC8-C44F-B8AC-3A3C3F0B7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E5A9E8-EA3C-136D-E731-9B3C48D0D3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0664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58A76-247A-D37C-2D6E-945016898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Certificate Information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8DBA47-2787-FA03-80E2-8C3E973925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When creating certificate, answer these questions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Country Name (2 letter code) []: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State or Province Name (full name) []: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Locality Name (</a:t>
            </a:r>
            <a:r>
              <a:rPr lang="en-US" dirty="0" err="1">
                <a:solidFill>
                  <a:schemeClr val="accent3"/>
                </a:solidFill>
              </a:rPr>
              <a:t>eg</a:t>
            </a:r>
            <a:r>
              <a:rPr lang="en-US" dirty="0">
                <a:solidFill>
                  <a:schemeClr val="accent3"/>
                </a:solidFill>
              </a:rPr>
              <a:t>, city) []: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Organization Name (</a:t>
            </a:r>
            <a:r>
              <a:rPr lang="en-US" dirty="0" err="1">
                <a:solidFill>
                  <a:schemeClr val="accent3"/>
                </a:solidFill>
              </a:rPr>
              <a:t>eg</a:t>
            </a:r>
            <a:r>
              <a:rPr lang="en-US" dirty="0">
                <a:solidFill>
                  <a:schemeClr val="accent3"/>
                </a:solidFill>
              </a:rPr>
              <a:t>, company) []: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Organizational Unit Name (</a:t>
            </a:r>
            <a:r>
              <a:rPr lang="en-US" dirty="0" err="1">
                <a:solidFill>
                  <a:schemeClr val="accent3"/>
                </a:solidFill>
              </a:rPr>
              <a:t>eg</a:t>
            </a:r>
            <a:r>
              <a:rPr lang="en-US" dirty="0">
                <a:solidFill>
                  <a:schemeClr val="accent3"/>
                </a:solidFill>
              </a:rPr>
              <a:t>, section) []: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Common Name (</a:t>
            </a:r>
            <a:r>
              <a:rPr lang="en-US" dirty="0" err="1">
                <a:solidFill>
                  <a:schemeClr val="accent3"/>
                </a:solidFill>
              </a:rPr>
              <a:t>eg</a:t>
            </a:r>
            <a:r>
              <a:rPr lang="en-US" dirty="0">
                <a:solidFill>
                  <a:schemeClr val="accent3"/>
                </a:solidFill>
              </a:rPr>
              <a:t>, fully qualified host name) []: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Email Address []:</a:t>
            </a:r>
          </a:p>
          <a:p>
            <a:r>
              <a:rPr lang="en-US" dirty="0"/>
              <a:t>For local development, accuracy doesn't matter much.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F24A97-6D29-684C-7579-1015D325CC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ADC21C-936B-E6CB-DA5F-7F7496C6E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30388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B3A5C-EF84-428E-ABA2-8377473F3C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Run Rails with SSL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113F9E-6F37-3D47-5222-728232B461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solidFill>
                  <a:schemeClr val="accent3"/>
                </a:solidFill>
              </a:rPr>
              <a:t>$ rails s -b '</a:t>
            </a:r>
            <a:r>
              <a:rPr lang="en-US" sz="2800" dirty="0" err="1">
                <a:solidFill>
                  <a:schemeClr val="accent3"/>
                </a:solidFill>
              </a:rPr>
              <a:t>ssl</a:t>
            </a:r>
            <a:r>
              <a:rPr lang="en-US" sz="2800" dirty="0">
                <a:solidFill>
                  <a:schemeClr val="accent3"/>
                </a:solidFill>
              </a:rPr>
              <a:t>://localhost:3000?key=</a:t>
            </a:r>
            <a:r>
              <a:rPr lang="en-US" sz="2800" dirty="0" err="1">
                <a:solidFill>
                  <a:schemeClr val="accent3"/>
                </a:solidFill>
              </a:rPr>
              <a:t>localhost.key&amp;cert</a:t>
            </a:r>
            <a:r>
              <a:rPr lang="en-US" sz="2800" dirty="0">
                <a:solidFill>
                  <a:schemeClr val="accent3"/>
                </a:solidFill>
              </a:rPr>
              <a:t>=</a:t>
            </a:r>
            <a:r>
              <a:rPr lang="en-US" sz="2800" dirty="0" err="1">
                <a:solidFill>
                  <a:schemeClr val="accent3"/>
                </a:solidFill>
              </a:rPr>
              <a:t>localhost.crt</a:t>
            </a:r>
            <a:r>
              <a:rPr lang="en-US" sz="2800" dirty="0">
                <a:solidFill>
                  <a:schemeClr val="accent3"/>
                </a:solidFill>
              </a:rPr>
              <a:t>'</a:t>
            </a:r>
          </a:p>
          <a:p>
            <a:r>
              <a:rPr lang="en-US" dirty="0"/>
              <a:t>‘-b’ binds to a specific port</a:t>
            </a:r>
          </a:p>
          <a:p>
            <a:r>
              <a:rPr lang="en-US" dirty="0"/>
              <a:t>Processes key and certificate files</a:t>
            </a:r>
          </a:p>
          <a:p>
            <a:r>
              <a:rPr lang="en-US" dirty="0"/>
              <a:t>Now accessible at `https://localhost:3000/`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7E8AA8-95A1-7681-0ED9-8CF5F426CE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25F050-FE2D-0BFF-1579-18F9BF79F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3228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CDF08-CEEF-ECD7-6307-09182872F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Certificate Trust Warning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877603-A800-F3B2-2312-B8749FF19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When visiting </a:t>
            </a:r>
            <a:r>
              <a:rPr lang="en-US" dirty="0">
                <a:hlinkClick r:id="rId3"/>
              </a:rPr>
              <a:t>https://localhost:3000/</a:t>
            </a:r>
            <a:endParaRPr lang="en-US" dirty="0"/>
          </a:p>
          <a:p>
            <a:pPr marL="0" indent="0">
              <a:buNone/>
            </a:pPr>
            <a:r>
              <a:rPr lang="en-US" sz="2600" dirty="0">
                <a:solidFill>
                  <a:schemeClr val="accent2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Your connection is not private</a:t>
            </a:r>
          </a:p>
          <a:p>
            <a:pPr marL="0" indent="0">
              <a:buNone/>
            </a:pPr>
            <a:r>
              <a:rPr lang="en-US" sz="2600" dirty="0">
                <a:solidFill>
                  <a:schemeClr val="accent2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Attackers might be trying to steal your information</a:t>
            </a:r>
          </a:p>
          <a:p>
            <a:pPr marL="0" indent="0">
              <a:buNone/>
            </a:pPr>
            <a:r>
              <a:rPr lang="en-US" sz="2600" dirty="0">
                <a:solidFill>
                  <a:schemeClr val="accent2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NET::ERR_CERT_AUTHORITY_INVALID</a:t>
            </a:r>
          </a:p>
          <a:p>
            <a:r>
              <a:rPr lang="en-US" dirty="0"/>
              <a:t>Why? Browser doesn't trust self-signed certificates</a:t>
            </a:r>
          </a:p>
          <a:p>
            <a:r>
              <a:rPr lang="en-US" dirty="0"/>
              <a:t>Solution: Click "Advanced" and proceed (dev only)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E79738-A573-658E-819A-616054FB9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AEC4B4-690B-33C0-FC3E-68D764E86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5183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68CAB-F18B-8A53-1AE2-0FACD340B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BB481A-9429-7544-E32E-83CFC9D6C1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Connection is Actually Encrypted</a:t>
            </a:r>
          </a:p>
          <a:p>
            <a:r>
              <a:rPr lang="en-US" dirty="0"/>
              <a:t>Even with the warning, connection uses:</a:t>
            </a:r>
          </a:p>
          <a:p>
            <a:pPr lvl="1"/>
            <a:r>
              <a:rPr lang="en-US" dirty="0"/>
              <a:t>TLS_AES_256_GCM_SHA384</a:t>
            </a:r>
          </a:p>
          <a:p>
            <a:pPr lvl="1"/>
            <a:r>
              <a:rPr lang="en-US" dirty="0"/>
              <a:t>256-bit keys</a:t>
            </a:r>
          </a:p>
          <a:p>
            <a:pPr lvl="1"/>
            <a:r>
              <a:rPr lang="en-US" dirty="0"/>
              <a:t>TLS 1.3</a:t>
            </a:r>
          </a:p>
          <a:p>
            <a:r>
              <a:rPr lang="en-US" dirty="0"/>
              <a:t>Data are encrypted, just not validated by Certificate Authority.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5B535B-5A6E-A8A2-6F0C-90773B8C2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AB66E1-ABD9-9D15-B48A-50770B663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6151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4F022-EFC1-041C-60E5-6ECA07D3E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Certificate Authorities (CA)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A301FD-C626-7AB3-BEBF-98DA88FF25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For production, need CA-signed certificate</a:t>
            </a:r>
          </a:p>
          <a:p>
            <a:r>
              <a:rPr lang="en-US" dirty="0"/>
              <a:t>Let's Encrypt</a:t>
            </a:r>
          </a:p>
          <a:p>
            <a:pPr lvl="1"/>
            <a:r>
              <a:rPr lang="en-US" dirty="0"/>
              <a:t>Free, trusted certificates</a:t>
            </a:r>
          </a:p>
          <a:p>
            <a:pPr lvl="1"/>
            <a:r>
              <a:rPr lang="en-US" dirty="0">
                <a:hlinkClick r:id="rId2"/>
              </a:rPr>
              <a:t>https://letsencrypt.org/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No reason to deploy unencrypted</a:t>
            </a:r>
          </a:p>
          <a:p>
            <a:r>
              <a:rPr lang="en-US" dirty="0"/>
              <a:t>Each server/deployment has a different setup approach</a:t>
            </a:r>
          </a:p>
          <a:p>
            <a:r>
              <a:rPr lang="en-US" dirty="0"/>
              <a:t>chrome://certificate-manager/</a:t>
            </a:r>
            <a:r>
              <a:rPr lang="en-US" dirty="0" err="1"/>
              <a:t>crscerts</a:t>
            </a:r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1167E8-B08A-790F-4558-1454A8B556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18D848-2D54-1199-E295-6D8ABDD1FE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5073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2D730DB-CAEF-2740-6D1A-246AA7550F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Browser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BC4092-FD4F-A1F8-A33D-329D536A77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6C2B38-AB6B-CC8B-77AB-843290466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296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6DD88F4-9B72-182E-CD2B-B25F1271F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Same-Origin Policy (SOP)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0F2E230-5EAD-8523-03BD-96AB247460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Browsers trust content from sites they explicitly visit</a:t>
            </a:r>
          </a:p>
          <a:p>
            <a:r>
              <a:rPr lang="en-US" dirty="0"/>
              <a:t>Origin = scheme + host + port</a:t>
            </a:r>
          </a:p>
          <a:p>
            <a:r>
              <a:rPr lang="en-US" dirty="0"/>
              <a:t>Example: http://</a:t>
            </a:r>
            <a:r>
              <a:rPr lang="en-US" dirty="0" err="1"/>
              <a:t>www.example.com</a:t>
            </a:r>
            <a:r>
              <a:rPr lang="en-US" dirty="0"/>
              <a:t>/</a:t>
            </a:r>
            <a:r>
              <a:rPr lang="en-US" dirty="0" err="1"/>
              <a:t>pathA</a:t>
            </a:r>
            <a:endParaRPr lang="en-US" dirty="0"/>
          </a:p>
          <a:p>
            <a:r>
              <a:rPr lang="en-US" dirty="0"/>
              <a:t>Matches</a:t>
            </a:r>
          </a:p>
          <a:p>
            <a:pPr lvl="1"/>
            <a:r>
              <a:rPr lang="en-US" dirty="0"/>
              <a:t>http://</a:t>
            </a:r>
            <a:r>
              <a:rPr lang="en-US" dirty="0" err="1"/>
              <a:t>www.example.com</a:t>
            </a:r>
            <a:r>
              <a:rPr lang="en-US" dirty="0"/>
              <a:t>/</a:t>
            </a:r>
            <a:r>
              <a:rPr lang="en-US" dirty="0" err="1"/>
              <a:t>pathB</a:t>
            </a:r>
            <a:endParaRPr lang="en-US" dirty="0"/>
          </a:p>
          <a:p>
            <a:r>
              <a:rPr lang="en-US" dirty="0"/>
              <a:t>Does not Match</a:t>
            </a:r>
          </a:p>
          <a:p>
            <a:pPr lvl="1"/>
            <a:r>
              <a:rPr lang="en-US" dirty="0"/>
              <a:t>https://</a:t>
            </a:r>
            <a:r>
              <a:rPr lang="en-US" dirty="0" err="1"/>
              <a:t>www.example.com</a:t>
            </a:r>
            <a:r>
              <a:rPr lang="en-US" dirty="0"/>
              <a:t>/</a:t>
            </a:r>
            <a:r>
              <a:rPr lang="en-US" dirty="0" err="1"/>
              <a:t>pathA</a:t>
            </a:r>
            <a:r>
              <a:rPr lang="en-US" dirty="0"/>
              <a:t> (different scheme)</a:t>
            </a:r>
          </a:p>
          <a:p>
            <a:pPr lvl="1"/>
            <a:r>
              <a:rPr lang="en-US" dirty="0"/>
              <a:t>http://</a:t>
            </a:r>
            <a:r>
              <a:rPr lang="en-US" dirty="0" err="1"/>
              <a:t>host.example.com</a:t>
            </a:r>
            <a:r>
              <a:rPr lang="en-US" dirty="0"/>
              <a:t>/</a:t>
            </a:r>
            <a:r>
              <a:rPr lang="en-US" dirty="0" err="1"/>
              <a:t>pathA</a:t>
            </a:r>
            <a:r>
              <a:rPr lang="en-US" dirty="0"/>
              <a:t> (different host)</a:t>
            </a:r>
          </a:p>
          <a:p>
            <a:pPr lvl="1"/>
            <a:r>
              <a:rPr lang="en-US" dirty="0"/>
              <a:t>http://www.example.com:3000/</a:t>
            </a:r>
            <a:r>
              <a:rPr lang="en-US" dirty="0" err="1"/>
              <a:t>pathA</a:t>
            </a:r>
            <a:r>
              <a:rPr lang="en-US" dirty="0"/>
              <a:t> (different port)</a:t>
            </a:r>
          </a:p>
          <a:p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983D8C-A4AA-831E-5B84-667FA6EF5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3067F6-83C8-A3B0-D46B-89A162C1E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6774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98306-B5EB-DA06-E96D-D56EA335E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SOP Allows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F3A5F2-E4F0-45EE-068E-4F3085C6B0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Scripts: `&lt;script </a:t>
            </a:r>
            <a:r>
              <a:rPr lang="en-US" dirty="0" err="1"/>
              <a:t>src</a:t>
            </a:r>
            <a:r>
              <a:rPr lang="en-US" dirty="0"/>
              <a:t>="..."&gt;&lt;/script&gt;`</a:t>
            </a:r>
          </a:p>
          <a:p>
            <a:r>
              <a:rPr lang="en-US" dirty="0"/>
              <a:t>CSS: `&lt;link </a:t>
            </a:r>
            <a:r>
              <a:rPr lang="en-US" dirty="0" err="1"/>
              <a:t>rel</a:t>
            </a:r>
            <a:r>
              <a:rPr lang="en-US" dirty="0"/>
              <a:t>="stylesheet" ...&gt;`</a:t>
            </a:r>
          </a:p>
          <a:p>
            <a:r>
              <a:rPr lang="en-US" dirty="0"/>
              <a:t>Media: `&lt;</a:t>
            </a:r>
            <a:r>
              <a:rPr lang="en-US" dirty="0" err="1"/>
              <a:t>img</a:t>
            </a:r>
            <a:r>
              <a:rPr lang="en-US" dirty="0"/>
              <a:t>&gt;`, `&lt;video&gt;`, `&lt;audio&gt;`</a:t>
            </a:r>
          </a:p>
          <a:p>
            <a:r>
              <a:rPr lang="en-US" dirty="0"/>
              <a:t>Form submission with complete URL</a:t>
            </a:r>
          </a:p>
          <a:p>
            <a:r>
              <a:rPr lang="en-US" dirty="0"/>
              <a:t>Why allow these?</a:t>
            </a:r>
          </a:p>
          <a:p>
            <a:pPr lvl="1"/>
            <a:r>
              <a:rPr lang="en-US" dirty="0"/>
              <a:t>Pervasive use (and CDNs) - blocking would break the web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864A7D-1999-4E4B-F032-081DB0A8E6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0EFB4E-9BAE-768D-6442-EE8491A9A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73198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F01592-BD76-7836-C017-573DB0559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SOP Can Block APIs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6E15AF-0237-877F-B542-18855EF424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Example: SPA at `localhost:3001` requests data from `localhost:3000`</a:t>
            </a:r>
          </a:p>
          <a:p>
            <a:r>
              <a:rPr lang="en-US" dirty="0"/>
              <a:t>Browser console error</a:t>
            </a:r>
          </a:p>
          <a:p>
            <a:pPr marL="609569" lvl="1" indent="0">
              <a:buNone/>
            </a:pPr>
            <a:r>
              <a:rPr lang="en-US" dirty="0"/>
              <a:t>Cross-Origin Request Blocked: The Same Origin Policy disallows</a:t>
            </a:r>
          </a:p>
          <a:p>
            <a:pPr marL="609569" lvl="1" indent="0">
              <a:buNone/>
            </a:pPr>
            <a:r>
              <a:rPr lang="en-US" dirty="0"/>
              <a:t>reading the remote resource at http://localhost:3000/</a:t>
            </a:r>
            <a:r>
              <a:rPr lang="en-US" dirty="0" err="1"/>
              <a:t>items.json</a:t>
            </a:r>
            <a:r>
              <a:rPr lang="en-US" dirty="0"/>
              <a:t>.</a:t>
            </a:r>
          </a:p>
          <a:p>
            <a:pPr marL="609569" lvl="1" indent="0">
              <a:buNone/>
            </a:pPr>
            <a:r>
              <a:rPr lang="en-US" dirty="0"/>
              <a:t>(Reason: CORS header 'Access-Control-Allow-Origin' missing).</a:t>
            </a:r>
          </a:p>
          <a:p>
            <a:r>
              <a:rPr lang="en-US" dirty="0"/>
              <a:t>Note: SOP is a browser restriction, not a server restriction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7BEB2E-B9E4-72A6-DB4C-1E7FF4A96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C9E34F-E0A7-DB6D-87B8-8FCEA776C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8963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0FAEA0-E9DA-C7DA-CB6C-7F9AFF7D0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Cross-Origin Resource Sharing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7125E-9502-9313-1B56-F76B6F0DBF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HTTP header-based approach for servers to share trusted resources with browsers</a:t>
            </a:r>
          </a:p>
          <a:p>
            <a:r>
              <a:rPr lang="en-US" dirty="0"/>
              <a:t>Purpose: Allow controlled violations of SOP</a:t>
            </a:r>
          </a:p>
          <a:p>
            <a:r>
              <a:rPr lang="en-US" dirty="0"/>
              <a:t>For Rails: Rack CORS gem</a:t>
            </a:r>
          </a:p>
          <a:p>
            <a:pPr lvl="1"/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cyu</a:t>
            </a:r>
            <a:r>
              <a:rPr lang="en-US" dirty="0"/>
              <a:t>/rack-</a:t>
            </a:r>
            <a:r>
              <a:rPr lang="en-US" dirty="0" err="1"/>
              <a:t>cors</a:t>
            </a:r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B5EE6D-1D1F-2695-809F-5D7C9ECA2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1C921F-6FC7-CE1A-C352-BE0B9F9F6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162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691B8-8B57-A5F5-0A07-32B05DFF7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Setting Up CORS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C13A10-4031-BD6E-F6BB-0D8A245DB1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$ bundle add rack-</a:t>
            </a:r>
            <a:r>
              <a:rPr lang="en-US" dirty="0" err="1">
                <a:solidFill>
                  <a:schemeClr val="accent1"/>
                </a:solidFill>
              </a:rPr>
              <a:t>cors</a:t>
            </a:r>
            <a:endParaRPr lang="en-US" dirty="0">
              <a:solidFill>
                <a:schemeClr val="accent1"/>
              </a:solidFill>
            </a:endParaRPr>
          </a:p>
          <a:p>
            <a:r>
              <a:rPr lang="en-US" dirty="0"/>
              <a:t>Create configuration in `config/initializers/</a:t>
            </a:r>
            <a:r>
              <a:rPr lang="en-US" dirty="0" err="1"/>
              <a:t>cors.rb</a:t>
            </a:r>
            <a:r>
              <a:rPr lang="en-US" dirty="0"/>
              <a:t>`:</a:t>
            </a:r>
          </a:p>
          <a:p>
            <a:pPr marL="533374" lvl="1" indent="0">
              <a:buNone/>
            </a:pPr>
            <a:r>
              <a:rPr lang="en-US" dirty="0" err="1">
                <a:solidFill>
                  <a:schemeClr val="accent3"/>
                </a:solidFill>
              </a:rPr>
              <a:t>Rails.application.config.middleware.insert_before</a:t>
            </a:r>
            <a:r>
              <a:rPr lang="en-US" dirty="0">
                <a:solidFill>
                  <a:schemeClr val="accent3"/>
                </a:solidFill>
              </a:rPr>
              <a:t> 0, Rack::</a:t>
            </a:r>
            <a:r>
              <a:rPr lang="en-US" dirty="0" err="1">
                <a:solidFill>
                  <a:schemeClr val="accent3"/>
                </a:solidFill>
              </a:rPr>
              <a:t>Cors</a:t>
            </a:r>
            <a:r>
              <a:rPr lang="en-US" dirty="0">
                <a:solidFill>
                  <a:schemeClr val="accent3"/>
                </a:solidFill>
              </a:rPr>
              <a:t> do</a:t>
            </a:r>
          </a:p>
          <a:p>
            <a:pPr marL="533374" lvl="1" indent="0">
              <a:buNone/>
            </a:pPr>
            <a:r>
              <a:rPr lang="en-US" dirty="0">
                <a:solidFill>
                  <a:schemeClr val="accent3"/>
                </a:solidFill>
              </a:rPr>
              <a:t>  allow do</a:t>
            </a:r>
          </a:p>
          <a:p>
            <a:pPr marL="533374" lvl="1" indent="0">
              <a:buNone/>
            </a:pPr>
            <a:r>
              <a:rPr lang="en-US" dirty="0">
                <a:solidFill>
                  <a:schemeClr val="accent3"/>
                </a:solidFill>
              </a:rPr>
              <a:t>    origins "localhost:3001"</a:t>
            </a:r>
          </a:p>
          <a:p>
            <a:pPr marL="533374" lvl="1" indent="0">
              <a:buNone/>
            </a:pPr>
            <a:r>
              <a:rPr lang="en-US" dirty="0">
                <a:solidFill>
                  <a:schemeClr val="accent3"/>
                </a:solidFill>
              </a:rPr>
              <a:t>    resource "*",</a:t>
            </a:r>
          </a:p>
          <a:p>
            <a:pPr marL="533374" lvl="1" indent="0">
              <a:buNone/>
            </a:pPr>
            <a:r>
              <a:rPr lang="en-US" dirty="0">
                <a:solidFill>
                  <a:schemeClr val="accent3"/>
                </a:solidFill>
              </a:rPr>
              <a:t>      headers: :any,</a:t>
            </a:r>
          </a:p>
          <a:p>
            <a:pPr marL="533374" lvl="1" indent="0">
              <a:buNone/>
            </a:pPr>
            <a:r>
              <a:rPr lang="en-US" dirty="0">
                <a:solidFill>
                  <a:schemeClr val="accent3"/>
                </a:solidFill>
              </a:rPr>
              <a:t>      methods: [:get, :post, :put, :patch, :delete, :options, :head]</a:t>
            </a:r>
          </a:p>
          <a:p>
            <a:pPr marL="533374" lvl="1" indent="0">
              <a:buNone/>
            </a:pPr>
            <a:r>
              <a:rPr lang="en-US" dirty="0">
                <a:solidFill>
                  <a:schemeClr val="accent3"/>
                </a:solidFill>
              </a:rPr>
              <a:t>  end</a:t>
            </a:r>
          </a:p>
          <a:p>
            <a:pPr marL="533374" lvl="1" indent="0">
              <a:buNone/>
            </a:pPr>
            <a:r>
              <a:rPr lang="en-US" dirty="0">
                <a:solidFill>
                  <a:schemeClr val="accent3"/>
                </a:solidFill>
              </a:rPr>
              <a:t>end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0A9AA0-9707-199C-94F0-10D59608A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E87CA0-BF07-F36C-BD33-6B5ED0C4E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5669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A7BC8-F62C-A25E-E9A8-0589BDA74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CORS Security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96568B-63C3-4F36-2E52-80808DF8EB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21467"/>
            <a:ext cx="10972800" cy="4525963"/>
          </a:xfrm>
        </p:spPr>
        <p:txBody>
          <a:bodyPr>
            <a:normAutofit fontScale="92500"/>
          </a:bodyPr>
          <a:lstStyle/>
          <a:p>
            <a:r>
              <a:rPr lang="en-US" dirty="0"/>
              <a:t>Don't wildcard origins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origins "*"  # BAD Allows scripts from anywhere</a:t>
            </a:r>
          </a:p>
          <a:p>
            <a:r>
              <a:rPr lang="en-US" dirty="0"/>
              <a:t>Do specify exact origins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origins "localhost:3001", "</a:t>
            </a:r>
            <a:r>
              <a:rPr lang="en-US" dirty="0" err="1">
                <a:solidFill>
                  <a:schemeClr val="accent3"/>
                </a:solidFill>
              </a:rPr>
              <a:t>example.com</a:t>
            </a:r>
            <a:r>
              <a:rPr lang="en-US" dirty="0">
                <a:solidFill>
                  <a:schemeClr val="accent3"/>
                </a:solidFill>
              </a:rPr>
              <a:t>"  #  GOOD</a:t>
            </a:r>
            <a:endParaRPr lang="en-US" dirty="0"/>
          </a:p>
          <a:p>
            <a:r>
              <a:rPr lang="en-US" dirty="0"/>
              <a:t>Tighten access to specific resources and methods as needed.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97FC17-788B-77A9-0810-65E477BA6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AE15F0-D445-9F52-4056-3E25AC23F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8959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5BD81-ADDE-94BE-F2E1-7F7480C4D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CORS Headers in 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90B29-0BF4-6DF8-D954-DE5F6868D4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Request	</a:t>
            </a:r>
          </a:p>
          <a:p>
            <a:pPr marL="609569" lvl="1" indent="0">
              <a:buNone/>
            </a:pPr>
            <a:r>
              <a:rPr lang="en-US" sz="2800" dirty="0">
                <a:solidFill>
                  <a:srgbClr val="A0BA66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GET /</a:t>
            </a:r>
            <a:r>
              <a:rPr lang="en-US" sz="2800" dirty="0" err="1">
                <a:solidFill>
                  <a:srgbClr val="A0BA66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items.json</a:t>
            </a:r>
            <a:r>
              <a:rPr lang="en-US" sz="2800" dirty="0">
                <a:solidFill>
                  <a:srgbClr val="A0BA66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HTTP/1.1</a:t>
            </a:r>
          </a:p>
          <a:p>
            <a:pPr marL="609569" lvl="1" indent="0">
              <a:buNone/>
            </a:pPr>
            <a:r>
              <a:rPr lang="en-US" sz="2800" dirty="0">
                <a:solidFill>
                  <a:srgbClr val="A0BA66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Host: localhost:3000</a:t>
            </a:r>
          </a:p>
          <a:p>
            <a:pPr marL="609569" lvl="1" indent="0">
              <a:buNone/>
            </a:pPr>
            <a:r>
              <a:rPr lang="en-US" sz="2800" dirty="0">
                <a:solidFill>
                  <a:srgbClr val="A0BA66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Origin: http://localhost:3001</a:t>
            </a:r>
          </a:p>
          <a:p>
            <a:r>
              <a:rPr lang="en-US" dirty="0"/>
              <a:t>Response</a:t>
            </a:r>
          </a:p>
          <a:p>
            <a:pPr marL="609569" lvl="1" indent="0">
              <a:buNone/>
            </a:pPr>
            <a:r>
              <a:rPr lang="en-US" sz="3000" dirty="0">
                <a:solidFill>
                  <a:srgbClr val="A0BA66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HTTP/1.1 200 OK</a:t>
            </a:r>
          </a:p>
          <a:p>
            <a:pPr marL="609569" lvl="1" indent="0">
              <a:buNone/>
            </a:pPr>
            <a:r>
              <a:rPr lang="en-US" sz="3000" dirty="0">
                <a:solidFill>
                  <a:srgbClr val="A0BA66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access-control-allow-origin: http://localhost:3001</a:t>
            </a:r>
          </a:p>
          <a:p>
            <a:pPr marL="609569" lvl="1" indent="0">
              <a:buNone/>
            </a:pPr>
            <a:r>
              <a:rPr lang="en-US" sz="3000" dirty="0">
                <a:solidFill>
                  <a:srgbClr val="A0BA66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access-control-allow-methods: GET, POST, PUT, PATCH, DELETE, OPTIONS, HEAD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603A1C-5832-1011-0537-83895C1DA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B3BCE0-8E1C-AA67-E756-08A408FC7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384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7F229-F2CB-35C5-EAF7-A0F6F79CF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Avoiding CORS Issues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83A9AB-05CA-76C3-455B-C8EB3F1EA8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Place scripts in:</a:t>
            </a:r>
          </a:p>
          <a:p>
            <a:pPr lvl="1"/>
            <a:r>
              <a:rPr lang="en-US" dirty="0"/>
              <a:t>‘public’ directory</a:t>
            </a:r>
          </a:p>
          <a:p>
            <a:pPr lvl="1"/>
            <a:r>
              <a:rPr lang="en-US" dirty="0"/>
              <a:t>‘app/</a:t>
            </a:r>
            <a:r>
              <a:rPr lang="en-US" dirty="0" err="1"/>
              <a:t>javascript</a:t>
            </a:r>
            <a:r>
              <a:rPr lang="en-US" dirty="0"/>
              <a:t>/’ directory</a:t>
            </a:r>
          </a:p>
          <a:p>
            <a:r>
              <a:rPr lang="en-US" dirty="0"/>
              <a:t>Scripts don't cross origins, no CORS errors.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C6652F5-80BB-C871-7391-4ECB78E173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8E421E-76F9-92D6-6889-2991FAC7D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51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397F59B-0B69-9102-1AE1-171B543F016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Injections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DB396D-85FF-17A3-C683-B0E70CEE1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04B222-0725-6608-19EB-6B3B28401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105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2660BC4-73EC-96BD-8945-A59E9078E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Injection Attacks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E32164-1386-3EC8-1A14-6C419BA014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Use specially crafted input to:</a:t>
            </a:r>
          </a:p>
          <a:p>
            <a:pPr lvl="1"/>
            <a:r>
              <a:rPr lang="en-US" dirty="0"/>
              <a:t>Expose data</a:t>
            </a:r>
          </a:p>
          <a:p>
            <a:pPr lvl="1"/>
            <a:r>
              <a:rPr lang="en-US" dirty="0"/>
              <a:t>Trick users into entering personal information</a:t>
            </a:r>
          </a:p>
          <a:p>
            <a:r>
              <a:rPr lang="en-US" dirty="0"/>
              <a:t>Types</a:t>
            </a:r>
          </a:p>
          <a:p>
            <a:pPr lvl="1"/>
            <a:r>
              <a:rPr lang="en-US" dirty="0"/>
              <a:t>SQL Injection (SQLi)</a:t>
            </a:r>
          </a:p>
          <a:p>
            <a:pPr lvl="1"/>
            <a:r>
              <a:rPr lang="en-US" dirty="0"/>
              <a:t>Cross-Site Scripting (XSS)</a:t>
            </a:r>
          </a:p>
          <a:p>
            <a:pPr lvl="1"/>
            <a:r>
              <a:rPr lang="en-US" dirty="0"/>
              <a:t>Cross-Site Request Forgery (CSRF)</a:t>
            </a:r>
          </a:p>
          <a:p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A4DB87-7398-2C9E-DEE1-6E38D744D9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EBC2C2-FA29-6447-ABC9-47B9AB6E34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1257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6BAC3-8B1B-ADDB-F824-82CAFC509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SQL Injection (SQLi)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4B9E67-63DA-1590-F3D1-850EF4B07B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Works against many databases, not just SQL.</a:t>
            </a:r>
          </a:p>
          <a:p>
            <a:r>
              <a:rPr lang="en-US" dirty="0"/>
              <a:t>Normal Query</a:t>
            </a:r>
          </a:p>
          <a:p>
            <a:pPr marL="609569" lvl="1" indent="0">
              <a:buNone/>
            </a:pPr>
            <a:r>
              <a:rPr lang="en-US" sz="2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SELECT * FROM person WHERE email='</a:t>
            </a:r>
            <a:r>
              <a:rPr lang="en-US" sz="2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alice@example.com</a:t>
            </a:r>
            <a:r>
              <a:rPr lang="en-US" sz="2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'</a:t>
            </a:r>
          </a:p>
          <a:p>
            <a:r>
              <a:rPr lang="en-US" dirty="0"/>
              <a:t>Injected Query</a:t>
            </a:r>
          </a:p>
          <a:p>
            <a:pPr marL="609569" lvl="1" indent="0">
              <a:buNone/>
            </a:pPr>
            <a:r>
              <a:rPr lang="en-US" sz="2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SELECT * FROM person WHERE email='foo' OR '1' = '1'</a:t>
            </a:r>
          </a:p>
          <a:p>
            <a:r>
              <a:rPr lang="en-US" dirty="0"/>
              <a:t>Returns ALL records</a:t>
            </a:r>
          </a:p>
          <a:p>
            <a:pPr lvl="1"/>
            <a:r>
              <a:rPr lang="en-US" dirty="0"/>
              <a:t>Tautology '1' = '1' is always true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DECB5A-EBF0-54C6-4153-007F7861CF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1A056E-3AEC-7E15-E7DD-3E9A84B276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5600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2A3779-BB07-E4B0-3ADB-3315CFC59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 Real-World SQLi Attack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BE87AF-99CA-3FDF-A980-C769DF6BDC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&lt;%= </a:t>
            </a:r>
            <a:r>
              <a:rPr lang="en-US" dirty="0" err="1">
                <a:solidFill>
                  <a:schemeClr val="accent3"/>
                </a:solidFill>
              </a:rPr>
              <a:t>form.search_field</a:t>
            </a:r>
            <a:r>
              <a:rPr lang="en-US" dirty="0">
                <a:solidFill>
                  <a:schemeClr val="accent3"/>
                </a:solidFill>
              </a:rPr>
              <a:t>(:query, value: params[:query]) %&gt;</a:t>
            </a:r>
          </a:p>
          <a:p>
            <a:r>
              <a:rPr lang="en-US" dirty="0"/>
              <a:t>Vulnerable controller:</a:t>
            </a:r>
          </a:p>
          <a:p>
            <a:pPr marL="0" indent="0">
              <a:buNone/>
            </a:pPr>
            <a:r>
              <a:rPr lang="en-US" dirty="0" err="1">
                <a:solidFill>
                  <a:schemeClr val="accent3"/>
                </a:solidFill>
              </a:rPr>
              <a:t>Person.where</a:t>
            </a:r>
            <a:r>
              <a:rPr lang="en-US" dirty="0">
                <a:solidFill>
                  <a:schemeClr val="accent3"/>
                </a:solidFill>
              </a:rPr>
              <a:t>("email LIKE '%#{params[:query]}%'")</a:t>
            </a:r>
          </a:p>
          <a:p>
            <a:r>
              <a:rPr lang="en-US" dirty="0"/>
              <a:t>Attacker enters foo' OR '%' = '</a:t>
            </a:r>
          </a:p>
          <a:p>
            <a:r>
              <a:rPr lang="en-US" dirty="0"/>
              <a:t>Resulting query:</a:t>
            </a:r>
          </a:p>
          <a:p>
            <a:pPr marL="0" indent="0">
              <a:buNone/>
            </a:pPr>
            <a:r>
              <a:rPr lang="en-US" sz="3800" dirty="0">
                <a:solidFill>
                  <a:schemeClr val="accent3"/>
                </a:solidFill>
              </a:rPr>
              <a:t>SELECT * FROM people WHERE (email LIKE '%foo' OR '%' = '%')</a:t>
            </a:r>
          </a:p>
          <a:p>
            <a:r>
              <a:rPr lang="en-US" dirty="0"/>
              <a:t>All people returned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B98AEA-49C7-E394-CF4D-9DE185A71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09B216-8635-8CB8-2994-DC48D8227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6507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D5E3-916F-6B7C-5249-D8E40AD48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Rails SQLi Protection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2FDC4A-7EB2-915B-A593-7D10A98104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Use ? placeholder in queries:</a:t>
            </a:r>
          </a:p>
          <a:p>
            <a:r>
              <a:rPr lang="en-US" dirty="0"/>
              <a:t>Vulnerable</a:t>
            </a:r>
          </a:p>
          <a:p>
            <a:pPr marL="0" indent="0">
              <a:buNone/>
            </a:pPr>
            <a:r>
              <a:rPr lang="en-US" sz="3900" dirty="0" err="1">
                <a:solidFill>
                  <a:schemeClr val="accent3"/>
                </a:solidFill>
              </a:rPr>
              <a:t>Person.where</a:t>
            </a:r>
            <a:r>
              <a:rPr lang="en-US" sz="3900" dirty="0">
                <a:solidFill>
                  <a:schemeClr val="accent3"/>
                </a:solidFill>
              </a:rPr>
              <a:t>("email LIKE '%#{params[:query]}%'")</a:t>
            </a:r>
          </a:p>
          <a:p>
            <a:r>
              <a:rPr lang="en-US" dirty="0"/>
              <a:t>Protected</a:t>
            </a:r>
          </a:p>
          <a:p>
            <a:pPr marL="0" indent="0">
              <a:buNone/>
            </a:pPr>
            <a:r>
              <a:rPr lang="en-US" sz="3900" dirty="0" err="1">
                <a:solidFill>
                  <a:schemeClr val="accent3"/>
                </a:solidFill>
              </a:rPr>
              <a:t>Person.where</a:t>
            </a:r>
            <a:r>
              <a:rPr lang="en-US" sz="3900" dirty="0">
                <a:solidFill>
                  <a:schemeClr val="accent3"/>
                </a:solidFill>
              </a:rPr>
              <a:t>("email LIKE ?", "%#{params[:query]}%")</a:t>
            </a:r>
          </a:p>
          <a:p>
            <a:r>
              <a:rPr lang="en-US" dirty="0"/>
              <a:t>The `?` invokes Rails' built-in SQLi protection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E3AAF5-C1B5-76B2-3255-1A71E5EFD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7B4B05-DFBA-89CB-C591-9BAB4A147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88821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4497B9C-BEAC-0C86-58B3-AB158A7F8D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Code Analysis Tools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E382D0-AD0A-A447-909E-A84A4EA8B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4306D-6C1F-F709-5236-0D358B6A1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5754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5FD27B7-4C5C-95A5-15F9-5203BDC77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Program Analysis Tools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72CCC4-6B7C-702C-21B3-B96B4C4BC7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Static Analysis</a:t>
            </a:r>
          </a:p>
          <a:p>
            <a:pPr lvl="1"/>
            <a:r>
              <a:rPr lang="en-US" dirty="0"/>
              <a:t>Analyzes code before running</a:t>
            </a:r>
          </a:p>
          <a:p>
            <a:pPr lvl="1"/>
            <a:r>
              <a:rPr lang="en-US" dirty="0"/>
              <a:t>Looks at written code for typical errors</a:t>
            </a:r>
          </a:p>
          <a:p>
            <a:pPr lvl="1"/>
            <a:r>
              <a:rPr lang="en-US" dirty="0"/>
              <a:t>Brakeman, </a:t>
            </a:r>
            <a:r>
              <a:rPr lang="en-US" dirty="0" err="1"/>
              <a:t>Rubocop</a:t>
            </a:r>
            <a:endParaRPr lang="en-US" dirty="0"/>
          </a:p>
          <a:p>
            <a:r>
              <a:rPr lang="en-US" dirty="0"/>
              <a:t>Dynamic Analysis</a:t>
            </a:r>
          </a:p>
          <a:p>
            <a:pPr lvl="1"/>
            <a:r>
              <a:rPr lang="en-US" dirty="0"/>
              <a:t>Analyzes while program runs</a:t>
            </a:r>
          </a:p>
          <a:p>
            <a:pPr lvl="1"/>
            <a:r>
              <a:rPr lang="en-US" dirty="0"/>
              <a:t>Traces execution of instructions</a:t>
            </a:r>
          </a:p>
          <a:p>
            <a:pPr lvl="1"/>
            <a:r>
              <a:rPr lang="en-US" dirty="0"/>
              <a:t>Emphasizes memory, performance issues</a:t>
            </a:r>
          </a:p>
          <a:p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ADEBBE-42FF-BDA6-0163-B089EA94D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76995F-A53F-E006-209C-DC7027709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79182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A9067-7047-3FBE-333E-2ABA6D8EF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Brakeman Static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5AFE44-9C08-E333-79E1-6A013E887D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Rails-specific security analysis tool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$ gem install brakeman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$ brakeman  # Run in application directory</a:t>
            </a:r>
          </a:p>
          <a:p>
            <a:r>
              <a:rPr lang="en-US" dirty="0"/>
              <a:t>Example Output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Confidence: High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Category: SQL Injection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Message: Possible SQL injection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Code: </a:t>
            </a:r>
            <a:r>
              <a:rPr lang="en-US" dirty="0" err="1">
                <a:solidFill>
                  <a:schemeClr val="accent1"/>
                </a:solidFill>
              </a:rPr>
              <a:t>Person.where</a:t>
            </a:r>
            <a:r>
              <a:rPr lang="en-US" dirty="0">
                <a:solidFill>
                  <a:schemeClr val="accent1"/>
                </a:solidFill>
              </a:rPr>
              <a:t>("email LIKE '%#{params[:query]}%'")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File: app/controllers/</a:t>
            </a:r>
            <a:r>
              <a:rPr lang="en-US" dirty="0" err="1">
                <a:solidFill>
                  <a:schemeClr val="accent1"/>
                </a:solidFill>
              </a:rPr>
              <a:t>people_controller.rb</a:t>
            </a: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Line: 20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C4D8F03-5FEE-49D2-FD05-FC8A7B8C4B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85FB09-030E-4609-7481-21921CDD5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5703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BA73E-7DB2-B3DC-1597-2EEAC951A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RuboCop</a:t>
            </a:r>
            <a:r>
              <a:rPr lang="en-US" dirty="0"/>
              <a:t> for Rails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82E0AB-DFC9-A349-E960-DF98F4E6E2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GitHub: 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rubocop</a:t>
            </a:r>
            <a:r>
              <a:rPr lang="en-US" dirty="0"/>
              <a:t>/</a:t>
            </a:r>
            <a:r>
              <a:rPr lang="en-US" dirty="0" err="1"/>
              <a:t>rubocop</a:t>
            </a:r>
            <a:r>
              <a:rPr lang="en-US" dirty="0"/>
              <a:t>-rails</a:t>
            </a:r>
          </a:p>
          <a:p>
            <a:r>
              <a:rPr lang="en-US" dirty="0"/>
              <a:t>Analyzes wide variety of Ruby and Rails concerns:</a:t>
            </a:r>
          </a:p>
          <a:p>
            <a:pPr lvl="1"/>
            <a:r>
              <a:rPr lang="en-US" dirty="0"/>
              <a:t>Code style</a:t>
            </a:r>
          </a:p>
          <a:p>
            <a:pPr lvl="1"/>
            <a:r>
              <a:rPr lang="en-US" dirty="0"/>
              <a:t>Security issues</a:t>
            </a:r>
          </a:p>
          <a:p>
            <a:pPr lvl="1"/>
            <a:r>
              <a:rPr lang="en-US" dirty="0"/>
              <a:t>Performance problems</a:t>
            </a:r>
          </a:p>
          <a:p>
            <a:pPr lvl="1"/>
            <a:r>
              <a:rPr lang="en-US" dirty="0"/>
              <a:t>Best practices</a:t>
            </a:r>
          </a:p>
          <a:p>
            <a:r>
              <a:rPr lang="en-US" dirty="0"/>
              <a:t>Include in CI/CD workflows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A2A1D7-635A-C422-F90B-428083247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852A87-4E32-EDF5-9290-FC261DE7C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3604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729B84-BF9B-A701-AA04-63F05D333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Protecting User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67159C-DD9D-9FAB-9E4E-B8EA6B4072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Web applications gather Personally Identifiable Information (PII).</a:t>
            </a:r>
          </a:p>
          <a:p>
            <a:r>
              <a:rPr lang="en-US" dirty="0"/>
              <a:t>We are morally bound to protect that data to the best of our ability.</a:t>
            </a:r>
          </a:p>
          <a:p>
            <a:r>
              <a:rPr lang="en-US" dirty="0"/>
              <a:t>Learn More</a:t>
            </a:r>
          </a:p>
          <a:p>
            <a:pPr lvl="1"/>
            <a:r>
              <a:rPr lang="en-US" dirty="0"/>
              <a:t>ZAP: https://</a:t>
            </a:r>
            <a:r>
              <a:rPr lang="en-US" dirty="0" err="1"/>
              <a:t>www.zaproxy.org</a:t>
            </a:r>
            <a:r>
              <a:rPr lang="en-US" dirty="0"/>
              <a:t>/</a:t>
            </a:r>
          </a:p>
          <a:p>
            <a:pPr lvl="1"/>
            <a:r>
              <a:rPr lang="en-US" dirty="0" err="1"/>
              <a:t>WebGoat</a:t>
            </a:r>
            <a:r>
              <a:rPr lang="en-US" dirty="0"/>
              <a:t>: https://</a:t>
            </a:r>
            <a:r>
              <a:rPr lang="en-US" dirty="0" err="1"/>
              <a:t>owasp.org</a:t>
            </a:r>
            <a:r>
              <a:rPr lang="en-US" dirty="0"/>
              <a:t>/www-project-</a:t>
            </a:r>
            <a:r>
              <a:rPr lang="en-US" dirty="0" err="1"/>
              <a:t>webgoat</a:t>
            </a:r>
            <a:r>
              <a:rPr lang="en-US" dirty="0"/>
              <a:t>/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F5BDA5-A06E-F2A8-37CD-C82D407A23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5DDA0B-AEFA-94C4-B711-6C3AE341A3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57967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8960A-AC7D-B3EE-CC85-4438BA057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Cross-Site Scripting (XSS)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1AF118-674D-6C18-24CA-A7162A77D6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Bad actor injects script into text field.</a:t>
            </a:r>
          </a:p>
          <a:p>
            <a:r>
              <a:rPr lang="en-US" dirty="0"/>
              <a:t>When another user displays the text, script runs in their browser.</a:t>
            </a:r>
          </a:p>
          <a:p>
            <a:r>
              <a:rPr lang="en-US" dirty="0"/>
              <a:t>Why it works</a:t>
            </a:r>
          </a:p>
          <a:p>
            <a:pPr lvl="1"/>
            <a:r>
              <a:rPr lang="en-US" dirty="0"/>
              <a:t>Browsers trust content from sites via Same-Origin Policy (SOP)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0843CD-F64E-6B35-1A44-0A353BB221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911252-10A7-5561-4849-46F9CE2AE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73239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BED3D-0663-3C90-AD84-F4816F5BB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XSS Attack Scenario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FB4E4C-C306-221C-A516-1C208D8297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User enters in comment field: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&lt;script&gt;alert("XSS!")&lt;/script&gt;</a:t>
            </a:r>
          </a:p>
          <a:p>
            <a:r>
              <a:rPr lang="en-US" dirty="0"/>
              <a:t>When someone else reads the comment, the script executes</a:t>
            </a:r>
          </a:p>
          <a:p>
            <a:r>
              <a:rPr lang="en-US" dirty="0"/>
              <a:t>What scripts can do</a:t>
            </a:r>
          </a:p>
          <a:p>
            <a:pPr lvl="1"/>
            <a:r>
              <a:rPr lang="en-US" dirty="0"/>
              <a:t>Modify all page content</a:t>
            </a:r>
          </a:p>
          <a:p>
            <a:pPr lvl="1"/>
            <a:r>
              <a:rPr lang="en-US" dirty="0"/>
              <a:t>Access site history</a:t>
            </a:r>
          </a:p>
          <a:p>
            <a:pPr lvl="1"/>
            <a:r>
              <a:rPr lang="en-US" dirty="0"/>
              <a:t>Redirect to different sites</a:t>
            </a:r>
          </a:p>
          <a:p>
            <a:pPr lvl="1"/>
            <a:r>
              <a:rPr lang="en-US" dirty="0"/>
              <a:t>Steal credentials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819C71-E53F-1B0F-9EEE-4242C8D75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33DFE9-BD30-B062-3EBA-FA133C922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67523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A2FFB-C0E5-E1CA-92BF-200FCE19D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Built-In XSS Defense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19E9E5-BD6C-E069-474E-E126122AC0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Rails automatically escapes XSS scripts before displaying</a:t>
            </a:r>
          </a:p>
          <a:p>
            <a:r>
              <a:rPr lang="en-US" dirty="0"/>
              <a:t>Scripts persist in database but are escaped in views</a:t>
            </a:r>
          </a:p>
          <a:p>
            <a:r>
              <a:rPr lang="en-US" dirty="0"/>
              <a:t>How to Subvert</a:t>
            </a:r>
          </a:p>
          <a:p>
            <a:pPr marL="0" indent="0">
              <a:buNone/>
            </a:pPr>
            <a:r>
              <a:rPr lang="en-US" sz="30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&lt;%== </a:t>
            </a:r>
            <a:r>
              <a:rPr lang="en-US" sz="3000" dirty="0" err="1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person.name</a:t>
            </a:r>
            <a:r>
              <a:rPr lang="en-US" sz="30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%&gt;</a:t>
            </a:r>
          </a:p>
          <a:p>
            <a:pPr marL="0" indent="0">
              <a:buNone/>
            </a:pPr>
            <a:r>
              <a:rPr lang="en-US" sz="30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&lt;%= </a:t>
            </a:r>
            <a:r>
              <a:rPr lang="en-US" sz="3000" dirty="0" err="1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person.name.html_safe</a:t>
            </a:r>
            <a:r>
              <a:rPr lang="en-US" sz="30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%&gt;</a:t>
            </a:r>
          </a:p>
          <a:p>
            <a:pPr marL="0" indent="0">
              <a:buNone/>
            </a:pPr>
            <a:r>
              <a:rPr lang="en-US" sz="30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&lt;%= raw </a:t>
            </a:r>
            <a:r>
              <a:rPr lang="en-US" sz="3000" dirty="0" err="1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person.name</a:t>
            </a:r>
            <a:r>
              <a:rPr lang="en-US" sz="30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%&gt;</a:t>
            </a:r>
            <a:endParaRPr lang="en-US" sz="43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23DF3E-96C6-67EE-AA6E-294966D94C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7E5AE2-7EB1-2073-0DA4-10B5B492C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3755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23FDCFDF-D9F0-BF9F-4C65-CBE65CA7B6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CSRF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C17F4A-9AF2-E285-025C-BA3FAAA3D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A468F8-E423-CF5F-4A93-5D55422F0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600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0581FFE-9796-73DA-7439-F8912025B9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Cross-Site Request Forgery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8C5DA6-AD4A-8513-0002-046079DD20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One webpage sends a request to another website</a:t>
            </a:r>
          </a:p>
          <a:p>
            <a:r>
              <a:rPr lang="en-US" dirty="0"/>
              <a:t>Typically relies on the user being logged in to target site</a:t>
            </a:r>
          </a:p>
          <a:p>
            <a:r>
              <a:rPr lang="en-US" dirty="0"/>
              <a:t>Two Types</a:t>
            </a:r>
          </a:p>
          <a:p>
            <a:pPr marL="1352519" lvl="1" indent="-742950">
              <a:buFont typeface="+mj-lt"/>
              <a:buAutoNum type="arabicPeriod"/>
            </a:pPr>
            <a:r>
              <a:rPr lang="en-US" dirty="0"/>
              <a:t>Web bugs (GET requests) - tracking</a:t>
            </a:r>
          </a:p>
          <a:p>
            <a:pPr marL="1352519" lvl="1" indent="-742950">
              <a:buFont typeface="+mj-lt"/>
              <a:buAutoNum type="arabicPeriod"/>
            </a:pPr>
            <a:r>
              <a:rPr lang="en-US" dirty="0"/>
              <a:t>Malicious actions (POST/PUT/PATCH/DELETE)</a:t>
            </a:r>
          </a:p>
          <a:p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CF90CD4-5D92-E66E-8824-3568328659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4AE552-FC32-6672-A8B6-69D8E9EF1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7003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76815-1F70-675D-FE34-FDD4E5C01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Web Bug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EEB81-0B62-1154-7520-68F10FE7F0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HTML page with invisible image:</a:t>
            </a:r>
          </a:p>
          <a:p>
            <a:pPr marL="533374" lvl="1" indent="0">
              <a:buNone/>
            </a:pP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&lt;!DOCTYPE HTML&gt;</a:t>
            </a:r>
          </a:p>
          <a:p>
            <a:pPr marL="533374" lvl="1" indent="0">
              <a:buNone/>
            </a:pP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&lt;html&gt;</a:t>
            </a:r>
          </a:p>
          <a:p>
            <a:pPr marL="533374" lvl="1" indent="0">
              <a:buNone/>
            </a:pP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&lt;head&gt;&lt;title&gt;Web bug demo&lt;/title&gt;&lt;/head&gt;</a:t>
            </a:r>
          </a:p>
          <a:p>
            <a:pPr marL="533374" lvl="1" indent="0">
              <a:buNone/>
            </a:pP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&lt;body&gt;</a:t>
            </a:r>
          </a:p>
          <a:p>
            <a:pPr marL="533374" lvl="1" indent="0">
              <a:buNone/>
            </a:pP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 &lt;</a:t>
            </a:r>
            <a:r>
              <a:rPr lang="en-US" dirty="0" err="1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img</a:t>
            </a: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US" dirty="0" err="1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src</a:t>
            </a: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="http://localhost:3000/people/1"</a:t>
            </a:r>
          </a:p>
          <a:p>
            <a:pPr marL="533374" lvl="1" indent="0">
              <a:buNone/>
            </a:pP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      width="0" height="0" border="0"&gt;</a:t>
            </a:r>
          </a:p>
          <a:p>
            <a:pPr marL="533374" lvl="1" indent="0">
              <a:buNone/>
            </a:pP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&lt;/body&gt;</a:t>
            </a:r>
          </a:p>
          <a:p>
            <a:pPr marL="533374" lvl="1" indent="0">
              <a:buNone/>
            </a:pP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&lt;/html&gt;</a:t>
            </a:r>
            <a:endParaRPr lang="en-US" dirty="0"/>
          </a:p>
          <a:p>
            <a:r>
              <a:rPr lang="en-US" dirty="0"/>
              <a:t>Request is sent with all identifying information (IP, cookies, etc.)</a:t>
            </a:r>
          </a:p>
          <a:p>
            <a:r>
              <a:rPr lang="en-US" dirty="0"/>
              <a:t>Used for tracking users across websites for targeted ads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266F8A-2030-5D3F-6A4F-8492524272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1BB706-B114-E08C-2FB5-3AD9D46FB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6008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03121-5ECF-F9BB-8300-585E4E486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CSRF Attack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55277A-4BD8-D6A2-AD71-A28E8E33BE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Webpage that auto-submits DELETE:</a:t>
            </a:r>
          </a:p>
          <a:p>
            <a:pPr marL="533374" lvl="1" indent="0">
              <a:buNone/>
            </a:pPr>
            <a:r>
              <a:rPr lang="en-US" sz="20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&lt;!DOCTYPE HTML&gt;</a:t>
            </a:r>
          </a:p>
          <a:p>
            <a:pPr marL="533374" lvl="1" indent="0">
              <a:buNone/>
            </a:pPr>
            <a:r>
              <a:rPr lang="en-US" sz="20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&lt;html&gt;</a:t>
            </a:r>
          </a:p>
          <a:p>
            <a:pPr marL="533374" lvl="1" indent="0">
              <a:buNone/>
            </a:pPr>
            <a:r>
              <a:rPr lang="en-US" sz="20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&lt;head&gt;&lt;title&gt;CSRF&lt;/title&gt;&lt;/head&gt;</a:t>
            </a:r>
          </a:p>
          <a:p>
            <a:pPr marL="533374" lvl="1" indent="0">
              <a:buNone/>
            </a:pPr>
            <a:r>
              <a:rPr lang="en-US" sz="20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&lt;body onload="</a:t>
            </a:r>
            <a:r>
              <a:rPr lang="en-US" sz="2000" dirty="0" err="1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document.forms</a:t>
            </a:r>
            <a:r>
              <a:rPr lang="en-US" sz="20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[0].submit()"&gt;</a:t>
            </a:r>
          </a:p>
          <a:p>
            <a:pPr marL="533374" lvl="1" indent="0">
              <a:buNone/>
            </a:pPr>
            <a:r>
              <a:rPr lang="en-US" sz="20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&lt;form action="http://localhost:3000/people/1" method="POST"&gt;</a:t>
            </a:r>
          </a:p>
          <a:p>
            <a:pPr marL="533374" lvl="1" indent="0">
              <a:buNone/>
            </a:pPr>
            <a:r>
              <a:rPr lang="en-US" sz="20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&lt;input type="hidden" name="_method" value="delete" /&gt;</a:t>
            </a:r>
          </a:p>
          <a:p>
            <a:pPr marL="533374" lvl="1" indent="0">
              <a:buNone/>
            </a:pPr>
            <a:r>
              <a:rPr lang="en-US" sz="20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&lt;/form&gt;</a:t>
            </a:r>
          </a:p>
          <a:p>
            <a:pPr marL="533374" lvl="1" indent="0">
              <a:buNone/>
            </a:pPr>
            <a:r>
              <a:rPr lang="en-US" sz="20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&lt;/body&gt;</a:t>
            </a:r>
          </a:p>
          <a:p>
            <a:pPr marL="533374" lvl="1" indent="0">
              <a:buNone/>
            </a:pPr>
            <a:r>
              <a:rPr lang="en-US" sz="20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&lt;/html&gt;</a:t>
            </a:r>
            <a:endParaRPr lang="en-US" dirty="0">
              <a:solidFill>
                <a:schemeClr val="accent3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37B1CC-BCF4-ADCB-7983-996D1CC57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3E9D5B-0C4D-07F0-D5D2-018FA26948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562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CE299-8F2C-9C04-6660-DAB99CAA9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Rails Defense Mechanism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24E8FD-964F-DBB7-BED2-B63AB509CA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Rails console output:</a:t>
            </a:r>
          </a:p>
          <a:p>
            <a:pPr marL="533374" lvl="1" indent="0">
              <a:buNone/>
            </a:pPr>
            <a:r>
              <a:rPr lang="en-US" sz="28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Started DELETE "/people/1" for ::1</a:t>
            </a:r>
          </a:p>
          <a:p>
            <a:pPr marL="533374" lvl="1" indent="0">
              <a:buNone/>
            </a:pPr>
            <a:r>
              <a:rPr lang="en-US" sz="28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Processing by </a:t>
            </a:r>
            <a:r>
              <a:rPr lang="en-US" sz="2800" dirty="0" err="1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PeopleController#destroy</a:t>
            </a:r>
            <a:r>
              <a:rPr lang="en-US" sz="28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as HTML</a:t>
            </a:r>
          </a:p>
          <a:p>
            <a:pPr marL="533374" lvl="1" indent="0">
              <a:buNone/>
            </a:pPr>
            <a:r>
              <a:rPr lang="en-US" sz="28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Can't verify CSRF token authenticity.</a:t>
            </a:r>
          </a:p>
          <a:p>
            <a:pPr marL="533374" lvl="1" indent="0">
              <a:buNone/>
            </a:pPr>
            <a:r>
              <a:rPr lang="en-US" sz="28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Completed 422 </a:t>
            </a:r>
            <a:r>
              <a:rPr lang="en-US" sz="2800" dirty="0" err="1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Unprocessable</a:t>
            </a:r>
            <a:r>
              <a:rPr lang="en-US" sz="28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Entity</a:t>
            </a:r>
          </a:p>
          <a:p>
            <a:r>
              <a:rPr lang="en-US" dirty="0"/>
              <a:t>Why it failed: Rails checks authenticity token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B44FDE-C5CD-B427-204D-A9DAE5D8E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7531B7-F2E7-5B08-E469-77FEA4959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927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B1AF3-BBA1-62DD-157A-0D95493A79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Rails Prevents CSRF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DEA0D2-FA0F-7DCF-758D-EAA320C1A4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Rails adds a hidden authenticity token to forms:</a:t>
            </a:r>
          </a:p>
          <a:p>
            <a:pPr marL="609569" lvl="1" indent="0">
              <a:buNone/>
            </a:pP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&lt;input type="hidden”</a:t>
            </a:r>
          </a:p>
          <a:p>
            <a:pPr marL="609569" lvl="1" indent="0">
              <a:buNone/>
            </a:pP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name="</a:t>
            </a:r>
            <a:r>
              <a:rPr lang="en-US" dirty="0" err="1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authenticity_token</a:t>
            </a: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”</a:t>
            </a:r>
          </a:p>
          <a:p>
            <a:pPr marL="609569" lvl="1" indent="0">
              <a:buNone/>
            </a:pP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value="CaJ0OO...”</a:t>
            </a:r>
          </a:p>
          <a:p>
            <a:pPr marL="609569" lvl="1" indent="0">
              <a:buNone/>
            </a:pP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autocomplete="off" /&gt;</a:t>
            </a:r>
          </a:p>
          <a:p>
            <a:r>
              <a:rPr lang="en-US" dirty="0"/>
              <a:t>Token changes each time the form loads</a:t>
            </a:r>
          </a:p>
          <a:p>
            <a:r>
              <a:rPr lang="en-US" dirty="0"/>
              <a:t>Attack sites don't know the token</a:t>
            </a:r>
          </a:p>
          <a:p>
            <a:r>
              <a:rPr lang="en-US" dirty="0"/>
              <a:t>Can't send valid requests without it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E316CC-780A-38D9-B677-638077279E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90E47F-0C9E-78A9-2B96-ADDAB47D6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4100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287F2-C256-4A56-EA33-AF63059C2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Additional CSRF Defenses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914F99-5866-202D-E02E-CDAEFCAD57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Sensitive sites use multiple techniques</a:t>
            </a:r>
          </a:p>
          <a:p>
            <a:pPr lvl="1"/>
            <a:r>
              <a:rPr lang="en-US" dirty="0"/>
              <a:t>Single-use tokens</a:t>
            </a:r>
          </a:p>
          <a:p>
            <a:pPr lvl="2"/>
            <a:r>
              <a:rPr lang="en-US" dirty="0"/>
              <a:t>“nonce” refers to a single-use value in cryptography</a:t>
            </a:r>
          </a:p>
          <a:p>
            <a:pPr lvl="1"/>
            <a:r>
              <a:rPr lang="en-US" dirty="0"/>
              <a:t>Encourage logout when done</a:t>
            </a:r>
          </a:p>
          <a:p>
            <a:pPr lvl="1"/>
            <a:r>
              <a:rPr lang="en-US" dirty="0"/>
              <a:t>Force logout after inactivity</a:t>
            </a:r>
          </a:p>
          <a:p>
            <a:pPr lvl="1"/>
            <a:r>
              <a:rPr lang="en-US" dirty="0"/>
              <a:t>Session validation</a:t>
            </a:r>
          </a:p>
          <a:p>
            <a:pPr lvl="1"/>
            <a:r>
              <a:rPr lang="en-US" dirty="0"/>
              <a:t>Transaction confirmation</a:t>
            </a:r>
          </a:p>
          <a:p>
            <a:r>
              <a:rPr lang="en-US" dirty="0"/>
              <a:t>Always log out of sensitive sites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EFD9C9-FF79-C631-F110-12646B77BA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AD4798-B3BD-EBBC-7992-825FB5E81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5798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C984E07-5861-8843-5470-61E25C26CE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The Dark Web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1C644D-BA57-30BE-628D-C47417BB2E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0D8643-855B-6196-3D4F-9A22578FA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95722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D8B6E3F-53A9-C62F-7D4A-088904EB3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Surface, Deep, and Dark Web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652AB0-17A2-FBE2-8426-769F86D0B2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Surface Web</a:t>
            </a:r>
          </a:p>
          <a:p>
            <a:pPr lvl="1"/>
            <a:r>
              <a:rPr lang="en-US" dirty="0"/>
              <a:t>Available to everyone</a:t>
            </a:r>
          </a:p>
          <a:p>
            <a:pPr lvl="1"/>
            <a:r>
              <a:rPr lang="en-US" dirty="0"/>
              <a:t>Indexed by search engines</a:t>
            </a:r>
          </a:p>
          <a:p>
            <a:r>
              <a:rPr lang="en-US" dirty="0"/>
              <a:t>Deep Web</a:t>
            </a:r>
          </a:p>
          <a:p>
            <a:pPr lvl="1"/>
            <a:r>
              <a:rPr lang="en-US" dirty="0"/>
              <a:t>Requires credentials</a:t>
            </a:r>
          </a:p>
          <a:p>
            <a:pPr lvl="1"/>
            <a:r>
              <a:rPr lang="en-US" dirty="0"/>
              <a:t>School, financial, and medical accounts</a:t>
            </a:r>
          </a:p>
          <a:p>
            <a:pPr lvl="1"/>
            <a:r>
              <a:rPr lang="en-US" dirty="0"/>
              <a:t>Larger than the surface web</a:t>
            </a:r>
          </a:p>
          <a:p>
            <a:r>
              <a:rPr lang="en-US" dirty="0"/>
              <a:t>Dark Web:</a:t>
            </a:r>
          </a:p>
          <a:p>
            <a:pPr lvl="1"/>
            <a:r>
              <a:rPr lang="en-US" dirty="0"/>
              <a:t>Requires a special browser (TOR)</a:t>
            </a:r>
          </a:p>
          <a:p>
            <a:pPr lvl="1"/>
            <a:r>
              <a:rPr lang="en-US" dirty="0"/>
              <a:t>Anonymous communication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1D84E09-AE26-8954-BB00-4F6A31771D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7D9B0B-1ADA-2A73-2ECD-062886A46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598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3724" y="378372"/>
            <a:ext cx="4724552" cy="5633539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B78CA88-9240-D5C5-4D95-5F222E85D801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pPr>
              <a:defRPr>
                <a:effectLst/>
              </a:defRPr>
            </a:pPr>
            <a:fld id="{86CB4B4D-7CA3-9044-876B-883B54F8677D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077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EB8EF-DA16-505D-C17C-559E17272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TOR = The Onion Router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FFEDF1-3124-AB8C-354E-936BB1F36A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https://www.torproject.org/download/</a:t>
            </a:r>
            <a:r>
              <a:rPr lang="en-US" dirty="0"/>
              <a:t> </a:t>
            </a:r>
          </a:p>
          <a:p>
            <a:r>
              <a:rPr lang="en-US" dirty="0"/>
              <a:t>Site blocked at MSU Denver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E21EA26-9D8A-BD6E-2F5D-7DBD84B0E3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2F95DC-4BC8-9451-1204-DE86621D72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698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0EC64-6759-FD1C-B75F-CDEA98BC6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595F3A-A6D3-87A5-8663-741F65D9F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Send information through multiple machines to anonymize communication</a:t>
            </a:r>
          </a:p>
          <a:p>
            <a:r>
              <a:rPr lang="en-US" dirty="0"/>
              <a:t>An overlay network on top of the regular internet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4CC329-555C-8030-C640-A52A0CCDA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975749-34B1-5D0A-59A2-4C786A36A1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8819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EBD09-7841-070A-52F4-6F84C20BE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E3E773-753A-1741-F11A-DFA00E50D8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Three types of nodes</a:t>
            </a:r>
          </a:p>
          <a:p>
            <a:pPr marL="742950" indent="-742950">
              <a:buFont typeface="+mj-lt"/>
              <a:buAutoNum type="arabicPeriod"/>
            </a:pPr>
            <a:r>
              <a:rPr lang="en-US" dirty="0"/>
              <a:t>Guard - Where browser initially connects</a:t>
            </a:r>
          </a:p>
          <a:p>
            <a:pPr marL="742950" indent="-742950">
              <a:buFont typeface="+mj-lt"/>
              <a:buAutoNum type="arabicPeriod"/>
            </a:pPr>
            <a:r>
              <a:rPr lang="en-US" dirty="0"/>
              <a:t>Middle - Anonymizes communication (any number)</a:t>
            </a:r>
          </a:p>
          <a:p>
            <a:pPr marL="742950" indent="-742950">
              <a:buFont typeface="+mj-lt"/>
              <a:buAutoNum type="arabicPeriod"/>
            </a:pPr>
            <a:r>
              <a:rPr lang="en-US" dirty="0"/>
              <a:t>Exit - Where circuit exits to regular web</a:t>
            </a:r>
          </a:p>
          <a:p>
            <a:r>
              <a:rPr lang="en-US" dirty="0"/>
              <a:t>Circuits typically change every ~10 minutes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72C46A-95D2-D50B-837E-423900D3C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12C645-3FB3-83D2-CB2F-ABEDD03F5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59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B6F60-A6D0-D9B1-CEF6-23A641FBA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TOR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F016AB-A1E6-4237-F9C4-E33F776D0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Packet has multiple layers of encrypted routing</a:t>
            </a:r>
          </a:p>
          <a:p>
            <a:pPr lvl="1"/>
            <a:r>
              <a:rPr lang="en-US" dirty="0"/>
              <a:t>Each node decrypts one layer (like peeling an onion)</a:t>
            </a:r>
          </a:p>
          <a:p>
            <a:pPr lvl="1"/>
            <a:r>
              <a:rPr lang="en-US" dirty="0"/>
              <a:t>Each node knows only previous and next router</a:t>
            </a:r>
          </a:p>
          <a:p>
            <a:pPr lvl="1"/>
            <a:r>
              <a:rPr lang="en-US" dirty="0"/>
              <a:t>After two hops, origin/destination cannot be derived</a:t>
            </a:r>
          </a:p>
          <a:p>
            <a:r>
              <a:rPr lang="en-US" dirty="0"/>
              <a:t>Result: Effectively anonymous communication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855154-5D11-4521-968A-284B3EB92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CED6E4-BDB1-9193-1F3E-67959DE6F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46101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684B2F-7639-9EA5-08D5-CE6A25DBC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Alice, Bob, and Carol (A, B, C)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22AD4A-A1B3-B3F6-43DF-F070133D80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Alice and Bob characters were invented by Ron Rivest, Adi Shamir, and Leonard Adleman in their 1978 paper </a:t>
            </a:r>
            <a:r>
              <a:rPr lang="en-US" i="1" dirty="0"/>
              <a:t>A Method for Obtaining Digital Signatures and Public-key Cryptosystems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BAE5C1-AE70-0614-C5BC-9E302DF505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04538" y="4731545"/>
            <a:ext cx="876866" cy="3640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76C055C-C494-6642-84CA-3BAE009353A7}" type="datetime1">
              <a:rPr lang="en-US" smtClean="0"/>
              <a:pPr/>
              <a:t>11/13/25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3FD367-BE79-3DC5-F5DB-79727EE109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45C52B-C78E-19B8-8BEA-FAFEF6C54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effectLst/>
              </a:defRPr>
            </a:pPr>
            <a:fld id="{86CB4B4D-7CA3-9044-876B-883B54F8677D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0572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6ECA6-3260-B926-8163-A4F4BA3DA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Obligatory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94AF6-D17A-DD0A-B48F-FAC8EC37BF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8194" name="Picture 2" descr="Encryption">
            <a:extLst>
              <a:ext uri="{FF2B5EF4-FFF2-40B4-BE49-F238E27FC236}">
                <a16:creationId xmlns:a16="http://schemas.microsoft.com/office/drawing/2014/main" id="{AC7D2B7A-C8A0-6F01-60A7-C7A1EF8DE4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6526" y="1600201"/>
            <a:ext cx="2798951" cy="45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5E92F9-B5BB-EBAE-A0DB-36FA7948BAB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04538" y="4731545"/>
            <a:ext cx="876866" cy="3640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76C055C-C494-6642-84CA-3BAE009353A7}" type="datetime1">
              <a:rPr lang="en-US" smtClean="0"/>
              <a:pPr/>
              <a:t>11/13/25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B79263-8BB7-9A2F-27B3-C7550699DA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56DC63-B824-55B8-DD5F-4815EB295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effectLst/>
              </a:defRPr>
            </a:pPr>
            <a:fld id="{86CB4B4D-7CA3-9044-876B-883B54F8677D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023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htw1.png" descr="htw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0651" y="430305"/>
            <a:ext cx="8910699" cy="569585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495A2AE-82C4-43DE-A9C3-80DB3AF45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FE4B2-A9A0-3A41-AAD5-5BBFEB044AC3}" type="datetime1">
              <a:rPr lang="en-US" smtClean="0"/>
              <a:t>11/13/25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DD21E0-A798-CF26-D936-E5563F330C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8056B7-EC5D-78F3-F35D-52506E226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effectLst/>
              </a:defRPr>
            </a:pPr>
            <a:fld id="{86CB4B4D-7CA3-9044-876B-883B54F8677D}" type="slidenum">
              <a:rPr lang="en-US" smtClean="0"/>
              <a:t>74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htw2.png" descr="htw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0651" y="430305"/>
            <a:ext cx="8910699" cy="569585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1C8CA5-3AD8-D0E8-6376-598DF57A6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540EA-8A0D-9D4C-8D6E-17D76604BBFB}" type="datetime1">
              <a:rPr lang="en-US" smtClean="0"/>
              <a:t>11/13/25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5EF7DF-B468-D17C-A41C-252FCC890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 as cited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A5A177-D788-1FB1-7AD7-905E213B3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effectLst/>
              </a:defRPr>
            </a:pPr>
            <a:fld id="{86CB4B4D-7CA3-9044-876B-883B54F8677D}" type="slidenum">
              <a:rPr lang="en-US" smtClean="0"/>
              <a:t>75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htw3.png" descr="ht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0650" y="430305"/>
            <a:ext cx="8910700" cy="569585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55BC63-292C-4C2E-507A-2F0038449A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BB40B8-BE85-1542-BD66-0EF9276B5E7C}" type="datetime1">
              <a:rPr lang="en-US" smtClean="0"/>
              <a:t>11/13/25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81EACB-75D0-E356-5236-1E8D63C8F7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 as cited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C1739A-8A1C-ED9C-5DC6-BBF87AD19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effectLst/>
              </a:defRPr>
            </a:pPr>
            <a:fld id="{86CB4B4D-7CA3-9044-876B-883B54F8677D}" type="slidenum">
              <a:rPr lang="en-US" smtClean="0"/>
              <a:t>76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814660F4-8893-C065-88B9-F1FD5B3393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62195" y="430305"/>
            <a:ext cx="8667611" cy="5695859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2EDD33F9-5749-887E-A2A7-CB705CAED0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A3282-0631-9849-AC3C-180429F0BBC5}" type="datetime1">
              <a:rPr lang="en-US" smtClean="0"/>
              <a:t>11/13/25</a:t>
            </a:fld>
            <a:endParaRPr lang="en-US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AADAD83D-5865-A98B-E408-BB40885BE7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 as cited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D1777687-7526-2261-5AA5-2F00E5BBA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effectLst/>
              </a:defRPr>
            </a:pPr>
            <a:fld id="{86CB4B4D-7CA3-9044-876B-883B54F8677D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8125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2A23EA8-1F8C-774C-9BA1-8A51049982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Opaque Envelopes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883ED6C-A761-AE4F-193A-20B5B727D5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605EEA-71A4-16C6-865F-09C912D9189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04538" y="4731545"/>
            <a:ext cx="876866" cy="3640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76C055C-C494-6642-84CA-3BAE009353A7}" type="datetime1">
              <a:rPr lang="en-US" smtClean="0"/>
              <a:pPr/>
              <a:t>11/13/25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07F95C9-1C4E-8037-AB46-17B6CD8804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8E4344-5CB9-F3D3-3E2A-86942B8D6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effectLst/>
              </a:defRPr>
            </a:pPr>
            <a:fld id="{86CB4B4D-7CA3-9044-876B-883B54F8677D}" type="slidenum">
              <a:rPr lang="en-US" smtClean="0"/>
              <a:t>78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0601EBF-5765-AEF5-1D33-54B5B325C3F4}"/>
              </a:ext>
            </a:extLst>
          </p:cNvPr>
          <p:cNvSpPr/>
          <p:nvPr/>
        </p:nvSpPr>
        <p:spPr>
          <a:xfrm>
            <a:off x="1227172" y="3135552"/>
            <a:ext cx="2724304" cy="145526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/>
              <a:t>From: A</a:t>
            </a:r>
          </a:p>
          <a:p>
            <a:r>
              <a:rPr lang="en-US" sz="2400" dirty="0"/>
              <a:t>	To: B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834DAF8-4C36-6265-EB2C-48C9914D3A24}"/>
              </a:ext>
            </a:extLst>
          </p:cNvPr>
          <p:cNvSpPr/>
          <p:nvPr/>
        </p:nvSpPr>
        <p:spPr>
          <a:xfrm>
            <a:off x="4733848" y="3135552"/>
            <a:ext cx="2724304" cy="145526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/>
              <a:t>From: B</a:t>
            </a:r>
          </a:p>
          <a:p>
            <a:r>
              <a:rPr lang="en-US" sz="2400" dirty="0"/>
              <a:t>	To: C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50F4F2-7F79-27EA-B3D8-51ED9BAE4C9C}"/>
              </a:ext>
            </a:extLst>
          </p:cNvPr>
          <p:cNvSpPr/>
          <p:nvPr/>
        </p:nvSpPr>
        <p:spPr>
          <a:xfrm>
            <a:off x="8240524" y="3135552"/>
            <a:ext cx="2724304" cy="145526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/>
              <a:t>From: C</a:t>
            </a:r>
          </a:p>
          <a:p>
            <a:r>
              <a:rPr lang="en-US" sz="2400" dirty="0"/>
              <a:t>	To: D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E8A277F-3CD0-5173-7DE8-50BD4E84AA5E}"/>
              </a:ext>
            </a:extLst>
          </p:cNvPr>
          <p:cNvSpPr/>
          <p:nvPr/>
        </p:nvSpPr>
        <p:spPr>
          <a:xfrm>
            <a:off x="1784193" y="1631255"/>
            <a:ext cx="1610263" cy="1108117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A’s</a:t>
            </a:r>
          </a:p>
          <a:p>
            <a:pPr algn="ctr"/>
            <a:r>
              <a:rPr lang="en-US" sz="2400" dirty="0"/>
              <a:t>Encrypted</a:t>
            </a:r>
          </a:p>
          <a:p>
            <a:pPr algn="ctr"/>
            <a:r>
              <a:rPr lang="en-US" sz="2400" dirty="0"/>
              <a:t>Message</a:t>
            </a: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600AB7FD-650E-EAB7-23EF-8879331C8874}"/>
              </a:ext>
            </a:extLst>
          </p:cNvPr>
          <p:cNvSpPr/>
          <p:nvPr/>
        </p:nvSpPr>
        <p:spPr>
          <a:xfrm>
            <a:off x="3951477" y="3600092"/>
            <a:ext cx="748695" cy="527945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21FF8AA3-DA5C-41B1-B524-A5F6053EAFE9}"/>
              </a:ext>
            </a:extLst>
          </p:cNvPr>
          <p:cNvSpPr/>
          <p:nvPr/>
        </p:nvSpPr>
        <p:spPr>
          <a:xfrm>
            <a:off x="7424476" y="3600092"/>
            <a:ext cx="816049" cy="527945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14" name="Down Arrow 13">
            <a:extLst>
              <a:ext uri="{FF2B5EF4-FFF2-40B4-BE49-F238E27FC236}">
                <a16:creationId xmlns:a16="http://schemas.microsoft.com/office/drawing/2014/main" id="{031E740A-4CC8-DE74-87A1-D837882C5ABC}"/>
              </a:ext>
            </a:extLst>
          </p:cNvPr>
          <p:cNvSpPr/>
          <p:nvPr/>
        </p:nvSpPr>
        <p:spPr>
          <a:xfrm>
            <a:off x="2347783" y="2771955"/>
            <a:ext cx="483080" cy="363597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5" name="Down Arrow 14">
            <a:extLst>
              <a:ext uri="{FF2B5EF4-FFF2-40B4-BE49-F238E27FC236}">
                <a16:creationId xmlns:a16="http://schemas.microsoft.com/office/drawing/2014/main" id="{7A4828B4-8701-FD9B-6777-A8D5C46E48ED}"/>
              </a:ext>
            </a:extLst>
          </p:cNvPr>
          <p:cNvSpPr/>
          <p:nvPr/>
        </p:nvSpPr>
        <p:spPr>
          <a:xfrm>
            <a:off x="9361136" y="4599775"/>
            <a:ext cx="483080" cy="363597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C287CF75-6CC0-6376-52AF-95075896A2C7}"/>
              </a:ext>
            </a:extLst>
          </p:cNvPr>
          <p:cNvSpPr/>
          <p:nvPr/>
        </p:nvSpPr>
        <p:spPr>
          <a:xfrm>
            <a:off x="8797545" y="4963372"/>
            <a:ext cx="1610263" cy="1108117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A’s</a:t>
            </a:r>
          </a:p>
          <a:p>
            <a:pPr algn="ctr"/>
            <a:r>
              <a:rPr lang="en-US" sz="2400" dirty="0"/>
              <a:t>Encrypted</a:t>
            </a:r>
          </a:p>
          <a:p>
            <a:pPr algn="ctr"/>
            <a:r>
              <a:rPr lang="en-US" sz="2400" dirty="0"/>
              <a:t>Message</a:t>
            </a:r>
          </a:p>
        </p:txBody>
      </p:sp>
    </p:spTree>
    <p:extLst>
      <p:ext uri="{BB962C8B-B14F-4D97-AF65-F5344CB8AC3E}">
        <p14:creationId xmlns:p14="http://schemas.microsoft.com/office/powerpoint/2010/main" val="1553687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308DAC-78F4-70E7-ADA7-AC24C1A46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Why Use TOR?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023D6-9923-C004-CFC4-12264D35C6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Legitimate Uses</a:t>
            </a:r>
          </a:p>
          <a:p>
            <a:pPr lvl="1"/>
            <a:r>
              <a:rPr lang="en-US" dirty="0"/>
              <a:t>Browse web anonymously</a:t>
            </a:r>
          </a:p>
          <a:p>
            <a:pPr lvl="1"/>
            <a:r>
              <a:rPr lang="en-US" dirty="0"/>
              <a:t>Protect privacy</a:t>
            </a:r>
          </a:p>
          <a:p>
            <a:pPr lvl="1"/>
            <a:r>
              <a:rPr lang="en-US" dirty="0"/>
              <a:t>Bypass censorship</a:t>
            </a:r>
          </a:p>
          <a:p>
            <a:pPr lvl="1"/>
            <a:r>
              <a:rPr lang="en-US" dirty="0"/>
              <a:t>Journalist, whistleblower protection</a:t>
            </a:r>
          </a:p>
          <a:p>
            <a:r>
              <a:rPr lang="en-US" dirty="0"/>
              <a:t>Main Use Case:</a:t>
            </a:r>
          </a:p>
          <a:p>
            <a:pPr lvl="1"/>
            <a:r>
              <a:rPr lang="en-US" dirty="0"/>
              <a:t>Access hidden services in the dark web.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B8366E-A65D-7106-721C-4D57DA52AA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B6E1F2-8FCA-072A-B894-857358E4F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3122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3A08D-C465-603D-BA9C-1A8EFFB52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Interesting TOR Facts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53F085-1181-0EF8-C47D-CC8305091A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Created by U.S. Naval Research Laboratory</a:t>
            </a:r>
          </a:p>
          <a:p>
            <a:r>
              <a:rPr lang="en-US" dirty="0"/>
              <a:t>Still funded by U.S. government</a:t>
            </a:r>
          </a:p>
          <a:p>
            <a:r>
              <a:rPr lang="en-US" dirty="0"/>
              <a:t>Opened to public to decrease signal-to-noise ratio</a:t>
            </a:r>
          </a:p>
          <a:p>
            <a:r>
              <a:rPr lang="en-US" dirty="0"/>
              <a:t>Bitcoin greatly accelerated dark web use</a:t>
            </a:r>
          </a:p>
          <a:p>
            <a:r>
              <a:rPr lang="en-US" dirty="0"/>
              <a:t>Some markets have been infiltrated by law enforcement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1B8035-4D3F-B1D1-5A4A-8833E3498B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14F99D-1D71-98BE-92AC-E338E11D91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1042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8CCE8-9DC6-EF9B-D2A2-DA5FC29FF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Dark Web Services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996A3F-99F7-24D2-8554-F20F61461C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TOR allows creating hidden services</a:t>
            </a:r>
          </a:p>
          <a:p>
            <a:pPr lvl="1"/>
            <a:r>
              <a:rPr lang="en-US" dirty="0"/>
              <a:t>Web servers</a:t>
            </a:r>
          </a:p>
          <a:p>
            <a:pPr lvl="1"/>
            <a:r>
              <a:rPr lang="en-US" dirty="0"/>
              <a:t>Chat servers</a:t>
            </a:r>
          </a:p>
          <a:p>
            <a:pPr lvl="1"/>
            <a:r>
              <a:rPr lang="en-US" dirty="0"/>
              <a:t>Email servers</a:t>
            </a:r>
          </a:p>
          <a:p>
            <a:pPr lvl="1"/>
            <a:r>
              <a:rPr lang="en-US" dirty="0"/>
              <a:t>Any service on surface web</a:t>
            </a:r>
          </a:p>
          <a:p>
            <a:r>
              <a:rPr lang="en-US" dirty="0"/>
              <a:t>Addresses end in .onion</a:t>
            </a:r>
          </a:p>
          <a:p>
            <a:r>
              <a:rPr lang="en-US" dirty="0"/>
              <a:t>Many are illegal on surface web (illicit markets, etc.)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182DBF5-1BCF-2977-1D58-B554A9D24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6F4A26-8B8B-07D7-435D-0DF7AB54B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07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1B09E5D-60EB-6F4F-9F5F-F5D794AA30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http://yvudsnnux372gj2nvg3bnkficwf4niel6drfqyhbtglgdsf2l75xfqqd.onion/</a:t>
            </a:r>
            <a:r>
              <a:rPr lang="en-US" dirty="0"/>
              <a:t>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178162-A4A3-2E80-6E3E-1F6BC19F7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Toby’s Site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5295AE-815E-1F51-AED9-F65225CE4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FF750B-2DCA-FC1A-2E43-EE65A9335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387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9318" y="430305"/>
            <a:ext cx="2933365" cy="569585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1CF9CE-D78E-CE2B-E407-AEF6EEE6E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F9743-FF0E-3744-9975-3C1D7382963D}" type="datetime1">
              <a:rPr lang="en-US" smtClean="0"/>
              <a:t>11/13/25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FBFF79-5F87-2145-3D6E-C4E5164CA6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 as cited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F26D3B-857F-B8EA-1C7B-F25218F25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effectLst/>
              </a:defRPr>
            </a:pPr>
            <a:fld id="{86CB4B4D-7CA3-9044-876B-883B54F8677D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061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B32EE3B-EB68-9949-0453-BC389EDA3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Ross Ulbricht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9B29EA2-C4CD-A2E8-6EAA-81F8FD73E6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Dread Pirate Roberts</a:t>
            </a:r>
          </a:p>
          <a:p>
            <a:pPr lvl="1"/>
            <a:r>
              <a:rPr lang="en-US" dirty="0"/>
              <a:t>From </a:t>
            </a:r>
            <a:r>
              <a:rPr lang="en-US" i="1" dirty="0"/>
              <a:t>The Princess Bride</a:t>
            </a:r>
          </a:p>
          <a:p>
            <a:r>
              <a:rPr lang="en-US" dirty="0"/>
              <a:t>In 2015, he was convicted of engaging in a continuing criminal enterprise, distributing narcotics by means of the internet, conspiracy to commit money laundering, conspiracy to traffic fraudulent identity documents, and conspiracy to commit computer hacking</a:t>
            </a:r>
          </a:p>
          <a:p>
            <a:r>
              <a:rPr lang="en-US" dirty="0"/>
              <a:t>He was sentenced to double life in prison plus 40 years without the possibility of parole</a:t>
            </a:r>
          </a:p>
          <a:p>
            <a:r>
              <a:rPr lang="en-US" dirty="0"/>
              <a:t>After serving 12 years, he was released from prison in January 2025, when he received a full and unconditional pardon from U.S. President Donald Trump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D7689F-CE80-C866-267A-B5C5757848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 as cited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8C9EB7-5A48-06F9-2F23-837148C28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effectLst/>
              </a:defRPr>
            </a:pPr>
            <a:fld id="{86CB4B4D-7CA3-9044-876B-883B54F8677D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1703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8C3FB-1491-7150-4ED7-D2C45FB63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Ross Ulbricht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825BDE-3CE5-FAE3-2C4A-07366FCB4C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Ulbricht attended the University of Texas at Dallas on a full academic scholarship and graduated in 2006 with a bachelor's degree in physics</a:t>
            </a:r>
          </a:p>
          <a:p>
            <a:r>
              <a:rPr lang="en-US" dirty="0"/>
              <a:t>Ulbricht received an additional scholarship to attend Pennsylvania State University, where he was in a master's degree program in materials science and engineering and studied crystallography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D7259A-CEA3-398F-353B-48DEF8813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E9A4CC-D40A-1D49-EC6B-F1800EF63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4013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791D8-B920-DFFA-51F5-CD5B52B20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8AEF27-FA4F-7125-2394-C55654E436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Law enforcement seized a Silk Road server in Iceland</a:t>
            </a:r>
          </a:p>
          <a:p>
            <a:r>
              <a:rPr lang="en-US" dirty="0"/>
              <a:t>Ulbricht was connected to "Dread Pirate Roberts" by Gary Alford, an Internal Revenue Service investigator working with the Drug Enforcement Administration on the Silk Road case, in mid-2013</a:t>
            </a:r>
          </a:p>
          <a:p>
            <a:r>
              <a:rPr lang="en-US" dirty="0"/>
              <a:t>The connection was made by linking the username "</a:t>
            </a:r>
            <a:r>
              <a:rPr lang="en-US" dirty="0" err="1"/>
              <a:t>altoid</a:t>
            </a:r>
            <a:r>
              <a:rPr lang="en-US" dirty="0"/>
              <a:t>", used during Silk Road's early days to announce the website, and a forum post in which Ulbricht, posting under the nickname "</a:t>
            </a:r>
            <a:r>
              <a:rPr lang="en-US" dirty="0" err="1"/>
              <a:t>altoid</a:t>
            </a:r>
            <a:r>
              <a:rPr lang="en-US" dirty="0"/>
              <a:t>", asked for programming help and gave his email address, which contained his full name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9C3BE6-F3B5-9DF4-ABB4-DE0CD5A46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7B7BA6-DE89-C464-9C45-083153165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752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188" y="2155422"/>
            <a:ext cx="10715624" cy="2547157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76F9E-0943-72EE-A0E0-A2AB03C171B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04538" y="4731545"/>
            <a:ext cx="876866" cy="3640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672E456-610B-AF4E-976B-E2090AD6D463}" type="datetime1">
              <a:rPr lang="en-US" smtClean="0"/>
              <a:pPr/>
              <a:t>11/13/25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CB7854-4A82-8770-F8B9-A16F275C0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 as cited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5B2BA-41E2-AFED-76EB-4FC62B907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effectLst/>
              </a:defRPr>
            </a:pPr>
            <a:fld id="{86CB4B4D-7CA3-9044-876B-883B54F8677D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073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Silk Road 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Silk Road 2.0 came online, run by former administrators of Silk Road</a:t>
            </a:r>
          </a:p>
          <a:p>
            <a:r>
              <a:rPr lang="en-US" dirty="0"/>
              <a:t>It too was shut down and the alleged operator was arrested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7E483E-B863-615F-85A1-64EC387D2B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91C859-FDFF-E56C-71A3-21CC11A5D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effectLst/>
              </a:defRPr>
            </a:pPr>
            <a:fld id="{86CB4B4D-7CA3-9044-876B-883B54F8677D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4417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953" y="2251676"/>
            <a:ext cx="10745273" cy="2350529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686196-DD5A-664F-D5E1-43631029847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04538" y="4731545"/>
            <a:ext cx="876866" cy="3640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672E456-610B-AF4E-976B-E2090AD6D463}" type="datetime1">
              <a:rPr lang="en-US" smtClean="0"/>
              <a:pPr/>
              <a:t>11/13/25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7951ED-655E-B9F8-3620-375D59381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 as cited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A23D94-8EEA-297A-E9ED-8DF305386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effectLst/>
              </a:defRPr>
            </a:pPr>
            <a:fld id="{86CB4B4D-7CA3-9044-876B-883B54F8677D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8039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Alphabay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Was shut down after a law enforcement action as a part of Operation Bayonet </a:t>
            </a:r>
          </a:p>
          <a:p>
            <a:r>
              <a:rPr lang="en-US" dirty="0"/>
              <a:t>The alleged founder, Alexandre </a:t>
            </a:r>
            <a:r>
              <a:rPr lang="en-US" dirty="0" err="1"/>
              <a:t>Cazes</a:t>
            </a:r>
            <a:r>
              <a:rPr lang="en-US" dirty="0"/>
              <a:t>, a Canadian citizen was found dead in his cell in Thailand several days after his arrest; suicide is suspected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B7221C-0575-95E4-EC69-E20019468F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04538" y="4731545"/>
            <a:ext cx="876866" cy="3640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76C055C-C494-6642-84CA-3BAE009353A7}" type="datetime1">
              <a:rPr lang="en-US" smtClean="0"/>
              <a:pPr/>
              <a:t>11/13/25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8750B-DBD6-701F-7DD3-6297A32C1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C15FAE-9B4F-5D7F-8BDF-1288523F9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effectLst/>
              </a:defRPr>
            </a:pPr>
            <a:fld id="{86CB4B4D-7CA3-9044-876B-883B54F8677D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4566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4CC3D1-6D56-DC4B-9451-C402626E9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Trust No One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CF600F-D788-1642-8C1D-FB4AD83B7C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Sites come and go</a:t>
            </a:r>
          </a:p>
          <a:p>
            <a:r>
              <a:rPr lang="en-US" dirty="0"/>
              <a:t>The data you entered are on them</a:t>
            </a:r>
          </a:p>
          <a:p>
            <a:r>
              <a:rPr lang="en-US" dirty="0"/>
              <a:t>Pay attention to ratings and escrow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687F16-B204-69BE-CC84-2D5293B3F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B5FBCA-7987-3F9D-981B-3F704BDDC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effectLst/>
              </a:defRPr>
            </a:pPr>
            <a:fld id="{86CB4B4D-7CA3-9044-876B-883B54F8677D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9753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3DBD660-8B58-6BF8-A6E2-5F1ADA20CA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Size of TOR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A745E7C-D734-39E6-D2ED-83203BD034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https://metrics.torproject.org</a:t>
            </a:r>
            <a:r>
              <a:rPr lang="en-US" dirty="0"/>
              <a:t> 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D8A4732-B730-0FF3-0CB7-7CB83C4B0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 as cited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7E64B0-B167-9F4B-09D3-21A2D71FC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effectLst/>
              </a:defRPr>
            </a:pPr>
            <a:fld id="{86CB4B4D-7CA3-9044-876B-883B54F8677D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7607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E949E2-8F91-A5DA-0739-EC5D4C0AE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Exercise Caution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98A9F3-2F50-717C-53DA-2CDBBA80A5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Most sites have illicit content</a:t>
            </a:r>
          </a:p>
          <a:p>
            <a:pPr lvl="1"/>
            <a:r>
              <a:rPr lang="en-US" dirty="0"/>
              <a:t>You can’t, in general, be tracked</a:t>
            </a:r>
          </a:p>
          <a:p>
            <a:r>
              <a:rPr lang="en-US" dirty="0"/>
              <a:t>Can contain web bugs</a:t>
            </a:r>
          </a:p>
          <a:p>
            <a:r>
              <a:rPr lang="en-US" dirty="0"/>
              <a:t>May place illegal images in browser cache</a:t>
            </a:r>
          </a:p>
          <a:p>
            <a:r>
              <a:rPr lang="en-US" dirty="0"/>
              <a:t>You are legally liable for your actions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C7C4A8-9620-6A9E-CF1B-9231B8BC5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CE0A58-800B-A013-746E-EDFE9BA82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30944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DC606BE-ECC6-0C32-D3B3-43118CC401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8C301F-4A03-3ECB-55BA-E04A707F8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4A3CAA-D84F-11B4-AFA5-3853ED886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7597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E3DBB0-B18A-2E09-4CF8-C5D3AB1882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The Landscape:</a:t>
            </a:r>
          </a:p>
          <a:p>
            <a:pPr lvl="1"/>
            <a:r>
              <a:rPr lang="en-US" dirty="0"/>
              <a:t>70+ new vulnerabilities per day</a:t>
            </a:r>
          </a:p>
          <a:p>
            <a:pPr lvl="1"/>
            <a:r>
              <a:rPr lang="en-US" dirty="0"/>
              <a:t>Tens of thousands of SQL and XSS exposures</a:t>
            </a:r>
          </a:p>
          <a:p>
            <a:pPr lvl="1"/>
            <a:r>
              <a:rPr lang="en-US" dirty="0"/>
              <a:t>Growing attack surface (IoT devices)</a:t>
            </a:r>
          </a:p>
          <a:p>
            <a:pPr lvl="1"/>
            <a:r>
              <a:rPr lang="en-US" dirty="0"/>
              <a:t>Ransomware and data breaches increasing</a:t>
            </a:r>
          </a:p>
          <a:p>
            <a:r>
              <a:rPr lang="en-US" dirty="0"/>
              <a:t>We must take security seriously</a:t>
            </a:r>
          </a:p>
          <a:p>
            <a:pPr lvl="1"/>
            <a:r>
              <a:rPr lang="en-US" dirty="0"/>
              <a:t>Affect all us us</a:t>
            </a:r>
          </a:p>
          <a:p>
            <a:pPr lvl="1"/>
            <a:r>
              <a:rPr lang="en-US" dirty="0"/>
              <a:t>And our </a:t>
            </a:r>
            <a:r>
              <a:rPr lang="en-US" dirty="0" err="1"/>
              <a:t>custormers</a:t>
            </a:r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45F8254-F712-C100-5A7D-B3416AFED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8C64865-B191-2738-1D22-00BA6CA03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2244CE-ACB2-1C84-C698-EF0138C62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5879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91FF63C-0A2C-36A6-5BA9-5E9EE9AEDF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Active Record Encryption</a:t>
            </a:r>
          </a:p>
          <a:p>
            <a:pPr lvl="1"/>
            <a:r>
              <a:rPr lang="en-US" dirty="0"/>
              <a:t>Non-deterministic: More secure, can't search</a:t>
            </a:r>
          </a:p>
          <a:p>
            <a:pPr lvl="1"/>
            <a:r>
              <a:rPr lang="en-US" dirty="0"/>
              <a:t>Deterministic: Less secure, searchable</a:t>
            </a:r>
          </a:p>
          <a:p>
            <a:pPr lvl="1"/>
            <a:r>
              <a:rPr lang="en-US" dirty="0"/>
              <a:t>Protects data when exfiltrated</a:t>
            </a:r>
          </a:p>
          <a:p>
            <a:r>
              <a:rPr lang="en-US" dirty="0"/>
              <a:t>HTTPS</a:t>
            </a:r>
          </a:p>
          <a:p>
            <a:pPr lvl="1"/>
            <a:r>
              <a:rPr lang="en-US" dirty="0"/>
              <a:t>Encrypts data in transit</a:t>
            </a:r>
          </a:p>
          <a:p>
            <a:pPr lvl="1"/>
            <a:r>
              <a:rPr lang="en-US" dirty="0"/>
              <a:t>Use Let's Encrypt for free certificates</a:t>
            </a:r>
          </a:p>
          <a:p>
            <a:pPr lvl="1"/>
            <a:r>
              <a:rPr lang="en-US" dirty="0"/>
              <a:t>Never deploy without HTTPS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5F971-1BC3-181D-BD20-855ED32F5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Encryption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815090-C44D-72DB-6ABC-9F05D5DF60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60593E-A356-0CC9-26FA-4F490F479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993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0BFBC1A-91CF-4063-E805-526AC7D457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Authentication</a:t>
            </a:r>
          </a:p>
          <a:p>
            <a:pPr lvl="1"/>
            <a:r>
              <a:rPr lang="en-US" dirty="0"/>
              <a:t>Prove who you are</a:t>
            </a:r>
          </a:p>
          <a:p>
            <a:pPr lvl="1"/>
            <a:r>
              <a:rPr lang="en-US" dirty="0"/>
              <a:t>MFA for stronger security</a:t>
            </a:r>
          </a:p>
          <a:p>
            <a:pPr lvl="1"/>
            <a:r>
              <a:rPr lang="en-US" dirty="0"/>
              <a:t>Use external authenticators when possible</a:t>
            </a:r>
          </a:p>
          <a:p>
            <a:r>
              <a:rPr lang="en-US" dirty="0"/>
              <a:t>Authorization</a:t>
            </a:r>
          </a:p>
          <a:p>
            <a:pPr lvl="1"/>
            <a:r>
              <a:rPr lang="en-US" dirty="0"/>
              <a:t>Control what users can do</a:t>
            </a:r>
          </a:p>
          <a:p>
            <a:pPr lvl="1"/>
            <a:r>
              <a:rPr lang="en-US" dirty="0"/>
              <a:t>Ability-based permissions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F811477-062E-0412-6F1C-1F24ECA15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Authentication &amp; Authorization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C99793-263C-8C6D-B2EC-C284E7F6DE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F4D633-43B3-A109-5BF2-3C4AF51098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984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4F9001-9D73-6C7C-78AB-49FF82FD9F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SQL Injection</a:t>
            </a:r>
          </a:p>
          <a:p>
            <a:pPr lvl="1"/>
            <a:r>
              <a:rPr lang="en-US" dirty="0"/>
              <a:t>Use `?` placeholders in queries</a:t>
            </a:r>
          </a:p>
          <a:p>
            <a:pPr lvl="1"/>
            <a:r>
              <a:rPr lang="en-US" dirty="0"/>
              <a:t>Never interpolate user input directly</a:t>
            </a:r>
          </a:p>
          <a:p>
            <a:r>
              <a:rPr lang="en-US" dirty="0"/>
              <a:t>XSS</a:t>
            </a:r>
          </a:p>
          <a:p>
            <a:pPr lvl="1"/>
            <a:r>
              <a:rPr lang="en-US" dirty="0"/>
              <a:t>Rails escapes by default</a:t>
            </a:r>
          </a:p>
          <a:p>
            <a:pPr lvl="1"/>
            <a:r>
              <a:rPr lang="en-US" dirty="0"/>
              <a:t>Still stored in database</a:t>
            </a:r>
          </a:p>
          <a:p>
            <a:pPr lvl="1"/>
            <a:r>
              <a:rPr lang="en-US" dirty="0"/>
              <a:t>Don't use ‘&lt;%==‘, ‘</a:t>
            </a:r>
            <a:r>
              <a:rPr lang="en-US" dirty="0" err="1"/>
              <a:t>html_safe</a:t>
            </a:r>
            <a:r>
              <a:rPr lang="en-US" dirty="0"/>
              <a:t>’, or ‘raw’ unnecessarily</a:t>
            </a:r>
          </a:p>
          <a:p>
            <a:r>
              <a:rPr lang="en-US" dirty="0"/>
              <a:t>CSRF</a:t>
            </a:r>
          </a:p>
          <a:p>
            <a:r>
              <a:rPr lang="en-US" dirty="0"/>
              <a:t>- Rails includes authenticity tokens</a:t>
            </a:r>
          </a:p>
          <a:p>
            <a:r>
              <a:rPr lang="en-US" dirty="0"/>
              <a:t>- Protects POST/PUT/PATCH/DELETE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299498E-AFDC-3322-5E4D-CACB001A3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Injection Prevention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D7C141-CD1E-17D0-B15C-209A27DC7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92EA33-FB1F-DD20-7FA4-E7F002DD6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4489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39AD933-415C-BC12-7194-AF4F151BD8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Same-Origin Policy:</a:t>
            </a:r>
          </a:p>
          <a:p>
            <a:pPr lvl="1"/>
            <a:r>
              <a:rPr lang="en-US" dirty="0"/>
              <a:t>Browsers restrict cross-origin scripts</a:t>
            </a:r>
          </a:p>
          <a:p>
            <a:pPr lvl="1"/>
            <a:r>
              <a:rPr lang="en-US" dirty="0"/>
              <a:t>Necessary for security</a:t>
            </a:r>
          </a:p>
          <a:p>
            <a:r>
              <a:rPr lang="en-US" dirty="0"/>
              <a:t>CORS</a:t>
            </a:r>
          </a:p>
          <a:p>
            <a:pPr lvl="1"/>
            <a:r>
              <a:rPr lang="en-US" dirty="0"/>
              <a:t>Allow controlled cross-origin access</a:t>
            </a:r>
          </a:p>
          <a:p>
            <a:pPr lvl="1"/>
            <a:r>
              <a:rPr lang="en-US" dirty="0"/>
              <a:t>Don't wildcard origins</a:t>
            </a:r>
          </a:p>
          <a:p>
            <a:pPr lvl="1"/>
            <a:r>
              <a:rPr lang="en-US" dirty="0"/>
              <a:t>Specify exact trusted sources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84D952-9CFB-7FEB-46E1-CF7129B39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Browser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6E719-F53E-EBDE-AD78-B8F88A894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519438-BB23-8D54-3D24-15E821839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615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2A64C89-0853-C074-639D-6AB5F7DDEC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There are tools that help</a:t>
            </a:r>
          </a:p>
          <a:p>
            <a:r>
              <a:rPr lang="en-US" dirty="0"/>
              <a:t>Static Analysis</a:t>
            </a:r>
          </a:p>
          <a:p>
            <a:pPr lvl="1"/>
            <a:r>
              <a:rPr lang="en-US" dirty="0"/>
              <a:t>Brakeman - Rails security scanner</a:t>
            </a:r>
          </a:p>
          <a:p>
            <a:pPr lvl="1"/>
            <a:r>
              <a:rPr lang="en-US" dirty="0" err="1"/>
              <a:t>RuboCop</a:t>
            </a:r>
            <a:r>
              <a:rPr lang="en-US" dirty="0"/>
              <a:t> - Code quality and security</a:t>
            </a:r>
          </a:p>
          <a:p>
            <a:pPr lvl="1"/>
            <a:r>
              <a:rPr lang="en-US" dirty="0"/>
              <a:t>Include in CI/CD</a:t>
            </a:r>
          </a:p>
          <a:p>
            <a:r>
              <a:rPr lang="en-US" dirty="0"/>
              <a:t>Learn More</a:t>
            </a:r>
          </a:p>
          <a:p>
            <a:pPr lvl="1"/>
            <a:r>
              <a:rPr lang="en-US" dirty="0">
                <a:hlinkClick r:id="rId2"/>
              </a:rPr>
              <a:t>https://owasp.org/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ZAP (Zed Attack Proxy)</a:t>
            </a:r>
          </a:p>
          <a:p>
            <a:pPr lvl="1"/>
            <a:r>
              <a:rPr lang="en-US" dirty="0" err="1"/>
              <a:t>WebGoat</a:t>
            </a:r>
            <a:r>
              <a:rPr lang="en-US" dirty="0"/>
              <a:t> (practice attacks)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9F07123-4177-68AB-08DE-4269D8933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Tools &amp; Testing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065F88-8E15-D00C-E7BD-ECEDF542AE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CCA8A9-141A-B994-DD59-9193483F4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746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F196CBC-BCFD-28BF-15BF-C5C51F9494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Users trust us with their Personally Identifiable Information (PII).</a:t>
            </a:r>
          </a:p>
          <a:p>
            <a:r>
              <a:rPr lang="en-US" dirty="0"/>
              <a:t>We must</a:t>
            </a:r>
          </a:p>
          <a:p>
            <a:pPr lvl="1"/>
            <a:r>
              <a:rPr lang="en-US" dirty="0"/>
              <a:t>Be ethical with their data</a:t>
            </a:r>
          </a:p>
          <a:p>
            <a:pPr lvl="1"/>
            <a:r>
              <a:rPr lang="en-US" dirty="0"/>
              <a:t>Protect it to the best of our ability</a:t>
            </a:r>
          </a:p>
          <a:p>
            <a:pPr lvl="1"/>
            <a:r>
              <a:rPr lang="en-US" dirty="0"/>
              <a:t>Use encryption and secure practices</a:t>
            </a:r>
          </a:p>
          <a:p>
            <a:pPr lvl="1"/>
            <a:r>
              <a:rPr lang="en-US" dirty="0"/>
              <a:t>Stay current on </a:t>
            </a:r>
            <a:r>
              <a:rPr lang="en-US"/>
              <a:t>security threats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281DB28-1011-1D9E-DBEA-9D605C792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Our Duty to Users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53EB41-4A8D-FFF2-03A9-849D0076DB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9024FB-4B03-4D70-E078-36207CC83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02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theme/theme1.xml><?xml version="1.0" encoding="utf-8"?>
<a:theme xmlns:a="http://schemas.openxmlformats.org/drawingml/2006/main" name="MSU Denver 16x9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6" id="{19DD2CDB-A181-F945-ADD9-05B41BED0346}" vid="{739F90C6-ACCF-9945-B1AA-B9555E82DD2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WebAppDev</Template>
  <TotalTime>13524</TotalTime>
  <Words>4576</Words>
  <Application>Microsoft Macintosh PowerPoint</Application>
  <PresentationFormat>Widescreen</PresentationFormat>
  <Paragraphs>804</Paragraphs>
  <Slides>101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101</vt:i4>
      </vt:variant>
    </vt:vector>
  </HeadingPairs>
  <TitlesOfParts>
    <vt:vector size="106" baseType="lpstr">
      <vt:lpstr>Aptos</vt:lpstr>
      <vt:lpstr>Arial</vt:lpstr>
      <vt:lpstr>Calibri</vt:lpstr>
      <vt:lpstr>Menlo</vt:lpstr>
      <vt:lpstr>MSU Denver 16x9</vt:lpstr>
      <vt:lpstr>Chapter 06</vt:lpstr>
      <vt:lpstr>Text Conventions</vt:lpstr>
      <vt:lpstr>Sun Tzu, The Art of War</vt:lpstr>
      <vt:lpstr>The Security Challenge</vt:lpstr>
      <vt:lpstr>Learning Outcomes</vt:lpstr>
      <vt:lpstr>Key Terms</vt:lpstr>
      <vt:lpstr>DB Encryption</vt:lpstr>
      <vt:lpstr>Active Record Encryption</vt:lpstr>
      <vt:lpstr>Choosing Encryption Types</vt:lpstr>
      <vt:lpstr>Initialize Encryption Keys</vt:lpstr>
      <vt:lpstr>Configure Credentials</vt:lpstr>
      <vt:lpstr>Encrypt Model Attributes</vt:lpstr>
      <vt:lpstr>What Encrypted Data Looks Like</vt:lpstr>
      <vt:lpstr>Fix Tests with Encrypted Data</vt:lpstr>
      <vt:lpstr>Authentication</vt:lpstr>
      <vt:lpstr>Auth/n vs Auth/z</vt:lpstr>
      <vt:lpstr>Three Authentication Factors</vt:lpstr>
      <vt:lpstr>Devise Authentication Gem</vt:lpstr>
      <vt:lpstr> Setting Up Devise</vt:lpstr>
      <vt:lpstr>Devise Route Setup</vt:lpstr>
      <vt:lpstr>Adding Logout Functionality</vt:lpstr>
      <vt:lpstr>Devise Test Helpers</vt:lpstr>
      <vt:lpstr>Authorization</vt:lpstr>
      <vt:lpstr>CanCanCan Authorization Gem</vt:lpstr>
      <vt:lpstr>Setting Up CanCanCan</vt:lpstr>
      <vt:lpstr>Basic Ability Configuration</vt:lpstr>
      <vt:lpstr>Using CanCanCan in Controllers</vt:lpstr>
      <vt:lpstr>HTTPS</vt:lpstr>
      <vt:lpstr>Securing Data in Transit</vt:lpstr>
      <vt:lpstr>Generate SSL Certificate</vt:lpstr>
      <vt:lpstr>Certificate Information</vt:lpstr>
      <vt:lpstr>Run Rails with SSL</vt:lpstr>
      <vt:lpstr>Certificate Trust Warning</vt:lpstr>
      <vt:lpstr>PowerPoint Presentation</vt:lpstr>
      <vt:lpstr>Certificate Authorities (CA)</vt:lpstr>
      <vt:lpstr>Browser Security</vt:lpstr>
      <vt:lpstr>Same-Origin Policy (SOP)</vt:lpstr>
      <vt:lpstr>What SOP Allows</vt:lpstr>
      <vt:lpstr>SOP Can Block APIs</vt:lpstr>
      <vt:lpstr>Cross-Origin Resource Sharing</vt:lpstr>
      <vt:lpstr>Setting Up CORS</vt:lpstr>
      <vt:lpstr>CORS Security Tips</vt:lpstr>
      <vt:lpstr>CORS Headers in Action</vt:lpstr>
      <vt:lpstr>Avoiding CORS Issues</vt:lpstr>
      <vt:lpstr>Injections</vt:lpstr>
      <vt:lpstr>Injection Attacks</vt:lpstr>
      <vt:lpstr>SQL Injection (SQLi)</vt:lpstr>
      <vt:lpstr> Real-World SQLi Attack</vt:lpstr>
      <vt:lpstr>Rails SQLi Protection</vt:lpstr>
      <vt:lpstr>Code Analysis Tools</vt:lpstr>
      <vt:lpstr>Program Analysis Tools</vt:lpstr>
      <vt:lpstr>Brakeman Static Analysis</vt:lpstr>
      <vt:lpstr>RuboCop for Rails</vt:lpstr>
      <vt:lpstr>Protecting User Data</vt:lpstr>
      <vt:lpstr>Cross-Site Scripting (XSS)</vt:lpstr>
      <vt:lpstr>XSS Attack Scenario</vt:lpstr>
      <vt:lpstr>Built-In XSS Defense</vt:lpstr>
      <vt:lpstr>CSRF</vt:lpstr>
      <vt:lpstr>Cross-Site Request Forgery</vt:lpstr>
      <vt:lpstr>Web Bug Demo</vt:lpstr>
      <vt:lpstr>CSRF Attack Example</vt:lpstr>
      <vt:lpstr>Rails Defense Mechanism</vt:lpstr>
      <vt:lpstr>How Rails Prevents CSRF</vt:lpstr>
      <vt:lpstr>Additional CSRF Defenses</vt:lpstr>
      <vt:lpstr>The Dark Web</vt:lpstr>
      <vt:lpstr>Surface, Deep, and Dark Web</vt:lpstr>
      <vt:lpstr>PowerPoint Presentation</vt:lpstr>
      <vt:lpstr>TOR = The Onion Router</vt:lpstr>
      <vt:lpstr>Purpose</vt:lpstr>
      <vt:lpstr>Architecture</vt:lpstr>
      <vt:lpstr>How TOR Works</vt:lpstr>
      <vt:lpstr>Alice, Bob, and Carol (A, B, C)</vt:lpstr>
      <vt:lpstr>Obligatory</vt:lpstr>
      <vt:lpstr>PowerPoint Presentation</vt:lpstr>
      <vt:lpstr>PowerPoint Presentation</vt:lpstr>
      <vt:lpstr>PowerPoint Presentation</vt:lpstr>
      <vt:lpstr>PowerPoint Presentation</vt:lpstr>
      <vt:lpstr>Opaque Envelopes</vt:lpstr>
      <vt:lpstr>Why Use TOR?</vt:lpstr>
      <vt:lpstr>Interesting TOR Facts</vt:lpstr>
      <vt:lpstr>Dark Web Services</vt:lpstr>
      <vt:lpstr>Toby’s Site</vt:lpstr>
      <vt:lpstr>PowerPoint Presentation</vt:lpstr>
      <vt:lpstr>Ross Ulbricht</vt:lpstr>
      <vt:lpstr>Ross Ulbricht</vt:lpstr>
      <vt:lpstr>Tracking</vt:lpstr>
      <vt:lpstr>PowerPoint Presentation</vt:lpstr>
      <vt:lpstr>Silk Road 2</vt:lpstr>
      <vt:lpstr>PowerPoint Presentation</vt:lpstr>
      <vt:lpstr>Alphabay</vt:lpstr>
      <vt:lpstr>Trust No One</vt:lpstr>
      <vt:lpstr>The Size of TOR</vt:lpstr>
      <vt:lpstr>Exercise Caution</vt:lpstr>
      <vt:lpstr>Summary</vt:lpstr>
      <vt:lpstr>Security</vt:lpstr>
      <vt:lpstr>Encryption</vt:lpstr>
      <vt:lpstr>Authentication &amp; Authorization</vt:lpstr>
      <vt:lpstr>Injection Prevention</vt:lpstr>
      <vt:lpstr>Browser Security</vt:lpstr>
      <vt:lpstr>Tools &amp; Testing</vt:lpstr>
      <vt:lpstr>Our Duty to Users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Steve Beaty</dc:creator>
  <cp:lastModifiedBy>Steve Beaty</cp:lastModifiedBy>
  <cp:revision>72</cp:revision>
  <dcterms:created xsi:type="dcterms:W3CDTF">2025-10-29T01:48:04Z</dcterms:created>
  <dcterms:modified xsi:type="dcterms:W3CDTF">2025-11-13T16:37:59Z</dcterms:modified>
</cp:coreProperties>
</file>