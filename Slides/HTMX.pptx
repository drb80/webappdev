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notesMasterIdLst>
    <p:notesMasterId r:id="rId65"/>
  </p:notesMasterIdLst>
  <p:sldIdLst>
    <p:sldId id="256" r:id="rId2"/>
    <p:sldId id="261" r:id="rId3"/>
    <p:sldId id="263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5" r:id="rId43"/>
    <p:sldId id="316" r:id="rId44"/>
    <p:sldId id="317" r:id="rId45"/>
    <p:sldId id="318" r:id="rId46"/>
    <p:sldId id="260" r:id="rId47"/>
    <p:sldId id="257" r:id="rId48"/>
    <p:sldId id="258" r:id="rId49"/>
    <p:sldId id="259" r:id="rId50"/>
    <p:sldId id="276" r:id="rId51"/>
    <p:sldId id="277" r:id="rId52"/>
    <p:sldId id="280" r:id="rId53"/>
    <p:sldId id="279" r:id="rId54"/>
    <p:sldId id="278" r:id="rId55"/>
    <p:sldId id="281" r:id="rId56"/>
    <p:sldId id="282" r:id="rId57"/>
    <p:sldId id="285" r:id="rId58"/>
    <p:sldId id="286" r:id="rId59"/>
    <p:sldId id="283" r:id="rId60"/>
    <p:sldId id="284" r:id="rId61"/>
    <p:sldId id="312" r:id="rId62"/>
    <p:sldId id="313" r:id="rId63"/>
    <p:sldId id="314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/>
    <p:restoredTop sz="94606"/>
  </p:normalViewPr>
  <p:slideViewPr>
    <p:cSldViewPr snapToGrid="0">
      <p:cViewPr varScale="1">
        <p:scale>
          <a:sx n="119" d="100"/>
          <a:sy n="119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47D01-311D-1F4A-B3C5-5B7796D8D4D0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B2DF78-21EF-114F-A3A8-8163EB2A4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4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058940"/>
            <a:ext cx="10363200" cy="1470025"/>
          </a:xfr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baseline="0" dirty="0">
                <a:solidFill>
                  <a:schemeClr val="tx1"/>
                </a:solidFill>
              </a:rPr>
              <a:t>Click to edit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281187" y="2983612"/>
            <a:ext cx="7609479" cy="1009561"/>
          </a:xfrm>
          <a:prstGeom prst="roundRect">
            <a:avLst>
              <a:gd name="adj" fmla="val 37895"/>
            </a:avLst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anchor="ctr" anchorCtr="0"/>
          <a:lstStyle>
            <a:lvl1pPr marL="0" indent="0" algn="ctr">
              <a:buNone/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409C91-6E3E-5409-2F44-4E770C50190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1C0C655-3762-A740-A4E0-CF567405D4E1}" type="datetime1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4118C6-B924-AA1F-AEFC-17607998D7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93608-8881-8010-4D06-440F9FBB6B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3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39033B-5031-2DE5-AF8A-E269BDEE8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2B48-C5E7-9B4D-B3A0-7B0441C72AE3}" type="datetime1">
              <a:rPr lang="en-US" smtClean="0"/>
              <a:t>10/8/26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CC0AD20-1FAB-5697-725E-A23B4E11A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0" name="SlideNumberWithTotal">
            <a:extLst>
              <a:ext uri="{FF2B5EF4-FFF2-40B4-BE49-F238E27FC236}">
                <a16:creationId xmlns:a16="http://schemas.microsoft.com/office/drawing/2014/main" id="{C85ADDAF-31A4-85DD-32A3-DD43B60F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44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EEF9C46-CD18-5177-41DC-5A44F050B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4A50-E02E-8249-9781-28EEA4090A03}" type="datetime1">
              <a:rPr lang="en-US" smtClean="0"/>
              <a:t>10/8/26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6447FE1-5C78-6FAD-D883-46A9B247C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EAED22-447D-B036-C934-3337B57F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5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2488"/>
            <a:ext cx="5321600" cy="4525963"/>
          </a:xfrm>
          <a:ln w="25400" cap="flat">
            <a:solidFill>
              <a:schemeClr val="tx1"/>
            </a:solidFill>
            <a:round/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3C3831-60B9-204A-AB0D-53E619F83C5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0800" y="1592837"/>
            <a:ext cx="53216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19512-769A-1A2D-AE4B-615827F538D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0BBA7E4-A254-8644-964F-AB141C6CA218}" type="datetime1">
              <a:rPr lang="en-US" smtClean="0"/>
              <a:t>10/8/26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8537417-0F7B-4AB8-2913-FC8911CF4D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C508543-3E8A-F349-1E14-7A34163E0A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3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406052" y="6308727"/>
            <a:ext cx="1169155" cy="485424"/>
          </a:xfrm>
          <a:prstGeom prst="rect">
            <a:avLst/>
          </a:prstGeom>
        </p:spPr>
        <p:txBody>
          <a:bodyPr/>
          <a:lstStyle/>
          <a:p>
            <a:fld id="{CC4551A3-ECBB-BA48-9EFB-FD39607AE4A9}" type="datetime1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92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92DC31-8A1B-D6EF-9DCB-F3174861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213C-C929-8E48-8ED9-DA3B0DD5BF9E}" type="datetime1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733F8A-5589-31C8-DB78-246D7535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4200DB-D3DA-2D0A-8CD3-6E48E32FC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43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C487D0D-A6BE-50D0-4804-465FF9AE0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9CE31-A00E-884E-BA86-2AC74E6935CC}" type="datetime1">
              <a:rPr lang="en-US" smtClean="0"/>
              <a:t>10/8/26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4343B0-C3EA-68AB-7293-4C580E1ED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8496D9-0557-9109-1A11-35D97D8F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650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B955B-3757-0FEC-8150-652A2829B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921168"/>
            <a:ext cx="9144000" cy="1015663"/>
          </a:xfrm>
        </p:spPr>
        <p:txBody>
          <a:bodyPr anchor="ctr" anchorCtr="0">
            <a:sp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Section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3134-95A2-6423-76C0-9D75A168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77B02-13A3-8343-A0D7-FB9A90CB9E92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9F5F4-E2F3-BFD8-53AA-6A6F195F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90BEB-A9D1-FF29-0E8C-A755B6F9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728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oundRect">
            <a:avLst>
              <a:gd name="adj" fmla="val 44167"/>
            </a:avLst>
          </a:prstGeom>
          <a:solidFill>
            <a:schemeClr val="bg1">
              <a:alpha val="95000"/>
            </a:schemeClr>
          </a:solidFill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ound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81809" y="6308727"/>
            <a:ext cx="7945363" cy="487680"/>
          </a:xfrm>
          <a:prstGeom prst="roundRect">
            <a:avLst>
              <a:gd name="adj" fmla="val 4889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4686" y="6308727"/>
            <a:ext cx="879777" cy="487680"/>
          </a:xfrm>
          <a:prstGeom prst="roundRect">
            <a:avLst>
              <a:gd name="adj" fmla="val 4303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81CA3-AD31-8C43-9E65-2E6ED3B452C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B6740CB2-DC30-5DDB-24B8-219C9C3F5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5141" y="6308727"/>
            <a:ext cx="1169155" cy="487680"/>
          </a:xfrm>
          <a:prstGeom prst="roundRect">
            <a:avLst>
              <a:gd name="adj" fmla="val 4889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anchor="ctr" anchorCtr="0"/>
          <a:lstStyle>
            <a:lvl1pPr algn="ctr">
              <a:defRPr sz="1600"/>
            </a:lvl1pPr>
          </a:lstStyle>
          <a:p>
            <a:fld id="{42585490-F939-1542-9CD8-B675483CDE6C}" type="datetime1">
              <a:rPr lang="en-US" smtClean="0"/>
              <a:t>10/8/26</a:t>
            </a:fld>
            <a:endParaRPr lang="en-US"/>
          </a:p>
        </p:txBody>
      </p:sp>
      <p:sp>
        <p:nvSpPr>
          <p:cNvPr id="7" name="SlideTotal">
            <a:extLst>
              <a:ext uri="{FF2B5EF4-FFF2-40B4-BE49-F238E27FC236}">
                <a16:creationId xmlns:a16="http://schemas.microsoft.com/office/drawing/2014/main" id="{B74D5B4B-3C60-FF6A-4438-A067B7DE7333}"/>
              </a:ext>
            </a:extLst>
          </p:cNvPr>
          <p:cNvSpPr txBox="1">
            <a:spLocks/>
          </p:cNvSpPr>
          <p:nvPr/>
        </p:nvSpPr>
        <p:spPr>
          <a:xfrm>
            <a:off x="10702624" y="6308727"/>
            <a:ext cx="879777" cy="487680"/>
          </a:xfrm>
          <a:prstGeom prst="roundRect">
            <a:avLst>
              <a:gd name="adj" fmla="val 4303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63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32137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  <p:hf hdr="0"/>
  <p:txStyles>
    <p:titleStyle>
      <a:lvl1pPr algn="ctr" defTabSz="60955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66" indent="-457166" algn="l" defTabSz="60955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26" indent="-380973" algn="l" defTabSz="60955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85" indent="-304776" algn="l" defTabSz="60955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40" indent="-304776" algn="l" defTabSz="60955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994" indent="-304776" algn="l" defTabSz="60955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6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0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6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cdn.jsdelivr.net/npm/htmx.org@2.0.11/dist/htmx.min.js" TargetMode="Externa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htmx.org/docs/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3AF287-738B-DE87-F325-4AB8D2A016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A5453D-D549-F999-5F83-60FBBA1183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936BCD-1885-7E84-3405-C9DD955B727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204C06C-6119-CE49-92BB-BE686B343937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4C68E6-3A48-AEFE-6932-95F7E2CAC4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F2079-6C64-DF4E-180B-20C9F7D141F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17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9B250B-7C8C-A9B4-000A-13DBCFFE3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9272"/>
            <a:ext cx="9144000" cy="1359456"/>
          </a:xfrm>
        </p:spPr>
        <p:txBody>
          <a:bodyPr/>
          <a:lstStyle/>
          <a:p>
            <a:r>
              <a:rPr lang="en-US" dirty="0"/>
              <a:t>First, Some Context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7EDF13-21DC-C6F8-E498-92CE0B547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35C5-D585-5149-AD17-66F62047B8C6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7F9297-935B-DC20-4412-732337D23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B7C11-42EC-C792-BDB1-93DD0763C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610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BD2134-0B3C-9CDD-62B8-A40F77056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Book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F25E32-B9C4-F097-220C-4F36FB953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797-E9DF-0F49-BD72-BDC933069FAF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CC155-6C33-8398-DE05-813186414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E5566-B899-A83A-0741-35352130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 descr="Hypermedia Systems by Carson Gross | Goodreads">
            <a:extLst>
              <a:ext uri="{FF2B5EF4-FFF2-40B4-BE49-F238E27FC236}">
                <a16:creationId xmlns:a16="http://schemas.microsoft.com/office/drawing/2014/main" id="{84D71E10-A99A-F29B-8AC6-D60F36371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416" y="1530511"/>
            <a:ext cx="3781168" cy="516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263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A802A0-D821-E3AC-E066-DFFA0E787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Browsers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C26199-7A5B-6162-67E2-7D4C50C60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Incredibly sophisticated software</a:t>
            </a:r>
          </a:p>
          <a:p>
            <a:r>
              <a:rPr lang="en-US" dirty="0"/>
              <a:t>Use </a:t>
            </a:r>
            <a:r>
              <a:rPr lang="en-US" i="1" dirty="0"/>
              <a:t>hypermedia</a:t>
            </a:r>
            <a:endParaRPr lang="en-US" dirty="0"/>
          </a:p>
          <a:p>
            <a:r>
              <a:rPr lang="en-US" dirty="0"/>
              <a:t>Many developers choose ignore this</a:t>
            </a:r>
          </a:p>
          <a:p>
            <a:r>
              <a:rPr lang="en-US" dirty="0"/>
              <a:t>They use JavaScript frameworks instead</a:t>
            </a:r>
          </a:p>
          <a:p>
            <a:r>
              <a:rPr lang="en-US" dirty="0"/>
              <a:t>Nothing inherently wrong with this</a:t>
            </a:r>
          </a:p>
          <a:p>
            <a:pPr lvl="1"/>
            <a:r>
              <a:rPr lang="en-US" dirty="0"/>
              <a:t>But there are other choices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BC9080-84C3-931D-7DD7-F3F344250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7063-4B2E-3F47-976C-785B7159F7A7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E379C-9EB6-5019-3D15-234D730A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D0575-417C-2C4F-03A5-CF9B689DA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85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A2231-DEAC-5C83-CD20-3F05365F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Typical Frontend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1A30D-ADA4-9D54-C0F9-D72AD2600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Have a lot of JavaScript</a:t>
            </a:r>
          </a:p>
          <a:p>
            <a:pPr lvl="1"/>
            <a:r>
              <a:rPr lang="en-US" dirty="0"/>
              <a:t>Multiple packages that must be managed and packaged</a:t>
            </a:r>
          </a:p>
          <a:p>
            <a:r>
              <a:rPr lang="en-US" dirty="0"/>
              <a:t>The JavaScript calls JSON endpoints</a:t>
            </a:r>
          </a:p>
          <a:p>
            <a:r>
              <a:rPr lang="en-US" dirty="0"/>
              <a:t>Framework “reacts” to data received</a:t>
            </a:r>
          </a:p>
          <a:p>
            <a:r>
              <a:rPr lang="en-US" dirty="0"/>
              <a:t>Creates Single Page Applications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06F56-8B5F-7305-42D8-7B22C69F8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7A167-62CD-FF42-9484-A1B651823F9E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46C66-F26E-81EC-71D1-54BDDDF49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A1783-B0B9-5A71-4A0C-76BBB4370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28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D4BB-C48B-1638-513E-FEB854B9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Hypermedia?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5826A-21D5-AF76-9B8E-882B2F3FC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system that adheres to the RESTful network architecture</a:t>
            </a:r>
          </a:p>
          <a:p>
            <a:r>
              <a:rPr lang="en-US" dirty="0"/>
              <a:t>Book calls the result </a:t>
            </a:r>
            <a:r>
              <a:rPr lang="en-US" i="1" dirty="0"/>
              <a:t>Hypermedia Driven Applications</a:t>
            </a:r>
            <a:r>
              <a:rPr lang="en-US" dirty="0"/>
              <a:t> (</a:t>
            </a:r>
            <a:r>
              <a:rPr lang="en-US" dirty="0" err="1"/>
              <a:t>HDA’a</a:t>
            </a:r>
            <a:r>
              <a:rPr lang="en-US" dirty="0"/>
              <a:t>)</a:t>
            </a:r>
          </a:p>
          <a:p>
            <a:r>
              <a:rPr lang="en-US" dirty="0"/>
              <a:t>REST != JSON API</a:t>
            </a:r>
          </a:p>
          <a:p>
            <a:pPr lvl="1"/>
            <a:r>
              <a:rPr lang="en-US" dirty="0"/>
              <a:t>JSON doesn’t include hypermedia controls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420DD-41BA-7034-8448-9A991948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7499-493D-354E-B8A2-EFE7C2DB4AA2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BA59B-A11D-F929-8C4A-0CC6F735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6E665-7FA8-EF1B-9F6E-9300978D2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8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D979-F0ED-8AC5-C5AE-CAF1E95F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Hypermedia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B2FF1-2404-D8B4-F075-CE876A01F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Lots of discussions about HTML, CSS, and JavaScript, but little about hypermedia systems</a:t>
            </a:r>
          </a:p>
          <a:p>
            <a:r>
              <a:rPr lang="en-US" dirty="0"/>
              <a:t>Terminology: Hypermedia As The Engine Of Application State (HATEOAS)</a:t>
            </a:r>
          </a:p>
          <a:p>
            <a:r>
              <a:rPr lang="en-US" dirty="0"/>
              <a:t>HTML is often an afterthought, but can be much more powerful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34507-BBC5-8A11-96A7-C32685DEA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1EA8-6846-2A44-97C6-E0803ACA731C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71E4C-2582-066D-450C-670D24145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DBFEE-3B7C-7D46-E894-9F049DDF0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8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9B6FB-08F1-9B18-9198-4B1EECA3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Ted Nelson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D2210-0D9A-F1A7-1D2A-059D5F47C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Hypertexts: new forms of writing, appearing on computer screens, that will branch or perform at the reader's command</a:t>
            </a:r>
          </a:p>
          <a:p>
            <a:r>
              <a:rPr lang="en-US" dirty="0"/>
              <a:t>A hypertext is a non-sequential piece of writing; only the computer display makes it practical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EC6A7-E193-24F5-3938-D2CE9A5C4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DDA6-75DA-7840-9DAB-EDA3276753D4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2A5B-7DAD-E2BF-B6BC-B299A5228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68656-AD62-9C72-42DD-6302C88B2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16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FB2EC-906E-2BFF-6FA3-1C99AEC44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 We May Think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3DF3E-B207-31C6-7CF0-7489B095F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Article written in 1945 in </a:t>
            </a:r>
            <a:r>
              <a:rPr lang="en-US" i="1" dirty="0"/>
              <a:t>The Atlantic</a:t>
            </a:r>
            <a:r>
              <a:rPr lang="en-US" dirty="0"/>
              <a:t> by Vannevar Bush</a:t>
            </a:r>
          </a:p>
          <a:p>
            <a:r>
              <a:rPr lang="en-US" dirty="0" err="1"/>
              <a:t>Memex</a:t>
            </a:r>
            <a:r>
              <a:rPr lang="en-US" dirty="0"/>
              <a:t> machine would allow users to jump quickly between pages of related concepts</a:t>
            </a:r>
          </a:p>
          <a:p>
            <a:r>
              <a:rPr lang="en-US" dirty="0"/>
              <a:t>An adjunct to our own memory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444DF-547C-6C07-C4F7-E9E61C58D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B7045-4AA4-3E43-87CA-DF2F4105DA2B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9E84D-548D-F8D6-D701-66462C90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AD8C5-1EC0-B422-724A-0D038DDD4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31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0045F-D949-8938-CDFF-B12B25330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1963 Ted Nelson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E8DB9-56D4-D03A-406E-34B36F0BE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File Retrieval and Editing System</a:t>
            </a:r>
          </a:p>
          <a:p>
            <a:r>
              <a:rPr lang="en-US" dirty="0"/>
              <a:t>Close to real hypermedia</a:t>
            </a:r>
          </a:p>
          <a:p>
            <a:r>
              <a:rPr lang="en-US" dirty="0"/>
              <a:t>Might have been the first system with “undo”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F7255-7723-E714-0B01-427484D2D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1E271-515C-F848-A55F-3D0C7FF35765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73A4B-9B3E-7C3C-A069-CB5B24E5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86F44-7BDD-2F0B-C13E-FDB2ED682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13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E1F35-E896-106D-D168-5FA6B4CE2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Mother of all Demos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3F84C-7DC7-3814-516C-72D2237A0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Douglas </a:t>
            </a:r>
            <a:r>
              <a:rPr lang="en-US" dirty="0" err="1"/>
              <a:t>Englebart</a:t>
            </a:r>
            <a:endParaRPr lang="en-US" dirty="0"/>
          </a:p>
          <a:p>
            <a:pPr lvl="1"/>
            <a:r>
              <a:rPr lang="en-US" dirty="0"/>
              <a:t>1968</a:t>
            </a:r>
          </a:p>
          <a:p>
            <a:pPr lvl="1"/>
            <a:r>
              <a:rPr lang="en-US" dirty="0"/>
              <a:t>Stanford Research Institution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FC925-846A-4FBF-2342-8254582DA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8D4E-C4A0-8A45-B0A3-7A460EE47223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5A632-812D-808A-3759-92DA0794D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A931D-0DDB-BA1F-B544-CAFA9BF98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67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9A532-41EC-3542-2E34-74D4A1406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Mother of all Demos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BC1D4-ABC3-CE72-2747-4BF9D45BD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Remote collaborative editing</a:t>
            </a:r>
          </a:p>
          <a:p>
            <a:r>
              <a:rPr lang="en-US" dirty="0"/>
              <a:t>Video and audio chat</a:t>
            </a:r>
          </a:p>
          <a:p>
            <a:r>
              <a:rPr lang="en-US" dirty="0"/>
              <a:t>A windowing system with resizing, etc.</a:t>
            </a:r>
          </a:p>
          <a:p>
            <a:r>
              <a:rPr lang="en-US" dirty="0"/>
              <a:t>Hypertext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8E231-65B9-71C3-AEF1-764442206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27795-60EA-9841-8CC5-7FC776DE2271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3F59D-0275-233C-E862-8F974807A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EA257-72A6-0E8E-CDC1-036414770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4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ED7C3-72FD-11B8-03E9-A26D7314D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TimBL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35B29-2707-CDAD-2353-45DCF20DE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 just had to take the hypertext idea and connect it to the TCP and DNS ideas and—ta-da!—the World Wide Web.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E614B-3F5C-4C73-6AA7-D7211726C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6DF2-4664-0848-AE02-9E7DFD25FA4C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22BD1-CEDE-98D0-8D86-1A4234345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71DFA-09B4-CA54-0BAA-1B42CBF2A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9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6C450-F807-1DED-D670-F5E251924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TimBL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A4212-A956-2A8A-41D9-A265087A6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Creating the web was really an act of desperation, because the situation without it was very difficult when I was working at CERN later</a:t>
            </a:r>
          </a:p>
          <a:p>
            <a:r>
              <a:rPr lang="en-US" dirty="0"/>
              <a:t>Most of the technology involved in the web, like the hypertext, like the Internet, </a:t>
            </a:r>
            <a:r>
              <a:rPr lang="en-US" dirty="0" err="1"/>
              <a:t>multifont</a:t>
            </a:r>
            <a:r>
              <a:rPr lang="en-US" dirty="0"/>
              <a:t> text objects, had all been designed already</a:t>
            </a:r>
          </a:p>
          <a:p>
            <a:r>
              <a:rPr lang="en-US" dirty="0"/>
              <a:t>I just had to put them together. It was a step of </a:t>
            </a:r>
            <a:r>
              <a:rPr lang="en-US" dirty="0" err="1"/>
              <a:t>generalising</a:t>
            </a:r>
            <a:r>
              <a:rPr lang="en-US" dirty="0"/>
              <a:t>, going to a higher level of abstraction, thinking about all the documentation systems out there as being possibly part of a larger imaginary documentation system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72A4A-27CF-8360-3383-D55A83B3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569E3-D52C-E845-A292-39B306FC193D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D6BF2-893B-8D95-2038-DB44B9B38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8797D-13EB-B1BC-3DB6-BACCC3227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29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824AA-F2F5-F6B5-BF92-9BD788EB4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HTML 1.0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89F6F-99DB-7BE9-2EB3-98FABEB86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Had hyperlinks (anchors) and little else</a:t>
            </a:r>
          </a:p>
          <a:p>
            <a:pPr lvl="1"/>
            <a:r>
              <a:rPr lang="en-US" dirty="0" err="1"/>
              <a:t>Href</a:t>
            </a:r>
            <a:r>
              <a:rPr lang="en-US" dirty="0"/>
              <a:t> – hypertext reference</a:t>
            </a:r>
          </a:p>
          <a:p>
            <a:r>
              <a:rPr lang="en-US" dirty="0"/>
              <a:t>Replace entire page with a new one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58DAF-8F45-7BA0-7D9F-560474FE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1307-5A05-2D4C-AD85-6B3F7B537D8E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4D068-58C0-C663-AC95-A3D3565CC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43725-DC6E-53F2-531F-A7E93B6C3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04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D2239-88D0-3068-67D0-B350392FE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HTML 2.0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0975B-B246-9CDD-1B18-B3254557C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Added forms</a:t>
            </a:r>
          </a:p>
          <a:p>
            <a:r>
              <a:rPr lang="en-US" dirty="0"/>
              <a:t>Creation and updating of information</a:t>
            </a:r>
          </a:p>
          <a:p>
            <a:r>
              <a:rPr lang="en-US" dirty="0"/>
              <a:t>This allowed for the creation of applications</a:t>
            </a:r>
          </a:p>
          <a:p>
            <a:r>
              <a:rPr lang="en-US" dirty="0"/>
              <a:t>Two tags, explosive growth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CF85A-51F0-D94F-226E-E3E408643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D41E-D784-1A47-935E-1D77C8410C02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82CBC-C60E-3014-43F7-AEF66E338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6D609-45C0-1298-F8A2-07F7147A7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63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3339-977A-9E4C-7B27-615815EE9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JSON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4233E-880A-35A5-F9B8-0D2A04E20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a data API</a:t>
            </a:r>
          </a:p>
          <a:p>
            <a:r>
              <a:rPr lang="en-US" dirty="0"/>
              <a:t>The browser has to turn this into HTML and modify the DOM</a:t>
            </a:r>
          </a:p>
          <a:p>
            <a:r>
              <a:rPr lang="en-US" dirty="0"/>
              <a:t>The framework has to know exactly what is communicated in the JSON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D9367-3426-E506-E2DE-E9252E6EB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93DC-9888-8145-8D3A-B23E8814EE03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75B64-71AF-61B1-02F6-7707894FA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3FE0F-011A-59D7-2D7C-5412DC5C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9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E22E1-C362-7F7E-B54E-2ABF6093B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JSON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50D55-27D7-44BB-5246-8153DB938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frameworks have to know</a:t>
            </a:r>
          </a:p>
          <a:p>
            <a:pPr lvl="1"/>
            <a:r>
              <a:rPr lang="en-US" dirty="0"/>
              <a:t>How the fields are structured and named</a:t>
            </a:r>
          </a:p>
          <a:p>
            <a:pPr lvl="1"/>
            <a:r>
              <a:rPr lang="en-US" dirty="0"/>
              <a:t>How they relate to each other</a:t>
            </a:r>
          </a:p>
          <a:p>
            <a:pPr lvl="1"/>
            <a:r>
              <a:rPr lang="en-US" dirty="0"/>
              <a:t>How to update based on the data</a:t>
            </a:r>
          </a:p>
          <a:p>
            <a:pPr lvl="1"/>
            <a:r>
              <a:rPr lang="en-US" dirty="0"/>
              <a:t>What other end points exist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55AFB-42B5-D02D-5D09-BAC9CE349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F448-C90D-6B45-9428-8EC030BE02E9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3BFA3-7595-C5B9-4B06-39683A622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E3320-D0CD-1171-075C-F1F5BA91B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5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8A22A-159D-E287-43D9-73FA3DB12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JSON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C9913-E9E8-3803-BD70-DC72E17CF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Tightly coupled to the backend</a:t>
            </a:r>
          </a:p>
          <a:p>
            <a:r>
              <a:rPr lang="en-US" dirty="0"/>
              <a:t>When data are added, the browser framework has to know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E78FE-2573-C3F9-F79B-1F127FF6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1DE81-3341-0E42-B883-75DD514926C0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F97EA-9E94-40F7-27F8-55A3664B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C9347-7402-BC0D-C5D8-B0B6A9A8D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73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F6D99-6129-50C4-B285-77C6E1916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5318E-7F60-4B24-2F8D-3C94405E6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Path versioning</a:t>
            </a:r>
          </a:p>
          <a:p>
            <a:pPr lvl="1"/>
            <a:r>
              <a:rPr lang="en-US" dirty="0"/>
              <a:t>GET https://</a:t>
            </a:r>
            <a:r>
              <a:rPr lang="en-US" dirty="0" err="1"/>
              <a:t>api.example.com</a:t>
            </a:r>
            <a:r>
              <a:rPr lang="en-US" dirty="0"/>
              <a:t>/v1/users</a:t>
            </a:r>
          </a:p>
          <a:p>
            <a:pPr lvl="1"/>
            <a:r>
              <a:rPr lang="en-US" dirty="0"/>
              <a:t>GET https://</a:t>
            </a:r>
            <a:r>
              <a:rPr lang="en-US" dirty="0" err="1"/>
              <a:t>api.example.com</a:t>
            </a:r>
            <a:r>
              <a:rPr lang="en-US" dirty="0"/>
              <a:t>/v2/users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22188-CC95-30CB-84F6-928AF010A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B67F-8526-8644-89C4-17FB29157FE9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4FCB3-92E3-E60F-552A-55513A44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E5C2-E0C8-2003-B74D-A980C157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648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466B6-AC4B-51BD-7026-AC5D763F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Header Versioning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C5C8-D75B-FABB-007D-4BC9EE541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GET https://</a:t>
            </a:r>
            <a:r>
              <a:rPr lang="en-US" dirty="0" err="1"/>
              <a:t>api.example.com</a:t>
            </a:r>
            <a:r>
              <a:rPr lang="en-US" dirty="0"/>
              <a:t>/users</a:t>
            </a:r>
          </a:p>
          <a:p>
            <a:r>
              <a:rPr lang="en-US" dirty="0"/>
              <a:t>  Header: X-API-Version: 1 </a:t>
            </a:r>
          </a:p>
          <a:p>
            <a:r>
              <a:rPr lang="en-US" dirty="0"/>
              <a:t>GET https://</a:t>
            </a:r>
            <a:r>
              <a:rPr lang="en-US" dirty="0" err="1"/>
              <a:t>api.example.com</a:t>
            </a:r>
            <a:r>
              <a:rPr lang="en-US" dirty="0"/>
              <a:t>/users</a:t>
            </a:r>
          </a:p>
          <a:p>
            <a:r>
              <a:rPr lang="en-US" dirty="0"/>
              <a:t>  Header: X-API-Version: 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775A6-9F2A-9C7D-9521-E534B9111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DA195-1B2F-D54B-BAE7-27D6B59B4A69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0FBD6-F7F9-8300-A90F-34FF3653C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3BF06-B1C8-F549-4013-D1FC5B654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9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3ACE7-D242-D26C-0836-E75C3F43B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HTML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C8F24-63B4-23DB-FBD2-82E33CAAB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None of this is needed if only HTML is returned</a:t>
            </a:r>
          </a:p>
          <a:p>
            <a:r>
              <a:rPr lang="en-US" dirty="0"/>
              <a:t>SPAs are more similar to earlier </a:t>
            </a:r>
            <a:r>
              <a:rPr lang="en-US" i="1" dirty="0"/>
              <a:t>thick clients</a:t>
            </a:r>
          </a:p>
          <a:p>
            <a:r>
              <a:rPr lang="en-US" dirty="0"/>
              <a:t>Which the web was a response to</a:t>
            </a:r>
            <a:r>
              <a:rPr lang="en-US" i="1" dirty="0"/>
              <a:t> 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D77789-FD8B-F157-1D6E-FC8D9EB2D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6B40-ED77-534D-9AF7-CD45CC0E46F6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55A52-A022-EFC1-9DCA-C124586A4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56242-EE71-B709-E659-DC88FDF95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92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08F32-2DCE-80FE-65BE-8E499B313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6B022-EF00-7B0F-CD33-531F6F4B3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great from an interaction point of view</a:t>
            </a:r>
          </a:p>
          <a:p>
            <a:pPr lvl="1"/>
            <a:r>
              <a:rPr lang="en-US" dirty="0"/>
              <a:t>The page stays the same</a:t>
            </a:r>
          </a:p>
          <a:p>
            <a:r>
              <a:rPr lang="en-US" dirty="0"/>
              <a:t>However, they quickly become quite complex</a:t>
            </a:r>
          </a:p>
          <a:p>
            <a:pPr lvl="1"/>
            <a:r>
              <a:rPr lang="en-US" dirty="0"/>
              <a:t>Require a large team to manage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D477A-B01E-B77C-B155-41B38836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D6B6-57C4-D446-9554-4635AE4B266D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106E5-1F18-CE5E-5EFF-DDCE6954F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604C5-F185-7D02-C232-01D705E6D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88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5B887-93AE-EF61-7D88-2C23A613A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8169C-4074-D82A-0F0B-CBF7E1D66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Hasn’t been updated to help create SPAs</a:t>
            </a:r>
          </a:p>
          <a:p>
            <a:r>
              <a:rPr lang="en-US" dirty="0"/>
              <a:t>A few JavaScript libraries have been created to augment HTML instead of replacing 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9A785-BA3D-8D94-803B-B1236099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D3F4A-A03D-D443-A2D6-0C58C8663481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7C614-5E10-52C5-9DE9-3364712A3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CCD27-16CF-8EC8-4BF9-B58AAA117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7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5C200-EA01-D701-71D7-CB56E18FF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HTMX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28A92-A134-35E8-931A-05A7FD791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Small JavaScript library to augment HTML</a:t>
            </a:r>
          </a:p>
          <a:p>
            <a:r>
              <a:rPr lang="en-US" dirty="0"/>
              <a:t>Can create SPAs with no JSON and minimal effort</a:t>
            </a:r>
          </a:p>
          <a:p>
            <a:r>
              <a:rPr lang="en-US" dirty="0"/>
              <a:t>HTMX is declarative — uses attributes on HTML entities</a:t>
            </a:r>
          </a:p>
          <a:p>
            <a:r>
              <a:rPr lang="en-US" dirty="0"/>
              <a:t>The server returns HTML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23E8E-0D0F-4C41-1BFE-3301F9E6A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1243-1650-6143-ABFC-E9116C5660AA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4C348-54B0-DD48-FB9E-6A731095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23389-CA09-B04A-620F-05C355392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8236D-60C4-2EFE-8767-4958B87A0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FBE28-BF73-BFC3-A860-0CDB0B474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 — create</a:t>
            </a:r>
          </a:p>
          <a:p>
            <a:r>
              <a:rPr lang="en-US" dirty="0"/>
              <a:t>Get — read</a:t>
            </a:r>
          </a:p>
          <a:p>
            <a:r>
              <a:rPr lang="en-US" dirty="0"/>
              <a:t>Put and patch — update</a:t>
            </a:r>
          </a:p>
          <a:p>
            <a:r>
              <a:rPr lang="en-US" dirty="0"/>
              <a:t>Delete — delete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6713B-EFA8-280A-1208-A8E73759D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4CB6-7115-3F4C-BDC8-E11570080B20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61A59-8A18-0898-1711-B0D578E80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7427E-DBF0-D0E8-7ED1-C626B4266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059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3258-CB39-CCB0-ED75-9E601CEA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Only Get and Post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EF745-C635-31FB-A18C-8B58C3600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Anchors and forms</a:t>
            </a:r>
          </a:p>
          <a:p>
            <a:r>
              <a:rPr lang="en-US" dirty="0"/>
              <a:t>Have to use JavaScript for put, patch, and delete</a:t>
            </a:r>
          </a:p>
          <a:p>
            <a:r>
              <a:rPr lang="en-US" dirty="0"/>
              <a:t>Post has been overused to cover these purposes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E8339-857D-8EC4-C8FB-2E5D13FE6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27B2F-943B-5247-A7C3-4B0AECE95D17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1F989-65D5-4EB8-A4B8-6A2173D4E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8B9A2-6785-8C95-7C91-8A6160AA8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99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20C9D-5515-113C-CDFE-5C7AC21EB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0B7B3-13C9-12D3-DEBC-5A2DE8B10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JSON APIs and Ajax didn’t exist when Fielding wrote his dissertation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9B993-18ED-3555-78EC-1EEECD9A2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3DD7C-CA9A-6C4F-971B-B8F39E31EE9B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E7389-36DF-5FC1-7118-157704797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175FF-5F92-E16A-24E6-FC5A6D26E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863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ACDFD-8ABC-1960-C9D9-D5D3055C9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D738-6D45-460E-95AD-264722F72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Client/server</a:t>
            </a:r>
          </a:p>
          <a:p>
            <a:r>
              <a:rPr lang="en-US" dirty="0"/>
              <a:t>Stateless</a:t>
            </a:r>
          </a:p>
          <a:p>
            <a:r>
              <a:rPr lang="en-US" dirty="0"/>
              <a:t>Allow for caching</a:t>
            </a:r>
          </a:p>
          <a:p>
            <a:r>
              <a:rPr lang="en-US" dirty="0"/>
              <a:t>Uniform interface</a:t>
            </a:r>
          </a:p>
          <a:p>
            <a:r>
              <a:rPr lang="en-US" dirty="0"/>
              <a:t>Layered</a:t>
            </a:r>
          </a:p>
          <a:p>
            <a:r>
              <a:rPr lang="en-US" dirty="0"/>
              <a:t>Optional code on demand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337D4-08B9-F78C-086F-E6DAC02BA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46D04-A65A-264A-893D-D3743CECCC70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909A6-BCDF-E6D6-7EBD-3B34E9FC2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1B852-3D3E-F9D5-01BA-254921447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02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3A97F-21A4-8352-A9DA-63E964588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Uniform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DD644-ED13-3DD8-32C4-7AA8A1C15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Identification of resources with unique ID</a:t>
            </a:r>
          </a:p>
          <a:p>
            <a:r>
              <a:rPr lang="en-US" dirty="0"/>
              <a:t>Self descriptive messages</a:t>
            </a:r>
          </a:p>
          <a:p>
            <a:pPr lvl="1"/>
            <a:r>
              <a:rPr lang="en-US" dirty="0"/>
              <a:t>Message carry both data and how to operate on those data</a:t>
            </a:r>
          </a:p>
          <a:p>
            <a:pPr lvl="1"/>
            <a:r>
              <a:rPr lang="en-US" dirty="0"/>
              <a:t>JSON is not self descriptive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D1012-84F0-D51C-03FB-5CE7F5D43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28239-2DB4-3B4B-9CA7-1B204DFAFD84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506C6-9FF3-BCAB-5C4E-7D1CF0EF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B1F49-DD8D-90F6-4822-0E4B64F37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8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593FD-80D0-E0AC-8336-74AB03694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HATEOAS Again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3B299-25F2-BB89-84B2-8C608E4EC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Hypermedia As The Engine Of Application State</a:t>
            </a:r>
          </a:p>
          <a:p>
            <a:r>
              <a:rPr lang="en-US" dirty="0"/>
              <a:t>Clients need to know nothing about the internals of servers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3DB80-A430-4944-78E3-6DB4A4F1E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A5AB-321C-4445-A8CF-6F69483FC68A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89958-07C0-1CF0-6881-68E044030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909A3-C77E-9F30-EB67-C4C52F10D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8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7B9B-ABC9-0544-BF7E-35C14596D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Only Anchors and Forms?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BFBA4-CB15-C007-AE3D-1BACF38F2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Why can’t other elements issue HTTP requests?</a:t>
            </a:r>
          </a:p>
          <a:p>
            <a:r>
              <a:rPr lang="en-US" dirty="0"/>
              <a:t>We have &lt;button&gt; but it can’t post</a:t>
            </a:r>
          </a:p>
          <a:p>
            <a:r>
              <a:rPr lang="en-US" dirty="0"/>
              <a:t>If we allow it to, it can become part of our hypermedia system</a:t>
            </a:r>
          </a:p>
          <a:p>
            <a:pPr lvl="1"/>
            <a:r>
              <a:rPr lang="en-US" dirty="0"/>
              <a:t>As can all the other HTML entities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4AC42-0504-362C-D028-C80FBE9D2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97BF7-5DE3-7F4D-A539-64F35A008C51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B0629-3513-458E-966D-6B3BB49B7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29C0E-5417-3AB7-A22A-5FEE0177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89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39901-C72B-5041-34DC-03E72C354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Only Click and Submit?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BD42C-A1E2-FF31-DF1E-3BE13DADE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 any HTML element to trigger an HTTP request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086FC-153F-4789-70A4-FCD2BB40A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BC950-ED42-3E4F-8842-408659D31D5A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E36E5-B45F-D9A2-4EA2-31CF8B311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1D5C0-5829-3EA3-3690-2082F0D76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7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4D068-A00C-E100-E6CF-B2C5C8DB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Only Get and Post?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05E1C-A341-ACAB-32F1-A50ACA124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add PUT, PATCH, and DELETE to HTML elements.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D0556-8A7E-45B1-49C0-C618B7AF1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8544-93DE-3444-BF46-749FF7963CF1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C078F-A2B6-5F0A-30E9-1589C4BEA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6C413-9541-90D6-6C5F-BE902A2CB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75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F2B0-412C-D760-F8F0-22F1DA596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Replace the Entire Screen?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3FCA9-0AE5-D583-67CD-78788A17B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could extend HTML to replace elements inside of the current DOM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73AA6-932D-53C0-BBC6-EFAD8FCC8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3EE3-BF61-A44C-BC2F-C9397C597F60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C2EB7-7229-5F36-F436-8A8BA91D9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88333-D2F8-6EE5-097F-9908FD3B3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0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56DD2-A01E-68E9-FC89-42CBEC7FD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the Five Verbs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FFB3-D430-4980-468E-EF0630B48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hx</a:t>
            </a:r>
            <a:r>
              <a:rPr lang="en-US" sz="3600" dirty="0"/>
              <a:t>-get</a:t>
            </a:r>
          </a:p>
          <a:p>
            <a:r>
              <a:rPr lang="en-US" sz="3600" dirty="0" err="1"/>
              <a:t>hx</a:t>
            </a:r>
            <a:r>
              <a:rPr lang="en-US" sz="3600" dirty="0"/>
              <a:t>-post</a:t>
            </a:r>
          </a:p>
          <a:p>
            <a:r>
              <a:rPr lang="en-US" sz="3600" dirty="0" err="1"/>
              <a:t>hx</a:t>
            </a:r>
            <a:r>
              <a:rPr lang="en-US" sz="3600" dirty="0"/>
              <a:t>-put</a:t>
            </a:r>
          </a:p>
          <a:p>
            <a:r>
              <a:rPr lang="en-US" sz="3600" dirty="0" err="1"/>
              <a:t>hx</a:t>
            </a:r>
            <a:r>
              <a:rPr lang="en-US" sz="3600" dirty="0"/>
              <a:t>-patch</a:t>
            </a:r>
          </a:p>
          <a:p>
            <a:r>
              <a:rPr lang="en-US" sz="3600" dirty="0" err="1"/>
              <a:t>hx</a:t>
            </a:r>
            <a:r>
              <a:rPr lang="en-US" sz="3600" dirty="0"/>
              <a:t>-delete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118D7-51B5-B935-A0FC-DDFD07B9C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2E362-5924-9E48-8AD6-35166E6681E6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F3525-1FF4-0214-9BA9-998B48F65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25377-ADFD-42AA-E409-DC2DF6B15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8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8B021-AC2E-3184-B8F7-9C5C2DEFC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Quick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6A738-9399-9DAE-CB57-625299B35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&lt;button </a:t>
            </a:r>
            <a:r>
              <a:rPr lang="en-US" dirty="0" err="1"/>
              <a:t>hx</a:t>
            </a:r>
            <a:r>
              <a:rPr lang="en-US" dirty="0"/>
              <a:t>-get=“/contacts”&gt;</a:t>
            </a:r>
          </a:p>
          <a:p>
            <a:r>
              <a:rPr lang="en-US" dirty="0"/>
              <a:t>  Get The Contacts</a:t>
            </a:r>
          </a:p>
          <a:p>
            <a:r>
              <a:rPr lang="en-US" dirty="0"/>
              <a:t>&lt;/button&gt;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D32FD-24FA-574E-5F2A-C5242C961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E81C-D9E2-954F-B3CB-FBA80E38981C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20F63-0CE4-64C2-38E6-AD34D4C65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B4575-E4CC-13DE-A625-F80BC014B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49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636D0-A8EF-4999-73DC-549B2729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Response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3FD4B-C510-646F-EFE4-48C664080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Application returns HTML</a:t>
            </a:r>
          </a:p>
          <a:p>
            <a:pPr lvl="1"/>
            <a:r>
              <a:rPr lang="en-US" dirty="0"/>
              <a:t>Which it probably already does in the case of Rails</a:t>
            </a:r>
          </a:p>
          <a:p>
            <a:pPr lvl="1"/>
            <a:r>
              <a:rPr lang="en-US" dirty="0"/>
              <a:t>Extraneous HTML automatically removed</a:t>
            </a:r>
          </a:p>
          <a:p>
            <a:r>
              <a:rPr lang="en-US" dirty="0"/>
              <a:t>HTMX replaces a target in the current DOM</a:t>
            </a:r>
          </a:p>
          <a:p>
            <a:pPr lvl="1"/>
            <a:r>
              <a:rPr lang="en-US" dirty="0"/>
              <a:t>Default for HTMX is to replace current element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4A73F4-9843-B587-629E-CD26F60D8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EA1B-F7CC-1147-BF98-64C4D1A94266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41127-1508-0704-F572-A17F5BB6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3F7C1-4FFE-8EED-9614-B5F73EB20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6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1196-6B31-4A81-E554-3923076CF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Target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138FD-BBB9-0F90-DD21-BFFB39785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hx</a:t>
            </a:r>
            <a:r>
              <a:rPr lang="en-US" dirty="0"/>
              <a:t>-target provides where in the DOM to place the returned HTML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5FCFE-B5AE-E177-DF32-FA6584C4B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60DC1-809E-C346-B4C0-AAB2CB750E84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4961C-29C7-47F5-1420-2016FDFD8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A76DC-5D1B-15F5-866B-FB6AE764A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98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C31A4-0CEF-655A-3843-85EAD4E0A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Swap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4C1D6-1B98-8734-9C68-71F206B88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innerHTML</a:t>
            </a:r>
            <a:endParaRPr lang="en-US" dirty="0"/>
          </a:p>
          <a:p>
            <a:r>
              <a:rPr lang="en-US" dirty="0" err="1"/>
              <a:t>outerHTML</a:t>
            </a:r>
            <a:endParaRPr lang="en-US" dirty="0"/>
          </a:p>
          <a:p>
            <a:r>
              <a:rPr lang="en-US" dirty="0" err="1"/>
              <a:t>beforebegin</a:t>
            </a:r>
            <a:endParaRPr lang="en-US" dirty="0"/>
          </a:p>
          <a:p>
            <a:r>
              <a:rPr lang="en-US" dirty="0" err="1"/>
              <a:t>afterbegin</a:t>
            </a:r>
            <a:endParaRPr lang="en-US" dirty="0"/>
          </a:p>
          <a:p>
            <a:r>
              <a:rPr lang="en-US" dirty="0" err="1"/>
              <a:t>beforeend</a:t>
            </a:r>
            <a:endParaRPr lang="en-US" dirty="0"/>
          </a:p>
          <a:p>
            <a:r>
              <a:rPr lang="en-US" dirty="0" err="1"/>
              <a:t>afterend</a:t>
            </a:r>
            <a:endParaRPr lang="en-US" dirty="0"/>
          </a:p>
          <a:p>
            <a:r>
              <a:rPr lang="en-US" dirty="0"/>
              <a:t>delete</a:t>
            </a:r>
          </a:p>
          <a:p>
            <a:r>
              <a:rPr lang="en-US" dirty="0"/>
              <a:t>none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D285CB-FF2D-8691-689D-2FF3DC92F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069E-D9D4-194D-96F7-E931719F7315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6757B-6416-0A0F-ABD5-9CB1E922B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21F30-5EF1-26E2-877E-903AD3A4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7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435B-954B-251C-5476-94CDBB93C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Replace Something 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06D45-DFC1-DE2A-22D8-84BB7FFB3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&lt;div id="main”&gt;</a:t>
            </a:r>
          </a:p>
          <a:p>
            <a:r>
              <a:rPr lang="en-US" dirty="0"/>
              <a:t>  &lt;button </a:t>
            </a:r>
            <a:r>
              <a:rPr lang="en-US" dirty="0" err="1"/>
              <a:t>hx</a:t>
            </a:r>
            <a:r>
              <a:rPr lang="en-US" dirty="0"/>
              <a:t>-get="/contacts" </a:t>
            </a:r>
            <a:r>
              <a:rPr lang="en-US" dirty="0" err="1"/>
              <a:t>hx</a:t>
            </a:r>
            <a:r>
              <a:rPr lang="en-US" dirty="0"/>
              <a:t>-target="main"</a:t>
            </a:r>
          </a:p>
          <a:p>
            <a:r>
              <a:rPr lang="en-US" dirty="0"/>
              <a:t>    </a:t>
            </a:r>
            <a:r>
              <a:rPr lang="en-US" dirty="0" err="1"/>
              <a:t>hx</a:t>
            </a:r>
            <a:r>
              <a:rPr lang="en-US" dirty="0"/>
              <a:t>-swap="</a:t>
            </a:r>
            <a:r>
              <a:rPr lang="en-US" dirty="0" err="1"/>
              <a:t>outerHTML</a:t>
            </a:r>
            <a:r>
              <a:rPr lang="en-US" dirty="0"/>
              <a:t>"&gt;</a:t>
            </a:r>
          </a:p>
          <a:p>
            <a:r>
              <a:rPr lang="en-US" dirty="0"/>
              <a:t>    Get The Contacts</a:t>
            </a:r>
          </a:p>
          <a:p>
            <a:r>
              <a:rPr lang="en-US" dirty="0"/>
              <a:t>  &lt;/button&gt;</a:t>
            </a:r>
          </a:p>
          <a:p>
            <a:r>
              <a:rPr lang="en-US" dirty="0"/>
              <a:t>&lt;/div&gt;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C0099-AAE2-2D6A-4E21-898062D6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2611-A667-CD44-B74A-1CEDE491CCE8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E00EC-9C7D-492A-5882-B4100E239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25B1C-25E2-9DC2-9B4E-839FE6DD3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49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2C66E5-4AA3-3D41-6A70-DAC0CD61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Progress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3A0A0F-3A36-1624-7509-9A9DF8B0D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now issue any verb on any HTML element</a:t>
            </a:r>
          </a:p>
          <a:p>
            <a:r>
              <a:rPr lang="en-US" dirty="0"/>
              <a:t>Can replace elements in the DOM instead of reloading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8004A0-3498-42CB-6ED4-89D6117CE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C513-96BF-9842-8FE5-CF60E4DA3D48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163346-A174-F4AA-3A45-9837DFC27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D78EF-9235-788C-B179-D98423E62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0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A40FB-34E7-6FB2-6845-23B5E6D42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Triggers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7698E-AF8C-6C9A-3B52-9620774E3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&lt;button </a:t>
            </a:r>
            <a:r>
              <a:rPr lang="en-US" dirty="0" err="1"/>
              <a:t>hx</a:t>
            </a:r>
            <a:r>
              <a:rPr lang="en-US" dirty="0"/>
              <a:t>-get=“/contacts”,</a:t>
            </a:r>
          </a:p>
          <a:p>
            <a:r>
              <a:rPr lang="en-US" dirty="0"/>
              <a:t>  </a:t>
            </a:r>
            <a:r>
              <a:rPr lang="en-US" dirty="0" err="1"/>
              <a:t>hx</a:t>
            </a:r>
            <a:r>
              <a:rPr lang="en-US" dirty="0"/>
              <a:t>-trigger=“</a:t>
            </a:r>
            <a:r>
              <a:rPr lang="en-US" dirty="0" err="1"/>
              <a:t>mouseenter</a:t>
            </a:r>
            <a:r>
              <a:rPr lang="en-US" dirty="0"/>
              <a:t>”&gt;</a:t>
            </a:r>
          </a:p>
          <a:p>
            <a:r>
              <a:rPr lang="en-US" dirty="0"/>
              <a:t>  Get The Contacts</a:t>
            </a:r>
          </a:p>
          <a:p>
            <a:r>
              <a:rPr lang="en-US" dirty="0"/>
              <a:t>&lt;/button&gt;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FD6A7-5A82-AAA7-8D6A-CCB220963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F0084-BB5D-E84F-A867-78CF17F5259C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C4056-6F6E-216E-9548-7CDBE48F6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10D67-62F3-2787-359B-44DAF14EC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0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D68C-9E8C-2162-789F-A8788CFDB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Bubbling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D7D21-E875-2359-B641-BF2C1B30C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Events "bubble" up, starting with closest element, going all the way up to "document"</a:t>
            </a:r>
          </a:p>
          <a:p>
            <a:r>
              <a:rPr lang="en-US" dirty="0"/>
              <a:t>This allows triggers for an entire page</a:t>
            </a:r>
          </a:p>
          <a:p>
            <a:pPr lvl="1"/>
            <a:r>
              <a:rPr lang="en-US" dirty="0"/>
              <a:t>E.g.: keyboard shortcuts</a:t>
            </a:r>
          </a:p>
          <a:p>
            <a:r>
              <a:rPr lang="en-US" dirty="0"/>
              <a:t>Can now trigger on any event "inside" of HTML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0F509-4466-BBFA-3610-39DDECA15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A612-8B20-4149-B6D6-FAD45A9A2487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8C9AB-8CEB-CCCA-928E-C7DF376E5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9ED94-817D-8ECC-FB04-FB361DD1C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53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6C788-4277-8FFB-FCC3-EE12923C3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26089-BF75-68A0-9705-03C2502BF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Any element can make HTTP request → </a:t>
            </a:r>
            <a:r>
              <a:rPr lang="en-US" dirty="0" err="1"/>
              <a:t>hx</a:t>
            </a:r>
            <a:r>
              <a:rPr lang="en-US" dirty="0"/>
              <a:t>-get, </a:t>
            </a:r>
            <a:r>
              <a:rPr lang="en-US" dirty="0" err="1"/>
              <a:t>hx</a:t>
            </a:r>
            <a:r>
              <a:rPr lang="en-US" dirty="0"/>
              <a:t>-post, </a:t>
            </a:r>
            <a:r>
              <a:rPr lang="en-US" dirty="0" err="1"/>
              <a:t>hx</a:t>
            </a:r>
            <a:r>
              <a:rPr lang="en-US" dirty="0"/>
              <a:t>-put, </a:t>
            </a:r>
            <a:r>
              <a:rPr lang="en-US" dirty="0" err="1"/>
              <a:t>hx</a:t>
            </a:r>
            <a:r>
              <a:rPr lang="en-US" dirty="0"/>
              <a:t>-delete</a:t>
            </a:r>
          </a:p>
          <a:p>
            <a:r>
              <a:rPr lang="en-US" dirty="0"/>
              <a:t>Any event can trigger event → </a:t>
            </a:r>
            <a:r>
              <a:rPr lang="en-US" dirty="0" err="1"/>
              <a:t>hx</a:t>
            </a:r>
            <a:r>
              <a:rPr lang="en-US" dirty="0"/>
              <a:t>-trigger</a:t>
            </a:r>
          </a:p>
          <a:p>
            <a:r>
              <a:rPr lang="en-US" dirty="0"/>
              <a:t>Any action should be available → </a:t>
            </a:r>
            <a:r>
              <a:rPr lang="en-US" dirty="0" err="1"/>
              <a:t>hx</a:t>
            </a:r>
            <a:r>
              <a:rPr lang="en-US" dirty="0"/>
              <a:t>-put, </a:t>
            </a:r>
            <a:r>
              <a:rPr lang="en-US" dirty="0" err="1"/>
              <a:t>hx</a:t>
            </a:r>
            <a:r>
              <a:rPr lang="en-US" dirty="0"/>
              <a:t>-patch, etc.</a:t>
            </a:r>
          </a:p>
          <a:p>
            <a:r>
              <a:rPr lang="en-US" dirty="0"/>
              <a:t>Any part of page replaceable → </a:t>
            </a:r>
            <a:r>
              <a:rPr lang="en-US" dirty="0" err="1"/>
              <a:t>hx</a:t>
            </a:r>
            <a:r>
              <a:rPr lang="en-US" dirty="0"/>
              <a:t>-target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004F4-A4F8-78A2-8076-496EA7515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A49BD-324B-004E-A53A-CE5F5CA07665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58FD1-FE2D-0309-8026-83CBB17E7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4568D-7844-1F92-E4F2-B330D57A2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98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D6187-E08C-D69B-0ADD-E4C22E676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Overall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5A6AF-5165-510A-A982-2A452793F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3B2322"/>
                </a:solidFill>
                <a:latin typeface="Menlo-Regular" panose="020B0609030804020204" pitchFamily="49" charset="0"/>
              </a:rPr>
              <a:t>app/views/layouts/</a:t>
            </a:r>
            <a:r>
              <a:rPr lang="en-US" sz="32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application.html.erb</a:t>
            </a: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15A9A-5455-F3F3-E3BD-AE0DF610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A637-EB4B-B24F-8C4D-565D440D5E2F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46EEE-EFF8-08F6-DFCD-90A035292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4F95C-106D-E9BC-91F2-0315DA02F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10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6AEE5-7FFD-D523-9C90-8B798A2B0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 to 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C0F7A-FF4A-4EC7-8AA5-90B4F41B7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400" dirty="0">
                <a:solidFill>
                  <a:srgbClr val="9E4C04"/>
                </a:solidFill>
                <a:latin typeface="Menlo-Regular" panose="020B0609030804020204" pitchFamily="49" charset="0"/>
              </a:rPr>
              <a:t>script</a:t>
            </a:r>
          </a:p>
          <a:p>
            <a:r>
              <a:rPr lang="en-US" sz="2400" dirty="0" err="1">
                <a:solidFill>
                  <a:srgbClr val="149802"/>
                </a:solidFill>
                <a:latin typeface="Menlo-Regular" panose="020B0609030804020204" pitchFamily="49" charset="0"/>
              </a:rPr>
              <a:t>src</a:t>
            </a:r>
            <a:r>
              <a:rPr lang="en-US" sz="2400" dirty="0">
                <a:solidFill>
                  <a:srgbClr val="13939F"/>
                </a:solidFill>
                <a:latin typeface="Menlo-Regular" panose="020B0609030804020204" pitchFamily="49" charset="0"/>
              </a:rPr>
              <a:t>="</a:t>
            </a:r>
            <a:r>
              <a:rPr lang="en-US" sz="2400" dirty="0">
                <a:solidFill>
                  <a:srgbClr val="9F1410"/>
                </a:solidFill>
                <a:latin typeface="Menlo-Regular" panose="020B0609030804020204" pitchFamily="49" charset="0"/>
                <a:hlinkClick r:id="rId2"/>
              </a:rPr>
              <a:t>https://cdn.jsdelivr.net/npm/htmx.org@2.0.11/dist/htmx.min.js</a:t>
            </a:r>
            <a:r>
              <a:rPr lang="en-US" sz="24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</a:p>
          <a:p>
            <a:r>
              <a:rPr lang="en-US" sz="2400" dirty="0">
                <a:solidFill>
                  <a:srgbClr val="149802"/>
                </a:solidFill>
                <a:latin typeface="Menlo-Regular" panose="020B0609030804020204" pitchFamily="49" charset="0"/>
              </a:rPr>
              <a:t>integrity</a:t>
            </a:r>
            <a:r>
              <a:rPr lang="en-US" sz="24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400" dirty="0">
                <a:solidFill>
                  <a:srgbClr val="9F1410"/>
                </a:solidFill>
                <a:latin typeface="Menlo-Regular" panose="020B0609030804020204" pitchFamily="49" charset="0"/>
              </a:rPr>
              <a:t>"sha384-2OatzQy1H+Zd/IIrjr1TcuDGqLXeHhbooAyJY1KdQMKnr4LZ22k31GBLdYKHmVjg"</a:t>
            </a:r>
            <a:endParaRPr lang="en-US" sz="2400" dirty="0">
              <a:solidFill>
                <a:srgbClr val="13939F"/>
              </a:solidFill>
              <a:latin typeface="Menlo-Regular" panose="020B0609030804020204" pitchFamily="49" charset="0"/>
            </a:endParaRPr>
          </a:p>
          <a:p>
            <a:r>
              <a:rPr lang="en-US" sz="2400" dirty="0" err="1">
                <a:solidFill>
                  <a:srgbClr val="149802"/>
                </a:solidFill>
                <a:latin typeface="Menlo-Regular" panose="020B0609030804020204" pitchFamily="49" charset="0"/>
              </a:rPr>
              <a:t>crossorigin</a:t>
            </a:r>
            <a:r>
              <a:rPr lang="en-US" sz="24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400" dirty="0">
                <a:solidFill>
                  <a:srgbClr val="9F1410"/>
                </a:solidFill>
                <a:latin typeface="Menlo-Regular" panose="020B0609030804020204" pitchFamily="49" charset="0"/>
              </a:rPr>
              <a:t>"anonymous"</a:t>
            </a:r>
            <a:r>
              <a:rPr lang="en-US" sz="2400" dirty="0">
                <a:solidFill>
                  <a:srgbClr val="13939F"/>
                </a:solidFill>
                <a:latin typeface="Menlo-Regular" panose="020B0609030804020204" pitchFamily="49" charset="0"/>
              </a:rPr>
              <a:t>&gt;&lt;/</a:t>
            </a:r>
            <a:r>
              <a:rPr lang="en-US" sz="2400" dirty="0">
                <a:solidFill>
                  <a:srgbClr val="9E4C04"/>
                </a:solidFill>
                <a:latin typeface="Menlo-Regular" panose="020B0609030804020204" pitchFamily="49" charset="0"/>
              </a:rPr>
              <a:t>script</a:t>
            </a:r>
            <a:r>
              <a:rPr lang="en-US" sz="24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11634-309B-5D9F-1738-01496DFC8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0ACC-AB66-5F40-AC77-CE344D81F8BA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6FD30-AC80-CB66-B57C-D44A2A7FF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E7C20-B2FB-2668-9FAD-34AFDE5B3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E117-6C25-260E-AFF5-F77C2D9A7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 to 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A1448-58E2-4D15-6C24-E8BAEDE6D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This is the current version, check </a:t>
            </a:r>
            <a:r>
              <a:rPr lang="en-US" sz="3200" dirty="0">
                <a:hlinkClick r:id="rId2"/>
              </a:rPr>
              <a:t>https://htmx.org/docs/</a:t>
            </a:r>
            <a:r>
              <a:rPr lang="en-US" sz="3200" dirty="0"/>
              <a:t> if there is a more recent version</a:t>
            </a:r>
          </a:p>
          <a:p>
            <a:r>
              <a:rPr lang="en-US" sz="3200" dirty="0"/>
              <a:t>Nothing to build, nothing to add to pipeline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32DC8E-030F-FC9C-9487-1D6F3893C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34B5-1AD6-2E4F-A699-E109C019E12E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8F194-1436-7882-13BB-2CE452CD1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1E226-5A60-A452-FB46-BA5D60183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51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94D1-1F56-8490-4A2E-29F5E3002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This Thing 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E1A9A-65D8-7DE8-B30F-4BE2C816B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000" dirty="0">
                <a:solidFill>
                  <a:srgbClr val="9E4C04"/>
                </a:solidFill>
                <a:latin typeface="Menlo-Regular" panose="020B0609030804020204" pitchFamily="49" charset="0"/>
              </a:rPr>
              <a:t>body</a:t>
            </a:r>
            <a:r>
              <a:rPr lang="en-US" sz="20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0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000" dirty="0">
                <a:solidFill>
                  <a:srgbClr val="13939F"/>
                </a:solidFill>
                <a:latin typeface="Menlo-Regular" panose="020B0609030804020204" pitchFamily="49" charset="0"/>
              </a:rPr>
              <a:t>-boost=</a:t>
            </a:r>
            <a:r>
              <a:rPr lang="en-US" sz="2000" dirty="0">
                <a:solidFill>
                  <a:srgbClr val="9F1410"/>
                </a:solidFill>
                <a:latin typeface="Menlo-Regular" panose="020B0609030804020204" pitchFamily="49" charset="0"/>
              </a:rPr>
              <a:t>"true"</a:t>
            </a:r>
            <a:r>
              <a:rPr lang="en-US" sz="20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endParaRPr lang="en-US" sz="2000" dirty="0">
              <a:solidFill>
                <a:srgbClr val="3B2322"/>
              </a:solidFill>
              <a:latin typeface="Menlo-Regular" panose="020B0609030804020204" pitchFamily="49" charset="0"/>
            </a:endParaRPr>
          </a:p>
          <a:p>
            <a:r>
              <a:rPr lang="en-US" sz="2000" dirty="0">
                <a:solidFill>
                  <a:srgbClr val="13939F"/>
                </a:solidFill>
                <a:latin typeface="Menlo-Regular" panose="020B0609030804020204" pitchFamily="49" charset="0"/>
              </a:rPr>
              <a:t>  &lt;</a:t>
            </a:r>
            <a:r>
              <a:rPr lang="en-US" sz="2000" dirty="0">
                <a:solidFill>
                  <a:srgbClr val="9E4C04"/>
                </a:solidFill>
                <a:latin typeface="Menlo-Regular" panose="020B0609030804020204" pitchFamily="49" charset="0"/>
              </a:rPr>
              <a:t>script</a:t>
            </a:r>
            <a:r>
              <a:rPr lang="en-US" sz="20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endParaRPr lang="en-US" sz="2000" dirty="0">
              <a:solidFill>
                <a:srgbClr val="B000B2"/>
              </a:solidFill>
              <a:latin typeface="Menlo-Regular" panose="020B0609030804020204" pitchFamily="49" charset="0"/>
            </a:endParaRPr>
          </a:p>
          <a:p>
            <a:r>
              <a:rPr lang="en-US" sz="2000" dirty="0">
                <a:solidFill>
                  <a:srgbClr val="B000B2"/>
                </a:solidFill>
                <a:latin typeface="Menlo-Regular" panose="020B0609030804020204" pitchFamily="49" charset="0"/>
              </a:rPr>
              <a:t>    </a:t>
            </a:r>
            <a:r>
              <a:rPr lang="en-US" sz="20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htmx.logger</a:t>
            </a:r>
            <a:r>
              <a:rPr lang="en-US" sz="2000" dirty="0">
                <a:solidFill>
                  <a:srgbClr val="B000B2"/>
                </a:solidFill>
                <a:latin typeface="Menlo-Regular" panose="020B0609030804020204" pitchFamily="49" charset="0"/>
              </a:rPr>
              <a:t> = </a:t>
            </a:r>
            <a:r>
              <a:rPr lang="en-US" sz="2000" dirty="0">
                <a:solidFill>
                  <a:srgbClr val="9E4C04"/>
                </a:solidFill>
                <a:latin typeface="Menlo-Regular" panose="020B0609030804020204" pitchFamily="49" charset="0"/>
              </a:rPr>
              <a:t>function</a:t>
            </a:r>
            <a:r>
              <a:rPr lang="en-US" sz="20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0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elt</a:t>
            </a:r>
            <a:r>
              <a:rPr lang="en-US" sz="2000" dirty="0">
                <a:solidFill>
                  <a:srgbClr val="B000B2"/>
                </a:solidFill>
                <a:latin typeface="Menlo-Regular" panose="020B0609030804020204" pitchFamily="49" charset="0"/>
              </a:rPr>
              <a:t>, </a:t>
            </a:r>
            <a:r>
              <a:rPr lang="en-US" sz="2000" dirty="0">
                <a:solidFill>
                  <a:srgbClr val="9E4C04"/>
                </a:solidFill>
                <a:latin typeface="Menlo-Regular" panose="020B0609030804020204" pitchFamily="49" charset="0"/>
              </a:rPr>
              <a:t>event</a:t>
            </a:r>
            <a:r>
              <a:rPr lang="en-US" sz="2000" dirty="0">
                <a:solidFill>
                  <a:srgbClr val="B000B2"/>
                </a:solidFill>
                <a:latin typeface="Menlo-Regular" panose="020B0609030804020204" pitchFamily="49" charset="0"/>
              </a:rPr>
              <a:t>, data</a:t>
            </a:r>
            <a:r>
              <a:rPr lang="en-US" sz="20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  <a:r>
              <a:rPr lang="en-US" sz="2000" dirty="0">
                <a:solidFill>
                  <a:srgbClr val="B000B2"/>
                </a:solidFill>
                <a:latin typeface="Menlo-Regular" panose="020B0609030804020204" pitchFamily="49" charset="0"/>
              </a:rPr>
              <a:t> </a:t>
            </a:r>
            <a:r>
              <a:rPr lang="en-US" sz="20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  <a:endParaRPr lang="en-US" sz="2000" dirty="0">
              <a:solidFill>
                <a:srgbClr val="B000B2"/>
              </a:solidFill>
              <a:latin typeface="Menlo-Regular" panose="020B0609030804020204" pitchFamily="49" charset="0"/>
            </a:endParaRPr>
          </a:p>
          <a:p>
            <a:r>
              <a:rPr lang="en-US" sz="2000" dirty="0">
                <a:solidFill>
                  <a:srgbClr val="B000B2"/>
                </a:solidFill>
                <a:latin typeface="Menlo-Regular" panose="020B0609030804020204" pitchFamily="49" charset="0"/>
              </a:rPr>
              <a:t>      </a:t>
            </a:r>
            <a:r>
              <a:rPr lang="en-US" sz="2000" dirty="0">
                <a:solidFill>
                  <a:srgbClr val="9E4C04"/>
                </a:solidFill>
                <a:latin typeface="Menlo-Regular" panose="020B0609030804020204" pitchFamily="49" charset="0"/>
              </a:rPr>
              <a:t>if</a:t>
            </a:r>
            <a:r>
              <a:rPr lang="en-US" sz="20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000" dirty="0">
                <a:solidFill>
                  <a:srgbClr val="B000B2"/>
                </a:solidFill>
                <a:latin typeface="Menlo-Regular" panose="020B0609030804020204" pitchFamily="49" charset="0"/>
              </a:rPr>
              <a:t>console</a:t>
            </a:r>
            <a:r>
              <a:rPr lang="en-US" sz="20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  <a:r>
              <a:rPr lang="en-US" sz="2000" dirty="0">
                <a:solidFill>
                  <a:srgbClr val="B000B2"/>
                </a:solidFill>
                <a:latin typeface="Menlo-Regular" panose="020B0609030804020204" pitchFamily="49" charset="0"/>
              </a:rPr>
              <a:t> </a:t>
            </a:r>
            <a:r>
              <a:rPr lang="en-US" sz="20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</a:p>
          <a:p>
            <a:r>
              <a:rPr lang="en-US" sz="20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</a:t>
            </a:r>
            <a:r>
              <a:rPr lang="en-US" sz="20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console.log</a:t>
            </a:r>
            <a:r>
              <a:rPr lang="en-US" sz="20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000" dirty="0">
                <a:solidFill>
                  <a:srgbClr val="9E4C04"/>
                </a:solidFill>
                <a:latin typeface="Menlo-Regular" panose="020B0609030804020204" pitchFamily="49" charset="0"/>
              </a:rPr>
              <a:t>event</a:t>
            </a:r>
            <a:r>
              <a:rPr lang="en-US" sz="2000" dirty="0">
                <a:solidFill>
                  <a:srgbClr val="B000B2"/>
                </a:solidFill>
                <a:latin typeface="Menlo-Regular" panose="020B0609030804020204" pitchFamily="49" charset="0"/>
              </a:rPr>
              <a:t>, </a:t>
            </a:r>
            <a:r>
              <a:rPr lang="en-US" sz="20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elt</a:t>
            </a:r>
            <a:r>
              <a:rPr lang="en-US" sz="2000" dirty="0">
                <a:solidFill>
                  <a:srgbClr val="B000B2"/>
                </a:solidFill>
                <a:latin typeface="Menlo-Regular" panose="020B0609030804020204" pitchFamily="49" charset="0"/>
              </a:rPr>
              <a:t>, data</a:t>
            </a:r>
            <a:r>
              <a:rPr lang="en-US" sz="20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  <a:r>
              <a:rPr lang="en-US" sz="2000" dirty="0">
                <a:solidFill>
                  <a:srgbClr val="B000B2"/>
                </a:solidFill>
                <a:latin typeface="Menlo-Regular" panose="020B0609030804020204" pitchFamily="49" charset="0"/>
              </a:rPr>
              <a:t>;</a:t>
            </a:r>
          </a:p>
          <a:p>
            <a:r>
              <a:rPr lang="en-US" sz="2000" dirty="0">
                <a:solidFill>
                  <a:srgbClr val="B000B2"/>
                </a:solidFill>
                <a:latin typeface="Menlo-Regular" panose="020B0609030804020204" pitchFamily="49" charset="0"/>
              </a:rPr>
              <a:t>      </a:t>
            </a:r>
            <a:r>
              <a:rPr lang="en-US" sz="20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</a:p>
          <a:p>
            <a:r>
              <a:rPr lang="en-US" sz="2000" dirty="0">
                <a:solidFill>
                  <a:srgbClr val="B000B2"/>
                </a:solidFill>
                <a:latin typeface="Menlo-Regular" panose="020B0609030804020204" pitchFamily="49" charset="0"/>
              </a:rPr>
              <a:t>    </a:t>
            </a:r>
            <a:r>
              <a:rPr lang="en-US" sz="20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</a:p>
          <a:p>
            <a:r>
              <a:rPr lang="en-US" sz="2000" dirty="0">
                <a:solidFill>
                  <a:srgbClr val="13939F"/>
                </a:solidFill>
                <a:latin typeface="Menlo-Regular" panose="020B0609030804020204" pitchFamily="49" charset="0"/>
              </a:rPr>
              <a:t>  &lt;/</a:t>
            </a:r>
            <a:r>
              <a:rPr lang="en-US" sz="2000" dirty="0">
                <a:solidFill>
                  <a:srgbClr val="9E4C04"/>
                </a:solidFill>
                <a:latin typeface="Menlo-Regular" panose="020B0609030804020204" pitchFamily="49" charset="0"/>
              </a:rPr>
              <a:t>script</a:t>
            </a:r>
            <a:r>
              <a:rPr lang="en-US" sz="20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000" dirty="0">
                <a:solidFill>
                  <a:srgbClr val="B000B2"/>
                </a:solidFill>
                <a:latin typeface="Menlo-Regular" panose="020B0609030804020204" pitchFamily="49" charset="0"/>
              </a:rPr>
              <a:t>  &lt;%=</a:t>
            </a:r>
            <a:r>
              <a:rPr lang="en-US" sz="20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000" dirty="0">
                <a:solidFill>
                  <a:srgbClr val="9E4C04"/>
                </a:solidFill>
                <a:latin typeface="Menlo-Regular" panose="020B0609030804020204" pitchFamily="49" charset="0"/>
              </a:rPr>
              <a:t>yield</a:t>
            </a:r>
            <a:r>
              <a:rPr lang="en-US" sz="20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000" dirty="0">
                <a:solidFill>
                  <a:srgbClr val="B000B2"/>
                </a:solidFill>
                <a:latin typeface="Menlo-Regular" panose="020B0609030804020204" pitchFamily="49" charset="0"/>
              </a:rPr>
              <a:t>%&gt;</a:t>
            </a:r>
            <a:endParaRPr lang="en-US" sz="2000" dirty="0">
              <a:solidFill>
                <a:srgbClr val="3B2322"/>
              </a:solidFill>
              <a:latin typeface="Menlo-Regular" panose="020B0609030804020204" pitchFamily="49" charset="0"/>
            </a:endParaRPr>
          </a:p>
          <a:p>
            <a:r>
              <a:rPr lang="en-US" sz="20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000" dirty="0">
                <a:solidFill>
                  <a:srgbClr val="9E4C04"/>
                </a:solidFill>
                <a:latin typeface="Menlo-Regular" panose="020B0609030804020204" pitchFamily="49" charset="0"/>
              </a:rPr>
              <a:t>body</a:t>
            </a:r>
            <a:r>
              <a:rPr lang="en-US" sz="20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endParaRPr lang="en-US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1447A-23B6-4A6A-D42E-F4C0664DD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F599-4595-EF40-8860-56CDE1228310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2DF23-85A2-B012-3937-870539AE3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59C3B-C7FA-36C0-C548-A8DE0DFE6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30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8C2BE-9819-873A-0713-46D15A7EB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New Add Form at the Top of </a:t>
            </a:r>
            <a:r>
              <a:rPr lang="en-US" sz="4800" dirty="0" err="1"/>
              <a:t>index.erb.html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10041-5766-8152-8079-B0F1D3C61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form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-post=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"&lt;%= 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items_path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 %&gt;"</a:t>
            </a:r>
          </a:p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-target=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"#items"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-swap=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beforeend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&lt;%=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hidden_field_tag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: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authenticity_token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, 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form_authenticity_token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%&gt;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label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for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item_what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What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label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input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type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"text"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id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item_what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name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"item[what]"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required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label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for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item_when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When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label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input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type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"date"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id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item_when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name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"item[when]"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button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type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"submit"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Add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button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form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8A7DF-70DF-1651-DBB5-8BCF43249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A67F-5403-2746-A54F-2133F3D3FBC0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83337-CF19-9E7B-1C40-B1CF3D14B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6D7DB-6F14-8593-4219-2785A836C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08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5444E-99FC-038C-FA17-3ADDBECEE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ItemsController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E4DEB-471C-9CD3-3DC2-CB94DA663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800" dirty="0">
                <a:solidFill>
                  <a:srgbClr val="3200CA"/>
                </a:solidFill>
                <a:latin typeface="Menlo-Regular" panose="020B0609030804020204" pitchFamily="49" charset="0"/>
              </a:rPr>
              <a:t># POST /items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def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create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@item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= </a:t>
            </a:r>
            <a:r>
              <a:rPr lang="en-US" sz="2800" dirty="0" err="1">
                <a:solidFill>
                  <a:srgbClr val="149802"/>
                </a:solidFill>
                <a:latin typeface="Menlo-Regular" panose="020B0609030804020204" pitchFamily="49" charset="0"/>
              </a:rPr>
              <a:t>Item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.new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item_params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if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@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item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.save</a:t>
            </a:r>
            <a:endParaRPr lang="en-US" sz="2800" dirty="0">
              <a:solidFill>
                <a:srgbClr val="3B2322"/>
              </a:solidFill>
              <a:latin typeface="Menlo-Regular" panose="020B0609030804020204" pitchFamily="49" charset="0"/>
            </a:endParaRP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if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request.headers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[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HX-Request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]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  render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partial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item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locals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{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item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@item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},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   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layout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false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else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 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redirect_to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@item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notice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Item was successfully created.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”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end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else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C0F0A-831F-3DBB-61A6-7E2ACB187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FA88C-0517-4343-9BF4-D18ECE5A607D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BF78-C406-95E1-0217-BCB906B96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02071-75D9-250F-D9E7-62F37C9C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5C471-7B44-4B5C-DBD2-B62C58E9B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Delete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979B8-E50D-E84A-EB34-CA6C984BA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button to each item</a:t>
            </a:r>
          </a:p>
          <a:p>
            <a:r>
              <a:rPr lang="en-US" dirty="0"/>
              <a:t>Note: the button has actions, typically not allowed in HTML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9D0284-2D03-12BF-8AEC-E430ECABF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AEDF-E20A-3A4D-A817-30359B512514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3AEA0-5724-19DB-AA5B-283E2BF94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56531-C679-C9AF-4B5C-5A1ABCCC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98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5E6E9-3448-6D9E-373A-E4AFB926B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app/views/items/_</a:t>
            </a:r>
            <a:r>
              <a:rPr lang="en-US" dirty="0" err="1"/>
              <a:t>item.html.erb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37D07-3E3D-93D8-9FD5-6280C7B1B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6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160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16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1600" dirty="0">
                <a:solidFill>
                  <a:srgbClr val="149802"/>
                </a:solidFill>
                <a:latin typeface="Menlo-Regular" panose="020B0609030804020204" pitchFamily="49" charset="0"/>
              </a:rPr>
              <a:t>id</a:t>
            </a:r>
            <a:r>
              <a:rPr lang="en-US" sz="16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16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1600" dirty="0">
                <a:solidFill>
                  <a:srgbClr val="B000B2"/>
                </a:solidFill>
                <a:latin typeface="Menlo-Regular" panose="020B0609030804020204" pitchFamily="49" charset="0"/>
              </a:rPr>
              <a:t>&lt;%=</a:t>
            </a:r>
            <a:r>
              <a:rPr lang="en-US" sz="16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16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dom_id</a:t>
            </a:r>
            <a:r>
              <a:rPr lang="en-US" sz="1600" dirty="0">
                <a:solidFill>
                  <a:srgbClr val="3B2322"/>
                </a:solidFill>
                <a:latin typeface="Menlo-Regular" panose="020B0609030804020204" pitchFamily="49" charset="0"/>
              </a:rPr>
              <a:t> item </a:t>
            </a:r>
            <a:r>
              <a:rPr lang="en-US" sz="1600" dirty="0">
                <a:solidFill>
                  <a:srgbClr val="B000B2"/>
                </a:solidFill>
                <a:latin typeface="Menlo-Regular" panose="020B0609030804020204" pitchFamily="49" charset="0"/>
              </a:rPr>
              <a:t>%&gt;</a:t>
            </a:r>
            <a:r>
              <a:rPr lang="en-US" sz="16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16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16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16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160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16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16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16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1600" dirty="0">
                <a:solidFill>
                  <a:srgbClr val="9E4C04"/>
                </a:solidFill>
                <a:latin typeface="Menlo-Regular" panose="020B0609030804020204" pitchFamily="49" charset="0"/>
              </a:rPr>
              <a:t>strong</a:t>
            </a:r>
            <a:r>
              <a:rPr lang="en-US" sz="16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r>
              <a:rPr lang="en-US" sz="1600" b="1" dirty="0">
                <a:solidFill>
                  <a:srgbClr val="802A19"/>
                </a:solidFill>
                <a:latin typeface="Menlo-Bold" panose="020B0609030804020204" pitchFamily="49" charset="0"/>
              </a:rPr>
              <a:t>What: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1600" b="0" dirty="0">
                <a:solidFill>
                  <a:srgbClr val="9E4C04"/>
                </a:solidFill>
                <a:latin typeface="Menlo-Regular" panose="020B0609030804020204" pitchFamily="49" charset="0"/>
              </a:rPr>
              <a:t>strong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16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1600" b="0" dirty="0">
                <a:solidFill>
                  <a:srgbClr val="B000B2"/>
                </a:solidFill>
                <a:latin typeface="Menlo-Regular" panose="020B0609030804020204" pitchFamily="49" charset="0"/>
              </a:rPr>
              <a:t>&lt;%=</a:t>
            </a:r>
            <a:r>
              <a:rPr lang="en-US" sz="16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item.what</a:t>
            </a:r>
            <a:r>
              <a:rPr lang="en-US" sz="16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1600" b="0" dirty="0">
                <a:solidFill>
                  <a:srgbClr val="B000B2"/>
                </a:solidFill>
                <a:latin typeface="Menlo-Regular" panose="020B0609030804020204" pitchFamily="49" charset="0"/>
              </a:rPr>
              <a:t>%&gt;</a:t>
            </a:r>
          </a:p>
          <a:p>
            <a:r>
              <a:rPr lang="en-US" sz="16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1600" b="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16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1600" b="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16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1600" b="0" dirty="0">
                <a:solidFill>
                  <a:srgbClr val="9E4C04"/>
                </a:solidFill>
                <a:latin typeface="Menlo-Regular" panose="020B0609030804020204" pitchFamily="49" charset="0"/>
              </a:rPr>
              <a:t>strong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r>
              <a:rPr lang="en-US" sz="1600" b="1" dirty="0">
                <a:solidFill>
                  <a:srgbClr val="802A19"/>
                </a:solidFill>
                <a:latin typeface="Menlo-Bold" panose="020B0609030804020204" pitchFamily="49" charset="0"/>
              </a:rPr>
              <a:t>When: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1600" b="0" dirty="0">
                <a:solidFill>
                  <a:srgbClr val="9E4C04"/>
                </a:solidFill>
                <a:latin typeface="Menlo-Regular" panose="020B0609030804020204" pitchFamily="49" charset="0"/>
              </a:rPr>
              <a:t>strong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16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1600" b="0" dirty="0">
                <a:solidFill>
                  <a:srgbClr val="B000B2"/>
                </a:solidFill>
                <a:latin typeface="Menlo-Regular" panose="020B0609030804020204" pitchFamily="49" charset="0"/>
              </a:rPr>
              <a:t>&lt;%=</a:t>
            </a:r>
            <a:r>
              <a:rPr lang="en-US" sz="16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item.when</a:t>
            </a:r>
            <a:r>
              <a:rPr lang="en-US" sz="16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1600" b="0" dirty="0">
                <a:solidFill>
                  <a:srgbClr val="B000B2"/>
                </a:solidFill>
                <a:latin typeface="Menlo-Regular" panose="020B0609030804020204" pitchFamily="49" charset="0"/>
              </a:rPr>
              <a:t>%&gt;</a:t>
            </a:r>
          </a:p>
          <a:p>
            <a:r>
              <a:rPr lang="en-US" sz="16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1600" b="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16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1600" b="0" dirty="0">
                <a:solidFill>
                  <a:srgbClr val="9E4C04"/>
                </a:solidFill>
                <a:latin typeface="Menlo-Regular" panose="020B0609030804020204" pitchFamily="49" charset="0"/>
              </a:rPr>
              <a:t>button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-delete=</a:t>
            </a:r>
            <a:r>
              <a:rPr lang="en-US" sz="1600" b="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1600" b="0" dirty="0">
                <a:solidFill>
                  <a:srgbClr val="B000B2"/>
                </a:solidFill>
                <a:latin typeface="Menlo-Regular" panose="020B0609030804020204" pitchFamily="49" charset="0"/>
              </a:rPr>
              <a:t>&lt;%=</a:t>
            </a:r>
            <a:r>
              <a:rPr lang="en-US" sz="16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item_path</a:t>
            </a:r>
            <a:r>
              <a:rPr lang="en-US" sz="1600" b="0" dirty="0">
                <a:solidFill>
                  <a:srgbClr val="3B2322"/>
                </a:solidFill>
                <a:latin typeface="Menlo-Regular" panose="020B0609030804020204" pitchFamily="49" charset="0"/>
              </a:rPr>
              <a:t>(item) </a:t>
            </a:r>
            <a:r>
              <a:rPr lang="en-US" sz="1600" b="0" dirty="0">
                <a:solidFill>
                  <a:srgbClr val="B000B2"/>
                </a:solidFill>
                <a:latin typeface="Menlo-Regular" panose="020B0609030804020204" pitchFamily="49" charset="0"/>
              </a:rPr>
              <a:t>%&gt;</a:t>
            </a:r>
            <a:r>
              <a:rPr lang="en-US" sz="1600" b="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-target=</a:t>
            </a:r>
            <a:r>
              <a:rPr lang="en-US" sz="1600" b="0" dirty="0">
                <a:solidFill>
                  <a:srgbClr val="9F1410"/>
                </a:solidFill>
                <a:latin typeface="Menlo-Regular" panose="020B0609030804020204" pitchFamily="49" charset="0"/>
              </a:rPr>
              <a:t>"closest div"</a:t>
            </a:r>
          </a:p>
          <a:p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    </a:t>
            </a:r>
            <a:r>
              <a:rPr lang="en-US" sz="1600" b="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-swap=</a:t>
            </a:r>
            <a:r>
              <a:rPr lang="en-US" sz="1600" b="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1600" b="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outerHTML</a:t>
            </a:r>
            <a:r>
              <a:rPr lang="en-US" sz="1600" b="0" dirty="0">
                <a:solidFill>
                  <a:srgbClr val="9F1410"/>
                </a:solidFill>
                <a:latin typeface="Menlo-Regular" panose="020B0609030804020204" pitchFamily="49" charset="0"/>
              </a:rPr>
              <a:t> swap:1s"</a:t>
            </a:r>
            <a:endParaRPr lang="en-US" sz="1600" dirty="0">
              <a:solidFill>
                <a:srgbClr val="13939F"/>
              </a:solidFill>
              <a:latin typeface="Menlo-Regular" panose="020B0609030804020204" pitchFamily="49" charset="0"/>
            </a:endParaRPr>
          </a:p>
          <a:p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    </a:t>
            </a:r>
            <a:r>
              <a:rPr lang="en-US" sz="1600" b="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-header=</a:t>
            </a:r>
            <a:r>
              <a:rPr lang="en-US" sz="1600" b="0" dirty="0">
                <a:solidFill>
                  <a:srgbClr val="9F1410"/>
                </a:solidFill>
                <a:latin typeface="Menlo-Regular" panose="020B0609030804020204" pitchFamily="49" charset="0"/>
              </a:rPr>
              <a:t>'{"X-CSRF-Token": "</a:t>
            </a:r>
            <a:r>
              <a:rPr lang="en-US" sz="1600" b="0" dirty="0">
                <a:solidFill>
                  <a:srgbClr val="B000B2"/>
                </a:solidFill>
                <a:latin typeface="Menlo-Regular" panose="020B0609030804020204" pitchFamily="49" charset="0"/>
              </a:rPr>
              <a:t>&lt;%=</a:t>
            </a:r>
            <a:r>
              <a:rPr lang="en-US" sz="16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form_authenticity_token</a:t>
            </a:r>
            <a:r>
              <a:rPr lang="en-US" sz="16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1600" b="0" dirty="0">
                <a:solidFill>
                  <a:srgbClr val="B000B2"/>
                </a:solidFill>
                <a:latin typeface="Menlo-Regular" panose="020B0609030804020204" pitchFamily="49" charset="0"/>
              </a:rPr>
              <a:t>%&gt;</a:t>
            </a:r>
            <a:r>
              <a:rPr lang="en-US" sz="1600" b="0" dirty="0">
                <a:solidFill>
                  <a:srgbClr val="9F1410"/>
                </a:solidFill>
                <a:latin typeface="Menlo-Regular" panose="020B0609030804020204" pitchFamily="49" charset="0"/>
              </a:rPr>
              <a:t>"}’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16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  Delete</a:t>
            </a:r>
          </a:p>
          <a:p>
            <a:r>
              <a:rPr lang="en-US" sz="16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1600" b="0" dirty="0">
                <a:solidFill>
                  <a:srgbClr val="9E4C04"/>
                </a:solidFill>
                <a:latin typeface="Menlo-Regular" panose="020B0609030804020204" pitchFamily="49" charset="0"/>
              </a:rPr>
              <a:t>button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1600" b="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16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606FE-4667-237E-B255-07C582DD6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71366-0E62-7A40-BC69-DD2213E76DFB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7AF73-0500-D781-58B0-E1218DF9C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F57A9-BD9D-C251-0022-E7143122A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0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49130-7895-6700-490D-4609FCEB9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app/controllers/</a:t>
            </a:r>
            <a:r>
              <a:rPr lang="en-US" dirty="0" err="1"/>
              <a:t>items_controller.rb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F9124-C907-62AC-BD25-93841C517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400" dirty="0">
                <a:solidFill>
                  <a:srgbClr val="9E4C04"/>
                </a:solidFill>
                <a:latin typeface="Menlo-Regular" panose="020B0609030804020204" pitchFamily="49" charset="0"/>
              </a:rPr>
              <a:t>if</a:t>
            </a:r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4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request.headers</a:t>
            </a:r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[</a:t>
            </a:r>
            <a:r>
              <a:rPr lang="en-US" sz="24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400" dirty="0">
                <a:solidFill>
                  <a:srgbClr val="9F1410"/>
                </a:solidFill>
                <a:latin typeface="Menlo-Regular" panose="020B0609030804020204" pitchFamily="49" charset="0"/>
              </a:rPr>
              <a:t>HX-Request</a:t>
            </a:r>
            <a:r>
              <a:rPr lang="en-US" sz="24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]</a:t>
            </a:r>
          </a:p>
          <a:p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        render </a:t>
            </a:r>
            <a:r>
              <a:rPr lang="en-US" sz="2400" dirty="0">
                <a:solidFill>
                  <a:srgbClr val="9F1410"/>
                </a:solidFill>
                <a:latin typeface="Menlo-Regular" panose="020B0609030804020204" pitchFamily="49" charset="0"/>
              </a:rPr>
              <a:t>partial</a:t>
            </a:r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4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400" dirty="0">
                <a:solidFill>
                  <a:srgbClr val="9F1410"/>
                </a:solidFill>
                <a:latin typeface="Menlo-Regular" panose="020B0609030804020204" pitchFamily="49" charset="0"/>
              </a:rPr>
              <a:t>form</a:t>
            </a:r>
            <a:r>
              <a:rPr lang="en-US" sz="24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2400" dirty="0">
                <a:solidFill>
                  <a:srgbClr val="9F1410"/>
                </a:solidFill>
                <a:latin typeface="Menlo-Regular" panose="020B0609030804020204" pitchFamily="49" charset="0"/>
              </a:rPr>
              <a:t>locals</a:t>
            </a:r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: { </a:t>
            </a:r>
            <a:r>
              <a:rPr lang="en-US" sz="2400" dirty="0">
                <a:solidFill>
                  <a:srgbClr val="9F1410"/>
                </a:solidFill>
                <a:latin typeface="Menlo-Regular" panose="020B0609030804020204" pitchFamily="49" charset="0"/>
              </a:rPr>
              <a:t>item</a:t>
            </a:r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400" dirty="0">
                <a:solidFill>
                  <a:srgbClr val="13939F"/>
                </a:solidFill>
                <a:latin typeface="Menlo-Regular" panose="020B0609030804020204" pitchFamily="49" charset="0"/>
              </a:rPr>
              <a:t>@item</a:t>
            </a:r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 },</a:t>
            </a:r>
          </a:p>
          <a:p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          </a:t>
            </a:r>
            <a:r>
              <a:rPr lang="en-US" sz="2400" dirty="0">
                <a:solidFill>
                  <a:srgbClr val="9F1410"/>
                </a:solidFill>
                <a:latin typeface="Menlo-Regular" panose="020B0609030804020204" pitchFamily="49" charset="0"/>
              </a:rPr>
              <a:t>status</a:t>
            </a:r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400" dirty="0">
                <a:solidFill>
                  <a:srgbClr val="9F1410"/>
                </a:solidFill>
                <a:latin typeface="Menlo-Regular" panose="020B0609030804020204" pitchFamily="49" charset="0"/>
              </a:rPr>
              <a:t>:</a:t>
            </a:r>
            <a:r>
              <a:rPr lang="en-US" sz="24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unprocessable_content</a:t>
            </a:r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2400" dirty="0">
                <a:solidFill>
                  <a:srgbClr val="9F1410"/>
                </a:solidFill>
                <a:latin typeface="Menlo-Regular" panose="020B0609030804020204" pitchFamily="49" charset="0"/>
              </a:rPr>
              <a:t>layout</a:t>
            </a:r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400" dirty="0">
                <a:solidFill>
                  <a:srgbClr val="9F1410"/>
                </a:solidFill>
                <a:latin typeface="Menlo-Regular" panose="020B0609030804020204" pitchFamily="49" charset="0"/>
              </a:rPr>
              <a:t>false</a:t>
            </a:r>
          </a:p>
          <a:p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400" dirty="0">
                <a:solidFill>
                  <a:srgbClr val="9E4C04"/>
                </a:solidFill>
                <a:latin typeface="Menlo-Regular" panose="020B0609030804020204" pitchFamily="49" charset="0"/>
              </a:rPr>
              <a:t>else</a:t>
            </a:r>
          </a:p>
          <a:p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        render </a:t>
            </a:r>
            <a:r>
              <a:rPr lang="en-US" sz="2400" dirty="0">
                <a:solidFill>
                  <a:srgbClr val="9F1410"/>
                </a:solidFill>
                <a:latin typeface="Menlo-Regular" panose="020B0609030804020204" pitchFamily="49" charset="0"/>
              </a:rPr>
              <a:t>:new</a:t>
            </a:r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2400" dirty="0">
                <a:solidFill>
                  <a:srgbClr val="9F1410"/>
                </a:solidFill>
                <a:latin typeface="Menlo-Regular" panose="020B0609030804020204" pitchFamily="49" charset="0"/>
              </a:rPr>
              <a:t>status</a:t>
            </a:r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400" dirty="0">
                <a:solidFill>
                  <a:srgbClr val="9F1410"/>
                </a:solidFill>
                <a:latin typeface="Menlo-Regular" panose="020B0609030804020204" pitchFamily="49" charset="0"/>
              </a:rPr>
              <a:t>:</a:t>
            </a:r>
            <a:r>
              <a:rPr lang="en-US" sz="24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unprocessable_content</a:t>
            </a:r>
            <a:endParaRPr lang="en-US" sz="2400" dirty="0">
              <a:solidFill>
                <a:srgbClr val="9F1410"/>
              </a:solidFill>
              <a:latin typeface="Menlo-Regular" panose="020B0609030804020204" pitchFamily="49" charset="0"/>
            </a:endParaRPr>
          </a:p>
          <a:p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400" dirty="0">
                <a:solidFill>
                  <a:srgbClr val="9E4C04"/>
                </a:solidFill>
                <a:latin typeface="Menlo-Regular" panose="020B0609030804020204" pitchFamily="49" charset="0"/>
              </a:rPr>
              <a:t>end</a:t>
            </a:r>
          </a:p>
          <a:p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400" dirty="0">
                <a:solidFill>
                  <a:srgbClr val="9E4C04"/>
                </a:solidFill>
                <a:latin typeface="Menlo-Regular" panose="020B0609030804020204" pitchFamily="49" charset="0"/>
              </a:rPr>
              <a:t>end</a:t>
            </a:r>
          </a:p>
          <a:p>
            <a:r>
              <a:rPr lang="en-US" sz="24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400" dirty="0">
                <a:solidFill>
                  <a:srgbClr val="B000B2"/>
                </a:solidFill>
                <a:latin typeface="Menlo-Regular" panose="020B0609030804020204" pitchFamily="49" charset="0"/>
              </a:rPr>
              <a:t>end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F9A08-883C-CF4B-478F-97979E3D0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37DA2-65A6-1B49-AA85-05118925D4B4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4C37D-3FA9-FAAA-0B29-354A7FDF7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6FC80-F869-D66D-AAF5-20143983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14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52F27-FD7D-2442-DFA1-F42B3E6B1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app/controllers/</a:t>
            </a:r>
            <a:r>
              <a:rPr lang="en-US" dirty="0" err="1"/>
              <a:t>items_controller.rb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EE4C7-B525-2E64-9B33-FDCDCE431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>
                <a:solidFill>
                  <a:srgbClr val="3200CA"/>
                </a:solidFill>
                <a:latin typeface="Menlo-Regular" panose="020B0609030804020204" pitchFamily="49" charset="0"/>
              </a:rPr>
              <a:t>  # DELETE /items/1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def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destroy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@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item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.destroy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!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if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request.headers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[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HX-Request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]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head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:ok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else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redirect_to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items_path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notice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Item was successfully destroyed.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status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: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see_other</a:t>
            </a:r>
            <a:endParaRPr lang="en-US" sz="2800" dirty="0">
              <a:solidFill>
                <a:srgbClr val="9F1410"/>
              </a:solidFill>
              <a:latin typeface="Menlo-Regular" panose="020B0609030804020204" pitchFamily="49" charset="0"/>
            </a:endParaRP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end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end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2ECF4-1A99-0EA6-AB25-5A48B4021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9C96-8001-8644-9071-79F8AB1127FD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13563-9E27-42D2-B181-F718A489C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B7E2F-706A-B250-3416-01679108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33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193EE-28EC-AC8C-BF0B-074C0C8104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Edit Inline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50463E-4D7A-5E0E-E21D-5A0BBDF31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B19C5-1920-8C44-B359-040812976E91}" type="datetime1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0AF64B-489D-D4CD-0F93-D74630745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E6E01-A356-5B40-1B29-38F50B4B9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559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DE4D2-914F-8576-FF01-5663E44AC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app/controllers/</a:t>
            </a:r>
            <a:r>
              <a:rPr lang="en-US" dirty="0" err="1"/>
              <a:t>items_controller.rb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E8E9C-5554-AD94-A2CA-9D2FE5A0E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13648"/>
            <a:ext cx="10972800" cy="4525963"/>
          </a:xfrm>
        </p:spPr>
        <p:txBody>
          <a:bodyPr/>
          <a:lstStyle/>
          <a:p>
            <a:r>
              <a:rPr lang="en-US" sz="2800" dirty="0">
                <a:solidFill>
                  <a:srgbClr val="3200CA"/>
                </a:solidFill>
                <a:latin typeface="Menlo-Regular" panose="020B0609030804020204" pitchFamily="49" charset="0"/>
              </a:rPr>
              <a:t>  # GET /items/1/edit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def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edit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if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request.headers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[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HX-Request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]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render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partial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item_edit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locals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{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item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@item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},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layout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false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end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end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06B01-EACF-7ABE-ACA3-519EAE15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8AC6C-E713-3149-9123-A1C8234914B4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B3B4D-1ABC-E93D-8A52-EB8891B27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83985-40C5-DEB3-2409-75DD387F5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90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8524D-F947-F2B1-B792-0CDA6935C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app/controllers/</a:t>
            </a:r>
            <a:r>
              <a:rPr lang="en-US" dirty="0" err="1"/>
              <a:t>items_controller.rb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6243F-FFE7-8C31-D215-1570A7805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3200CA"/>
                </a:solidFill>
                <a:latin typeface="Menlo-Regular" panose="020B0609030804020204" pitchFamily="49" charset="0"/>
              </a:rPr>
              <a:t># PATCH/PUT /items/1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def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update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if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@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item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.update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item_params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if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request.headers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[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HX-Request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]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  render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partial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item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locals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{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item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@item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},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layout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false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else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 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redirect_to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@item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notice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Item was successfully updated.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status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: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see_other</a:t>
            </a:r>
            <a:endParaRPr lang="en-US" sz="2800" dirty="0">
              <a:solidFill>
                <a:srgbClr val="9F1410"/>
              </a:solidFill>
              <a:latin typeface="Menlo-Regular" panose="020B0609030804020204" pitchFamily="49" charset="0"/>
            </a:endParaRP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end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else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if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request.headers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[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HX-Request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]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  render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partial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item_edit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locals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{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item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@item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},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status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: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unprocessable_content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layout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false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else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  render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:edit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status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: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unprocessable_content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end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end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end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1A83E-5ECD-45F1-56A1-0A7799A86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30FF2-6135-F145-8649-0B4880274564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2D074-F903-2586-3B8D-B590F04D8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13B40-8F95-D602-7607-1F44C484E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2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7D23-A838-E031-E70F-8C7DEE280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app/views/items/_</a:t>
            </a:r>
            <a:r>
              <a:rPr lang="en-US" dirty="0" err="1"/>
              <a:t>item.html.erb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FE082-DDAB-80C3-E808-F61068AA8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27095"/>
            <a:ext cx="10972800" cy="4525963"/>
          </a:xfrm>
        </p:spPr>
        <p:txBody>
          <a:bodyPr>
            <a:normAutofit fontScale="55000" lnSpcReduction="20000"/>
          </a:bodyPr>
          <a:lstStyle/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id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&lt;%=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dom_id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item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%&gt;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strong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r>
              <a:rPr lang="en-US" sz="2800" b="1" dirty="0">
                <a:solidFill>
                  <a:srgbClr val="802A19"/>
                </a:solidFill>
                <a:latin typeface="Menlo-Bold" panose="020B0609030804020204" pitchFamily="49" charset="0"/>
              </a:rPr>
              <a:t>What: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b="0" dirty="0">
                <a:solidFill>
                  <a:srgbClr val="9E4C04"/>
                </a:solidFill>
                <a:latin typeface="Menlo-Regular" panose="020B0609030804020204" pitchFamily="49" charset="0"/>
              </a:rPr>
              <a:t>strong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b="0" dirty="0">
                <a:solidFill>
                  <a:srgbClr val="B000B2"/>
                </a:solidFill>
                <a:latin typeface="Menlo-Regular" panose="020B0609030804020204" pitchFamily="49" charset="0"/>
              </a:rPr>
              <a:t>&lt;%=</a:t>
            </a:r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item.what</a:t>
            </a:r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b="0" dirty="0">
                <a:solidFill>
                  <a:srgbClr val="B000B2"/>
                </a:solidFill>
                <a:latin typeface="Menlo-Regular" panose="020B0609030804020204" pitchFamily="49" charset="0"/>
              </a:rPr>
              <a:t>%&gt;</a:t>
            </a:r>
          </a:p>
          <a:p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b="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b="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b="0" dirty="0">
                <a:solidFill>
                  <a:srgbClr val="9E4C04"/>
                </a:solidFill>
                <a:latin typeface="Menlo-Regular" panose="020B0609030804020204" pitchFamily="49" charset="0"/>
              </a:rPr>
              <a:t>strong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r>
              <a:rPr lang="en-US" sz="2800" b="1" dirty="0">
                <a:solidFill>
                  <a:srgbClr val="802A19"/>
                </a:solidFill>
                <a:latin typeface="Menlo-Bold" panose="020B0609030804020204" pitchFamily="49" charset="0"/>
              </a:rPr>
              <a:t>When: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b="0" dirty="0">
                <a:solidFill>
                  <a:srgbClr val="9E4C04"/>
                </a:solidFill>
                <a:latin typeface="Menlo-Regular" panose="020B0609030804020204" pitchFamily="49" charset="0"/>
              </a:rPr>
              <a:t>strong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b="0" dirty="0">
                <a:solidFill>
                  <a:srgbClr val="B000B2"/>
                </a:solidFill>
                <a:latin typeface="Menlo-Regular" panose="020B0609030804020204" pitchFamily="49" charset="0"/>
              </a:rPr>
              <a:t>&lt;%=</a:t>
            </a:r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item.when</a:t>
            </a:r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b="0" dirty="0">
                <a:solidFill>
                  <a:srgbClr val="B000B2"/>
                </a:solidFill>
                <a:latin typeface="Menlo-Regular" panose="020B0609030804020204" pitchFamily="49" charset="0"/>
              </a:rPr>
              <a:t>%&gt;</a:t>
            </a:r>
          </a:p>
          <a:p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b="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b="0" dirty="0">
                <a:solidFill>
                  <a:srgbClr val="9E4C04"/>
                </a:solidFill>
                <a:latin typeface="Menlo-Regular" panose="020B0609030804020204" pitchFamily="49" charset="0"/>
              </a:rPr>
              <a:t>button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-get=</a:t>
            </a:r>
            <a:r>
              <a:rPr lang="en-US" sz="2800" b="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b="0" dirty="0">
                <a:solidFill>
                  <a:srgbClr val="B000B2"/>
                </a:solidFill>
                <a:latin typeface="Menlo-Regular" panose="020B0609030804020204" pitchFamily="49" charset="0"/>
              </a:rPr>
              <a:t>&lt;%=</a:t>
            </a:r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edit_item_path</a:t>
            </a:r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(item) </a:t>
            </a:r>
            <a:r>
              <a:rPr lang="en-US" sz="2800" b="0" dirty="0">
                <a:solidFill>
                  <a:srgbClr val="B000B2"/>
                </a:solidFill>
                <a:latin typeface="Menlo-Regular" panose="020B0609030804020204" pitchFamily="49" charset="0"/>
              </a:rPr>
              <a:t>%&gt;</a:t>
            </a:r>
            <a:r>
              <a:rPr lang="en-US" sz="2800" b="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-target=</a:t>
            </a:r>
            <a:r>
              <a:rPr lang="en-US" sz="2800" b="0" dirty="0">
                <a:solidFill>
                  <a:srgbClr val="9F1410"/>
                </a:solidFill>
                <a:latin typeface="Menlo-Regular" panose="020B0609030804020204" pitchFamily="49" charset="0"/>
              </a:rPr>
              <a:t>"closest div"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-swap=</a:t>
            </a:r>
            <a:r>
              <a:rPr lang="en-US" sz="2800" b="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b="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outerHTML</a:t>
            </a:r>
            <a:r>
              <a:rPr lang="en-US" sz="2800" b="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  Edit  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b="0" dirty="0">
                <a:solidFill>
                  <a:srgbClr val="9E4C04"/>
                </a:solidFill>
                <a:latin typeface="Menlo-Regular" panose="020B0609030804020204" pitchFamily="49" charset="0"/>
              </a:rPr>
              <a:t>button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b="0" dirty="0">
                <a:solidFill>
                  <a:srgbClr val="9E4C04"/>
                </a:solidFill>
                <a:latin typeface="Menlo-Regular" panose="020B0609030804020204" pitchFamily="49" charset="0"/>
              </a:rPr>
              <a:t>button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-delete=</a:t>
            </a:r>
            <a:r>
              <a:rPr lang="en-US" sz="2800" b="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b="0" dirty="0">
                <a:solidFill>
                  <a:srgbClr val="B000B2"/>
                </a:solidFill>
                <a:latin typeface="Menlo-Regular" panose="020B0609030804020204" pitchFamily="49" charset="0"/>
              </a:rPr>
              <a:t>&lt;%=</a:t>
            </a:r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item_path</a:t>
            </a:r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(item) </a:t>
            </a:r>
            <a:r>
              <a:rPr lang="en-US" sz="2800" b="0" dirty="0">
                <a:solidFill>
                  <a:srgbClr val="B000B2"/>
                </a:solidFill>
                <a:latin typeface="Menlo-Regular" panose="020B0609030804020204" pitchFamily="49" charset="0"/>
              </a:rPr>
              <a:t>%&gt;</a:t>
            </a:r>
            <a:r>
              <a:rPr lang="en-US" sz="2800" b="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-target=</a:t>
            </a:r>
            <a:r>
              <a:rPr lang="en-US" sz="2800" b="0" dirty="0">
                <a:solidFill>
                  <a:srgbClr val="9F1410"/>
                </a:solidFill>
                <a:latin typeface="Menlo-Regular" panose="020B0609030804020204" pitchFamily="49" charset="0"/>
              </a:rPr>
              <a:t>"closest div"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-swap=</a:t>
            </a:r>
            <a:r>
              <a:rPr lang="en-US" sz="2800" b="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b="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outerHTML</a:t>
            </a:r>
            <a:r>
              <a:rPr lang="en-US" sz="2800" b="0" dirty="0">
                <a:solidFill>
                  <a:srgbClr val="9F1410"/>
                </a:solidFill>
                <a:latin typeface="Menlo-Regular" panose="020B0609030804020204" pitchFamily="49" charset="0"/>
              </a:rPr>
              <a:t> swap:1s"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-header=</a:t>
            </a:r>
            <a:r>
              <a:rPr lang="en-US" sz="2800" b="0" dirty="0">
                <a:solidFill>
                  <a:srgbClr val="9F1410"/>
                </a:solidFill>
                <a:latin typeface="Menlo-Regular" panose="020B0609030804020204" pitchFamily="49" charset="0"/>
              </a:rPr>
              <a:t>'{"X-CSRF-Token": "</a:t>
            </a:r>
            <a:r>
              <a:rPr lang="en-US" sz="2800" b="0" dirty="0">
                <a:solidFill>
                  <a:srgbClr val="B000B2"/>
                </a:solidFill>
                <a:latin typeface="Menlo-Regular" panose="020B0609030804020204" pitchFamily="49" charset="0"/>
              </a:rPr>
              <a:t>&lt;%=</a:t>
            </a:r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form_authenticity_token</a:t>
            </a:r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b="0" dirty="0">
                <a:solidFill>
                  <a:srgbClr val="B000B2"/>
                </a:solidFill>
                <a:latin typeface="Menlo-Regular" panose="020B0609030804020204" pitchFamily="49" charset="0"/>
              </a:rPr>
              <a:t>%&gt;</a:t>
            </a:r>
            <a:r>
              <a:rPr lang="en-US" sz="2800" b="0" dirty="0">
                <a:solidFill>
                  <a:srgbClr val="9F1410"/>
                </a:solidFill>
                <a:latin typeface="Menlo-Regular" panose="020B0609030804020204" pitchFamily="49" charset="0"/>
              </a:rPr>
              <a:t>"}’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  Delete</a:t>
            </a:r>
          </a:p>
          <a:p>
            <a:r>
              <a:rPr lang="en-US" sz="2800" b="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b="0" dirty="0">
                <a:solidFill>
                  <a:srgbClr val="9E4C04"/>
                </a:solidFill>
                <a:latin typeface="Menlo-Regular" panose="020B0609030804020204" pitchFamily="49" charset="0"/>
              </a:rPr>
              <a:t>button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b="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b="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1EF0A-22B5-51F9-33B9-0EEB03B1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37D3-D353-1649-A24E-D72F8D6D654C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32E6F-FDE2-7BAD-0115-E9D13F4B1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BC158-51B5-3D43-883F-61D8CA12D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10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9B56F-5799-1AF4-3909-D00406998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app/views/items/_</a:t>
            </a:r>
            <a:r>
              <a:rPr lang="en-US" dirty="0" err="1"/>
              <a:t>item_edit.html.erb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EFFD6-DE38-6B53-EA07-F0ED4606A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27095"/>
            <a:ext cx="10972800" cy="4525963"/>
          </a:xfrm>
        </p:spPr>
        <p:txBody>
          <a:bodyPr>
            <a:normAutofit fontScale="47500" lnSpcReduction="20000"/>
          </a:bodyPr>
          <a:lstStyle/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# new partial</a:t>
            </a:r>
          </a:p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id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&lt;%=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dom_id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item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%&gt;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form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-put=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&lt;%=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item_path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(item)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%&gt;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-target=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"closest div"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-swap=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outerHTML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&lt;%=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hidden_field_tag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: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authenticity_token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form_authenticity_token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%&gt;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label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for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item_what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What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label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input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type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"text"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id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item_what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name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"item[what]"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value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&lt;%=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item.what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%&gt;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required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label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for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item_when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When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label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input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type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"date"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id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item_when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name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"item[when]"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value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&lt;%=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item.when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%&gt;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button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type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"submit"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Save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button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button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type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"button"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-get=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&lt;%=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item_path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(item)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%&gt;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-target=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"closest div"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-swap=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outerHTML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Cancel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button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form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E80A4-9B4B-8EA4-AAE4-011A6B2E3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44069-635A-7942-B4F2-68D0E744863D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FB164-C99C-98AD-DBDA-733AD2017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DFAE0-560F-576B-EE01-4623041E0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47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6835B-0B50-FFD4-5F48-CE5BB56C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DBA2C-75AD-1EC4-9162-25AF7E40A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3200CA"/>
                </a:solidFill>
                <a:latin typeface="Menlo-Regular" panose="020B0609030804020204" pitchFamily="49" charset="0"/>
              </a:rPr>
              <a:t># GET /items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def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index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@items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= </a:t>
            </a:r>
            <a:r>
              <a:rPr lang="en-US" sz="2800" dirty="0" err="1">
                <a:solidFill>
                  <a:srgbClr val="149802"/>
                </a:solidFill>
                <a:latin typeface="Menlo-Regular" panose="020B0609030804020204" pitchFamily="49" charset="0"/>
              </a:rPr>
              <a:t>Item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.all</a:t>
            </a:r>
            <a:endParaRPr lang="en-US" sz="2800" dirty="0">
              <a:solidFill>
                <a:srgbClr val="3B2322"/>
              </a:solidFill>
              <a:latin typeface="Menlo-Regular" panose="020B0609030804020204" pitchFamily="49" charset="0"/>
            </a:endParaRP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if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params[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:q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].present?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@items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=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@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items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.where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what LIKE ?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%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#{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params[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:q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]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%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end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if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request.headers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[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HX-Request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]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render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partial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items_list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locals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{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items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@items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},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layout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false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end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end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DE3F6-F9A8-4A19-E62B-7DCA162F0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C8966-9BA9-5F4B-BBAC-F35BED34F767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DD010-33F9-8798-D524-79901DC8F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38EE4-EC56-D925-4820-731D82608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15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09BB4-2876-AADA-4C68-494D953FE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8E70D-AA49-ACA3-2E9E-9426E8BD6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input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type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"text"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id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"search”</a:t>
            </a:r>
          </a:p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name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"q"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placeholder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"Search items...”</a:t>
            </a:r>
          </a:p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-get=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&lt;%=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items_path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%&gt;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”</a:t>
            </a:r>
          </a:p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-trigger=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"input”</a:t>
            </a:r>
          </a:p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-target=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"#items”</a:t>
            </a:r>
          </a:p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hx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-swap=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outerHTML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B4D07-531A-115D-49C3-6BEC230CA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EB56A-68D4-D046-987B-630E1DB6A2B2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055B5-54BC-F9A2-0696-D41126BF4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EBFFB-3754-38DF-BFB4-E244AB780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02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F8AA-4548-BB2E-6F06-703CCEA72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HTMX Scaffolding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E2A08-1560-6D0E-114B-AC300467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ourier" panose="02070309020205020404" pitchFamily="49" charset="0"/>
              </a:rPr>
              <a:t>rails new Todo --</a:t>
            </a:r>
            <a:r>
              <a:rPr lang="en-US" sz="2400" dirty="0" err="1">
                <a:solidFill>
                  <a:prstClr val="black"/>
                </a:solidFill>
                <a:latin typeface="Courier" panose="02070309020205020404" pitchFamily="49" charset="0"/>
              </a:rPr>
              <a:t>css</a:t>
            </a:r>
            <a:r>
              <a:rPr lang="en-US" sz="2400" dirty="0">
                <a:solidFill>
                  <a:prstClr val="black"/>
                </a:solidFill>
                <a:latin typeface="Courier" panose="02070309020205020404" pitchFamily="49" charset="0"/>
              </a:rPr>
              <a:t> tailwind --minimal</a:t>
            </a:r>
          </a:p>
          <a:p>
            <a:r>
              <a:rPr lang="en-US" sz="2400" dirty="0">
                <a:solidFill>
                  <a:prstClr val="black"/>
                </a:solidFill>
                <a:latin typeface="Courier" panose="02070309020205020404" pitchFamily="49" charset="0"/>
              </a:rPr>
              <a:t>cd Todo</a:t>
            </a:r>
          </a:p>
          <a:p>
            <a:r>
              <a:rPr lang="en-US" sz="2400" dirty="0">
                <a:solidFill>
                  <a:prstClr val="black"/>
                </a:solidFill>
                <a:latin typeface="Courier" panose="02070309020205020404" pitchFamily="49" charset="0"/>
              </a:rPr>
              <a:t>git pull https://</a:t>
            </a:r>
            <a:r>
              <a:rPr lang="en-US" sz="2400" dirty="0" err="1">
                <a:solidFill>
                  <a:prstClr val="black"/>
                </a:solidFill>
                <a:latin typeface="Courier" panose="02070309020205020404" pitchFamily="49" charset="0"/>
              </a:rPr>
              <a:t>github.com</a:t>
            </a:r>
            <a:r>
              <a:rPr lang="en-US" sz="2400" dirty="0">
                <a:solidFill>
                  <a:prstClr val="black"/>
                </a:solidFill>
                <a:latin typeface="Courier" panose="02070309020205020404" pitchFamily="49" charset="0"/>
              </a:rPr>
              <a:t>/drb80/HTMX4Rails.git</a:t>
            </a:r>
          </a:p>
          <a:p>
            <a:r>
              <a:rPr lang="en-US" sz="2400" dirty="0">
                <a:solidFill>
                  <a:prstClr val="black"/>
                </a:solidFill>
                <a:latin typeface="Courier" panose="02070309020205020404" pitchFamily="49" charset="0"/>
              </a:rPr>
              <a:t>rails generate </a:t>
            </a:r>
            <a:r>
              <a:rPr lang="en-US" sz="2400" dirty="0" err="1">
                <a:solidFill>
                  <a:prstClr val="black"/>
                </a:solidFill>
                <a:latin typeface="Courier" panose="02070309020205020404" pitchFamily="49" charset="0"/>
              </a:rPr>
              <a:t>htmx_scaffold</a:t>
            </a:r>
            <a:r>
              <a:rPr lang="en-US" sz="2400" dirty="0">
                <a:solidFill>
                  <a:prstClr val="black"/>
                </a:solidFill>
                <a:latin typeface="Courier" panose="02070309020205020404" pitchFamily="49" charset="0"/>
              </a:rPr>
              <a:t> Item what </a:t>
            </a:r>
            <a:r>
              <a:rPr lang="en-US" sz="2400" dirty="0" err="1">
                <a:solidFill>
                  <a:prstClr val="black"/>
                </a:solidFill>
                <a:latin typeface="Courier" panose="02070309020205020404" pitchFamily="49" charset="0"/>
              </a:rPr>
              <a:t>when:date</a:t>
            </a:r>
            <a:endParaRPr lang="en-US" sz="2400" dirty="0">
              <a:solidFill>
                <a:prstClr val="black"/>
              </a:solidFill>
              <a:latin typeface="Courier" panose="02070309020205020404" pitchFamily="49" charset="0"/>
            </a:endParaRPr>
          </a:p>
          <a:p>
            <a:r>
              <a:rPr lang="en-US" sz="2400" dirty="0">
                <a:solidFill>
                  <a:prstClr val="black"/>
                </a:solidFill>
                <a:latin typeface="Courier" panose="02070309020205020404" pitchFamily="49" charset="0"/>
              </a:rPr>
              <a:t>rails </a:t>
            </a:r>
            <a:r>
              <a:rPr lang="en-US" sz="2400" dirty="0" err="1">
                <a:solidFill>
                  <a:prstClr val="black"/>
                </a:solidFill>
                <a:latin typeface="Courier" panose="02070309020205020404" pitchFamily="49" charset="0"/>
              </a:rPr>
              <a:t>db:migrate</a:t>
            </a:r>
            <a:endParaRPr lang="en-US" sz="2400" dirty="0">
              <a:solidFill>
                <a:prstClr val="black"/>
              </a:solidFill>
              <a:latin typeface="Courier" panose="02070309020205020404" pitchFamily="49" charset="0"/>
            </a:endParaRPr>
          </a:p>
          <a:p>
            <a:r>
              <a:rPr lang="en-US" sz="2400" dirty="0">
                <a:solidFill>
                  <a:prstClr val="black"/>
                </a:solidFill>
                <a:latin typeface="Courier" panose="02070309020205020404" pitchFamily="49" charset="0"/>
              </a:rPr>
              <a:t>rails </a:t>
            </a:r>
            <a:r>
              <a:rPr lang="en-US" sz="2400" dirty="0" err="1">
                <a:solidFill>
                  <a:prstClr val="black"/>
                </a:solidFill>
                <a:latin typeface="Courier" panose="02070309020205020404" pitchFamily="49" charset="0"/>
              </a:rPr>
              <a:t>tailwindcss:build</a:t>
            </a:r>
            <a:endParaRPr lang="en-US" sz="2400" dirty="0">
              <a:solidFill>
                <a:prstClr val="black"/>
              </a:solidFill>
              <a:latin typeface="Courier" panose="02070309020205020404" pitchFamily="49" charset="0"/>
            </a:endParaRPr>
          </a:p>
          <a:p>
            <a:r>
              <a:rPr lang="en-US" sz="2400" dirty="0">
                <a:solidFill>
                  <a:prstClr val="black"/>
                </a:solidFill>
                <a:latin typeface="Courier" panose="02070309020205020404" pitchFamily="49" charset="0"/>
              </a:rPr>
              <a:t>rails server</a:t>
            </a: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1A39A-3B9F-510D-5C58-A2F0A1F7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377-989B-8E42-B656-9867BE0E63FE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6DF6E-7548-3250-E3F4-44F7D928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DB319-11C2-9014-0573-77BEF853E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1CA3-AD31-8C43-9E65-2E6ED3B452C8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82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SU Denver 16x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9DA9736E-330F-4D40-A0AF-1CC780C29072}" vid="{881790AE-4280-6941-9F6C-19A6C408C4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</Template>
  <TotalTime>8671</TotalTime>
  <Words>3014</Words>
  <Application>Microsoft Macintosh PowerPoint</Application>
  <PresentationFormat>Widescreen</PresentationFormat>
  <Paragraphs>546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1" baseType="lpstr">
      <vt:lpstr>Aptos</vt:lpstr>
      <vt:lpstr>Arial</vt:lpstr>
      <vt:lpstr>Calibri</vt:lpstr>
      <vt:lpstr>Courier</vt:lpstr>
      <vt:lpstr>Menlo</vt:lpstr>
      <vt:lpstr>Menlo-Bold</vt:lpstr>
      <vt:lpstr>Menlo-Regular</vt:lpstr>
      <vt:lpstr>MSU Denver 16x9</vt:lpstr>
      <vt:lpstr>HTMX</vt:lpstr>
      <vt:lpstr>First, Some Context</vt:lpstr>
      <vt:lpstr>The Book</vt:lpstr>
      <vt:lpstr>Browsers</vt:lpstr>
      <vt:lpstr>Typical Frontend Frameworks</vt:lpstr>
      <vt:lpstr>What is Hypermedia?</vt:lpstr>
      <vt:lpstr>Hypermedia</vt:lpstr>
      <vt:lpstr>Ted Nelson</vt:lpstr>
      <vt:lpstr>As We May Think</vt:lpstr>
      <vt:lpstr>1963 Ted Nelson</vt:lpstr>
      <vt:lpstr>The Mother of all Demos</vt:lpstr>
      <vt:lpstr>The Mother of all Demos</vt:lpstr>
      <vt:lpstr>TimBL</vt:lpstr>
      <vt:lpstr>TimBL</vt:lpstr>
      <vt:lpstr>HTML 1.0</vt:lpstr>
      <vt:lpstr>HTML 2.0</vt:lpstr>
      <vt:lpstr>JSON APIs</vt:lpstr>
      <vt:lpstr>JSON APIs</vt:lpstr>
      <vt:lpstr>JSON APIs</vt:lpstr>
      <vt:lpstr>Versioning</vt:lpstr>
      <vt:lpstr>Header Versioning</vt:lpstr>
      <vt:lpstr>HTML</vt:lpstr>
      <vt:lpstr>SPAs</vt:lpstr>
      <vt:lpstr>HTML</vt:lpstr>
      <vt:lpstr>HTMX</vt:lpstr>
      <vt:lpstr>Verbs</vt:lpstr>
      <vt:lpstr>Only Get and Post</vt:lpstr>
      <vt:lpstr>REST</vt:lpstr>
      <vt:lpstr>Constraints</vt:lpstr>
      <vt:lpstr>Uniform Interface</vt:lpstr>
      <vt:lpstr>HATEOAS Again</vt:lpstr>
      <vt:lpstr>Why Only Anchors and Forms?</vt:lpstr>
      <vt:lpstr>Why Only Click and Submit?</vt:lpstr>
      <vt:lpstr>Why Only Get and Post?</vt:lpstr>
      <vt:lpstr>Why Replace the Entire Screen?</vt:lpstr>
      <vt:lpstr>Use the Five Verbs</vt:lpstr>
      <vt:lpstr>Quick Example</vt:lpstr>
      <vt:lpstr>Response</vt:lpstr>
      <vt:lpstr>Target</vt:lpstr>
      <vt:lpstr>Swap Styles</vt:lpstr>
      <vt:lpstr>Replace Something Else</vt:lpstr>
      <vt:lpstr>Progress</vt:lpstr>
      <vt:lpstr>Triggers</vt:lpstr>
      <vt:lpstr>Bubbling</vt:lpstr>
      <vt:lpstr>Overall</vt:lpstr>
      <vt:lpstr>Overall View</vt:lpstr>
      <vt:lpstr>Add to Head</vt:lpstr>
      <vt:lpstr>Add to Head</vt:lpstr>
      <vt:lpstr>Is This Thing On?</vt:lpstr>
      <vt:lpstr>New Add Form at the Top of index.erb.html</vt:lpstr>
      <vt:lpstr>ItemsController</vt:lpstr>
      <vt:lpstr>Delete</vt:lpstr>
      <vt:lpstr>app/views/items/_item.html.erb</vt:lpstr>
      <vt:lpstr>app/controllers/items_controller.rb</vt:lpstr>
      <vt:lpstr>app/controllers/items_controller.rb</vt:lpstr>
      <vt:lpstr>Edit Inline</vt:lpstr>
      <vt:lpstr>app/controllers/items_controller.rb</vt:lpstr>
      <vt:lpstr>app/controllers/items_controller.rb</vt:lpstr>
      <vt:lpstr>app/views/items/_item.html.erb</vt:lpstr>
      <vt:lpstr>app/views/items/_item_edit.html.erb</vt:lpstr>
      <vt:lpstr>Dynamic Search</vt:lpstr>
      <vt:lpstr>Dynamic Search</vt:lpstr>
      <vt:lpstr>HTMX Scaffolding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Beaty</dc:creator>
  <cp:lastModifiedBy>Steve Beaty</cp:lastModifiedBy>
  <cp:revision>35</cp:revision>
  <dcterms:created xsi:type="dcterms:W3CDTF">2026-10-01T12:14:38Z</dcterms:created>
  <dcterms:modified xsi:type="dcterms:W3CDTF">2026-10-08T20:10:38Z</dcterms:modified>
</cp:coreProperties>
</file>