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2" r:id="rId1"/>
  </p:sldMasterIdLst>
  <p:notesMasterIdLst>
    <p:notesMasterId r:id="rId4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91" r:id="rId27"/>
    <p:sldId id="292" r:id="rId28"/>
    <p:sldId id="282" r:id="rId29"/>
    <p:sldId id="283" r:id="rId30"/>
    <p:sldId id="284" r:id="rId31"/>
    <p:sldId id="285" r:id="rId32"/>
    <p:sldId id="286" r:id="rId33"/>
    <p:sldId id="287" r:id="rId34"/>
    <p:sldId id="288" r:id="rId35"/>
    <p:sldId id="289" r:id="rId36"/>
    <p:sldId id="290" r:id="rId37"/>
    <p:sldId id="293" r:id="rId38"/>
    <p:sldId id="294" r:id="rId39"/>
    <p:sldId id="295" r:id="rId40"/>
    <p:sldId id="296" r:id="rId41"/>
    <p:sldId id="297" r:id="rId42"/>
    <p:sldId id="298" r:id="rId43"/>
    <p:sldId id="299" r:id="rId44"/>
    <p:sldId id="300" r:id="rId45"/>
    <p:sldId id="301" r:id="rId46"/>
    <p:sldId id="302" r:id="rId4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552"/>
    <p:restoredTop sz="94542"/>
  </p:normalViewPr>
  <p:slideViewPr>
    <p:cSldViewPr snapToGrid="0">
      <p:cViewPr varScale="1">
        <p:scale>
          <a:sx n="82" d="100"/>
          <a:sy n="82" d="100"/>
        </p:scale>
        <p:origin x="896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51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594D6A2-E690-AE44-B31E-9BCFD0C67BA5}" type="datetimeFigureOut">
              <a:rPr lang="en-US" smtClean="0"/>
              <a:t>10/8/26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D4F8D98-5AA1-6847-88C3-7934FE9066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57276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</a:t>
            </a:r>
            <a:r>
              <a:rPr lang="en-US" dirty="0" err="1"/>
              <a:t>en.wikipedia.org</a:t>
            </a:r>
            <a:r>
              <a:rPr lang="en-US" dirty="0"/>
              <a:t>/wiki/Sigil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D4F8D98-5AA1-6847-88C3-7934FE90667B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620570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</a:t>
            </a:r>
            <a:r>
              <a:rPr lang="en-US" dirty="0" err="1"/>
              <a:t>commons.wikimedia.org</a:t>
            </a:r>
            <a:r>
              <a:rPr lang="en-US" dirty="0"/>
              <a:t>/wiki/</a:t>
            </a:r>
            <a:r>
              <a:rPr lang="en-US" dirty="0" err="1"/>
              <a:t>File:Goetia_seals.jpg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D4F8D98-5AA1-6847-88C3-7934FE90667B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250802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UFO operator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D4F8D98-5AA1-6847-88C3-7934FE90667B}" type="slidenum">
              <a:rPr lang="en-US" smtClean="0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471794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ctrTitle" hasCustomPrompt="1"/>
          </p:nvPr>
        </p:nvSpPr>
        <p:spPr>
          <a:xfrm>
            <a:off x="914400" y="1058940"/>
            <a:ext cx="10363200" cy="1470025"/>
          </a:xfrm>
          <a:solidFill>
            <a:schemeClr val="bg1">
              <a:alpha val="95000"/>
            </a:schemeClr>
          </a:solidFill>
          <a:effectLst>
            <a:softEdge rad="63500"/>
          </a:effectLst>
        </p:spPr>
        <p:txBody>
          <a:bodyPr/>
          <a:lstStyle>
            <a:lvl1pPr>
              <a:defRPr baseline="0">
                <a:solidFill>
                  <a:schemeClr val="tx1"/>
                </a:solidFill>
              </a:defRPr>
            </a:lvl1pPr>
          </a:lstStyle>
          <a:p>
            <a:r>
              <a:rPr lang="en-US" baseline="0" dirty="0">
                <a:solidFill>
                  <a:schemeClr val="tx1"/>
                </a:solidFill>
              </a:rPr>
              <a:t>Click to edit title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 hasCustomPrompt="1"/>
          </p:nvPr>
        </p:nvSpPr>
        <p:spPr>
          <a:xfrm>
            <a:off x="2281187" y="2983612"/>
            <a:ext cx="7609479" cy="1009561"/>
          </a:xfrm>
          <a:prstGeom prst="roundRect">
            <a:avLst>
              <a:gd name="adj" fmla="val 37895"/>
            </a:avLst>
          </a:prstGeom>
          <a:solidFill>
            <a:schemeClr val="bg1">
              <a:alpha val="95000"/>
            </a:schemeClr>
          </a:solidFill>
          <a:effectLst>
            <a:softEdge rad="63500"/>
          </a:effectLst>
        </p:spPr>
        <p:txBody>
          <a:bodyPr anchor="ctr" anchorCtr="0"/>
          <a:lstStyle>
            <a:lvl1pPr marL="0" indent="0" algn="ctr">
              <a:buNone/>
              <a:defRPr baseline="0">
                <a:solidFill>
                  <a:schemeClr val="tx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subtitle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B409C91-6E3E-5409-2F44-4E770C50190C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C4FB4F60-4356-EA46-B707-C27DE37C7811}" type="datetime1">
              <a:rPr lang="en-US" smtClean="0"/>
              <a:t>10/8/26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94118C6-B924-AA1F-AEFC-17607998D78C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/>
              <a:t>© Steve Beaty and others as cited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9E93608-8881-8010-4D06-440F9FBB6BE8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37D050C8-32A2-8944-BC0A-E76DEAECED1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47456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600201"/>
            <a:ext cx="10972800" cy="4525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DB39033B-5031-2DE5-AF8A-E269BDEE88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DF9E9D-AF29-D242-BADD-83CF3C8BC1FC}" type="datetime1">
              <a:rPr lang="en-US" smtClean="0"/>
              <a:t>10/8/26</a:t>
            </a:fld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CC0AD20-1FAB-5697-725E-A23B4E11A4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Steve Beaty and others as cited</a:t>
            </a:r>
          </a:p>
        </p:txBody>
      </p:sp>
      <p:sp>
        <p:nvSpPr>
          <p:cNvPr id="10" name="SlideNumberWithTotal">
            <a:extLst>
              <a:ext uri="{FF2B5EF4-FFF2-40B4-BE49-F238E27FC236}">
                <a16:creationId xmlns:a16="http://schemas.microsoft.com/office/drawing/2014/main" id="{C85ADDAF-31A4-85DD-32A3-DD43B60F68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ADA5E7-275A-0142-8584-066D5199CC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14889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600201"/>
            <a:ext cx="10972800" cy="4525963"/>
          </a:xfrm>
          <a:ln w="25400">
            <a:solidFill>
              <a:schemeClr val="tx1"/>
            </a:solidFill>
          </a:ln>
        </p:spPr>
        <p:txBody>
          <a:bodyPr tIns="228600">
            <a:normAutofit/>
          </a:bodyPr>
          <a:lstStyle>
            <a:lvl1pPr marL="0" indent="0">
              <a:buNone/>
              <a:defRPr sz="2667" b="0" i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DEEF9C46-CD18-5177-41DC-5A44F050BB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CEFF2F-F8CF-8B47-BF1B-D79009DD55D9}" type="datetime1">
              <a:rPr lang="en-US" smtClean="0"/>
              <a:t>10/8/26</a:t>
            </a:fld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A6447FE1-5C78-6FAD-D883-46A9B247C8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Steve Beaty and others as cited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3BEAED22-447D-B036-C934-3337B57F57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ADA5E7-275A-0142-8584-066D5199CC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37209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Two Co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602488"/>
            <a:ext cx="5321600" cy="4525963"/>
          </a:xfrm>
          <a:ln w="25400" cap="flat">
            <a:solidFill>
              <a:schemeClr val="tx1"/>
            </a:solidFill>
            <a:round/>
          </a:ln>
        </p:spPr>
        <p:txBody>
          <a:bodyPr tIns="228600">
            <a:normAutofit/>
          </a:bodyPr>
          <a:lstStyle>
            <a:lvl1pPr marL="0" indent="0">
              <a:buNone/>
              <a:defRPr sz="2667" b="0" i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EF3C3831-60B9-204A-AB0D-53E619F83C5B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6260800" y="1592837"/>
            <a:ext cx="5321600" cy="4525963"/>
          </a:xfrm>
          <a:ln w="25400">
            <a:solidFill>
              <a:schemeClr val="tx1"/>
            </a:solidFill>
          </a:ln>
        </p:spPr>
        <p:txBody>
          <a:bodyPr tIns="228600">
            <a:normAutofit/>
          </a:bodyPr>
          <a:lstStyle>
            <a:lvl1pPr marL="0" indent="0">
              <a:buNone/>
              <a:defRPr sz="2667" b="0" i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71D19512-769A-1A2D-AE4B-615827F538DF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F2268B94-524E-AC43-BBB9-6965E0248C33}" type="datetime1">
              <a:rPr lang="en-US" smtClean="0"/>
              <a:t>10/8/26</a:t>
            </a:fld>
            <a:endParaRPr lang="en-US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88537417-0F7B-4AB8-2913-FC8911CF4DFA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© Steve Beaty and others as cited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6C508543-3E8A-F349-1E14-7A34163E0A10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8BADA5E7-275A-0142-8584-066D5199CC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90078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406052" y="6308727"/>
            <a:ext cx="1169155" cy="485424"/>
          </a:xfrm>
          <a:prstGeom prst="rect">
            <a:avLst/>
          </a:prstGeom>
        </p:spPr>
        <p:txBody>
          <a:bodyPr/>
          <a:lstStyle/>
          <a:p>
            <a:fld id="{0647EA94-B14A-464D-A653-D62F9427C725}" type="datetime1">
              <a:rPr lang="en-US" smtClean="0"/>
              <a:t>10/8/26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Steve Beaty and others as cited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ADA5E7-275A-0142-8584-066D5199CC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91311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D92DC31-8A1B-D6EF-9DCB-F31748611F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E61270-3BC5-784D-9113-048EB371D990}" type="datetime1">
              <a:rPr lang="en-US" smtClean="0"/>
              <a:t>10/8/26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E733F8A-5589-31C8-DB78-246D75351B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Steve Beaty and others as cited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F4200DB-D3DA-2D0A-8CD3-6E48E32FC5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ADA5E7-275A-0142-8584-066D5199CC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97241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5C487D0D-A6BE-50D0-4804-465FF9AE0F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3200F1-F65B-194F-A5DE-AAA7619A5033}" type="datetime1">
              <a:rPr lang="en-US" smtClean="0"/>
              <a:t>10/8/26</a:t>
            </a:fld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FF4343B0-C3EA-68AB-7293-4C580E1ED6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Steve Beaty and others as cited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498496D9-0557-9109-1A11-35D97D8FDD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ADA5E7-275A-0142-8584-066D5199CC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1432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0B955B-3757-0FEC-8150-652A2829B605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524000" y="2921168"/>
            <a:ext cx="9144000" cy="1015663"/>
          </a:xfrm>
        </p:spPr>
        <p:txBody>
          <a:bodyPr anchor="ctr" anchorCtr="0">
            <a:spAutoFit/>
          </a:bodyPr>
          <a:lstStyle>
            <a:lvl1pPr algn="ctr">
              <a:defRPr sz="6000"/>
            </a:lvl1pPr>
          </a:lstStyle>
          <a:p>
            <a:r>
              <a:rPr lang="en-US" dirty="0"/>
              <a:t>Click to edit Section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323134-95A2-6423-76C0-9D75A168C9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62997C-0643-ED4A-AE2F-8EF27DDEAB0D}" type="datetime1">
              <a:rPr lang="en-US" smtClean="0"/>
              <a:t>10/8/26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19F5F4-E2F3-BFD8-53AA-6A6F195FC6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Steve Beaty and others as cited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B90BEB-A9D1-FF29-0E8C-A755B6F986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ADA5E7-275A-0142-8584-066D5199CC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38573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0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9"/>
            <a:ext cx="10972800" cy="1143000"/>
          </a:xfrm>
          <a:prstGeom prst="roundRect">
            <a:avLst>
              <a:gd name="adj" fmla="val 44167"/>
            </a:avLst>
          </a:prstGeom>
          <a:solidFill>
            <a:schemeClr val="bg1">
              <a:alpha val="95000"/>
            </a:schemeClr>
          </a:solidFill>
          <a:effectLst>
            <a:softEdge rad="0"/>
          </a:effectLst>
          <a:scene3d>
            <a:camera prst="orthographicFront"/>
            <a:lightRig rig="threePt" dir="t"/>
          </a:scene3d>
          <a:sp3d>
            <a:bevelT/>
          </a:sp3d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oundRect">
            <a:avLst/>
          </a:prstGeom>
          <a:solidFill>
            <a:schemeClr val="bg1">
              <a:alpha val="95000"/>
            </a:schemeClr>
          </a:solidFill>
          <a:effectLst>
            <a:softEdge rad="63500"/>
          </a:effectLst>
          <a:scene3d>
            <a:camera prst="orthographicFront"/>
            <a:lightRig rig="threePt" dir="t"/>
          </a:scene3d>
          <a:sp3d>
            <a:bevelT/>
          </a:sp3d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881809" y="6308727"/>
            <a:ext cx="7945363" cy="487680"/>
          </a:xfrm>
          <a:prstGeom prst="roundRect">
            <a:avLst>
              <a:gd name="adj" fmla="val 48894"/>
            </a:avLst>
          </a:prstGeom>
          <a:solidFill>
            <a:schemeClr val="bg1"/>
          </a:solidFill>
          <a:effectLst>
            <a:softEdge rad="63500"/>
          </a:effectLst>
        </p:spPr>
        <p:txBody>
          <a:bodyPr vert="horz" lIns="91440" tIns="45720" rIns="91440" bIns="45720" rtlCol="0" anchor="ctr"/>
          <a:lstStyle>
            <a:lvl1pPr algn="ctr">
              <a:defRPr sz="1600">
                <a:solidFill>
                  <a:schemeClr val="tx1"/>
                </a:solidFill>
              </a:defRPr>
            </a:lvl1pPr>
          </a:lstStyle>
          <a:p>
            <a:r>
              <a:rPr lang="en-US"/>
              <a:t>© Steve Beaty and others as cited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34686" y="6308727"/>
            <a:ext cx="879777" cy="487680"/>
          </a:xfrm>
          <a:prstGeom prst="roundRect">
            <a:avLst>
              <a:gd name="adj" fmla="val 43034"/>
            </a:avLst>
          </a:prstGeom>
          <a:solidFill>
            <a:schemeClr val="bg1"/>
          </a:solidFill>
          <a:effectLst>
            <a:softEdge rad="63500"/>
          </a:effectLst>
        </p:spPr>
        <p:txBody>
          <a:bodyPr vert="horz" lIns="91440" tIns="45720" rIns="91440" bIns="45720" rtlCol="0" anchor="ctr"/>
          <a:lstStyle>
            <a:lvl1pPr algn="ct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BADA5E7-275A-0142-8584-066D5199CC3B}" type="slidenum">
              <a:rPr lang="en-US" smtClean="0"/>
              <a:t>‹#›</a:t>
            </a:fld>
            <a:endParaRPr lang="en-US"/>
          </a:p>
        </p:txBody>
      </p:sp>
      <p:sp>
        <p:nvSpPr>
          <p:cNvPr id="4" name="Date Placeholder 2">
            <a:extLst>
              <a:ext uri="{FF2B5EF4-FFF2-40B4-BE49-F238E27FC236}">
                <a16:creationId xmlns:a16="http://schemas.microsoft.com/office/drawing/2014/main" id="{B6740CB2-DC30-5DDB-24B8-219C9C3F596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05141" y="6308727"/>
            <a:ext cx="1169155" cy="487680"/>
          </a:xfrm>
          <a:prstGeom prst="roundRect">
            <a:avLst>
              <a:gd name="adj" fmla="val 48894"/>
            </a:avLst>
          </a:prstGeom>
          <a:solidFill>
            <a:schemeClr val="bg1"/>
          </a:solidFill>
          <a:effectLst>
            <a:softEdge rad="63500"/>
          </a:effectLst>
        </p:spPr>
        <p:txBody>
          <a:bodyPr anchor="ctr" anchorCtr="0"/>
          <a:lstStyle>
            <a:lvl1pPr algn="ctr">
              <a:defRPr sz="1600"/>
            </a:lvl1pPr>
          </a:lstStyle>
          <a:p>
            <a:fld id="{328D3DA6-7887-1549-8D73-EC35594C9F14}" type="datetime1">
              <a:rPr lang="en-US" smtClean="0"/>
              <a:t>10/8/26</a:t>
            </a:fld>
            <a:endParaRPr lang="en-US"/>
          </a:p>
        </p:txBody>
      </p:sp>
      <p:sp>
        <p:nvSpPr>
          <p:cNvPr id="7" name="SlideTotal">
            <a:extLst>
              <a:ext uri="{FF2B5EF4-FFF2-40B4-BE49-F238E27FC236}">
                <a16:creationId xmlns:a16="http://schemas.microsoft.com/office/drawing/2014/main" id="{B74D5B4B-3C60-FF6A-4438-A067B7DE7333}"/>
              </a:ext>
            </a:extLst>
          </p:cNvPr>
          <p:cNvSpPr txBox="1">
            <a:spLocks/>
          </p:cNvSpPr>
          <p:nvPr/>
        </p:nvSpPr>
        <p:spPr>
          <a:xfrm>
            <a:off x="10702624" y="6308727"/>
            <a:ext cx="879777" cy="487680"/>
          </a:xfrm>
          <a:prstGeom prst="roundRect">
            <a:avLst>
              <a:gd name="adj" fmla="val 43034"/>
            </a:avLst>
          </a:prstGeom>
          <a:solidFill>
            <a:schemeClr val="bg1"/>
          </a:solidFill>
          <a:effectLst>
            <a:softEdge rad="63500"/>
          </a:effectLst>
        </p:spPr>
        <p:txBody>
          <a:bodyPr vert="horz" lIns="121920" tIns="60960" rIns="121920" bIns="6096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600"/>
              <a:t>46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16181092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</p:sldLayoutIdLst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xmlns:p14="http://schemas.microsoft.com/office/powerpoint/2010/main" spd="slow">
        <p:fade/>
      </p:transition>
    </mc:Fallback>
  </mc:AlternateContent>
  <p:hf hdr="0"/>
  <p:txStyles>
    <p:titleStyle>
      <a:lvl1pPr algn="ctr" defTabSz="609555" rtl="0" eaLnBrk="1" latinLnBrk="0" hangingPunct="1">
        <a:spcBef>
          <a:spcPct val="0"/>
        </a:spcBef>
        <a:buNone/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166" indent="-457166" algn="l" defTabSz="609555" rtl="0" eaLnBrk="1" latinLnBrk="0" hangingPunct="1">
        <a:spcBef>
          <a:spcPct val="20000"/>
        </a:spcBef>
        <a:buFont typeface="Arial"/>
        <a:buChar char="•"/>
        <a:defRPr sz="4267" kern="1200">
          <a:solidFill>
            <a:schemeClr val="tx1"/>
          </a:solidFill>
          <a:latin typeface="+mn-lt"/>
          <a:ea typeface="+mn-ea"/>
          <a:cs typeface="+mn-cs"/>
        </a:defRPr>
      </a:lvl1pPr>
      <a:lvl2pPr marL="990526" indent="-380973" algn="l" defTabSz="609555" rtl="0" eaLnBrk="1" latinLnBrk="0" hangingPunct="1">
        <a:spcBef>
          <a:spcPct val="20000"/>
        </a:spcBef>
        <a:buFont typeface="Arial"/>
        <a:buChar char="–"/>
        <a:defRPr sz="3733" kern="1200">
          <a:solidFill>
            <a:schemeClr val="tx1"/>
          </a:solidFill>
          <a:latin typeface="+mn-lt"/>
          <a:ea typeface="+mn-ea"/>
          <a:cs typeface="+mn-cs"/>
        </a:defRPr>
      </a:lvl2pPr>
      <a:lvl3pPr marL="1523885" indent="-304776" algn="l" defTabSz="609555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440" indent="-304776" algn="l" defTabSz="609555" rtl="0" eaLnBrk="1" latinLnBrk="0" hangingPunct="1">
        <a:spcBef>
          <a:spcPct val="20000"/>
        </a:spcBef>
        <a:buFont typeface="Arial"/>
        <a:buChar char="–"/>
        <a:defRPr sz="2667" kern="1200">
          <a:solidFill>
            <a:schemeClr val="tx1"/>
          </a:solidFill>
          <a:latin typeface="+mn-lt"/>
          <a:ea typeface="+mn-ea"/>
          <a:cs typeface="+mn-cs"/>
        </a:defRPr>
      </a:lvl4pPr>
      <a:lvl5pPr marL="2742994" indent="-304776" algn="l" defTabSz="609555" rtl="0" eaLnBrk="1" latinLnBrk="0" hangingPunct="1">
        <a:spcBef>
          <a:spcPct val="20000"/>
        </a:spcBef>
        <a:buFont typeface="Arial"/>
        <a:buChar char="»"/>
        <a:defRPr sz="2667" kern="1200">
          <a:solidFill>
            <a:schemeClr val="tx1"/>
          </a:solidFill>
          <a:latin typeface="+mn-lt"/>
          <a:ea typeface="+mn-ea"/>
          <a:cs typeface="+mn-cs"/>
        </a:defRPr>
      </a:lvl5pPr>
      <a:lvl6pPr marL="3352548" indent="-304776" algn="l" defTabSz="60955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104" indent="-304776" algn="l" defTabSz="60955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656" indent="-304776" algn="l" defTabSz="60955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212" indent="-304776" algn="l" defTabSz="60955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0955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55" algn="l" defTabSz="60955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08" algn="l" defTabSz="60955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664" algn="l" defTabSz="60955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218" algn="l" defTabSz="60955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772" algn="l" defTabSz="60955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326" algn="l" defTabSz="60955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6880" algn="l" defTabSz="60955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435" algn="l" defTabSz="60955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musanim.com/miller1956/" TargetMode="Externa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6A21B21B-6185-CD15-7AF7-2B1A0DE21DA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Chapter 02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EE7FF18-ED33-9A57-DBFE-A7E037FDBE2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Ruby for Rails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DF78BC1-8C59-9161-B8B1-B462F801CF10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8E3E6BB3-5034-8643-991C-4735733095F0}" type="datetime1">
              <a:rPr lang="en-US" smtClean="0"/>
              <a:t>10/8/26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30C5964-D91F-C01B-B6BC-DB9ECA5AEAAB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/>
              <a:t>© Steve Beaty and others as cited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76AAD6-E672-200C-8102-2947E1EED52E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37D050C8-32A2-8944-BC0A-E76DEAECED1E}" type="slidenum">
              <a:rPr lang="en-US" smtClean="0"/>
              <a:pPr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348375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47451E1-C097-EFD5-4D10-F7711BD221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Ruby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288035DB-CC76-4905-3B00-2633A119F9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dirty="0"/>
              <a:t>Ruby is an interpreted, high-level, general-purpose programming language which supports multiple programming paradigms.</a:t>
            </a:r>
          </a:p>
          <a:p>
            <a:r>
              <a:rPr lang="en-US" dirty="0"/>
              <a:t>It was designed with an emphasis on programming productivity and simplicity.</a:t>
            </a:r>
          </a:p>
          <a:p>
            <a:r>
              <a:rPr lang="en-US" dirty="0"/>
              <a:t>In Ruby, everything is an object, including primitive data types. - Wikipedia</a:t>
            </a:r>
          </a:p>
          <a:p>
            <a:r>
              <a:rPr lang="en-US" dirty="0"/>
              <a:t>Creator: Yukihiro "Matz" Matsumoto (mid-1990s, Japan)</a:t>
            </a:r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1520BB-191A-905C-C331-A31FA0CFAD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1D3F73-77EE-7845-B76D-FA2F2F520AB3}" type="datetime1">
              <a:rPr lang="en-US" smtClean="0"/>
              <a:t>10/8/26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C53FCC-020F-2733-EB65-55C465D7F9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Steve Beaty and others as cited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8D94A0-11FC-0F05-8890-5E559C41CA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ADA5E7-275A-0142-8584-066D5199CC3B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40772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31145782-09D2-FC32-35A5-5D03126833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Why Ruby?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9D982C38-2732-5081-281B-D0C0FBCE7F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Ruby expresses complicated ideas succinctly</a:t>
            </a:r>
          </a:p>
          <a:p>
            <a:r>
              <a:rPr lang="en-US" dirty="0"/>
              <a:t>Key Benefits</a:t>
            </a:r>
          </a:p>
          <a:p>
            <a:pPr lvl="1"/>
            <a:r>
              <a:rPr lang="en-US" dirty="0"/>
              <a:t>Fewer lines written = fewer bugs written</a:t>
            </a:r>
          </a:p>
          <a:p>
            <a:pPr lvl="1"/>
            <a:r>
              <a:rPr lang="en-US" dirty="0"/>
              <a:t>Object-oriented with unique features</a:t>
            </a:r>
          </a:p>
          <a:p>
            <a:pPr lvl="1"/>
            <a:r>
              <a:rPr lang="en-US" dirty="0"/>
              <a:t>Features not found in many other languages</a:t>
            </a:r>
          </a:p>
          <a:p>
            <a:pPr lvl="1"/>
            <a:r>
              <a:rPr lang="en-US" dirty="0"/>
              <a:t>Expressive and readable</a:t>
            </a:r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77F615-FDD3-E09B-AAB8-1793C170F8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51E927-B9AC-CD4D-84D7-0615264A608E}" type="datetime1">
              <a:rPr lang="en-US" smtClean="0"/>
              <a:t>10/8/26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4E28F6-0DB6-4A36-4231-F6984A54B3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Steve Beaty and others as cited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E4E42F-A09B-11A1-D7C4-D01275E462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ADA5E7-275A-0142-8584-066D5199CC3B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1016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11E8B7F2-DE01-FB05-41E2-90E168EA6C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Learning Outcomes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DFE9CF7B-94EE-25C6-937E-7ECE45751C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By the end of this chapter, you will be able to:</a:t>
            </a:r>
          </a:p>
          <a:p>
            <a:pPr marL="742950" indent="-742950">
              <a:buFont typeface="+mj-lt"/>
              <a:buAutoNum type="arabicPeriod"/>
            </a:pPr>
            <a:r>
              <a:rPr lang="en-US" dirty="0"/>
              <a:t>Leverage the big four OOP principles for better design</a:t>
            </a:r>
          </a:p>
          <a:p>
            <a:pPr marL="742950" indent="-742950">
              <a:buFont typeface="+mj-lt"/>
              <a:buAutoNum type="arabicPeriod"/>
            </a:pPr>
            <a:r>
              <a:rPr lang="en-US" dirty="0"/>
              <a:t>Create appropriate APIs using encapsulation and visibility</a:t>
            </a:r>
          </a:p>
          <a:p>
            <a:pPr marL="742950" indent="-742950">
              <a:buFont typeface="+mj-lt"/>
              <a:buAutoNum type="arabicPeriod"/>
            </a:pPr>
            <a:r>
              <a:rPr lang="en-US" dirty="0"/>
              <a:t>Use Ruby's strengths to create readable, parsimonious programs</a:t>
            </a:r>
          </a:p>
          <a:p>
            <a:pPr marL="742950" indent="-742950">
              <a:buFont typeface="+mj-lt"/>
              <a:buAutoNum type="arabicPeriod"/>
            </a:pPr>
            <a:r>
              <a:rPr lang="en-US" dirty="0"/>
              <a:t>Apply knowledge to other programming languages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B9309D-5D8F-8DC6-2802-F4EA536D49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19E87E-7FD4-7C40-97B7-4078D69332D7}" type="datetime1">
              <a:rPr lang="en-US" smtClean="0"/>
              <a:t>10/8/26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546344-63B6-085B-C1DB-80B7B9A88A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Steve Beaty and others as cited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FD1AC1-A09B-F02E-3DF7-05EDF2080A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ADA5E7-275A-0142-8584-066D5199CC3B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88006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6014593-83A8-91DF-1CAE-1F53D1B73D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Key Terms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5CDA0C11-F41E-014B-711F-9050F0B8DC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dirty="0"/>
              <a:t>Abstraction - Hiding complexity</a:t>
            </a:r>
          </a:p>
          <a:p>
            <a:r>
              <a:rPr lang="en-US" dirty="0"/>
              <a:t>Encapsulation - Hiding implementation</a:t>
            </a:r>
          </a:p>
          <a:p>
            <a:r>
              <a:rPr lang="en-US" dirty="0"/>
              <a:t>Inheritance - Gaining functionality from parent classes</a:t>
            </a:r>
          </a:p>
          <a:p>
            <a:r>
              <a:rPr lang="en-US" dirty="0"/>
              <a:t>Polymorphism - Many shapes, same interface</a:t>
            </a:r>
          </a:p>
          <a:p>
            <a:r>
              <a:rPr lang="en-US" dirty="0"/>
              <a:t>Dynamic arrays - Auto-sizing arrays</a:t>
            </a:r>
          </a:p>
          <a:p>
            <a:r>
              <a:rPr lang="en-US" dirty="0"/>
              <a:t>Dictionaries - Key/value pairs (Hashes)</a:t>
            </a:r>
          </a:p>
          <a:p>
            <a:r>
              <a:rPr lang="en-US" dirty="0"/>
              <a:t>Symbols - Immutable identifiers</a:t>
            </a:r>
          </a:p>
          <a:p>
            <a:r>
              <a:rPr lang="en-US" dirty="0"/>
              <a:t>Scopes - Visibility</a:t>
            </a:r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28F220-6EAC-3F51-AD6A-55338B673B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F40E2E-D5D0-754C-807C-09F71F6F8809}" type="datetime1">
              <a:rPr lang="en-US" smtClean="0"/>
              <a:t>10/8/26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3B9826-9463-20D3-4B6A-9F2CD5CC46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Steve Beaty and others as cited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06D182-59CC-E628-CA11-94DB2DE6F7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ADA5E7-275A-0142-8584-066D5199CC3B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89083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67290F4-CE05-7543-484B-CD277E79B30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459504"/>
            <a:ext cx="9144000" cy="1938992"/>
          </a:xfrm>
        </p:spPr>
        <p:txBody>
          <a:bodyPr/>
          <a:lstStyle/>
          <a:p>
            <a:r>
              <a:rPr lang="en-US" dirty="0"/>
              <a:t>Object Oriented Programming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DD49BC8-F5ED-4FC1-33E6-1825F1F9F0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A18D05-9339-FF4A-A4DD-675B2127E4CA}" type="datetime1">
              <a:rPr lang="en-US" smtClean="0"/>
              <a:t>10/8/26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FDB4B05-A5AE-6945-B494-1E2BEB8372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Steve Beaty and others as cited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1EC079E-9818-8236-1766-B7F04950C7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ADA5E7-275A-0142-8584-066D5199CC3B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1547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xmlns:p14="http://schemas.microsoft.com/office/powerpoint/2010/main"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632EC2B9-437F-3687-7162-D7750BF705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Why OOP?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15E01B7-2F29-E5A9-C4BE-4C78F157F0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dirty="0"/>
              <a:t>The Challenge: Modern programs are too complex for humans to understand.</a:t>
            </a:r>
          </a:p>
          <a:p>
            <a:r>
              <a:rPr lang="en-US" dirty="0"/>
              <a:t>Miller's Law (1956)</a:t>
            </a:r>
          </a:p>
          <a:p>
            <a:pPr lvl="1"/>
            <a:r>
              <a:rPr lang="en-US" dirty="0"/>
              <a:t>"The Magical Number Seven, Plus or Minus Two”</a:t>
            </a:r>
          </a:p>
          <a:p>
            <a:pPr lvl="2"/>
            <a:r>
              <a:rPr lang="en-US" dirty="0">
                <a:hlinkClick r:id="rId2"/>
              </a:rPr>
              <a:t>https://www.musanim.com/miller1956/</a:t>
            </a:r>
            <a:r>
              <a:rPr lang="en-US" dirty="0"/>
              <a:t> </a:t>
            </a:r>
          </a:p>
          <a:p>
            <a:pPr lvl="1"/>
            <a:r>
              <a:rPr lang="en-US" dirty="0"/>
              <a:t>Working memory: 7 ± 2 items</a:t>
            </a:r>
          </a:p>
          <a:p>
            <a:pPr lvl="1"/>
            <a:r>
              <a:rPr lang="en-US" dirty="0"/>
              <a:t>Beyond this, we cannot understand programs</a:t>
            </a:r>
          </a:p>
          <a:p>
            <a:pPr lvl="1"/>
            <a:r>
              <a:rPr lang="en-US" dirty="0"/>
              <a:t>Must narrow focus to manageable chunks</a:t>
            </a:r>
          </a:p>
          <a:p>
            <a:pPr lvl="1"/>
            <a:r>
              <a:rPr lang="en-US" dirty="0"/>
              <a:t>Need to abstract away details</a:t>
            </a:r>
          </a:p>
          <a:p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969BB92-7307-F571-8D55-2D52C2A430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E9D983-ED5A-B848-8AB8-BE692DD0C0A2}" type="datetime1">
              <a:rPr lang="en-US" smtClean="0"/>
              <a:t>10/8/26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EC24F8-82A6-5F04-0723-76047049E6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Steve Beaty and others as cited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ED1368-17AA-EE96-74F3-777A61A6FE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ADA5E7-275A-0142-8584-066D5199CC3B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83774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DCA49419-5FDF-7515-C1E3-A279ED0B6E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Origins of OOP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50FE85DD-ABE0-B975-F617-4D12BB1B3B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Simula 67 (1967)</a:t>
            </a:r>
          </a:p>
          <a:p>
            <a:pPr lvl="1"/>
            <a:r>
              <a:rPr lang="en-US" dirty="0"/>
              <a:t>Introduced objects, classes, inheritance, virtual procedures, garbage collection</a:t>
            </a:r>
          </a:p>
          <a:p>
            <a:r>
              <a:rPr lang="en-US" dirty="0"/>
              <a:t>Smalltalk</a:t>
            </a:r>
          </a:p>
          <a:p>
            <a:pPr lvl="1"/>
            <a:r>
              <a:rPr lang="en-US" dirty="0"/>
              <a:t>Inspired by Simula 67</a:t>
            </a:r>
          </a:p>
          <a:p>
            <a:r>
              <a:rPr lang="en-US" dirty="0"/>
              <a:t>Ruby</a:t>
            </a:r>
          </a:p>
          <a:p>
            <a:pPr lvl="1"/>
            <a:r>
              <a:rPr lang="en-US" dirty="0"/>
              <a:t>Inspired by Smalltalk (and others)</a:t>
            </a:r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C4D8C9-842D-12E7-BF12-19726F1A00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3B5AEE-D016-5845-A603-55E6AA975FE7}" type="datetime1">
              <a:rPr lang="en-US" smtClean="0"/>
              <a:t>10/8/26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E111A1-4815-0C09-D836-C8E5EFA58D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Steve Beaty and others as cited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07B462-00BD-113C-B17E-CDDDA95F54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ADA5E7-275A-0142-8584-066D5199CC3B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32596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F97BF108-C345-01AC-C215-8AEF46E15F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Core OOP Concepts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1FBD596A-A800-33A0-66EB-210BB8D2D8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Independent objects holding their own state</a:t>
            </a:r>
          </a:p>
          <a:p>
            <a:pPr lvl="1"/>
            <a:r>
              <a:rPr lang="en-US" dirty="0"/>
              <a:t>State = values object's variables hold</a:t>
            </a:r>
          </a:p>
          <a:p>
            <a:pPr lvl="1"/>
            <a:r>
              <a:rPr lang="en-US" dirty="0"/>
              <a:t>Objects expose services via public messages</a:t>
            </a:r>
          </a:p>
          <a:p>
            <a:pPr lvl="1"/>
            <a:r>
              <a:rPr lang="en-US" dirty="0"/>
              <a:t>Messages = methods</a:t>
            </a:r>
          </a:p>
          <a:p>
            <a:pPr lvl="1"/>
            <a:r>
              <a:rPr lang="en-US" dirty="0"/>
              <a:t>Classes = blueprints for objects</a:t>
            </a:r>
          </a:p>
          <a:p>
            <a:pPr lvl="1"/>
            <a:r>
              <a:rPr lang="en-US" dirty="0"/>
              <a:t>Instantiation = creating new objects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086418-0B6E-D91C-9411-02AB36413F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DDA4CC-BF54-AA4A-9DFD-327C00ADAE0D}" type="datetime1">
              <a:rPr lang="en-US" smtClean="0"/>
              <a:t>10/8/26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D36499-0C39-C13E-7EAC-2291F3FC43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Steve Beaty and others as cited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8DF58D-CD68-318B-0651-182D3C5BEB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ADA5E7-275A-0142-8584-066D5199CC3B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72994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C58E7F4-703D-3173-ABD9-B845B522BE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The Big Four of OOP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9619A7FF-064A-DA7E-353B-F2B27A391B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A, E, I, O+1</a:t>
            </a:r>
          </a:p>
          <a:p>
            <a:pPr lvl="1"/>
            <a:r>
              <a:rPr lang="en-US" dirty="0"/>
              <a:t>Mnemonic: The vowels (with off-by-one error)</a:t>
            </a:r>
          </a:p>
          <a:p>
            <a:pPr marL="742950" indent="-742950">
              <a:buFont typeface="+mj-lt"/>
              <a:buAutoNum type="arabicPeriod"/>
            </a:pPr>
            <a:r>
              <a:rPr lang="en-US" dirty="0"/>
              <a:t>A - Abstraction</a:t>
            </a:r>
          </a:p>
          <a:p>
            <a:pPr marL="742950" indent="-742950">
              <a:buFont typeface="+mj-lt"/>
              <a:buAutoNum type="arabicPeriod"/>
            </a:pPr>
            <a:r>
              <a:rPr lang="en-US" dirty="0"/>
              <a:t>E - Encapsulation</a:t>
            </a:r>
          </a:p>
          <a:p>
            <a:pPr marL="742950" indent="-742950">
              <a:buFont typeface="+mj-lt"/>
              <a:buAutoNum type="arabicPeriod"/>
            </a:pPr>
            <a:r>
              <a:rPr lang="en-US" dirty="0"/>
              <a:t>I - Inheritance</a:t>
            </a:r>
          </a:p>
          <a:p>
            <a:pPr marL="742950" indent="-742950">
              <a:buFont typeface="+mj-lt"/>
              <a:buAutoNum type="arabicPeriod"/>
            </a:pPr>
            <a:r>
              <a:rPr lang="en-US" dirty="0"/>
              <a:t>O+1 (P) - Polymorphism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2587AF-30D5-EC5A-A0B6-3B59BF361F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777E6F-E087-3743-BD7C-29172737885E}" type="datetime1">
              <a:rPr lang="en-US" smtClean="0"/>
              <a:t>10/8/26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C35DF9-2A94-8C58-5F7F-59728FD89E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Steve Beaty and others as cited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8D1545-F2DD-E673-5BB0-11073DDD3D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ADA5E7-275A-0142-8584-066D5199CC3B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57090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538B5E4-B538-8143-3DD7-242D1D10FD7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Abstraction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9F92C04-9942-5F29-51FB-1F6F201BED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E141F3-F07A-D048-805A-773A4B75C1FD}" type="datetime1">
              <a:rPr lang="en-US" smtClean="0"/>
              <a:t>10/8/26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0F441DD-49A6-5278-0B3B-6DB24C344F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Steve Beaty and others as cited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E2FADBF-8FB5-F81A-3BE3-AB3A4D6F5A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ADA5E7-275A-0142-8584-066D5199CC3B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7085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xmlns:p14="http://schemas.microsoft.com/office/powerpoint/2010/main"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77A4CEEC-07F5-BF53-0C1D-0B5105E9AE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A: Abstraction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37693D1-8062-A7EC-6CCF-A5E36CC841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dirty="0"/>
              <a:t>Most important OOP principle</a:t>
            </a:r>
          </a:p>
          <a:p>
            <a:r>
              <a:rPr lang="en-US"/>
              <a:t>Need </a:t>
            </a:r>
            <a:r>
              <a:rPr lang="en-US" dirty="0"/>
              <a:t>to abstract away from data details.</a:t>
            </a:r>
          </a:p>
          <a:p>
            <a:r>
              <a:rPr lang="en-US" dirty="0"/>
              <a:t>In the end, everything is numbers</a:t>
            </a:r>
          </a:p>
          <a:p>
            <a:pPr lvl="1"/>
            <a:r>
              <a:rPr lang="en-US" dirty="0"/>
              <a:t>Booleans = 1-bit numbers</a:t>
            </a:r>
          </a:p>
          <a:p>
            <a:pPr lvl="1"/>
            <a:r>
              <a:rPr lang="en-US" dirty="0"/>
              <a:t>Dates = multiple numbers</a:t>
            </a:r>
          </a:p>
          <a:p>
            <a:pPr lvl="1"/>
            <a:r>
              <a:rPr lang="en-US" dirty="0"/>
              <a:t>Images = files of numbers</a:t>
            </a:r>
          </a:p>
          <a:p>
            <a:pPr lvl="1"/>
            <a:r>
              <a:rPr lang="en-US" dirty="0"/>
              <a:t>Audio/video = numbers representing sounds/frames</a:t>
            </a:r>
          </a:p>
          <a:p>
            <a:pPr lvl="1"/>
            <a:r>
              <a:rPr lang="en-US" dirty="0"/>
              <a:t>Phone numbers = numbers or strings</a:t>
            </a:r>
          </a:p>
          <a:p>
            <a:r>
              <a:rPr lang="en-US" dirty="0"/>
              <a:t>But we don't want to care how data are stored</a:t>
            </a:r>
          </a:p>
          <a:p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4C5B817-CE99-909F-DF17-331FD3DB6E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FE608B-AA4E-3E48-A2CF-6B191BB6A76E}" type="datetime1">
              <a:rPr lang="en-US" smtClean="0"/>
              <a:t>10/8/26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B64935-ACB0-636F-4DF6-A738CA9ABC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Steve Beaty and others as cited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FD035B-EF81-C619-71CC-DF1340568A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ADA5E7-275A-0142-8584-066D5199CC3B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06852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1438EA07-BB29-CD2A-91C9-29E62EFC13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Abstraction in Practice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A4FAEEAE-4894-914F-71D0-E436CBE444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With dates, we don't want to know</a:t>
            </a:r>
          </a:p>
          <a:p>
            <a:pPr lvl="1"/>
            <a:r>
              <a:rPr lang="en-US" dirty="0"/>
              <a:t>Is day, month, or year stored first?</a:t>
            </a:r>
          </a:p>
          <a:p>
            <a:pPr lvl="1"/>
            <a:r>
              <a:rPr lang="en-US" dirty="0"/>
              <a:t>How are leap years handled?</a:t>
            </a:r>
          </a:p>
          <a:p>
            <a:pPr lvl="1"/>
            <a:r>
              <a:rPr lang="en-US" dirty="0"/>
              <a:t>How leap seconds work?</a:t>
            </a:r>
          </a:p>
          <a:p>
            <a:r>
              <a:rPr lang="en-US" dirty="0"/>
              <a:t>We just want</a:t>
            </a:r>
          </a:p>
          <a:p>
            <a:pPr lvl="1"/>
            <a:r>
              <a:rPr lang="en-US" dirty="0"/>
              <a:t>Date arithmetic that works</a:t>
            </a:r>
          </a:p>
          <a:p>
            <a:pPr lvl="1"/>
            <a:r>
              <a:rPr lang="en-US" dirty="0"/>
              <a:t>Invalid dates handled correctly</a:t>
            </a:r>
          </a:p>
          <a:p>
            <a:pPr lvl="1"/>
            <a:r>
              <a:rPr lang="en-US" dirty="0"/>
              <a:t>Assume implementation is correct</a:t>
            </a:r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E9BD17-6281-5B03-8485-5EAE18B4A7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150AD1-1865-8042-8449-D86073B06F66}" type="datetime1">
              <a:rPr lang="en-US" smtClean="0"/>
              <a:t>10/8/26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34FDA15-7BFE-F837-4D2F-0194C9628C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Steve Beaty and others as cited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8244AC-E0F2-9B64-5F9A-08870F6802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ADA5E7-275A-0142-8584-066D5199CC3B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75000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AFD8EF8E-0EE1-68D9-FCEC-536A056866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Creating Good APIs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54A626A-DF6D-C47F-4CCB-1B76C8E3B1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Every class creates an Application Programming Interface (API)</a:t>
            </a:r>
          </a:p>
          <a:p>
            <a:r>
              <a:rPr lang="en-US" dirty="0"/>
              <a:t>Best Practices</a:t>
            </a:r>
          </a:p>
          <a:p>
            <a:pPr lvl="1"/>
            <a:r>
              <a:rPr lang="en-US" dirty="0"/>
              <a:t>Keep API as constant as possible</a:t>
            </a:r>
          </a:p>
          <a:p>
            <a:pPr lvl="1"/>
            <a:r>
              <a:rPr lang="en-US" dirty="0"/>
              <a:t>Clients know what to expect</a:t>
            </a:r>
          </a:p>
          <a:p>
            <a:pPr lvl="1"/>
            <a:r>
              <a:rPr lang="en-US" dirty="0"/>
              <a:t>Services that work (and we don't care how)</a:t>
            </a:r>
          </a:p>
          <a:p>
            <a:pPr lvl="1"/>
            <a:r>
              <a:rPr lang="en-US" dirty="0"/>
              <a:t>Underlying data/algorithms can change</a:t>
            </a:r>
          </a:p>
          <a:p>
            <a:pPr lvl="1"/>
            <a:r>
              <a:rPr lang="en-US" dirty="0"/>
              <a:t>Interface stays the same</a:t>
            </a:r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3B8442-BC45-887B-358B-476D27234C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E87016-EA7B-0048-91CA-DAB8751C7869}" type="datetime1">
              <a:rPr lang="en-US" smtClean="0"/>
              <a:t>10/8/26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8B46949-27BE-B770-E5FB-4778BCD588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Steve Beaty and others as cited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28F1FA-7C00-D7D1-A09F-D38DF15EE5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ADA5E7-275A-0142-8584-066D5199CC3B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40049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2EF2F25E-FDE4-C752-B307-18650D54F5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Arrays in Ruby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03E015CF-E6EB-F487-54D7-BBF4842F68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Different from most languages</a:t>
            </a:r>
          </a:p>
          <a:p>
            <a:pPr lvl="1"/>
            <a:r>
              <a:rPr lang="en-US" dirty="0"/>
              <a:t>Store values of any type (all references to objects)</a:t>
            </a:r>
          </a:p>
          <a:p>
            <a:pPr lvl="1"/>
            <a:r>
              <a:rPr lang="en-US" dirty="0"/>
              <a:t>Dynamically sized (auto-grow/shrink)</a:t>
            </a:r>
          </a:p>
          <a:p>
            <a:pPr lvl="1"/>
            <a:r>
              <a:rPr lang="en-US" dirty="0"/>
              <a:t>Gaps filled with ‘nil’ </a:t>
            </a:r>
          </a:p>
          <a:p>
            <a:pPr lvl="1"/>
            <a:r>
              <a:rPr lang="en-US" dirty="0"/>
              <a:t>0-based indexing </a:t>
            </a:r>
          </a:p>
          <a:p>
            <a:pPr lvl="1"/>
            <a:r>
              <a:rPr lang="en-US" dirty="0"/>
              <a:t>Negative indices from end</a:t>
            </a:r>
          </a:p>
          <a:p>
            <a:pPr lvl="1"/>
            <a:r>
              <a:rPr lang="en-US" dirty="0"/>
              <a:t>Slices using indices or ranges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1F560F-9B59-9B4A-53A3-169962662B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0FE391-C27E-0E45-8307-4243F30223EF}" type="datetime1">
              <a:rPr lang="en-US" smtClean="0"/>
              <a:t>10/8/26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6EA389-02DF-ABAD-A33D-25AA4AAF3D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Steve Beaty and others as cited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A5D6F3-522B-9EFB-14CB-FC07736217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ADA5E7-275A-0142-8584-066D5199CC3B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97597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3C801895-E5FA-3714-80DD-D84C34D385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Unconventional Operations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2758E20F-DBB4-B77A-1075-466F5E29D4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dirty="0"/>
              <a:t>Set: intersection, union, difference</a:t>
            </a:r>
          </a:p>
          <a:p>
            <a:r>
              <a:rPr lang="en-US" dirty="0"/>
              <a:t>Queue: push, pop, shift, unshift</a:t>
            </a:r>
          </a:p>
          <a:p>
            <a:r>
              <a:rPr lang="en-US" dirty="0"/>
              <a:t>Enumerable: map, each, find, select, grep, sort</a:t>
            </a:r>
          </a:p>
          <a:p>
            <a:r>
              <a:rPr lang="en-US" dirty="0"/>
              <a:t>Functional Programming</a:t>
            </a:r>
          </a:p>
          <a:p>
            <a:pPr lvl="1"/>
            <a:r>
              <a:rPr lang="en-US" dirty="0"/>
              <a:t>Most methods take blocks for functional operations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BDD4AD-8409-6DB1-7BDC-5B5408EFFE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45898F-0AAF-2049-81C5-E6AAF3EBAD29}" type="datetime1">
              <a:rPr lang="en-US" smtClean="0"/>
              <a:t>10/8/26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441C13-9F7B-B0BA-5E7E-1D388FD7D7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Steve Beaty and others as cited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61FAE5-905A-69D8-85B2-5278D32A2F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ADA5E7-275A-0142-8584-066D5199CC3B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19570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669ABFAA-A03E-0E33-BB34-B3DA2618E2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A Few Examples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8649F24-27E1-6D0F-643B-68D9B99634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47500" lnSpcReduction="20000"/>
          </a:bodyPr>
          <a:lstStyle/>
          <a:p>
            <a:r>
              <a:rPr lang="en-US" dirty="0" err="1">
                <a:solidFill>
                  <a:schemeClr val="accent5"/>
                </a:solidFill>
              </a:rPr>
              <a:t>irb</a:t>
            </a:r>
            <a:r>
              <a:rPr lang="en-US" dirty="0">
                <a:solidFill>
                  <a:schemeClr val="accent5"/>
                </a:solidFill>
              </a:rPr>
              <a:t>&gt; a = [/regex/]</a:t>
            </a:r>
          </a:p>
          <a:p>
            <a:r>
              <a:rPr lang="en-US" dirty="0">
                <a:solidFill>
                  <a:schemeClr val="accent5"/>
                </a:solidFill>
              </a:rPr>
              <a:t>=&gt; [/regex/]</a:t>
            </a:r>
          </a:p>
          <a:p>
            <a:r>
              <a:rPr lang="en-US" dirty="0" err="1">
                <a:solidFill>
                  <a:schemeClr val="accent5"/>
                </a:solidFill>
              </a:rPr>
              <a:t>irb</a:t>
            </a:r>
            <a:r>
              <a:rPr lang="en-US" dirty="0">
                <a:solidFill>
                  <a:schemeClr val="accent5"/>
                </a:solidFill>
              </a:rPr>
              <a:t>&gt; a[5] = "foo"</a:t>
            </a:r>
          </a:p>
          <a:p>
            <a:r>
              <a:rPr lang="en-US" dirty="0">
                <a:solidFill>
                  <a:schemeClr val="accent5"/>
                </a:solidFill>
              </a:rPr>
              <a:t>=&gt; "foo"</a:t>
            </a:r>
          </a:p>
          <a:p>
            <a:r>
              <a:rPr lang="en-US" dirty="0" err="1">
                <a:solidFill>
                  <a:schemeClr val="accent5"/>
                </a:solidFill>
              </a:rPr>
              <a:t>irb</a:t>
            </a:r>
            <a:r>
              <a:rPr lang="en-US" dirty="0">
                <a:solidFill>
                  <a:schemeClr val="accent5"/>
                </a:solidFill>
              </a:rPr>
              <a:t>&gt; a</a:t>
            </a:r>
          </a:p>
          <a:p>
            <a:r>
              <a:rPr lang="en-US" dirty="0">
                <a:solidFill>
                  <a:schemeClr val="accent5"/>
                </a:solidFill>
              </a:rPr>
              <a:t>=&gt; [/regex/, nil, nil, nil, nil, "foo"]</a:t>
            </a:r>
          </a:p>
          <a:p>
            <a:r>
              <a:rPr lang="en-US" dirty="0" err="1">
                <a:solidFill>
                  <a:schemeClr val="accent5"/>
                </a:solidFill>
              </a:rPr>
              <a:t>irb</a:t>
            </a:r>
            <a:r>
              <a:rPr lang="en-US" dirty="0">
                <a:solidFill>
                  <a:schemeClr val="accent5"/>
                </a:solidFill>
              </a:rPr>
              <a:t>&gt; </a:t>
            </a:r>
            <a:r>
              <a:rPr lang="en-US" dirty="0" err="1">
                <a:solidFill>
                  <a:schemeClr val="accent5"/>
                </a:solidFill>
              </a:rPr>
              <a:t>a.pop</a:t>
            </a:r>
            <a:endParaRPr lang="en-US" dirty="0">
              <a:solidFill>
                <a:schemeClr val="accent5"/>
              </a:solidFill>
            </a:endParaRPr>
          </a:p>
          <a:p>
            <a:r>
              <a:rPr lang="en-US" dirty="0">
                <a:solidFill>
                  <a:schemeClr val="accent5"/>
                </a:solidFill>
              </a:rPr>
              <a:t>=&gt; "foo"</a:t>
            </a:r>
          </a:p>
          <a:p>
            <a:r>
              <a:rPr lang="en-US" dirty="0" err="1">
                <a:solidFill>
                  <a:schemeClr val="accent5"/>
                </a:solidFill>
              </a:rPr>
              <a:t>irb</a:t>
            </a:r>
            <a:r>
              <a:rPr lang="en-US" dirty="0">
                <a:solidFill>
                  <a:schemeClr val="accent5"/>
                </a:solidFill>
              </a:rPr>
              <a:t>&gt; </a:t>
            </a:r>
            <a:r>
              <a:rPr lang="en-US" dirty="0" err="1">
                <a:solidFill>
                  <a:schemeClr val="accent5"/>
                </a:solidFill>
              </a:rPr>
              <a:t>a.compact</a:t>
            </a:r>
            <a:endParaRPr lang="en-US" dirty="0">
              <a:solidFill>
                <a:schemeClr val="accent5"/>
              </a:solidFill>
            </a:endParaRPr>
          </a:p>
          <a:p>
            <a:r>
              <a:rPr lang="en-US" dirty="0">
                <a:solidFill>
                  <a:schemeClr val="accent5"/>
                </a:solidFill>
              </a:rPr>
              <a:t>=&gt; [/regex/]</a:t>
            </a:r>
          </a:p>
          <a:p>
            <a:endParaRPr lang="en-US" dirty="0">
              <a:solidFill>
                <a:schemeClr val="accent5"/>
              </a:solidFill>
            </a:endParaRPr>
          </a:p>
          <a:p>
            <a:r>
              <a:rPr lang="en-US" dirty="0" err="1">
                <a:solidFill>
                  <a:schemeClr val="accent5"/>
                </a:solidFill>
              </a:rPr>
              <a:t>irb</a:t>
            </a:r>
            <a:r>
              <a:rPr lang="en-US" dirty="0">
                <a:solidFill>
                  <a:schemeClr val="accent5"/>
                </a:solidFill>
              </a:rPr>
              <a:t>&gt; b = (0..5).</a:t>
            </a:r>
            <a:r>
              <a:rPr lang="en-US" dirty="0" err="1">
                <a:solidFill>
                  <a:schemeClr val="accent5"/>
                </a:solidFill>
              </a:rPr>
              <a:t>to_a</a:t>
            </a:r>
            <a:endParaRPr lang="en-US" dirty="0">
              <a:solidFill>
                <a:schemeClr val="accent5"/>
              </a:solidFill>
            </a:endParaRPr>
          </a:p>
          <a:p>
            <a:r>
              <a:rPr lang="en-US" dirty="0">
                <a:solidFill>
                  <a:schemeClr val="accent5"/>
                </a:solidFill>
              </a:rPr>
              <a:t>=&gt; [0, 1, 2, 3, 4, 5]</a:t>
            </a:r>
          </a:p>
          <a:p>
            <a:r>
              <a:rPr lang="en-US" dirty="0" err="1">
                <a:solidFill>
                  <a:schemeClr val="accent5"/>
                </a:solidFill>
              </a:rPr>
              <a:t>irb</a:t>
            </a:r>
            <a:r>
              <a:rPr lang="en-US" dirty="0">
                <a:solidFill>
                  <a:schemeClr val="accent5"/>
                </a:solidFill>
              </a:rPr>
              <a:t>&gt; </a:t>
            </a:r>
            <a:r>
              <a:rPr lang="en-US" dirty="0" err="1">
                <a:solidFill>
                  <a:schemeClr val="accent5"/>
                </a:solidFill>
              </a:rPr>
              <a:t>b.map</a:t>
            </a:r>
            <a:r>
              <a:rPr lang="en-US" dirty="0">
                <a:solidFill>
                  <a:schemeClr val="accent5"/>
                </a:solidFill>
              </a:rPr>
              <a:t>{|</a:t>
            </a:r>
            <a:r>
              <a:rPr lang="en-US" dirty="0" err="1">
                <a:solidFill>
                  <a:schemeClr val="accent5"/>
                </a:solidFill>
              </a:rPr>
              <a:t>i</a:t>
            </a:r>
            <a:r>
              <a:rPr lang="en-US" dirty="0">
                <a:solidFill>
                  <a:schemeClr val="accent5"/>
                </a:solidFill>
              </a:rPr>
              <a:t>| </a:t>
            </a:r>
            <a:r>
              <a:rPr lang="en-US" dirty="0" err="1">
                <a:solidFill>
                  <a:schemeClr val="accent5"/>
                </a:solidFill>
              </a:rPr>
              <a:t>i</a:t>
            </a:r>
            <a:r>
              <a:rPr lang="en-US" dirty="0">
                <a:solidFill>
                  <a:schemeClr val="accent5"/>
                </a:solidFill>
              </a:rPr>
              <a:t>*</a:t>
            </a:r>
            <a:r>
              <a:rPr lang="en-US" dirty="0" err="1">
                <a:solidFill>
                  <a:schemeClr val="accent5"/>
                </a:solidFill>
              </a:rPr>
              <a:t>i</a:t>
            </a:r>
            <a:r>
              <a:rPr lang="en-US" dirty="0">
                <a:solidFill>
                  <a:schemeClr val="accent5"/>
                </a:solidFill>
              </a:rPr>
              <a:t>}</a:t>
            </a:r>
          </a:p>
          <a:p>
            <a:r>
              <a:rPr lang="en-US" dirty="0">
                <a:solidFill>
                  <a:schemeClr val="accent5"/>
                </a:solidFill>
              </a:rPr>
              <a:t>=&gt; [0, 1, 4, 9, 16, 25]</a:t>
            </a:r>
          </a:p>
          <a:p>
            <a:r>
              <a:rPr lang="en-US" dirty="0" err="1">
                <a:solidFill>
                  <a:schemeClr val="accent5"/>
                </a:solidFill>
              </a:rPr>
              <a:t>irb</a:t>
            </a:r>
            <a:r>
              <a:rPr lang="en-US" dirty="0">
                <a:solidFill>
                  <a:schemeClr val="accent5"/>
                </a:solidFill>
              </a:rPr>
              <a:t>&gt; </a:t>
            </a:r>
            <a:r>
              <a:rPr lang="en-US" dirty="0" err="1">
                <a:solidFill>
                  <a:schemeClr val="accent5"/>
                </a:solidFill>
              </a:rPr>
              <a:t>b.filter</a:t>
            </a:r>
            <a:r>
              <a:rPr lang="en-US" dirty="0">
                <a:solidFill>
                  <a:schemeClr val="accent5"/>
                </a:solidFill>
              </a:rPr>
              <a:t>{|</a:t>
            </a:r>
            <a:r>
              <a:rPr lang="en-US" dirty="0" err="1">
                <a:solidFill>
                  <a:schemeClr val="accent5"/>
                </a:solidFill>
              </a:rPr>
              <a:t>i</a:t>
            </a:r>
            <a:r>
              <a:rPr lang="en-US" dirty="0">
                <a:solidFill>
                  <a:schemeClr val="accent5"/>
                </a:solidFill>
              </a:rPr>
              <a:t>| </a:t>
            </a:r>
            <a:r>
              <a:rPr lang="en-US" dirty="0" err="1">
                <a:solidFill>
                  <a:schemeClr val="accent5"/>
                </a:solidFill>
              </a:rPr>
              <a:t>i</a:t>
            </a:r>
            <a:r>
              <a:rPr lang="en-US" dirty="0">
                <a:solidFill>
                  <a:schemeClr val="accent5"/>
                </a:solidFill>
              </a:rPr>
              <a:t> &gt; 3}</a:t>
            </a:r>
          </a:p>
          <a:p>
            <a:r>
              <a:rPr lang="en-US" dirty="0">
                <a:solidFill>
                  <a:schemeClr val="accent5"/>
                </a:solidFill>
              </a:rPr>
              <a:t>=&gt; [4, 5]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648CAFB-AF6D-6636-43DD-CD85548A5C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341451-21CD-F843-9A69-EE776739F145}" type="datetime1">
              <a:rPr lang="en-US" smtClean="0"/>
              <a:t>10/8/26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7204CC-BC28-D5E8-9F79-D215D9DAB9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Steve Beaty and others as cited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956CE2-D8EC-5885-F8AD-37CB9CA673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ADA5E7-275A-0142-8584-066D5199CC3B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10480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xmlns:p14="http://schemas.microsoft.com/office/powerpoint/2010/main"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98BFED-26D0-5A05-F922-E91B92308E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Set Operations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4E0ADE-0A92-C4E0-8367-AC984C34FF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47500" lnSpcReduction="20000"/>
          </a:bodyPr>
          <a:lstStyle/>
          <a:p>
            <a:r>
              <a:rPr lang="en-US" dirty="0" err="1">
                <a:solidFill>
                  <a:schemeClr val="accent5"/>
                </a:solidFill>
              </a:rPr>
              <a:t>irb</a:t>
            </a:r>
            <a:r>
              <a:rPr lang="en-US" dirty="0">
                <a:solidFill>
                  <a:schemeClr val="accent5"/>
                </a:solidFill>
              </a:rPr>
              <a:t>&gt; c = (0..5).</a:t>
            </a:r>
            <a:r>
              <a:rPr lang="en-US" dirty="0" err="1">
                <a:solidFill>
                  <a:schemeClr val="accent5"/>
                </a:solidFill>
              </a:rPr>
              <a:t>to_a</a:t>
            </a:r>
            <a:endParaRPr lang="en-US" dirty="0">
              <a:solidFill>
                <a:schemeClr val="accent5"/>
              </a:solidFill>
            </a:endParaRPr>
          </a:p>
          <a:p>
            <a:r>
              <a:rPr lang="en-US" dirty="0">
                <a:solidFill>
                  <a:schemeClr val="accent5"/>
                </a:solidFill>
              </a:rPr>
              <a:t>=&gt; [0, 1, 2, 3, 4, 5]</a:t>
            </a:r>
          </a:p>
          <a:p>
            <a:r>
              <a:rPr lang="en-US" dirty="0" err="1">
                <a:solidFill>
                  <a:schemeClr val="accent5"/>
                </a:solidFill>
              </a:rPr>
              <a:t>irb</a:t>
            </a:r>
            <a:r>
              <a:rPr lang="en-US" dirty="0">
                <a:solidFill>
                  <a:schemeClr val="accent5"/>
                </a:solidFill>
              </a:rPr>
              <a:t>&gt; d = (4..10).</a:t>
            </a:r>
            <a:r>
              <a:rPr lang="en-US" dirty="0" err="1">
                <a:solidFill>
                  <a:schemeClr val="accent5"/>
                </a:solidFill>
              </a:rPr>
              <a:t>to_a</a:t>
            </a:r>
            <a:endParaRPr lang="en-US" dirty="0">
              <a:solidFill>
                <a:schemeClr val="accent5"/>
              </a:solidFill>
            </a:endParaRPr>
          </a:p>
          <a:p>
            <a:r>
              <a:rPr lang="en-US" dirty="0">
                <a:solidFill>
                  <a:schemeClr val="accent5"/>
                </a:solidFill>
              </a:rPr>
              <a:t>=&gt; [4, 5, 6, 7, 8, 9, 10]</a:t>
            </a:r>
          </a:p>
          <a:p>
            <a:br>
              <a:rPr lang="en-US" dirty="0">
                <a:solidFill>
                  <a:schemeClr val="accent5"/>
                </a:solidFill>
              </a:rPr>
            </a:br>
            <a:endParaRPr lang="en-US" dirty="0">
              <a:solidFill>
                <a:schemeClr val="accent5"/>
              </a:solidFill>
            </a:endParaRPr>
          </a:p>
          <a:p>
            <a:r>
              <a:rPr lang="en-US" dirty="0" err="1">
                <a:solidFill>
                  <a:schemeClr val="accent5"/>
                </a:solidFill>
              </a:rPr>
              <a:t>irb</a:t>
            </a:r>
            <a:r>
              <a:rPr lang="en-US" dirty="0">
                <a:solidFill>
                  <a:schemeClr val="accent5"/>
                </a:solidFill>
              </a:rPr>
              <a:t>&gt; </a:t>
            </a:r>
            <a:r>
              <a:rPr lang="en-US" dirty="0" err="1">
                <a:solidFill>
                  <a:schemeClr val="accent5"/>
                </a:solidFill>
              </a:rPr>
              <a:t>c.union</a:t>
            </a:r>
            <a:r>
              <a:rPr lang="en-US" dirty="0">
                <a:solidFill>
                  <a:schemeClr val="accent5"/>
                </a:solidFill>
              </a:rPr>
              <a:t>(d)</a:t>
            </a:r>
          </a:p>
          <a:p>
            <a:r>
              <a:rPr lang="en-US" dirty="0">
                <a:solidFill>
                  <a:schemeClr val="accent5"/>
                </a:solidFill>
              </a:rPr>
              <a:t>=&gt; [0, 1, 2, 3, 4, 5, 6, 7, 8, 9, 10]</a:t>
            </a:r>
          </a:p>
          <a:p>
            <a:r>
              <a:rPr lang="en-US" dirty="0" err="1">
                <a:solidFill>
                  <a:schemeClr val="accent5"/>
                </a:solidFill>
              </a:rPr>
              <a:t>irb</a:t>
            </a:r>
            <a:r>
              <a:rPr lang="en-US" dirty="0">
                <a:solidFill>
                  <a:schemeClr val="accent5"/>
                </a:solidFill>
              </a:rPr>
              <a:t>&gt; </a:t>
            </a:r>
            <a:r>
              <a:rPr lang="en-US" dirty="0" err="1">
                <a:solidFill>
                  <a:schemeClr val="accent5"/>
                </a:solidFill>
              </a:rPr>
              <a:t>c.intersection</a:t>
            </a:r>
            <a:r>
              <a:rPr lang="en-US" dirty="0">
                <a:solidFill>
                  <a:schemeClr val="accent5"/>
                </a:solidFill>
              </a:rPr>
              <a:t>(d)</a:t>
            </a:r>
          </a:p>
          <a:p>
            <a:r>
              <a:rPr lang="en-US" dirty="0">
                <a:solidFill>
                  <a:schemeClr val="accent5"/>
                </a:solidFill>
              </a:rPr>
              <a:t>=&gt; [4, 5]</a:t>
            </a:r>
          </a:p>
          <a:p>
            <a:r>
              <a:rPr lang="en-US" dirty="0" err="1">
                <a:solidFill>
                  <a:schemeClr val="accent5"/>
                </a:solidFill>
              </a:rPr>
              <a:t>irb</a:t>
            </a:r>
            <a:r>
              <a:rPr lang="en-US" dirty="0">
                <a:solidFill>
                  <a:schemeClr val="accent5"/>
                </a:solidFill>
              </a:rPr>
              <a:t>&gt; </a:t>
            </a:r>
            <a:r>
              <a:rPr lang="en-US" dirty="0" err="1">
                <a:solidFill>
                  <a:schemeClr val="accent5"/>
                </a:solidFill>
              </a:rPr>
              <a:t>c.difference</a:t>
            </a:r>
            <a:r>
              <a:rPr lang="en-US" dirty="0">
                <a:solidFill>
                  <a:schemeClr val="accent5"/>
                </a:solidFill>
              </a:rPr>
              <a:t>(d)</a:t>
            </a:r>
          </a:p>
          <a:p>
            <a:r>
              <a:rPr lang="en-US" dirty="0">
                <a:solidFill>
                  <a:schemeClr val="accent5"/>
                </a:solidFill>
              </a:rPr>
              <a:t>=&gt; [0, 1, 2, 3]</a:t>
            </a:r>
          </a:p>
          <a:p>
            <a:br>
              <a:rPr lang="en-US" dirty="0">
                <a:solidFill>
                  <a:schemeClr val="accent5"/>
                </a:solidFill>
              </a:rPr>
            </a:br>
            <a:endParaRPr lang="en-US" dirty="0">
              <a:solidFill>
                <a:schemeClr val="accent5"/>
              </a:solidFill>
            </a:endParaRPr>
          </a:p>
          <a:p>
            <a:r>
              <a:rPr lang="en-US" dirty="0" err="1">
                <a:solidFill>
                  <a:schemeClr val="accent5"/>
                </a:solidFill>
              </a:rPr>
              <a:t>irb</a:t>
            </a:r>
            <a:r>
              <a:rPr lang="en-US" dirty="0">
                <a:solidFill>
                  <a:schemeClr val="accent5"/>
                </a:solidFill>
              </a:rPr>
              <a:t>&gt; c[-1]</a:t>
            </a:r>
          </a:p>
          <a:p>
            <a:r>
              <a:rPr lang="en-US" dirty="0">
                <a:solidFill>
                  <a:schemeClr val="accent5"/>
                </a:solidFill>
              </a:rPr>
              <a:t>=&gt; 5</a:t>
            </a:r>
          </a:p>
          <a:p>
            <a:r>
              <a:rPr lang="en-US" dirty="0" err="1">
                <a:solidFill>
                  <a:schemeClr val="accent5"/>
                </a:solidFill>
              </a:rPr>
              <a:t>irb</a:t>
            </a:r>
            <a:r>
              <a:rPr lang="en-US" dirty="0">
                <a:solidFill>
                  <a:schemeClr val="accent5"/>
                </a:solidFill>
              </a:rPr>
              <a:t>&gt; c[3,2]</a:t>
            </a:r>
          </a:p>
          <a:p>
            <a:r>
              <a:rPr lang="en-US" dirty="0">
                <a:solidFill>
                  <a:schemeClr val="accent5"/>
                </a:solidFill>
              </a:rPr>
              <a:t>=&gt; [3, 4]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8C92E0-E802-8F3D-B88B-5E56457CB7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7EE822-FB14-3D4D-B33B-603A12083A33}" type="datetime1">
              <a:rPr lang="en-US" smtClean="0"/>
              <a:t>10/8/26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DB3FEF-9CFA-DC66-7834-FC627EF7A7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Steve Beaty and others as cited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BB10A7-DB94-C64F-6FAC-161F4122DA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ADA5E7-275A-0142-8584-066D5199CC3B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7040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F2F5EC-6741-5A7C-9524-45E0F4A09E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Symbols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280696D-E29D-00D3-7719-AC46BEF080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dirty="0"/>
              <a:t>Begin with : sigil</a:t>
            </a:r>
          </a:p>
          <a:p>
            <a:pPr>
              <a:buNone/>
            </a:pPr>
            <a:r>
              <a:rPr lang="en-US" dirty="0">
                <a:solidFill>
                  <a:srgbClr val="A0BA66"/>
                </a:solidFill>
                <a:latin typeface="Menlo" panose="020B0609030804020204" pitchFamily="49" charset="0"/>
              </a:rPr>
              <a:t>:</a:t>
            </a:r>
            <a:r>
              <a:rPr lang="en-US" dirty="0" err="1">
                <a:solidFill>
                  <a:srgbClr val="A0BA66"/>
                </a:solidFill>
                <a:latin typeface="Menlo" panose="020B0609030804020204" pitchFamily="49" charset="0"/>
              </a:rPr>
              <a:t>symbol_name</a:t>
            </a:r>
            <a:endParaRPr lang="en-US" dirty="0">
              <a:solidFill>
                <a:srgbClr val="A0BA66"/>
              </a:solidFill>
              <a:latin typeface="Menlo" panose="020B0609030804020204" pitchFamily="49" charset="0"/>
            </a:endParaRPr>
          </a:p>
          <a:p>
            <a:r>
              <a:rPr lang="en-US" dirty="0"/>
              <a:t>Characteristics</a:t>
            </a:r>
          </a:p>
          <a:p>
            <a:pPr lvl="1"/>
            <a:r>
              <a:rPr lang="en-US" dirty="0"/>
              <a:t>Creates global identifier (not a variable)</a:t>
            </a:r>
          </a:p>
          <a:p>
            <a:pPr lvl="1"/>
            <a:r>
              <a:rPr lang="en-US" dirty="0"/>
              <a:t>Is an object</a:t>
            </a:r>
          </a:p>
          <a:p>
            <a:pPr lvl="1"/>
            <a:r>
              <a:rPr lang="en-US" dirty="0"/>
              <a:t>Cannot assign to or change once created</a:t>
            </a:r>
          </a:p>
          <a:p>
            <a:pPr lvl="1"/>
            <a:r>
              <a:rPr lang="en-US" dirty="0"/>
              <a:t>Added to global set named Symbol</a:t>
            </a:r>
          </a:p>
          <a:p>
            <a:pPr lvl="1"/>
            <a:r>
              <a:rPr lang="en-US" dirty="0"/>
              <a:t>Similar to a dynamic global enumeration</a:t>
            </a:r>
          </a:p>
          <a:p>
            <a:r>
              <a:rPr lang="en-US" dirty="0"/>
              <a:t>Rails uses symbols extensively for parameters</a:t>
            </a:r>
          </a:p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4B6AD5E-E029-57B1-8456-F6720CD385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086B79-4729-3B4F-8EEB-F32BF7EC7B79}" type="datetime1">
              <a:rPr lang="en-US" smtClean="0"/>
              <a:t>10/8/26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0EA29C-FD4C-BC37-B1CA-C1518614FD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Steve Beaty and others as cited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112074-CF3D-F242-4F59-7624A12FA1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ADA5E7-275A-0142-8584-066D5199CC3B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9797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586F112-BE0C-D7F0-82F7-EB31F24839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Hashes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997EDC1F-7A01-5B6E-5261-CAC5077F1C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Key/value pairs, aka associative arrays, maps, hashes</a:t>
            </a:r>
          </a:p>
          <a:p>
            <a:r>
              <a:rPr lang="en-US" dirty="0"/>
              <a:t>Properties</a:t>
            </a:r>
          </a:p>
          <a:p>
            <a:pPr lvl="1"/>
            <a:r>
              <a:rPr lang="en-US" dirty="0"/>
              <a:t>Values accessed by key</a:t>
            </a:r>
          </a:p>
          <a:p>
            <a:pPr lvl="1"/>
            <a:r>
              <a:rPr lang="en-US" dirty="0"/>
              <a:t>Keys must be unique</a:t>
            </a:r>
          </a:p>
          <a:p>
            <a:pPr lvl="1"/>
            <a:r>
              <a:rPr lang="en-US" dirty="0"/>
              <a:t>Values can duplicate</a:t>
            </a:r>
          </a:p>
          <a:p>
            <a:pPr lvl="1"/>
            <a:r>
              <a:rPr lang="en-US" dirty="0"/>
              <a:t>Last assignment wins</a:t>
            </a:r>
          </a:p>
          <a:p>
            <a:pPr lvl="1"/>
            <a:r>
              <a:rPr lang="en-US" dirty="0"/>
              <a:t>Any object with hash method can be key (including nil, regex)</a:t>
            </a:r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701164-5B20-EDDF-8795-4FBE6F5470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21BFE8-2434-4D43-AA2A-4ABAC399C5D5}" type="datetime1">
              <a:rPr lang="en-US" smtClean="0"/>
              <a:t>10/8/26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7BFA73-5524-DEF7-C6CD-6A5D3A03F5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Steve Beaty and others as cited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ECDFB3-FB0D-F03E-DB8B-4DF72B2E7F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ADA5E7-275A-0142-8584-066D5199CC3B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15462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1AAAB0E9-ADC6-D87C-53E9-C2AAB94901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Hash Examples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8C1EA768-DBE6-04A2-97C8-B5FA70540B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en-US" dirty="0" err="1">
                <a:solidFill>
                  <a:schemeClr val="accent3"/>
                </a:solidFill>
              </a:rPr>
              <a:t>irb</a:t>
            </a:r>
            <a:r>
              <a:rPr lang="en-US" dirty="0">
                <a:solidFill>
                  <a:schemeClr val="accent3"/>
                </a:solidFill>
              </a:rPr>
              <a:t>&gt; a = {"a" =&gt; "b"}</a:t>
            </a:r>
          </a:p>
          <a:p>
            <a:r>
              <a:rPr lang="en-US" dirty="0">
                <a:solidFill>
                  <a:schemeClr val="accent3"/>
                </a:solidFill>
              </a:rPr>
              <a:t>=&gt; {"a"=&gt;"b"}</a:t>
            </a:r>
          </a:p>
          <a:p>
            <a:r>
              <a:rPr lang="en-US" dirty="0" err="1">
                <a:solidFill>
                  <a:schemeClr val="accent3"/>
                </a:solidFill>
              </a:rPr>
              <a:t>irb</a:t>
            </a:r>
            <a:r>
              <a:rPr lang="en-US" dirty="0">
                <a:solidFill>
                  <a:schemeClr val="accent3"/>
                </a:solidFill>
              </a:rPr>
              <a:t>&gt; a = {:a =&gt; "b"}</a:t>
            </a:r>
          </a:p>
          <a:p>
            <a:r>
              <a:rPr lang="en-US" dirty="0">
                <a:solidFill>
                  <a:schemeClr val="accent3"/>
                </a:solidFill>
              </a:rPr>
              <a:t>=&gt; {:a=&gt;"b"}</a:t>
            </a:r>
          </a:p>
          <a:p>
            <a:r>
              <a:rPr lang="en-US" dirty="0" err="1">
                <a:solidFill>
                  <a:schemeClr val="accent3"/>
                </a:solidFill>
              </a:rPr>
              <a:t>irb</a:t>
            </a:r>
            <a:r>
              <a:rPr lang="en-US" dirty="0">
                <a:solidFill>
                  <a:schemeClr val="accent3"/>
                </a:solidFill>
              </a:rPr>
              <a:t>&gt; a = {a: "b"}    # Symbol shorthand</a:t>
            </a:r>
          </a:p>
          <a:p>
            <a:r>
              <a:rPr lang="en-US" dirty="0">
                <a:solidFill>
                  <a:schemeClr val="accent3"/>
                </a:solidFill>
              </a:rPr>
              <a:t>=&gt; {:a=&gt;"b"}</a:t>
            </a:r>
          </a:p>
          <a:p>
            <a:br>
              <a:rPr lang="en-US" dirty="0">
                <a:solidFill>
                  <a:schemeClr val="accent3"/>
                </a:solidFill>
              </a:rPr>
            </a:br>
            <a:endParaRPr lang="en-US" dirty="0">
              <a:solidFill>
                <a:schemeClr val="accent3"/>
              </a:solidFill>
            </a:endParaRPr>
          </a:p>
          <a:p>
            <a:r>
              <a:rPr lang="en-US" dirty="0" err="1">
                <a:solidFill>
                  <a:schemeClr val="accent3"/>
                </a:solidFill>
              </a:rPr>
              <a:t>irb</a:t>
            </a:r>
            <a:r>
              <a:rPr lang="en-US" dirty="0">
                <a:solidFill>
                  <a:schemeClr val="accent3"/>
                </a:solidFill>
              </a:rPr>
              <a:t>&gt; a = {1 =&gt; "one"}</a:t>
            </a:r>
          </a:p>
          <a:p>
            <a:r>
              <a:rPr lang="en-US" dirty="0">
                <a:solidFill>
                  <a:schemeClr val="accent3"/>
                </a:solidFill>
              </a:rPr>
              <a:t>=&gt; {1=&gt;"one"}</a:t>
            </a:r>
          </a:p>
          <a:p>
            <a:r>
              <a:rPr lang="en-US" dirty="0" err="1">
                <a:solidFill>
                  <a:schemeClr val="accent3"/>
                </a:solidFill>
              </a:rPr>
              <a:t>irb</a:t>
            </a:r>
            <a:r>
              <a:rPr lang="en-US" dirty="0">
                <a:solidFill>
                  <a:schemeClr val="accent3"/>
                </a:solidFill>
              </a:rPr>
              <a:t>&gt; a = {/regex/ =&gt; "regex"}</a:t>
            </a:r>
          </a:p>
          <a:p>
            <a:r>
              <a:rPr lang="en-US" dirty="0">
                <a:solidFill>
                  <a:schemeClr val="accent3"/>
                </a:solidFill>
              </a:rPr>
              <a:t>=&gt; {/regex/=&gt;"regex"}</a:t>
            </a:r>
          </a:p>
          <a:p>
            <a:r>
              <a:rPr lang="en-US" dirty="0" err="1">
                <a:solidFill>
                  <a:schemeClr val="accent3"/>
                </a:solidFill>
              </a:rPr>
              <a:t>irb</a:t>
            </a:r>
            <a:r>
              <a:rPr lang="en-US" dirty="0">
                <a:solidFill>
                  <a:schemeClr val="accent3"/>
                </a:solidFill>
              </a:rPr>
              <a:t>&gt; a = {nil =&gt; "nil"}</a:t>
            </a:r>
          </a:p>
          <a:p>
            <a:r>
              <a:rPr lang="en-US" dirty="0">
                <a:solidFill>
                  <a:schemeClr val="accent3"/>
                </a:solidFill>
              </a:rPr>
              <a:t>=&gt; {nil=&gt;"nil"}</a:t>
            </a:r>
          </a:p>
          <a:p>
            <a:br>
              <a:rPr lang="en-US" dirty="0">
                <a:solidFill>
                  <a:schemeClr val="accent3"/>
                </a:solidFill>
              </a:rPr>
            </a:br>
            <a:endParaRPr lang="en-US" dirty="0">
              <a:solidFill>
                <a:schemeClr val="accent3"/>
              </a:solidFill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5407812-6942-8E08-3E16-BCA492977552}"/>
              </a:ext>
            </a:extLst>
          </p:cNvPr>
          <p:cNvSpPr>
            <a:spLocks noGrp="1"/>
          </p:cNvSpPr>
          <p:nvPr>
            <p:ph idx="13"/>
          </p:nvPr>
        </p:nvSpPr>
        <p:spPr/>
        <p:txBody>
          <a:bodyPr>
            <a:normAutofit/>
          </a:bodyPr>
          <a:lstStyle/>
          <a:p>
            <a:r>
              <a:rPr lang="en-US" sz="1700" dirty="0" err="1">
                <a:solidFill>
                  <a:schemeClr val="accent3"/>
                </a:solidFill>
              </a:rPr>
              <a:t>irb</a:t>
            </a:r>
            <a:r>
              <a:rPr lang="en-US" sz="1700" dirty="0">
                <a:solidFill>
                  <a:schemeClr val="accent3"/>
                </a:solidFill>
              </a:rPr>
              <a:t>&gt; a = {a: "eh", b: "bee", c: "see"}</a:t>
            </a:r>
          </a:p>
          <a:p>
            <a:r>
              <a:rPr lang="en-US" sz="1700" dirty="0">
                <a:solidFill>
                  <a:schemeClr val="accent3"/>
                </a:solidFill>
              </a:rPr>
              <a:t>=&gt; {:a=&gt;"eh", :b=&gt;"bee", :c=&gt;"see"}</a:t>
            </a:r>
          </a:p>
          <a:p>
            <a:r>
              <a:rPr lang="en-US" sz="1700" dirty="0" err="1">
                <a:solidFill>
                  <a:schemeClr val="accent3"/>
                </a:solidFill>
              </a:rPr>
              <a:t>irb</a:t>
            </a:r>
            <a:r>
              <a:rPr lang="en-US" sz="1700" dirty="0">
                <a:solidFill>
                  <a:schemeClr val="accent3"/>
                </a:solidFill>
              </a:rPr>
              <a:t>&gt; a[:a]</a:t>
            </a:r>
          </a:p>
          <a:p>
            <a:r>
              <a:rPr lang="en-US" sz="1700" dirty="0">
                <a:solidFill>
                  <a:schemeClr val="accent3"/>
                </a:solidFill>
              </a:rPr>
              <a:t>=&gt; "eh"</a:t>
            </a:r>
          </a:p>
          <a:p>
            <a:endParaRPr lang="en-US" sz="1700" dirty="0">
              <a:solidFill>
                <a:schemeClr val="accent3"/>
              </a:solidFill>
            </a:endParaRP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CE16B23-7655-D7B5-8CB0-00456B710B9F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C3A46827-D2EF-0942-82CF-CBC0998C85E5}" type="datetime1">
              <a:rPr lang="en-US" smtClean="0"/>
              <a:t>10/8/26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2AA5874-A453-CDED-99C0-796E5795AF0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© Steve Beaty and others as cited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1409372-A24E-F47F-206B-90E5BD65AA64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8BADA5E7-275A-0142-8584-066D5199CC3B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05736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xmlns:p14="http://schemas.microsoft.com/office/powerpoint/2010/main" spd="slow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2217C8F-B7D4-77AB-6C33-6DD016C0D53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Encapsulation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2D6DC76-E4B6-6454-04C2-BD44605C09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05AF53-41E2-F54B-A553-3E3CE88D26C0}" type="datetime1">
              <a:rPr lang="en-US" smtClean="0"/>
              <a:t>10/8/26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C4E09AA-CB24-EA40-4DCC-4BD7AEEF23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Steve Beaty and others as cited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07231FE-282B-025D-9F77-8F8DC0570A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ADA5E7-275A-0142-8584-066D5199CC3B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03759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36A2935-2BFC-01AC-9746-9703492DF6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The E: Encapsulation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FB950FC-8A40-9F51-9F10-947D2D3EF1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Helps with abstraction and complexity.</a:t>
            </a:r>
          </a:p>
          <a:p>
            <a:r>
              <a:rPr lang="en-US" dirty="0"/>
              <a:t>Historical Context</a:t>
            </a:r>
          </a:p>
          <a:p>
            <a:pPr lvl="1"/>
            <a:r>
              <a:rPr lang="en-US" dirty="0"/>
              <a:t>Unstructured code → Dijkstra's "Go To Statement Considered Harmful" (1968)</a:t>
            </a:r>
          </a:p>
          <a:p>
            <a:pPr lvl="1"/>
            <a:r>
              <a:rPr lang="en-US" dirty="0"/>
              <a:t>Shared mutable data = "go-</a:t>
            </a:r>
            <a:r>
              <a:rPr lang="en-US" dirty="0" err="1"/>
              <a:t>tos</a:t>
            </a:r>
            <a:r>
              <a:rPr lang="en-US" dirty="0"/>
              <a:t>" of data world</a:t>
            </a:r>
          </a:p>
          <a:p>
            <a:pPr lvl="1"/>
            <a:r>
              <a:rPr lang="en-US" dirty="0"/>
              <a:t>Cannot count on values (may be changed by others)</a:t>
            </a:r>
          </a:p>
          <a:p>
            <a:pPr lvl="1"/>
            <a:r>
              <a:rPr lang="en-US" dirty="0"/>
              <a:t>Thread-safety issues</a:t>
            </a:r>
          </a:p>
          <a:p>
            <a:r>
              <a:rPr lang="en-US" dirty="0"/>
              <a:t>Solution: Hide implementation details</a:t>
            </a:r>
          </a:p>
          <a:p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8A10AD6-43B9-5CE7-FF37-8CFE59E280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DCD93D-57BC-7444-8CC7-FBF3F7381B35}" type="datetime1">
              <a:rPr lang="en-US" smtClean="0"/>
              <a:t>10/8/26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FF8FB1-C076-3873-B675-BE33C14CB7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Steve Beaty and others as cited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BE605A-931E-7704-C90D-BDACEDC334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ADA5E7-275A-0142-8584-066D5199CC3B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24172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020A875-E2C3-C0BF-30CF-619B2791AF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Why Encapsulate?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F1F6C7A0-838C-9D77-BFA4-03395B12D8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US" dirty="0"/>
              <a:t>Referential Transparency</a:t>
            </a:r>
          </a:p>
          <a:p>
            <a:pPr lvl="1"/>
            <a:r>
              <a:rPr lang="en-US" dirty="0"/>
              <a:t>Calculated value ↔ constant value (interchangeable)</a:t>
            </a:r>
          </a:p>
          <a:p>
            <a:pPr lvl="1"/>
            <a:r>
              <a:rPr lang="en-US" dirty="0"/>
              <a:t>Don't care how service is provided</a:t>
            </a:r>
          </a:p>
          <a:p>
            <a:pPr lvl="1"/>
            <a:r>
              <a:rPr lang="en-US" dirty="0"/>
              <a:t>Implementation can change</a:t>
            </a:r>
          </a:p>
          <a:p>
            <a:pPr lvl="1"/>
            <a:r>
              <a:rPr lang="en-US" dirty="0"/>
              <a:t>Interface stays the same</a:t>
            </a:r>
          </a:p>
          <a:p>
            <a:pPr lvl="1"/>
            <a:r>
              <a:rPr lang="en-US" dirty="0"/>
              <a:t>Clients don't notice difference</a:t>
            </a:r>
          </a:p>
          <a:p>
            <a:r>
              <a:rPr lang="en-US" dirty="0"/>
              <a:t>Object behavior shouldn't change during lifetime</a:t>
            </a:r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FE5628-D1D9-2440-FAB5-284950F387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8BB9C5-B2F6-BC44-B52E-FD95C94F59F4}" type="datetime1">
              <a:rPr lang="en-US" smtClean="0"/>
              <a:t>10/8/26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7969E1-7BFC-263B-09FE-C1480DED04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Steve Beaty and others as cited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6716A1-F457-98B8-8F80-67AED1023F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ADA5E7-275A-0142-8584-066D5199CC3B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45942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371DA4D2-36AC-11FC-50A4-4B04DA2342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Encapsulation Guidelines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751B4793-0A97-66D3-E8EF-4E4021BF8D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742950" indent="-742950">
              <a:buFont typeface="+mj-lt"/>
              <a:buAutoNum type="arabicPeriod"/>
            </a:pPr>
            <a:r>
              <a:rPr lang="en-US" dirty="0"/>
              <a:t>All variables private/protected - no direct writing by other objects</a:t>
            </a:r>
          </a:p>
          <a:p>
            <a:pPr marL="742950" indent="-742950">
              <a:buFont typeface="+mj-lt"/>
              <a:buAutoNum type="arabicPeriod"/>
            </a:pPr>
            <a:r>
              <a:rPr lang="en-US" dirty="0"/>
              <a:t>All methods reference all variables giving high coherence</a:t>
            </a:r>
          </a:p>
          <a:p>
            <a:pPr marL="742950" indent="-742950">
              <a:buFont typeface="+mj-lt"/>
              <a:buAutoNum type="arabicPeriod"/>
            </a:pPr>
            <a:r>
              <a:rPr lang="en-US" dirty="0"/>
              <a:t>Loosely coupled classes not tightly tied to implementations</a:t>
            </a:r>
          </a:p>
          <a:p>
            <a:pPr marL="742950" indent="-742950">
              <a:buFont typeface="+mj-lt"/>
              <a:buAutoNum type="arabicPeriod"/>
            </a:pPr>
            <a:r>
              <a:rPr lang="en-US" dirty="0"/>
              <a:t>Read-only accessors - no mutators</a:t>
            </a:r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38F582-AF09-D876-5C04-DD2979758D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515F7E-EA99-8F4C-91D7-E7730CD2B797}" type="datetime1">
              <a:rPr lang="en-US" smtClean="0"/>
              <a:t>10/8/26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AB6874C-8D09-A393-40A3-3B1CDA350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Steve Beaty and others as cited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083EBA-7954-703E-76D6-55FE73B8CF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ADA5E7-275A-0142-8584-066D5199CC3B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31098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6D1DC102-C9AE-7465-6D73-9B223B6516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Sigils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6D94F9E6-3A2B-0968-AD06-3B3A57DE62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Ruby uses sigils for scope</a:t>
            </a:r>
          </a:p>
          <a:p>
            <a:pPr lvl="1"/>
            <a:r>
              <a:rPr lang="en-US"/>
              <a:t>Unique </a:t>
            </a:r>
            <a:r>
              <a:rPr lang="en-US" dirty="0"/>
              <a:t>approach</a:t>
            </a:r>
          </a:p>
          <a:p>
            <a:r>
              <a:rPr lang="en-US" dirty="0"/>
              <a:t>A sigil is a type of symbol used in magic 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1874A2-D229-7075-EF2B-195571BABC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0E7A31-8FF2-254F-9619-98E3746E278C}" type="datetime1">
              <a:rPr lang="en-US" smtClean="0"/>
              <a:t>10/8/26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D9962C-ABF0-8DB1-3E74-AEE056A823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Steve Beaty and others as cited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CE6D0B-90B7-8CBB-80E3-D017F9B321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ADA5E7-275A-0142-8584-066D5199CC3B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15685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E708AA9-9716-6FEE-EC10-0E0AEBB04D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4400" dirty="0"/>
              <a:t>Goetic seals from the </a:t>
            </a:r>
            <a:r>
              <a:rPr lang="en-US" sz="4400" i="1" dirty="0"/>
              <a:t>Lesser Key of Solomon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AC658A38-F790-1B53-6A6F-B9D787B82D4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97057" y="1492377"/>
            <a:ext cx="4997885" cy="50909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D9C6BA2-580A-319D-FBC5-CD666ACAF3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C184C3-25F8-9C4B-B6C1-97937543A17A}" type="datetime1">
              <a:rPr lang="en-US" smtClean="0"/>
              <a:t>10/8/26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5B8A498-11AC-C62F-72EC-3F32F49E75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Steve Beaty and others as cited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AD5A531-BA3E-62AF-249A-AF50119B88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ADA5E7-275A-0142-8584-066D5199CC3B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55863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03EF9137-BE2F-963C-81D6-4C5F1B1109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Scopes and Sigils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971031D7-7AC2-90F8-B3C7-E0CD68C0AF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dirty="0"/>
              <a:t>$global - Global variables</a:t>
            </a:r>
          </a:p>
          <a:p>
            <a:r>
              <a:rPr lang="en-US" dirty="0"/>
              <a:t>@@class - Class variables</a:t>
            </a:r>
          </a:p>
          <a:p>
            <a:r>
              <a:rPr lang="en-US" dirty="0"/>
              <a:t>@instance - Instance variables</a:t>
            </a:r>
          </a:p>
          <a:p>
            <a:r>
              <a:rPr lang="en-US" dirty="0"/>
              <a:t>:symbol - Symbols</a:t>
            </a:r>
          </a:p>
          <a:p>
            <a:r>
              <a:rPr lang="en-US" dirty="0"/>
              <a:t>local - Local variables (block scope)</a:t>
            </a:r>
          </a:p>
          <a:p>
            <a:r>
              <a:rPr lang="en-US" dirty="0"/>
              <a:t>Defaults</a:t>
            </a:r>
          </a:p>
          <a:p>
            <a:pPr lvl="1"/>
            <a:r>
              <a:rPr lang="en-US" dirty="0"/>
              <a:t>Class/instance variables: private</a:t>
            </a:r>
          </a:p>
          <a:p>
            <a:pPr lvl="1"/>
            <a:r>
              <a:rPr lang="en-US" dirty="0"/>
              <a:t>Methods: public</a:t>
            </a:r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FCB546-F76C-2990-FC1E-FDF2F5952C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F86987-8A39-F34D-A86D-1956C92208EC}" type="datetime1">
              <a:rPr lang="en-US" smtClean="0"/>
              <a:t>10/8/26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A04F8F-5E09-CB4D-4F66-252A76B8B7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Steve Beaty and others as cited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21B9E8-AFC6-6A96-F5BF-3257FD7B4C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ADA5E7-275A-0142-8584-066D5199CC3B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30064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D61B309-CB42-17E8-131C-86D2D5DF1C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Visibility Modifiers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62D7F9E0-2284-77E0-0651-2EEAA743B5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Methods</a:t>
            </a:r>
          </a:p>
          <a:p>
            <a:pPr lvl="1"/>
            <a:r>
              <a:rPr lang="en-US" dirty="0"/>
              <a:t>public</a:t>
            </a:r>
          </a:p>
          <a:p>
            <a:pPr lvl="1"/>
            <a:r>
              <a:rPr lang="en-US" dirty="0"/>
              <a:t>private</a:t>
            </a:r>
          </a:p>
          <a:p>
            <a:pPr lvl="1"/>
            <a:r>
              <a:rPr lang="en-US" dirty="0"/>
              <a:t>protected</a:t>
            </a:r>
          </a:p>
          <a:p>
            <a:r>
              <a:rPr lang="en-US" dirty="0"/>
              <a:t>For instance variables</a:t>
            </a:r>
          </a:p>
          <a:p>
            <a:pPr lvl="1"/>
            <a:r>
              <a:rPr lang="en-US" dirty="0" err="1"/>
              <a:t>attr_reader</a:t>
            </a:r>
            <a:r>
              <a:rPr lang="en-US" dirty="0"/>
              <a:t> - read-only</a:t>
            </a:r>
          </a:p>
          <a:p>
            <a:pPr lvl="1"/>
            <a:r>
              <a:rPr lang="en-US" dirty="0" err="1"/>
              <a:t>attr_writer</a:t>
            </a:r>
            <a:r>
              <a:rPr lang="en-US" dirty="0"/>
              <a:t> - write-only</a:t>
            </a:r>
          </a:p>
          <a:p>
            <a:pPr lvl="1"/>
            <a:r>
              <a:rPr lang="en-US" dirty="0" err="1"/>
              <a:t>attr_accessor</a:t>
            </a:r>
            <a:r>
              <a:rPr lang="en-US" dirty="0"/>
              <a:t> - read and write</a:t>
            </a:r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F69348-7CD5-33A1-D574-F9F1ED1A70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E55B5A-2866-E44B-9204-CF9DA9CDDC2E}" type="datetime1">
              <a:rPr lang="en-US" smtClean="0"/>
              <a:t>10/8/26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63C254-726F-F00F-495B-4895194D23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Steve Beaty and others as cited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AF8AA5-74CD-1806-387E-28C311100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ADA5E7-275A-0142-8584-066D5199CC3B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4950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E5203D2D-AEBB-6D5A-CC65-386341F5A2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Scope Example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379276A3-6327-A6D0-DA04-9BDE35875B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dirty="0">
                <a:solidFill>
                  <a:schemeClr val="accent3"/>
                </a:solidFill>
              </a:rPr>
              <a:t>$global = "global"</a:t>
            </a:r>
          </a:p>
          <a:p>
            <a:r>
              <a:rPr lang="en-US" dirty="0">
                <a:solidFill>
                  <a:schemeClr val="accent3"/>
                </a:solidFill>
              </a:rPr>
              <a:t>local = "local"</a:t>
            </a:r>
          </a:p>
          <a:p>
            <a:br>
              <a:rPr lang="en-US" dirty="0">
                <a:solidFill>
                  <a:schemeClr val="accent3"/>
                </a:solidFill>
              </a:rPr>
            </a:br>
            <a:r>
              <a:rPr lang="en-US" dirty="0">
                <a:solidFill>
                  <a:schemeClr val="accent3"/>
                </a:solidFill>
              </a:rPr>
              <a:t>class Demo</a:t>
            </a:r>
          </a:p>
          <a:p>
            <a:r>
              <a:rPr lang="en-US" dirty="0">
                <a:solidFill>
                  <a:schemeClr val="accent3"/>
                </a:solidFill>
              </a:rPr>
              <a:t>  @@class = "class"</a:t>
            </a:r>
          </a:p>
          <a:p>
            <a:br>
              <a:rPr lang="en-US" dirty="0">
                <a:solidFill>
                  <a:schemeClr val="accent3"/>
                </a:solidFill>
              </a:rPr>
            </a:br>
            <a:r>
              <a:rPr lang="en-US" dirty="0">
                <a:solidFill>
                  <a:schemeClr val="accent3"/>
                </a:solidFill>
              </a:rPr>
              <a:t>  def initialize</a:t>
            </a:r>
          </a:p>
          <a:p>
            <a:r>
              <a:rPr lang="en-US" dirty="0">
                <a:solidFill>
                  <a:schemeClr val="accent3"/>
                </a:solidFill>
              </a:rPr>
              <a:t>    @instance = "instance"</a:t>
            </a:r>
          </a:p>
          <a:p>
            <a:r>
              <a:rPr lang="en-US" dirty="0">
                <a:solidFill>
                  <a:schemeClr val="accent3"/>
                </a:solidFill>
              </a:rPr>
              <a:t>  end</a:t>
            </a:r>
          </a:p>
          <a:p>
            <a:br>
              <a:rPr lang="en-US" dirty="0">
                <a:solidFill>
                  <a:schemeClr val="accent3"/>
                </a:solidFill>
              </a:rPr>
            </a:br>
            <a:endParaRPr lang="en-US" dirty="0">
              <a:solidFill>
                <a:schemeClr val="accent3"/>
              </a:solidFill>
            </a:endParaRPr>
          </a:p>
          <a:p>
            <a:r>
              <a:rPr lang="en-US" dirty="0">
                <a:solidFill>
                  <a:schemeClr val="accent3"/>
                </a:solidFill>
              </a:rPr>
              <a:t> 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E8B6374-84E3-4DEB-8F93-7E65A6607AFB}"/>
              </a:ext>
            </a:extLst>
          </p:cNvPr>
          <p:cNvSpPr>
            <a:spLocks noGrp="1"/>
          </p:cNvSpPr>
          <p:nvPr>
            <p:ph idx="13"/>
          </p:nvPr>
        </p:nvSpPr>
        <p:spPr/>
        <p:txBody>
          <a:bodyPr>
            <a:normAutofit/>
          </a:bodyPr>
          <a:lstStyle/>
          <a:p>
            <a:r>
              <a:rPr lang="en-US" sz="2100" dirty="0">
                <a:solidFill>
                  <a:schemeClr val="accent3"/>
                </a:solidFill>
              </a:rPr>
              <a:t>  def scope</a:t>
            </a:r>
          </a:p>
          <a:p>
            <a:r>
              <a:rPr lang="en-US" sz="2100" dirty="0">
                <a:solidFill>
                  <a:schemeClr val="accent3"/>
                </a:solidFill>
              </a:rPr>
              <a:t>    </a:t>
            </a:r>
            <a:r>
              <a:rPr lang="en-US" sz="2100" dirty="0" err="1">
                <a:solidFill>
                  <a:schemeClr val="accent3"/>
                </a:solidFill>
              </a:rPr>
              <a:t>method_local</a:t>
            </a:r>
            <a:r>
              <a:rPr lang="en-US" sz="2100" dirty="0">
                <a:solidFill>
                  <a:schemeClr val="accent3"/>
                </a:solidFill>
              </a:rPr>
              <a:t> = ”local"</a:t>
            </a:r>
          </a:p>
          <a:p>
            <a:r>
              <a:rPr lang="en-US" sz="2100" dirty="0">
                <a:solidFill>
                  <a:schemeClr val="accent3"/>
                </a:solidFill>
              </a:rPr>
              <a:t>    # Access all scopes here</a:t>
            </a:r>
          </a:p>
          <a:p>
            <a:r>
              <a:rPr lang="en-US" sz="2100" dirty="0">
                <a:solidFill>
                  <a:schemeClr val="accent3"/>
                </a:solidFill>
              </a:rPr>
              <a:t>  end</a:t>
            </a:r>
          </a:p>
          <a:p>
            <a:r>
              <a:rPr lang="en-US" sz="2100" dirty="0">
                <a:solidFill>
                  <a:schemeClr val="accent3"/>
                </a:solidFill>
              </a:rPr>
              <a:t>end</a:t>
            </a:r>
          </a:p>
          <a:p>
            <a:endParaRPr lang="en-US" sz="2100" dirty="0">
              <a:solidFill>
                <a:schemeClr val="accent3"/>
              </a:solidFill>
            </a:endParaRPr>
          </a:p>
          <a:p>
            <a:r>
              <a:rPr lang="en-US" sz="2100" dirty="0">
                <a:solidFill>
                  <a:schemeClr val="accent3"/>
                </a:solidFill>
              </a:rPr>
              <a:t>demo = </a:t>
            </a:r>
            <a:r>
              <a:rPr lang="en-US" sz="2100" dirty="0" err="1">
                <a:solidFill>
                  <a:schemeClr val="accent3"/>
                </a:solidFill>
              </a:rPr>
              <a:t>Demo.new</a:t>
            </a:r>
            <a:endParaRPr lang="en-US" sz="2100" dirty="0">
              <a:solidFill>
                <a:schemeClr val="accent3"/>
              </a:solidFill>
            </a:endParaRPr>
          </a:p>
          <a:p>
            <a:r>
              <a:rPr lang="en-US" sz="2100" dirty="0" err="1">
                <a:solidFill>
                  <a:schemeClr val="accent3"/>
                </a:solidFill>
              </a:rPr>
              <a:t>demo.scope</a:t>
            </a:r>
            <a:endParaRPr lang="en-US" sz="2100" dirty="0">
              <a:solidFill>
                <a:schemeClr val="accent3"/>
              </a:solidFill>
            </a:endParaRPr>
          </a:p>
          <a:p>
            <a:endParaRPr lang="en-US" sz="2100" dirty="0">
              <a:solidFill>
                <a:schemeClr val="accent3"/>
              </a:solidFill>
            </a:endParaRP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C54830F-8E6C-4E5A-F36C-83DE78AB6165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20834318-FD62-554C-9B24-8146E0CD9072}" type="datetime1">
              <a:rPr lang="en-US" smtClean="0"/>
              <a:t>10/8/26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D444FD3-114B-47F1-C63F-94764156AC32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© Steve Beaty and others as cited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FA9A888-71A5-4224-9A57-76D7D0B99EF2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8BADA5E7-275A-0142-8584-066D5199CC3B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35481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xmlns:p14="http://schemas.microsoft.com/office/powerpoint/2010/main" spd="slow"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ED7CB5A2-E42B-3331-ED64-FEE3B95EF98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Inheritance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430FE4B-2AA8-9AEB-5107-1B810C752F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A37579-AFF8-DB48-B903-6C826799BFFF}" type="datetime1">
              <a:rPr lang="en-US" smtClean="0"/>
              <a:t>10/8/26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84FF3EA-3A8A-3A0C-DA7E-C8E06596C2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Steve Beaty and others as cited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750BBF8-8A89-AC7E-6782-E15F0D622A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ADA5E7-275A-0142-8584-066D5199CC3B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979701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7FCF6568-7B8A-3D0E-2979-73E50AAC0D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The I: Inheritance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EAFDAFE-3AA8-5245-F163-943A8856C2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dirty="0"/>
              <a:t>Classes gain functionality from parent (super) classes.</a:t>
            </a:r>
          </a:p>
          <a:p>
            <a:r>
              <a:rPr lang="en-US" dirty="0"/>
              <a:t>Key Concepts</a:t>
            </a:r>
          </a:p>
          <a:p>
            <a:pPr lvl="1"/>
            <a:r>
              <a:rPr lang="en-US" dirty="0"/>
              <a:t>Child/derived class extends base/parent class</a:t>
            </a:r>
          </a:p>
          <a:p>
            <a:pPr lvl="1"/>
            <a:r>
              <a:rPr lang="en-US" dirty="0"/>
              <a:t>Access to public and protected members</a:t>
            </a:r>
          </a:p>
          <a:p>
            <a:pPr lvl="1"/>
            <a:r>
              <a:rPr lang="en-US" dirty="0"/>
              <a:t>Use with caution (less flexible than composition)</a:t>
            </a:r>
          </a:p>
          <a:p>
            <a:r>
              <a:rPr lang="en-US" dirty="0"/>
              <a:t>Is-a vs Has-a</a:t>
            </a:r>
          </a:p>
          <a:p>
            <a:pPr lvl="1"/>
            <a:r>
              <a:rPr lang="en-US" dirty="0"/>
              <a:t>Cat is-a mammal is-an animal</a:t>
            </a:r>
          </a:p>
          <a:p>
            <a:pPr lvl="1"/>
            <a:r>
              <a:rPr lang="en-US" dirty="0" err="1"/>
              <a:t>SortedList</a:t>
            </a:r>
            <a:r>
              <a:rPr lang="en-US" dirty="0"/>
              <a:t> has-a List (not is-a)</a:t>
            </a:r>
          </a:p>
          <a:p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4D2B03F-3C13-ACD6-4F37-C4E61C8772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42879A-54A8-5045-B371-C336D639F16F}" type="datetime1">
              <a:rPr lang="en-US" smtClean="0"/>
              <a:t>10/8/26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59D8CB-CB23-5B3A-97E5-1C6D1A94CF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Steve Beaty and others as cited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10EB43-B605-CCB5-C8A0-0F58A8A8B4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ADA5E7-275A-0142-8584-066D5199CC3B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83211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426A27FB-241B-DF55-F2B7-E72C5F9608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Ruby's Approach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44EA2BD8-138D-BE7D-C2F2-B898052A7A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n-US" dirty="0"/>
              <a:t>Single Inheritance</a:t>
            </a:r>
          </a:p>
          <a:p>
            <a:pPr lvl="1"/>
            <a:r>
              <a:rPr lang="en-US" dirty="0"/>
              <a:t>Inherit from one class only</a:t>
            </a:r>
          </a:p>
          <a:p>
            <a:pPr lvl="1"/>
            <a:r>
              <a:rPr lang="en-US" dirty="0"/>
              <a:t>Easier to understand than multiple inheritance</a:t>
            </a:r>
          </a:p>
          <a:p>
            <a:pPr lvl="1"/>
            <a:r>
              <a:rPr lang="en-US" dirty="0"/>
              <a:t>Limits flexibility</a:t>
            </a:r>
          </a:p>
          <a:p>
            <a:r>
              <a:rPr lang="en-US" dirty="0" err="1"/>
              <a:t>Mixins</a:t>
            </a:r>
            <a:endParaRPr lang="en-US" dirty="0"/>
          </a:p>
          <a:p>
            <a:pPr lvl="1"/>
            <a:r>
              <a:rPr lang="en-US" dirty="0"/>
              <a:t>Alternative way to gain functionality</a:t>
            </a:r>
          </a:p>
          <a:p>
            <a:pPr lvl="1"/>
            <a:r>
              <a:rPr lang="en-US" dirty="0"/>
              <a:t>Uses modules</a:t>
            </a:r>
          </a:p>
          <a:p>
            <a:pPr lvl="1"/>
            <a:r>
              <a:rPr lang="en-US" dirty="0" err="1"/>
              <a:t>Mixins</a:t>
            </a:r>
            <a:r>
              <a:rPr lang="en-US" dirty="0"/>
              <a:t> are more flexible than multiple inheritance</a:t>
            </a:r>
          </a:p>
          <a:p>
            <a:r>
              <a:rPr lang="en-US" dirty="0"/>
              <a:t>Syntax</a:t>
            </a:r>
          </a:p>
          <a:p>
            <a:pPr>
              <a:buNone/>
            </a:pPr>
            <a:r>
              <a:rPr lang="en-US" dirty="0">
                <a:solidFill>
                  <a:srgbClr val="A0BA66"/>
                </a:solidFill>
                <a:latin typeface="Menlo" panose="020B0609030804020204" pitchFamily="49" charset="0"/>
              </a:rPr>
              <a:t>class Child &lt; Parent</a:t>
            </a:r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077119-7C6D-0604-39CF-FD732D73BE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F5F771-184B-6A48-A525-519D61CB7520}" type="datetime1">
              <a:rPr lang="en-US" smtClean="0"/>
              <a:t>10/8/26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784123-0A42-3CF6-D806-DCED3D5E3B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Steve Beaty and others as cited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FA2AB3-23F1-83C5-5141-97A822EA31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ADA5E7-275A-0142-8584-066D5199CC3B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95338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53DB28E-1E84-AD0C-7484-ADF3B336C0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Example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20BDA18C-786C-CE5B-8BA1-BDD08E2646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500" dirty="0">
                <a:solidFill>
                  <a:schemeClr val="accent3"/>
                </a:solidFill>
              </a:rPr>
              <a:t>class Animal</a:t>
            </a:r>
          </a:p>
          <a:p>
            <a:r>
              <a:rPr lang="en-US" sz="2500" dirty="0">
                <a:solidFill>
                  <a:schemeClr val="accent3"/>
                </a:solidFill>
              </a:rPr>
              <a:t>  TRAITS = ["eat", "breathe", "move", "reproduce"]</a:t>
            </a:r>
          </a:p>
          <a:p>
            <a:endParaRPr lang="en-US" sz="2500" dirty="0">
              <a:solidFill>
                <a:schemeClr val="accent3"/>
              </a:solidFill>
            </a:endParaRPr>
          </a:p>
          <a:p>
            <a:r>
              <a:rPr lang="en-US" sz="2500" dirty="0">
                <a:solidFill>
                  <a:schemeClr val="accent3"/>
                </a:solidFill>
              </a:rPr>
              <a:t>  def </a:t>
            </a:r>
            <a:r>
              <a:rPr lang="en-US" sz="2500" dirty="0" err="1">
                <a:solidFill>
                  <a:schemeClr val="accent3"/>
                </a:solidFill>
              </a:rPr>
              <a:t>method_missing</a:t>
            </a:r>
            <a:r>
              <a:rPr lang="en-US" sz="2500" dirty="0">
                <a:solidFill>
                  <a:schemeClr val="accent3"/>
                </a:solidFill>
              </a:rPr>
              <a:t>(m, *</a:t>
            </a:r>
            <a:r>
              <a:rPr lang="en-US" sz="2500" dirty="0" err="1">
                <a:solidFill>
                  <a:schemeClr val="accent3"/>
                </a:solidFill>
              </a:rPr>
              <a:t>args</a:t>
            </a:r>
            <a:r>
              <a:rPr lang="en-US" sz="2500" dirty="0">
                <a:solidFill>
                  <a:schemeClr val="accent3"/>
                </a:solidFill>
              </a:rPr>
              <a:t>, &amp;block)</a:t>
            </a:r>
          </a:p>
          <a:p>
            <a:r>
              <a:rPr lang="en-US" sz="2500" dirty="0">
                <a:solidFill>
                  <a:schemeClr val="accent3"/>
                </a:solidFill>
              </a:rPr>
              <a:t>    </a:t>
            </a:r>
            <a:r>
              <a:rPr lang="en-US" sz="2500" dirty="0" err="1">
                <a:solidFill>
                  <a:schemeClr val="accent3"/>
                </a:solidFill>
              </a:rPr>
              <a:t>TRAITS.include</a:t>
            </a:r>
            <a:r>
              <a:rPr lang="en-US" sz="2500" dirty="0">
                <a:solidFill>
                  <a:schemeClr val="accent3"/>
                </a:solidFill>
              </a:rPr>
              <a:t>?("#{m}".sub(/\?/, ""))</a:t>
            </a:r>
          </a:p>
          <a:p>
            <a:r>
              <a:rPr lang="en-US" sz="2500" dirty="0">
                <a:solidFill>
                  <a:schemeClr val="accent3"/>
                </a:solidFill>
              </a:rPr>
              <a:t>  end</a:t>
            </a:r>
          </a:p>
          <a:p>
            <a:r>
              <a:rPr lang="en-US" sz="2500" dirty="0">
                <a:solidFill>
                  <a:schemeClr val="accent3"/>
                </a:solidFill>
              </a:rPr>
              <a:t>end</a:t>
            </a:r>
          </a:p>
          <a:p>
            <a:endParaRPr lang="en-US" sz="2500" dirty="0">
              <a:solidFill>
                <a:schemeClr val="accent3"/>
              </a:solidFill>
            </a:endParaRPr>
          </a:p>
          <a:p>
            <a:endParaRPr lang="en-US" sz="2500" dirty="0">
              <a:solidFill>
                <a:schemeClr val="accent3"/>
              </a:solidFill>
            </a:endParaRP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858BAEB-4A55-2FE8-4416-0D64DD7C51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8DBBEA-CC14-7745-AFA8-ED7C93CAFDF7}" type="datetime1">
              <a:rPr lang="en-US" smtClean="0"/>
              <a:t>10/8/26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E51BC56-E17B-9EFE-7646-E6DEC47AFF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Steve Beaty and others as cited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BBB745-32F8-ED28-C536-46CA8E3AAE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ADA5E7-275A-0142-8584-066D5199CC3B}" type="slidenum">
              <a:rPr lang="en-US" smtClean="0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83454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xmlns:p14="http://schemas.microsoft.com/office/powerpoint/2010/main" spd="slow">
        <p:fade/>
      </p:transition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A13F1C-477E-2E66-B03A-CF2D79F163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E37009-6EBB-ADBD-11FD-1A61E2AAD2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>
                <a:solidFill>
                  <a:schemeClr val="accent3">
                    <a:lumMod val="75000"/>
                  </a:schemeClr>
                </a:solidFill>
              </a:rPr>
              <a:t>class Mammal &lt; Animal</a:t>
            </a:r>
          </a:p>
          <a:p>
            <a:r>
              <a:rPr lang="en-US" dirty="0">
                <a:solidFill>
                  <a:schemeClr val="accent3">
                    <a:lumMod val="75000"/>
                  </a:schemeClr>
                </a:solidFill>
              </a:rPr>
              <a:t>  TRAITS = ["fur", "hair", "lactate"]</a:t>
            </a:r>
          </a:p>
          <a:p>
            <a:endParaRPr lang="en-US" dirty="0">
              <a:solidFill>
                <a:schemeClr val="accent3">
                  <a:lumMod val="75000"/>
                </a:schemeClr>
              </a:solidFill>
            </a:endParaRPr>
          </a:p>
          <a:p>
            <a:r>
              <a:rPr lang="en-US" dirty="0">
                <a:solidFill>
                  <a:schemeClr val="accent3">
                    <a:lumMod val="75000"/>
                  </a:schemeClr>
                </a:solidFill>
              </a:rPr>
              <a:t>  def </a:t>
            </a:r>
            <a:r>
              <a:rPr lang="en-US" dirty="0" err="1">
                <a:solidFill>
                  <a:schemeClr val="accent3">
                    <a:lumMod val="75000"/>
                  </a:schemeClr>
                </a:solidFill>
              </a:rPr>
              <a:t>method_missing</a:t>
            </a:r>
            <a:r>
              <a:rPr lang="en-US" dirty="0">
                <a:solidFill>
                  <a:schemeClr val="accent3">
                    <a:lumMod val="75000"/>
                  </a:schemeClr>
                </a:solidFill>
              </a:rPr>
              <a:t>(m, *</a:t>
            </a:r>
            <a:r>
              <a:rPr lang="en-US" dirty="0" err="1">
                <a:solidFill>
                  <a:schemeClr val="accent3">
                    <a:lumMod val="75000"/>
                  </a:schemeClr>
                </a:solidFill>
              </a:rPr>
              <a:t>args</a:t>
            </a:r>
            <a:r>
              <a:rPr lang="en-US" dirty="0">
                <a:solidFill>
                  <a:schemeClr val="accent3">
                    <a:lumMod val="75000"/>
                  </a:schemeClr>
                </a:solidFill>
              </a:rPr>
              <a:t>, &amp;block)</a:t>
            </a:r>
          </a:p>
          <a:p>
            <a:r>
              <a:rPr lang="en-US" dirty="0">
                <a:solidFill>
                  <a:schemeClr val="accent3">
                    <a:lumMod val="75000"/>
                  </a:schemeClr>
                </a:solidFill>
              </a:rPr>
              <a:t>    if </a:t>
            </a:r>
            <a:r>
              <a:rPr lang="en-US" dirty="0" err="1">
                <a:solidFill>
                  <a:schemeClr val="accent3">
                    <a:lumMod val="75000"/>
                  </a:schemeClr>
                </a:solidFill>
              </a:rPr>
              <a:t>TRAITS.include</a:t>
            </a:r>
            <a:r>
              <a:rPr lang="en-US" dirty="0">
                <a:solidFill>
                  <a:schemeClr val="accent3">
                    <a:lumMod val="75000"/>
                  </a:schemeClr>
                </a:solidFill>
              </a:rPr>
              <a:t>?("#{m}".sub(/\?/, ""))</a:t>
            </a:r>
          </a:p>
          <a:p>
            <a:r>
              <a:rPr lang="en-US" dirty="0">
                <a:solidFill>
                  <a:schemeClr val="accent3">
                    <a:lumMod val="75000"/>
                  </a:schemeClr>
                </a:solidFill>
              </a:rPr>
              <a:t>      true</a:t>
            </a:r>
          </a:p>
          <a:p>
            <a:r>
              <a:rPr lang="en-US" dirty="0">
                <a:solidFill>
                  <a:schemeClr val="accent3">
                    <a:lumMod val="75000"/>
                  </a:schemeClr>
                </a:solidFill>
              </a:rPr>
              <a:t>    else</a:t>
            </a:r>
          </a:p>
          <a:p>
            <a:r>
              <a:rPr lang="en-US" dirty="0">
                <a:solidFill>
                  <a:schemeClr val="accent3">
                    <a:lumMod val="75000"/>
                  </a:schemeClr>
                </a:solidFill>
              </a:rPr>
              <a:t>      super(m, *</a:t>
            </a:r>
            <a:r>
              <a:rPr lang="en-US" dirty="0" err="1">
                <a:solidFill>
                  <a:schemeClr val="accent3">
                    <a:lumMod val="75000"/>
                  </a:schemeClr>
                </a:solidFill>
              </a:rPr>
              <a:t>args</a:t>
            </a:r>
            <a:r>
              <a:rPr lang="en-US" dirty="0">
                <a:solidFill>
                  <a:schemeClr val="accent3">
                    <a:lumMod val="75000"/>
                  </a:schemeClr>
                </a:solidFill>
              </a:rPr>
              <a:t>, &amp;block)</a:t>
            </a:r>
          </a:p>
          <a:p>
            <a:r>
              <a:rPr lang="en-US" dirty="0">
                <a:solidFill>
                  <a:schemeClr val="accent3">
                    <a:lumMod val="75000"/>
                  </a:schemeClr>
                </a:solidFill>
              </a:rPr>
              <a:t>    end</a:t>
            </a:r>
          </a:p>
          <a:p>
            <a:r>
              <a:rPr lang="en-US" dirty="0">
                <a:solidFill>
                  <a:schemeClr val="accent3">
                    <a:lumMod val="75000"/>
                  </a:schemeClr>
                </a:solidFill>
              </a:rPr>
              <a:t>  end</a:t>
            </a:r>
          </a:p>
          <a:p>
            <a:r>
              <a:rPr lang="en-US" dirty="0">
                <a:solidFill>
                  <a:schemeClr val="accent3">
                    <a:lumMod val="75000"/>
                  </a:schemeClr>
                </a:solidFill>
              </a:rPr>
              <a:t>end</a:t>
            </a:r>
          </a:p>
          <a:p>
            <a:endParaRPr lang="en-US" dirty="0">
              <a:solidFill>
                <a:schemeClr val="accent3">
                  <a:lumMod val="75000"/>
                </a:schemeClr>
              </a:solidFill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BE1721-2AE0-E8A7-9411-F1D8DD1219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1FC58E-A026-7642-AB5B-C112C4E76510}" type="datetime1">
              <a:rPr lang="en-US" smtClean="0"/>
              <a:t>10/8/26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BBA0E4-B133-335C-09BB-3A449D0C16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Steve Beaty and others as cited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275029-C660-3EDB-A751-221E51CB23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ADA5E7-275A-0142-8584-066D5199CC3B}" type="slidenum">
              <a:rPr lang="en-US" smtClean="0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54396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5FF73E-C79B-8D46-F6BE-D2726C4C30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D23D11-7ABB-ABCB-E2C7-780AE2CD5B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>
                <a:solidFill>
                  <a:schemeClr val="accent3"/>
                </a:solidFill>
              </a:rPr>
              <a:t>class Cat &lt; Mammal</a:t>
            </a:r>
          </a:p>
          <a:p>
            <a:r>
              <a:rPr lang="en-US" dirty="0">
                <a:solidFill>
                  <a:schemeClr val="accent3"/>
                </a:solidFill>
              </a:rPr>
              <a:t>  TRAITS = ["claws", "</a:t>
            </a:r>
            <a:r>
              <a:rPr lang="en-US" dirty="0" err="1">
                <a:solidFill>
                  <a:schemeClr val="accent3"/>
                </a:solidFill>
              </a:rPr>
              <a:t>sharp_teeth</a:t>
            </a:r>
            <a:r>
              <a:rPr lang="en-US" dirty="0">
                <a:solidFill>
                  <a:schemeClr val="accent3"/>
                </a:solidFill>
              </a:rPr>
              <a:t>"]</a:t>
            </a:r>
          </a:p>
          <a:p>
            <a:br>
              <a:rPr lang="en-US" dirty="0">
                <a:solidFill>
                  <a:schemeClr val="accent3"/>
                </a:solidFill>
              </a:rPr>
            </a:br>
            <a:r>
              <a:rPr lang="en-US" dirty="0">
                <a:solidFill>
                  <a:schemeClr val="accent3"/>
                </a:solidFill>
              </a:rPr>
              <a:t>  def </a:t>
            </a:r>
            <a:r>
              <a:rPr lang="en-US" dirty="0" err="1">
                <a:solidFill>
                  <a:schemeClr val="accent3"/>
                </a:solidFill>
              </a:rPr>
              <a:t>method_missing</a:t>
            </a:r>
            <a:r>
              <a:rPr lang="en-US" dirty="0">
                <a:solidFill>
                  <a:schemeClr val="accent3"/>
                </a:solidFill>
              </a:rPr>
              <a:t>(m, *</a:t>
            </a:r>
            <a:r>
              <a:rPr lang="en-US" dirty="0" err="1">
                <a:solidFill>
                  <a:schemeClr val="accent3"/>
                </a:solidFill>
              </a:rPr>
              <a:t>args</a:t>
            </a:r>
            <a:r>
              <a:rPr lang="en-US" dirty="0">
                <a:solidFill>
                  <a:schemeClr val="accent3"/>
                </a:solidFill>
              </a:rPr>
              <a:t>, &amp;block)</a:t>
            </a:r>
          </a:p>
          <a:p>
            <a:r>
              <a:rPr lang="en-US" dirty="0">
                <a:solidFill>
                  <a:schemeClr val="accent3"/>
                </a:solidFill>
              </a:rPr>
              <a:t>    if </a:t>
            </a:r>
            <a:r>
              <a:rPr lang="en-US" dirty="0" err="1">
                <a:solidFill>
                  <a:schemeClr val="accent3"/>
                </a:solidFill>
              </a:rPr>
              <a:t>TRAITS.include</a:t>
            </a:r>
            <a:r>
              <a:rPr lang="en-US" dirty="0">
                <a:solidFill>
                  <a:schemeClr val="accent3"/>
                </a:solidFill>
              </a:rPr>
              <a:t>?("#{m}".sub(/\?/, ""))</a:t>
            </a:r>
          </a:p>
          <a:p>
            <a:r>
              <a:rPr lang="en-US" dirty="0">
                <a:solidFill>
                  <a:schemeClr val="accent3"/>
                </a:solidFill>
              </a:rPr>
              <a:t>      true</a:t>
            </a:r>
          </a:p>
          <a:p>
            <a:r>
              <a:rPr lang="en-US" dirty="0">
                <a:solidFill>
                  <a:schemeClr val="accent3"/>
                </a:solidFill>
              </a:rPr>
              <a:t>    else</a:t>
            </a:r>
          </a:p>
          <a:p>
            <a:r>
              <a:rPr lang="en-US" dirty="0">
                <a:solidFill>
                  <a:schemeClr val="accent3"/>
                </a:solidFill>
              </a:rPr>
              <a:t>      super(m, *</a:t>
            </a:r>
            <a:r>
              <a:rPr lang="en-US" dirty="0" err="1">
                <a:solidFill>
                  <a:schemeClr val="accent3"/>
                </a:solidFill>
              </a:rPr>
              <a:t>args</a:t>
            </a:r>
            <a:r>
              <a:rPr lang="en-US" dirty="0">
                <a:solidFill>
                  <a:schemeClr val="accent3"/>
                </a:solidFill>
              </a:rPr>
              <a:t>, &amp;block)</a:t>
            </a:r>
          </a:p>
          <a:p>
            <a:r>
              <a:rPr lang="en-US" dirty="0">
                <a:solidFill>
                  <a:schemeClr val="accent3"/>
                </a:solidFill>
              </a:rPr>
              <a:t>    end</a:t>
            </a:r>
          </a:p>
          <a:p>
            <a:r>
              <a:rPr lang="en-US" dirty="0">
                <a:solidFill>
                  <a:schemeClr val="accent3"/>
                </a:solidFill>
              </a:rPr>
              <a:t>  end</a:t>
            </a:r>
          </a:p>
          <a:p>
            <a:r>
              <a:rPr lang="en-US" dirty="0">
                <a:solidFill>
                  <a:schemeClr val="accent3"/>
                </a:solidFill>
              </a:rPr>
              <a:t>end</a:t>
            </a:r>
          </a:p>
          <a:p>
            <a:endParaRPr lang="en-US" dirty="0">
              <a:solidFill>
                <a:schemeClr val="accent3"/>
              </a:solidFill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738981-6155-FCAD-E46B-B548EB4589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59E369-7D2A-E74D-B54C-1039275B1A17}" type="datetime1">
              <a:rPr lang="en-US" smtClean="0"/>
              <a:t>10/8/26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9533B6-9A72-C9E3-2A99-84672FF053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Steve Beaty and others as cited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7625C1-6107-06E5-1C02-36731D05CD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ADA5E7-275A-0142-8584-066D5199CC3B}" type="slidenum">
              <a:rPr lang="en-US" smtClean="0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47843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86ECB0FE-6E98-D17D-1ED5-ECC109A095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Modules (</a:t>
            </a:r>
            <a:r>
              <a:rPr lang="en-US" dirty="0" err="1"/>
              <a:t>Mixins</a:t>
            </a:r>
            <a:r>
              <a:rPr lang="en-US" dirty="0"/>
              <a:t>)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7B2B781-4CA3-D31A-FCD5-BE87C5EEAE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dirty="0">
                <a:solidFill>
                  <a:schemeClr val="accent3">
                    <a:lumMod val="75000"/>
                  </a:schemeClr>
                </a:solidFill>
              </a:rPr>
              <a:t>module Conversions</a:t>
            </a:r>
          </a:p>
          <a:p>
            <a:r>
              <a:rPr lang="en-US" dirty="0">
                <a:solidFill>
                  <a:schemeClr val="accent3">
                    <a:lumMod val="75000"/>
                  </a:schemeClr>
                </a:solidFill>
              </a:rPr>
              <a:t>  @@F2C = 5/9.0</a:t>
            </a:r>
          </a:p>
          <a:p>
            <a:r>
              <a:rPr lang="en-US" dirty="0">
                <a:solidFill>
                  <a:schemeClr val="accent3">
                    <a:lumMod val="75000"/>
                  </a:schemeClr>
                </a:solidFill>
              </a:rPr>
              <a:t>  @@C2F = 9/5.0</a:t>
            </a:r>
          </a:p>
          <a:p>
            <a:endParaRPr lang="en-US" dirty="0">
              <a:solidFill>
                <a:schemeClr val="accent3">
                  <a:lumMod val="75000"/>
                </a:schemeClr>
              </a:solidFill>
            </a:endParaRPr>
          </a:p>
          <a:p>
            <a:r>
              <a:rPr lang="en-US" dirty="0">
                <a:solidFill>
                  <a:schemeClr val="accent3">
                    <a:lumMod val="75000"/>
                  </a:schemeClr>
                </a:solidFill>
              </a:rPr>
              <a:t>  def c2f(</a:t>
            </a:r>
            <a:r>
              <a:rPr lang="en-US" dirty="0" err="1">
                <a:solidFill>
                  <a:schemeClr val="accent3">
                    <a:lumMod val="75000"/>
                  </a:schemeClr>
                </a:solidFill>
              </a:rPr>
              <a:t>celsius</a:t>
            </a:r>
            <a:r>
              <a:rPr lang="en-US" dirty="0">
                <a:solidFill>
                  <a:schemeClr val="accent3">
                    <a:lumMod val="75000"/>
                  </a:schemeClr>
                </a:solidFill>
              </a:rPr>
              <a:t>)</a:t>
            </a:r>
          </a:p>
          <a:p>
            <a:r>
              <a:rPr lang="en-US" dirty="0">
                <a:solidFill>
                  <a:schemeClr val="accent3">
                    <a:lumMod val="75000"/>
                  </a:schemeClr>
                </a:solidFill>
              </a:rPr>
              <a:t>    (</a:t>
            </a:r>
            <a:r>
              <a:rPr lang="en-US" dirty="0" err="1">
                <a:solidFill>
                  <a:schemeClr val="accent3">
                    <a:lumMod val="75000"/>
                  </a:schemeClr>
                </a:solidFill>
              </a:rPr>
              <a:t>celsius</a:t>
            </a:r>
            <a:r>
              <a:rPr lang="en-US" dirty="0">
                <a:solidFill>
                  <a:schemeClr val="accent3">
                    <a:lumMod val="75000"/>
                  </a:schemeClr>
                </a:solidFill>
              </a:rPr>
              <a:t> * @@C2F) + 32</a:t>
            </a:r>
          </a:p>
          <a:p>
            <a:r>
              <a:rPr lang="en-US" dirty="0">
                <a:solidFill>
                  <a:schemeClr val="accent3">
                    <a:lumMod val="75000"/>
                  </a:schemeClr>
                </a:solidFill>
              </a:rPr>
              <a:t>  end</a:t>
            </a:r>
          </a:p>
          <a:p>
            <a:endParaRPr lang="en-US" dirty="0">
              <a:solidFill>
                <a:schemeClr val="accent3">
                  <a:lumMod val="75000"/>
                </a:schemeClr>
              </a:solidFill>
            </a:endParaRPr>
          </a:p>
          <a:p>
            <a:r>
              <a:rPr lang="en-US" dirty="0">
                <a:solidFill>
                  <a:schemeClr val="accent3">
                    <a:lumMod val="75000"/>
                  </a:schemeClr>
                </a:solidFill>
              </a:rPr>
              <a:t>  def f2c(</a:t>
            </a:r>
            <a:r>
              <a:rPr lang="en-US" dirty="0" err="1">
                <a:solidFill>
                  <a:schemeClr val="accent3">
                    <a:lumMod val="75000"/>
                  </a:schemeClr>
                </a:solidFill>
              </a:rPr>
              <a:t>fahrenheit</a:t>
            </a:r>
            <a:r>
              <a:rPr lang="en-US" dirty="0">
                <a:solidFill>
                  <a:schemeClr val="accent3">
                    <a:lumMod val="75000"/>
                  </a:schemeClr>
                </a:solidFill>
              </a:rPr>
              <a:t>)</a:t>
            </a:r>
          </a:p>
          <a:p>
            <a:r>
              <a:rPr lang="en-US" dirty="0">
                <a:solidFill>
                  <a:schemeClr val="accent3">
                    <a:lumMod val="75000"/>
                  </a:schemeClr>
                </a:solidFill>
              </a:rPr>
              <a:t>    (</a:t>
            </a:r>
            <a:r>
              <a:rPr lang="en-US" dirty="0" err="1">
                <a:solidFill>
                  <a:schemeClr val="accent3">
                    <a:lumMod val="75000"/>
                  </a:schemeClr>
                </a:solidFill>
              </a:rPr>
              <a:t>fahrenheit</a:t>
            </a:r>
            <a:r>
              <a:rPr lang="en-US" dirty="0">
                <a:solidFill>
                  <a:schemeClr val="accent3">
                    <a:lumMod val="75000"/>
                  </a:schemeClr>
                </a:solidFill>
              </a:rPr>
              <a:t> - 32) * @@F2C</a:t>
            </a:r>
          </a:p>
          <a:p>
            <a:r>
              <a:rPr lang="en-US" dirty="0">
                <a:solidFill>
                  <a:schemeClr val="accent3">
                    <a:lumMod val="75000"/>
                  </a:schemeClr>
                </a:solidFill>
              </a:rPr>
              <a:t>  end</a:t>
            </a:r>
          </a:p>
          <a:p>
            <a:r>
              <a:rPr lang="en-US" dirty="0">
                <a:solidFill>
                  <a:schemeClr val="accent3">
                    <a:lumMod val="75000"/>
                  </a:schemeClr>
                </a:solidFill>
              </a:rPr>
              <a:t>end</a:t>
            </a:r>
          </a:p>
          <a:p>
            <a:endParaRPr lang="en-US" dirty="0">
              <a:solidFill>
                <a:schemeClr val="accent3">
                  <a:lumMod val="75000"/>
                </a:schemeClr>
              </a:solidFill>
            </a:endParaRPr>
          </a:p>
          <a:p>
            <a:endParaRPr lang="en-US" dirty="0">
              <a:solidFill>
                <a:schemeClr val="accent3">
                  <a:lumMod val="75000"/>
                </a:schemeClr>
              </a:solidFill>
            </a:endParaRP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C657A7A7-1260-B81B-4409-4F1F75B7BFBC}"/>
              </a:ext>
            </a:extLst>
          </p:cNvPr>
          <p:cNvSpPr>
            <a:spLocks noGrp="1"/>
          </p:cNvSpPr>
          <p:nvPr>
            <p:ph idx="13"/>
          </p:nvPr>
        </p:nvSpPr>
        <p:spPr/>
        <p:txBody>
          <a:bodyPr/>
          <a:lstStyle/>
          <a:p>
            <a:r>
              <a:rPr lang="en-US" dirty="0">
                <a:solidFill>
                  <a:schemeClr val="accent3">
                    <a:lumMod val="75000"/>
                  </a:schemeClr>
                </a:solidFill>
              </a:rPr>
              <a:t>include Conversions</a:t>
            </a:r>
          </a:p>
          <a:p>
            <a:r>
              <a:rPr lang="en-US" dirty="0">
                <a:solidFill>
                  <a:schemeClr val="accent3">
                    <a:lumMod val="75000"/>
                  </a:schemeClr>
                </a:solidFill>
              </a:rPr>
              <a:t>p f2c(212)  # =&gt; 100.0</a:t>
            </a:r>
          </a:p>
          <a:p>
            <a:r>
              <a:rPr lang="en-US" dirty="0">
                <a:solidFill>
                  <a:schemeClr val="accent3">
                    <a:lumMod val="75000"/>
                  </a:schemeClr>
                </a:solidFill>
              </a:rPr>
              <a:t>p c2f(100)  # =&gt; 212.0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5646EF0-BAF4-D0C9-93C8-28A5AA2F89E2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A61CB4D3-572E-C049-AC95-329274B2EEE1}" type="datetime1">
              <a:rPr lang="en-US" smtClean="0"/>
              <a:t>10/8/26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42ECC3B-31E1-B342-D0C9-6DE030787079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© Steve Beaty and others as cited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B47712D-E0AD-8C78-6837-48CED3B40F38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8BADA5E7-275A-0142-8584-066D5199CC3B}" type="slidenum">
              <a:rPr lang="en-US" smtClean="0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78124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xmlns:p14="http://schemas.microsoft.com/office/powerpoint/2010/main" spd="slow">
        <p:fade/>
      </p:transition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F6255A62-300D-C36D-BD97-8090E256CAB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Polymorphism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AF4262B-6EAA-293A-5409-33CF978A39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56BAD6-08A0-0945-90DF-24F121E75CCA}" type="datetime1">
              <a:rPr lang="en-US" smtClean="0"/>
              <a:t>10/8/26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5068758-EECF-5D6B-837A-64878FA9EC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Steve Beaty and others as cited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81E0A26-24A0-0A84-B131-B4A4A714BE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ADA5E7-275A-0142-8584-066D5199CC3B}" type="slidenum">
              <a:rPr lang="en-US" smtClean="0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8661120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F4C42922-4EEB-DE81-F4DF-C6D397A534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The O+1 (P): Polymorphism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AEB05CF-C71E-FE60-1992-9A88061935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From Greek "many shapes"</a:t>
            </a:r>
          </a:p>
          <a:p>
            <a:r>
              <a:rPr lang="en-US" dirty="0"/>
              <a:t>Methods take different types and perform same operations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04B693F-64D7-362F-7314-4ECFD42662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06EA6F-75C9-894C-819B-83D31812426F}" type="datetime1">
              <a:rPr lang="en-US" smtClean="0"/>
              <a:t>10/8/26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D6621E-01F4-FEA5-4B53-B49B5BC0C5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Steve Beaty and others as cited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CF9770-2474-7D79-EE2D-7BCDB49FB9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ADA5E7-275A-0142-8584-066D5199CC3B}" type="slidenum">
              <a:rPr lang="en-US" smtClean="0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03604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5C03724-7F78-83A0-3B6D-8D80EB0421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Sort Polymorphism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A7B17F73-440B-3AB5-5FA1-FB9611062B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 err="1"/>
              <a:t>irb</a:t>
            </a:r>
            <a:r>
              <a:rPr lang="en-US" dirty="0"/>
              <a:t>&gt; ["5", "2", "1"].sort</a:t>
            </a:r>
          </a:p>
          <a:p>
            <a:r>
              <a:rPr lang="en-US" dirty="0"/>
              <a:t>=&gt; ["1", "2", "5"]</a:t>
            </a:r>
          </a:p>
          <a:p>
            <a:br>
              <a:rPr lang="en-US" dirty="0"/>
            </a:br>
            <a:r>
              <a:rPr lang="en-US" dirty="0" err="1"/>
              <a:t>irb</a:t>
            </a:r>
            <a:r>
              <a:rPr lang="en-US" dirty="0"/>
              <a:t>&gt; [5, 2, 1].sort</a:t>
            </a:r>
          </a:p>
          <a:p>
            <a:r>
              <a:rPr lang="en-US" dirty="0"/>
              <a:t>=&gt; [1, 2, 5]</a:t>
            </a:r>
          </a:p>
          <a:p>
            <a:endParaRPr lang="en-US" dirty="0"/>
          </a:p>
          <a:p>
            <a:r>
              <a:rPr lang="en-US" dirty="0" err="1"/>
              <a:t>irb</a:t>
            </a:r>
            <a:r>
              <a:rPr lang="en-US" dirty="0"/>
              <a:t>&gt; </a:t>
            </a:r>
            <a:r>
              <a:rPr lang="en-US" dirty="0" err="1"/>
              <a:t>arr</a:t>
            </a:r>
            <a:r>
              <a:rPr lang="en-US" dirty="0"/>
              <a:t> = ['5', 1, '2', 4, 3]</a:t>
            </a:r>
          </a:p>
          <a:p>
            <a:r>
              <a:rPr lang="en-US" dirty="0"/>
              <a:t>=&gt; ["5", 1, "2", 4, 3]</a:t>
            </a:r>
          </a:p>
          <a:p>
            <a:br>
              <a:rPr lang="en-US" dirty="0"/>
            </a:br>
            <a:r>
              <a:rPr lang="en-US" dirty="0" err="1"/>
              <a:t>irb</a:t>
            </a:r>
            <a:r>
              <a:rPr lang="en-US" dirty="0"/>
              <a:t>&gt; </a:t>
            </a:r>
            <a:r>
              <a:rPr lang="en-US" dirty="0" err="1"/>
              <a:t>arr.sort</a:t>
            </a:r>
            <a:r>
              <a:rPr lang="en-US" dirty="0"/>
              <a:t>{ |x, y| </a:t>
            </a:r>
            <a:r>
              <a:rPr lang="en-US" dirty="0" err="1"/>
              <a:t>x.to_i</a:t>
            </a:r>
            <a:r>
              <a:rPr lang="en-US" dirty="0"/>
              <a:t> &lt;=&gt; </a:t>
            </a:r>
            <a:r>
              <a:rPr lang="en-US" dirty="0" err="1"/>
              <a:t>y.to_i</a:t>
            </a:r>
            <a:r>
              <a:rPr lang="en-US" dirty="0"/>
              <a:t> }</a:t>
            </a:r>
          </a:p>
          <a:p>
            <a:r>
              <a:rPr lang="en-US" dirty="0"/>
              <a:t>=&gt; [1, "2", 3, 4, "5"]</a:t>
            </a:r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FA8C09-E312-6AE1-8B36-9D07188783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2C9A1E-BF40-FA4D-8301-3341A4CD6720}" type="datetime1">
              <a:rPr lang="en-US" smtClean="0"/>
              <a:t>10/8/26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5FBB14-80DF-C685-D60E-861BD50CCE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Steve Beaty and others as cited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79A118-876D-1FF2-FA75-45D34B927E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ADA5E7-275A-0142-8584-066D5199CC3B}" type="slidenum">
              <a:rPr lang="en-US" smtClean="0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42578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xmlns:p14="http://schemas.microsoft.com/office/powerpoint/2010/main" spd="slow">
        <p:fade/>
      </p:transition>
    </mc:Fallback>
  </mc:AlternateContent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682C81D-A012-A0CF-A08D-7B7C5DBC958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Debugging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383D547-A242-FB93-C2EB-F38DD32F3A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5B38A2-7678-FD47-82BB-06080A8D4722}" type="datetime1">
              <a:rPr lang="en-US" smtClean="0"/>
              <a:t>10/8/26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3EFB366-555E-2787-9D97-14FE29A5D6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Steve Beaty and others as cited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91E2076-7384-1B8A-1545-97DF66C457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ADA5E7-275A-0142-8584-066D5199CC3B}" type="slidenum">
              <a:rPr lang="en-US" smtClean="0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9738506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A5D39663-4D0B-C4DA-5FED-00E3033823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Rails Debugging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B9DBAD1-0164-B591-2BBC-9394658B0A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dirty="0"/>
              <a:t>Everyone writes bugs</a:t>
            </a:r>
          </a:p>
          <a:p>
            <a:pPr lvl="1"/>
            <a:r>
              <a:rPr lang="en-US" dirty="0"/>
              <a:t>Become an expert at debugging.</a:t>
            </a:r>
          </a:p>
          <a:p>
            <a:r>
              <a:rPr lang="en-US" dirty="0"/>
              <a:t>Tools Available</a:t>
            </a:r>
          </a:p>
          <a:p>
            <a:pPr lvl="1"/>
            <a:r>
              <a:rPr lang="en-US" dirty="0"/>
              <a:t>Browser developer console</a:t>
            </a:r>
          </a:p>
          <a:p>
            <a:pPr lvl="1"/>
            <a:r>
              <a:rPr lang="en-US" dirty="0"/>
              <a:t>Server logs</a:t>
            </a:r>
          </a:p>
          <a:p>
            <a:pPr lvl="1"/>
            <a:r>
              <a:rPr lang="en-US" dirty="0"/>
              <a:t>Built-in debugging shell</a:t>
            </a:r>
          </a:p>
          <a:p>
            <a:r>
              <a:rPr lang="en-US" dirty="0"/>
              <a:t>Activate Debugger</a:t>
            </a:r>
          </a:p>
          <a:p>
            <a:pPr lvl="1"/>
            <a:r>
              <a:rPr lang="en-US" dirty="0"/>
              <a:t>Add to </a:t>
            </a:r>
            <a:r>
              <a:rPr lang="en-US" dirty="0" err="1"/>
              <a:t>Gemfile</a:t>
            </a:r>
            <a:r>
              <a:rPr lang="en-US" dirty="0"/>
              <a:t> </a:t>
            </a:r>
            <a:r>
              <a:rPr lang="en-US" dirty="0">
                <a:solidFill>
                  <a:srgbClr val="A0BA66"/>
                </a:solidFill>
                <a:latin typeface="Menlo" panose="020B0609030804020204" pitchFamily="49" charset="0"/>
              </a:rPr>
              <a:t>gem 'debug’</a:t>
            </a:r>
          </a:p>
          <a:p>
            <a:pPr lvl="1">
              <a:buNone/>
            </a:pPr>
            <a:r>
              <a:rPr lang="en-US" dirty="0"/>
              <a:t>	Call in code </a:t>
            </a:r>
            <a:r>
              <a:rPr lang="en-US" dirty="0">
                <a:solidFill>
                  <a:srgbClr val="A0BA66"/>
                </a:solidFill>
                <a:latin typeface="Menlo" panose="020B0609030804020204" pitchFamily="49" charset="0"/>
              </a:rPr>
              <a:t>debugger</a:t>
            </a:r>
          </a:p>
          <a:p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1973F9E-2B5F-7959-FA0C-0BD6473266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0E7905-3043-0545-98D5-68A8EB1460CA}" type="datetime1">
              <a:rPr lang="en-US" smtClean="0"/>
              <a:t>10/8/26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CD51CB-5D4E-D988-7355-993CC4ED36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Steve Beaty and others as cited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BC4BCF-724C-6ECB-7112-1D5FB374CE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ADA5E7-275A-0142-8584-066D5199CC3B}" type="slidenum">
              <a:rPr lang="en-US" smtClean="0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83051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BC5A48E-9342-A7E9-E1E1-CB5387DE49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Debug Commands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7355A278-628A-F6F1-03FB-D9238AD2F8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dirty="0"/>
              <a:t>break - List/set breakpoints</a:t>
            </a:r>
          </a:p>
          <a:p>
            <a:pPr lvl="1"/>
            <a:r>
              <a:rPr lang="en-US" dirty="0"/>
              <a:t>N - line number N in current file</a:t>
            </a:r>
          </a:p>
          <a:p>
            <a:pPr lvl="1"/>
            <a:r>
              <a:rPr lang="en-US" dirty="0"/>
              <a:t>F:N - file F, line N</a:t>
            </a:r>
          </a:p>
          <a:p>
            <a:pPr lvl="1"/>
            <a:r>
              <a:rPr lang="en-US" dirty="0"/>
              <a:t>C#M - class C, method M</a:t>
            </a:r>
          </a:p>
          <a:p>
            <a:r>
              <a:rPr lang="en-US" dirty="0"/>
              <a:t>delete - Delete breakpoints</a:t>
            </a:r>
          </a:p>
          <a:p>
            <a:r>
              <a:rPr lang="en-US" dirty="0"/>
              <a:t>info - Show Rails variables</a:t>
            </a:r>
          </a:p>
          <a:p>
            <a:r>
              <a:rPr lang="en-US" dirty="0"/>
              <a:t>step - Step into next line</a:t>
            </a:r>
          </a:p>
          <a:p>
            <a:r>
              <a:rPr lang="en-US" dirty="0"/>
              <a:t>next - Go to next line (don't step into)</a:t>
            </a:r>
          </a:p>
          <a:p>
            <a:r>
              <a:rPr lang="en-US" dirty="0"/>
              <a:t>continue - Resume until next breakpoint</a:t>
            </a:r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B3EA65-996D-97B9-4399-92F79BC12C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A6F9CC-5CEB-274F-9A4A-41C17E8F821C}" type="datetime1">
              <a:rPr lang="en-US" smtClean="0"/>
              <a:t>10/8/26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8BA904-8A7F-B746-4F59-C63B2523FE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Steve Beaty and others as cited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65C92-E7E4-A2CF-6C31-4278AEC9B1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ADA5E7-275A-0142-8584-066D5199CC3B}" type="slidenum">
              <a:rPr lang="en-US" smtClean="0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73604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E38FF44B-530E-B825-C864-B6FA50D83F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Example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0AA3C91C-5012-A0F6-79DF-75F9B6DEAA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dirty="0"/>
              <a:t># POST /items</a:t>
            </a:r>
          </a:p>
          <a:p>
            <a:r>
              <a:rPr lang="en-US" dirty="0"/>
              <a:t>def create</a:t>
            </a:r>
          </a:p>
          <a:p>
            <a:r>
              <a:rPr lang="en-US" dirty="0"/>
              <a:t>  @item = </a:t>
            </a:r>
            <a:r>
              <a:rPr lang="en-US" dirty="0" err="1"/>
              <a:t>Item.new</a:t>
            </a:r>
            <a:r>
              <a:rPr lang="en-US" dirty="0"/>
              <a:t>(</a:t>
            </a:r>
            <a:r>
              <a:rPr lang="en-US" dirty="0" err="1"/>
              <a:t>item_params</a:t>
            </a:r>
            <a:r>
              <a:rPr lang="en-US" dirty="0"/>
              <a:t>)</a:t>
            </a:r>
          </a:p>
          <a:p>
            <a:r>
              <a:rPr lang="en-US" dirty="0"/>
              <a:t>  debugger</a:t>
            </a:r>
          </a:p>
          <a:p>
            <a:r>
              <a:rPr lang="en-US" dirty="0"/>
              <a:t>  # [...]</a:t>
            </a:r>
          </a:p>
          <a:p>
            <a:r>
              <a:rPr lang="en-US" dirty="0"/>
              <a:t>end</a:t>
            </a:r>
          </a:p>
          <a:p>
            <a:r>
              <a:rPr lang="en-US" dirty="0"/>
              <a:t>(</a:t>
            </a:r>
            <a:r>
              <a:rPr lang="en-US" dirty="0" err="1"/>
              <a:t>rdbg</a:t>
            </a:r>
            <a:r>
              <a:rPr lang="en-US" dirty="0"/>
              <a:t>) p </a:t>
            </a:r>
            <a:r>
              <a:rPr lang="en-US" dirty="0" err="1"/>
              <a:t>item_params</a:t>
            </a:r>
            <a:endParaRPr lang="en-US" dirty="0"/>
          </a:p>
          <a:p>
            <a:r>
              <a:rPr lang="en-US" dirty="0"/>
              <a:t>Unpermitted parameter: :priority</a:t>
            </a:r>
          </a:p>
          <a:p>
            <a:r>
              <a:rPr lang="en-US" dirty="0"/>
              <a:t>(</a:t>
            </a:r>
            <a:r>
              <a:rPr lang="en-US" dirty="0" err="1"/>
              <a:t>rdbg</a:t>
            </a:r>
            <a:r>
              <a:rPr lang="en-US" dirty="0"/>
              <a:t>) p @item</a:t>
            </a:r>
          </a:p>
          <a:p>
            <a:r>
              <a:rPr lang="en-US" dirty="0"/>
              <a:t>=&gt; #&lt;Item id: nil, what: "Melissa", priority: nil&gt;</a:t>
            </a:r>
          </a:p>
          <a:p>
            <a:r>
              <a:rPr lang="en-US" dirty="0"/>
              <a:t>(ruby) @</a:t>
            </a:r>
            <a:r>
              <a:rPr lang="en-US" dirty="0" err="1"/>
              <a:t>item.priority</a:t>
            </a:r>
            <a:r>
              <a:rPr lang="en-US" dirty="0"/>
              <a:t>=5</a:t>
            </a:r>
          </a:p>
          <a:p>
            <a:r>
              <a:rPr lang="en-US" dirty="0"/>
              <a:t>5</a:t>
            </a:r>
          </a:p>
          <a:p>
            <a:r>
              <a:rPr lang="en-US" dirty="0"/>
              <a:t>(</a:t>
            </a:r>
            <a:r>
              <a:rPr lang="en-US" dirty="0" err="1"/>
              <a:t>rdbg</a:t>
            </a:r>
            <a:r>
              <a:rPr lang="en-US" dirty="0"/>
              <a:t>) c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5F38D9-7D38-1741-2664-2E546E3440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8DC867-39DA-F94C-B44F-1C90B6F38697}" type="datetime1">
              <a:rPr lang="en-US" smtClean="0"/>
              <a:t>10/8/26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773CEC9-ABEA-CB44-CB76-ACF3D7B82F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Steve Beaty and others as cited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6D47BA-27FC-F519-A06D-328E74160C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ADA5E7-275A-0142-8584-066D5199CC3B}" type="slidenum">
              <a:rPr lang="en-US" smtClean="0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85026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xmlns:p14="http://schemas.microsoft.com/office/powerpoint/2010/main" spd="slow">
        <p:fade/>
      </p:transition>
    </mc:Fallback>
  </mc:AlternateContent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AD940F3-4C1A-4FB6-98B5-690B178D0EC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Summary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7F7DCBF-9696-34F7-B6E2-78F9BE56DE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5B5858-DEBE-7248-A6F2-026D46D64802}" type="datetime1">
              <a:rPr lang="en-US" smtClean="0"/>
              <a:t>10/8/26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31ED5F1-497B-8595-1CCE-E9FCC90288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Steve Beaty and others as cited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B2C068-9FD3-899E-F22F-1269F8F68F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ADA5E7-275A-0142-8584-066D5199CC3B}" type="slidenum">
              <a:rPr lang="en-US" smtClean="0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1796765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FA2F8FB2-72AD-1E36-1579-D9C76F6910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What We Learned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015B27E-8E41-8720-F61D-A47BE740D4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Big Four OOP: Abstraction, Encapsulation, Inheritance, Polymorphism</a:t>
            </a:r>
          </a:p>
          <a:p>
            <a:r>
              <a:rPr lang="en-US" dirty="0"/>
              <a:t>Ruby Arrays: Dynamic, powerful, many operations</a:t>
            </a:r>
          </a:p>
          <a:p>
            <a:r>
              <a:rPr lang="en-US" dirty="0"/>
              <a:t>Symbols: Immutable global identifiers</a:t>
            </a:r>
          </a:p>
          <a:p>
            <a:r>
              <a:rPr lang="en-US" dirty="0"/>
              <a:t>Hashes: Key/value pairs with flexible keys</a:t>
            </a:r>
          </a:p>
          <a:p>
            <a:r>
              <a:rPr lang="en-US" dirty="0"/>
              <a:t>Scopes: Using sigils ($, @@, @, :)</a:t>
            </a:r>
          </a:p>
          <a:p>
            <a:r>
              <a:rPr lang="en-US" dirty="0"/>
              <a:t>Debugging: Built-in tools and commands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9D47B40-74C1-FB4C-46D3-69CFF30B73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C3BABC-2983-F948-AB3A-96D197CFCDEF}" type="datetime1">
              <a:rPr lang="en-US" smtClean="0"/>
              <a:t>10/8/26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3E9A65E-D54C-DA14-DCC5-F63D79FF28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Steve Beaty and others as cited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FF19DE-7321-E951-63F6-19B8F027DA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ADA5E7-275A-0142-8584-066D5199CC3B}" type="slidenum">
              <a:rPr lang="en-US" smtClean="0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83159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MSU Denver 16x9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Presentation1" id="{9DA9736E-330F-4D40-A0AF-1CC780C29072}" vid="{881790AE-4280-6941-9F6C-19A6C408C41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Master</Template>
  <TotalTime>10893</TotalTime>
  <Words>2531</Words>
  <Application>Microsoft Macintosh PowerPoint</Application>
  <PresentationFormat>Widescreen</PresentationFormat>
  <Paragraphs>506</Paragraphs>
  <Slides>46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46</vt:i4>
      </vt:variant>
    </vt:vector>
  </HeadingPairs>
  <TitlesOfParts>
    <vt:vector size="51" baseType="lpstr">
      <vt:lpstr>Aptos</vt:lpstr>
      <vt:lpstr>Arial</vt:lpstr>
      <vt:lpstr>Calibri</vt:lpstr>
      <vt:lpstr>Menlo</vt:lpstr>
      <vt:lpstr>MSU Denver 16x9</vt:lpstr>
      <vt:lpstr>Chapter 02</vt:lpstr>
      <vt:lpstr>Ruby</vt:lpstr>
      <vt:lpstr>Why Ruby?</vt:lpstr>
      <vt:lpstr>Learning Outcomes</vt:lpstr>
      <vt:lpstr>Key Terms</vt:lpstr>
      <vt:lpstr>Object Oriented Programming</vt:lpstr>
      <vt:lpstr>Why OOP?</vt:lpstr>
      <vt:lpstr>Origins of OOP</vt:lpstr>
      <vt:lpstr>Core OOP Concepts</vt:lpstr>
      <vt:lpstr>The Big Four of OOP</vt:lpstr>
      <vt:lpstr>Abstraction</vt:lpstr>
      <vt:lpstr>A: Abstraction</vt:lpstr>
      <vt:lpstr>Abstraction in Practice</vt:lpstr>
      <vt:lpstr>Creating Good APIs</vt:lpstr>
      <vt:lpstr>Arrays in Ruby</vt:lpstr>
      <vt:lpstr>Unconventional Operations</vt:lpstr>
      <vt:lpstr>A Few Examples</vt:lpstr>
      <vt:lpstr>Set Operations</vt:lpstr>
      <vt:lpstr>Symbols</vt:lpstr>
      <vt:lpstr>Hashes</vt:lpstr>
      <vt:lpstr>Hash Examples</vt:lpstr>
      <vt:lpstr>Encapsulation</vt:lpstr>
      <vt:lpstr>The E: Encapsulation</vt:lpstr>
      <vt:lpstr>Why Encapsulate?</vt:lpstr>
      <vt:lpstr>Encapsulation Guidelines</vt:lpstr>
      <vt:lpstr>Sigils</vt:lpstr>
      <vt:lpstr>Goetic seals from the Lesser Key of Solomon</vt:lpstr>
      <vt:lpstr>Scopes and Sigils</vt:lpstr>
      <vt:lpstr>Visibility Modifiers</vt:lpstr>
      <vt:lpstr>Scope Example</vt:lpstr>
      <vt:lpstr>Inheritance</vt:lpstr>
      <vt:lpstr>The I: Inheritance</vt:lpstr>
      <vt:lpstr>Ruby's Approach</vt:lpstr>
      <vt:lpstr>Example</vt:lpstr>
      <vt:lpstr>Example</vt:lpstr>
      <vt:lpstr>Example</vt:lpstr>
      <vt:lpstr>Modules (Mixins)</vt:lpstr>
      <vt:lpstr>Polymorphism</vt:lpstr>
      <vt:lpstr>The O+1 (P): Polymorphism</vt:lpstr>
      <vt:lpstr>Sort Polymorphism</vt:lpstr>
      <vt:lpstr>Debugging</vt:lpstr>
      <vt:lpstr>Rails Debugging</vt:lpstr>
      <vt:lpstr>Debug Commands</vt:lpstr>
      <vt:lpstr>Example</vt:lpstr>
      <vt:lpstr>Summary</vt:lpstr>
      <vt:lpstr>What We Learned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Steve Beaty</dc:creator>
  <cp:lastModifiedBy>Steve Beaty</cp:lastModifiedBy>
  <cp:revision>21</cp:revision>
  <dcterms:created xsi:type="dcterms:W3CDTF">2025-11-19T23:56:22Z</dcterms:created>
  <dcterms:modified xsi:type="dcterms:W3CDTF">2026-10-08T20:03:17Z</dcterms:modified>
</cp:coreProperties>
</file>