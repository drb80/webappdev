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1"/>
  </p:sldMasterIdLst>
  <p:notesMasterIdLst>
    <p:notesMasterId r:id="rId7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542"/>
  </p:normalViewPr>
  <p:slideViewPr>
    <p:cSldViewPr snapToGrid="0">
      <p:cViewPr varScale="1">
        <p:scale>
          <a:sx n="82" d="100"/>
          <a:sy n="82" d="100"/>
        </p:scale>
        <p:origin x="96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14AD53-B32D-C140-B1EF-3AA5C844E3CC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8C4CF2-F628-2745-AAE9-2B53077012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7504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8C4CF2-F628-2745-AAE9-2B53077012C1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1837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8C4CF2-F628-2745-AAE9-2B53077012C1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3979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8C4CF2-F628-2745-AAE9-2B53077012C1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2191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058940"/>
            <a:ext cx="10363200" cy="1470025"/>
          </a:xfrm>
          <a:solidFill>
            <a:schemeClr val="bg1">
              <a:alpha val="95000"/>
            </a:schemeClr>
          </a:solidFill>
          <a:effectLst>
            <a:softEdge rad="63500"/>
          </a:effectLst>
        </p:spPr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baseline="0" dirty="0">
                <a:solidFill>
                  <a:schemeClr val="tx1"/>
                </a:solidFill>
              </a:rPr>
              <a:t>Click to edit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2281187" y="2983612"/>
            <a:ext cx="7609479" cy="1009561"/>
          </a:xfrm>
          <a:prstGeom prst="roundRect">
            <a:avLst>
              <a:gd name="adj" fmla="val 37895"/>
            </a:avLst>
          </a:prstGeom>
          <a:solidFill>
            <a:schemeClr val="bg1">
              <a:alpha val="95000"/>
            </a:schemeClr>
          </a:solidFill>
          <a:effectLst>
            <a:softEdge rad="63500"/>
          </a:effectLst>
        </p:spPr>
        <p:txBody>
          <a:bodyPr anchor="ctr" anchorCtr="0"/>
          <a:lstStyle>
            <a:lvl1pPr marL="0" indent="0" algn="ctr">
              <a:buNone/>
              <a:defRPr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B409C91-6E3E-5409-2F44-4E770C50190C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CEC50CB2-6DC6-DE45-B7D9-48E888687942}" type="datetime1">
              <a:rPr lang="en-US" smtClean="0"/>
              <a:t>10/8/26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4118C6-B924-AA1F-AEFC-17607998D78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E93608-8881-8010-4D06-440F9FBB6BE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37D050C8-32A2-8944-BC0A-E76DEAECED1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10849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B39033B-5031-2DE5-AF8A-E269BDEE8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0765A-4BBB-804E-941D-19C2203611FC}" type="datetime1">
              <a:rPr lang="en-US" smtClean="0"/>
              <a:t>10/8/26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CC0AD20-1FAB-5697-725E-A23B4E11A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10" name="SlideNumberWithTotal">
            <a:extLst>
              <a:ext uri="{FF2B5EF4-FFF2-40B4-BE49-F238E27FC236}">
                <a16:creationId xmlns:a16="http://schemas.microsoft.com/office/drawing/2014/main" id="{C85ADDAF-31A4-85DD-32A3-DD43B60F6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317FA6C5-5BF6-287D-91F4-47597FBB83B6}"/>
              </a:ext>
            </a:extLst>
          </p:cNvPr>
          <p:cNvSpPr txBox="1">
            <a:spLocks/>
          </p:cNvSpPr>
          <p:nvPr userDrawn="1"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8-Oct-26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0758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  <a:ln w="25400">
            <a:solidFill>
              <a:schemeClr val="tx1"/>
            </a:solidFill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EEF9C46-CD18-5177-41DC-5A44F050B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CEAC3-C00F-7848-97ED-8EC14DCD375E}" type="datetime1">
              <a:rPr lang="en-US" smtClean="0"/>
              <a:t>10/8/26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6447FE1-5C78-6FAD-D883-46A9B247C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BEAED22-447D-B036-C934-3337B57F5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21BA7917-730E-FE26-33D7-1804D7DEFC4D}"/>
              </a:ext>
            </a:extLst>
          </p:cNvPr>
          <p:cNvSpPr txBox="1">
            <a:spLocks/>
          </p:cNvSpPr>
          <p:nvPr userDrawn="1"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8-Oct-26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7777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wo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2488"/>
            <a:ext cx="5321600" cy="4525963"/>
          </a:xfrm>
          <a:ln w="25400" cap="flat">
            <a:solidFill>
              <a:schemeClr val="tx1"/>
            </a:solidFill>
            <a:round/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3C3831-60B9-204A-AB0D-53E619F83C5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0800" y="1592837"/>
            <a:ext cx="5321600" cy="4525963"/>
          </a:xfrm>
          <a:ln w="25400">
            <a:solidFill>
              <a:schemeClr val="tx1"/>
            </a:solidFill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1D19512-769A-1A2D-AE4B-615827F538D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94791E5-C041-E840-A09B-A928400C9397}" type="datetime1">
              <a:rPr lang="en-US" smtClean="0"/>
              <a:t>10/8/26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8537417-0F7B-4AB8-2913-FC8911CF4DF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C508543-3E8A-F349-1E14-7A34163E0A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BC554FD7-644F-165A-8FF3-527D85F861AC}"/>
              </a:ext>
            </a:extLst>
          </p:cNvPr>
          <p:cNvSpPr txBox="1">
            <a:spLocks/>
          </p:cNvSpPr>
          <p:nvPr userDrawn="1"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8-Oct-26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2682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406052" y="6308727"/>
            <a:ext cx="1169155" cy="485424"/>
          </a:xfrm>
          <a:prstGeom prst="rect">
            <a:avLst/>
          </a:prstGeom>
        </p:spPr>
        <p:txBody>
          <a:bodyPr/>
          <a:lstStyle/>
          <a:p>
            <a:fld id="{744B3F8B-C767-4F4C-8482-C2BBC803F883}" type="datetime1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Date Placeholder 2">
            <a:extLst>
              <a:ext uri="{FF2B5EF4-FFF2-40B4-BE49-F238E27FC236}">
                <a16:creationId xmlns:a16="http://schemas.microsoft.com/office/drawing/2014/main" id="{1286FAB2-104E-7FBF-E674-513DC7ED95AD}"/>
              </a:ext>
            </a:extLst>
          </p:cNvPr>
          <p:cNvSpPr txBox="1">
            <a:spLocks/>
          </p:cNvSpPr>
          <p:nvPr userDrawn="1"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8-Oct-26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07098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92DC31-8A1B-D6EF-9DCB-F31748611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97BA57-E2D4-9E43-AE06-CBC17865D74F}" type="datetime1">
              <a:rPr lang="en-US" smtClean="0"/>
              <a:t>10/8/26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E733F8A-5589-31C8-DB78-246D75351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4200DB-D3DA-2D0A-8CD3-6E48E32FC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‹#›</a:t>
            </a:fld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4BB24C-9498-4879-0B09-6F1A8090202B}"/>
              </a:ext>
            </a:extLst>
          </p:cNvPr>
          <p:cNvSpPr txBox="1">
            <a:spLocks/>
          </p:cNvSpPr>
          <p:nvPr userDrawn="1"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8-Oct-26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443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C487D0D-A6BE-50D0-4804-465FF9AE0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D1E22-6DEE-9244-97CC-A22913F630A1}" type="datetime1">
              <a:rPr lang="en-US" smtClean="0"/>
              <a:t>10/8/26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F4343B0-C3EA-68AB-7293-4C580E1ED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98496D9-0557-9109-1A11-35D97D8FD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17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oundRect">
            <a:avLst>
              <a:gd name="adj" fmla="val 44167"/>
            </a:avLst>
          </a:prstGeom>
          <a:solidFill>
            <a:schemeClr val="bg1">
              <a:alpha val="95000"/>
            </a:schemeClr>
          </a:solidFill>
          <a:effectLst>
            <a:softEdge rad="0"/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oundRect">
            <a:avLst/>
          </a:prstGeom>
          <a:solidFill>
            <a:schemeClr val="bg1">
              <a:alpha val="95000"/>
            </a:schemeClr>
          </a:solidFill>
          <a:effectLst>
            <a:softEdge rad="63500"/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881809" y="6308727"/>
            <a:ext cx="7945363" cy="487680"/>
          </a:xfrm>
          <a:prstGeom prst="roundRect">
            <a:avLst>
              <a:gd name="adj" fmla="val 48894"/>
            </a:avLst>
          </a:prstGeom>
          <a:solidFill>
            <a:schemeClr val="bg1"/>
          </a:solidFill>
          <a:effectLst>
            <a:softEdge rad="63500"/>
          </a:effectLst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34686" y="6308727"/>
            <a:ext cx="879777" cy="487680"/>
          </a:xfrm>
          <a:prstGeom prst="roundRect">
            <a:avLst>
              <a:gd name="adj" fmla="val 43034"/>
            </a:avLst>
          </a:prstGeom>
          <a:solidFill>
            <a:schemeClr val="bg1"/>
          </a:solidFill>
          <a:effectLst>
            <a:softEdge rad="63500"/>
          </a:effectLst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CBAC88-EF5B-3148-888C-824478CD1B05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B6740CB2-DC30-5DDB-24B8-219C9C3F59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5141" y="6308727"/>
            <a:ext cx="1169155" cy="487680"/>
          </a:xfrm>
          <a:prstGeom prst="roundRect">
            <a:avLst>
              <a:gd name="adj" fmla="val 48894"/>
            </a:avLst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lvl1pPr algn="ctr">
              <a:defRPr sz="1600"/>
            </a:lvl1pPr>
          </a:lstStyle>
          <a:p>
            <a:fld id="{ACCB1BC1-0411-3943-97C5-AED949EF5644}" type="datetime1">
              <a:rPr lang="en-US" smtClean="0"/>
              <a:t>10/8/26</a:t>
            </a:fld>
            <a:endParaRPr lang="en-US" dirty="0"/>
          </a:p>
        </p:txBody>
      </p:sp>
      <p:sp>
        <p:nvSpPr>
          <p:cNvPr id="7" name="SlideTotal">
            <a:extLst>
              <a:ext uri="{FF2B5EF4-FFF2-40B4-BE49-F238E27FC236}">
                <a16:creationId xmlns:a16="http://schemas.microsoft.com/office/drawing/2014/main" id="{B74D5B4B-3C60-FF6A-4438-A067B7DE7333}"/>
              </a:ext>
            </a:extLst>
          </p:cNvPr>
          <p:cNvSpPr txBox="1">
            <a:spLocks/>
          </p:cNvSpPr>
          <p:nvPr/>
        </p:nvSpPr>
        <p:spPr>
          <a:xfrm>
            <a:off x="10702624" y="6308727"/>
            <a:ext cx="879777" cy="487680"/>
          </a:xfrm>
          <a:prstGeom prst="roundRect">
            <a:avLst>
              <a:gd name="adj" fmla="val 43034"/>
            </a:avLst>
          </a:prstGeom>
          <a:solidFill>
            <a:schemeClr val="bg1"/>
          </a:solidFill>
          <a:effectLst>
            <a:softEdge rad="63500"/>
          </a:effectLst>
        </p:spPr>
        <p:txBody>
          <a:bodyPr vert="horz" lIns="121920" tIns="60960" rIns="121920" bIns="6096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/>
              <a:t>70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711389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</p:sldLayoutIdLst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  <p:hf hdr="0"/>
  <p:txStyles>
    <p:titleStyle>
      <a:lvl1pPr algn="ctr" defTabSz="609555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66" indent="-457166" algn="l" defTabSz="609555" rtl="0" eaLnBrk="1" latinLnBrk="0" hangingPunct="1">
        <a:spcBef>
          <a:spcPct val="20000"/>
        </a:spcBef>
        <a:buFont typeface="Arial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26" indent="-380973" algn="l" defTabSz="609555" rtl="0" eaLnBrk="1" latinLnBrk="0" hangingPunct="1">
        <a:spcBef>
          <a:spcPct val="20000"/>
        </a:spcBef>
        <a:buFont typeface="Arial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885" indent="-304776" algn="l" defTabSz="609555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440" indent="-304776" algn="l" defTabSz="609555" rtl="0" eaLnBrk="1" latinLnBrk="0" hangingPunct="1">
        <a:spcBef>
          <a:spcPct val="20000"/>
        </a:spcBef>
        <a:buFont typeface="Arial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2994" indent="-304776" algn="l" defTabSz="609555" rtl="0" eaLnBrk="1" latinLnBrk="0" hangingPunct="1">
        <a:spcBef>
          <a:spcPct val="20000"/>
        </a:spcBef>
        <a:buFont typeface="Arial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6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0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6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570FE-74EA-513B-DE2E-12D78553C0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Chapter Five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E2A9CA-5C69-3AEC-0F9C-3E37BF0A3C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Controllers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BA15F8-75CD-C505-D030-7FF9D6DB13E8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EA31B0E-D54E-4A43-98E7-3A731D1C2373}" type="datetime1">
              <a:rPr lang="en-US" smtClean="0"/>
              <a:t>10/8/26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3BB4FA-DD86-F544-DD83-D5953135319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83760-CE36-0A69-6633-E65B73C1CD3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37D050C8-32A2-8944-BC0A-E76DEAECED1E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22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7D0D7-9943-0302-F3F4-5EFA07C8F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Epictetus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879836-1253-0248-ADF9-42E9490705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Freedom is the only worthy goal in life. It is won by disregarding things that lie beyond our control.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26B98D6-9DCC-6B38-A192-1D6178A11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34771-3F08-ED4D-B7E3-246778FDFDC9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DCD0AD-D003-55AA-A765-638E851BA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A58EA0-EBB5-DDBC-5FD8-C76E8EBDA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416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D6A54-236B-6830-1358-48501E4EC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E347EC-13EF-759C-9598-ADD51DDDC3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Controllers are where the </a:t>
            </a:r>
            <a:r>
              <a:rPr lang="en-US" b="1" dirty="0"/>
              <a:t>business logic</a:t>
            </a:r>
            <a:r>
              <a:rPr lang="en-US" dirty="0"/>
              <a:t> of our applications resides.</a:t>
            </a:r>
          </a:p>
          <a:p>
            <a:r>
              <a:rPr lang="en-US" dirty="0"/>
              <a:t>They make each application unique by:</a:t>
            </a:r>
          </a:p>
          <a:p>
            <a:pPr lvl="1"/>
            <a:r>
              <a:rPr lang="en-US" dirty="0"/>
              <a:t>Containing methods for different operations needed for models</a:t>
            </a:r>
          </a:p>
          <a:p>
            <a:pPr lvl="1"/>
            <a:r>
              <a:rPr lang="en-US" dirty="0"/>
              <a:t>Processing requests and data</a:t>
            </a:r>
          </a:p>
          <a:p>
            <a:pPr lvl="1"/>
            <a:r>
              <a:rPr lang="en-US" dirty="0"/>
              <a:t>Rendering views once operations are complete</a:t>
            </a:r>
          </a:p>
          <a:p>
            <a:pPr lvl="1"/>
            <a:r>
              <a:rPr lang="en-US" dirty="0"/>
              <a:t>Defining the behavior that distinguishes your application from other similar applications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93109A-871A-EC5D-3243-C1344CEA3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B5D3F-AC35-1944-8A58-5E035FC74E79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9FEB8E-8E4B-80C0-01F2-D81BD7E3A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F8964E-9EE3-B7BE-FE79-C69783737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6953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828F0-1143-67DD-1AA4-F58A1DD8C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6C249-EC8C-4E59-3D13-67C613ECC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233" y="1600201"/>
            <a:ext cx="10972800" cy="452596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By the end of this chapter, you will be able to: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Create appropriate routes (URLs and verbs) for your applications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Use filters to screen requests and create responses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Generate methods that return files and create dynamic output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Generate useful integration and system tests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Deploy your application as a publicly-visible web server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5011A6-B8CF-887E-C144-EF5F301BE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FA46E-393D-864B-8C70-69C9BEB559DA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190007-BE00-1420-A4CF-317F766E1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363098-D876-AC79-6ADA-DC4C6F8AF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69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0CCFD-778A-2812-EAF8-617F77E4F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Key Terms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37742B-D269-A54B-7503-ED08CA7DE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Routing - Mapping URLs to controller actions</a:t>
            </a:r>
          </a:p>
          <a:p>
            <a:r>
              <a:rPr lang="en-US" dirty="0"/>
              <a:t>Verification and Validation - Ensuring correctness and usefulness</a:t>
            </a:r>
          </a:p>
          <a:p>
            <a:r>
              <a:rPr lang="en-US" dirty="0"/>
              <a:t>Inversion of Control - Framework calls your code</a:t>
            </a:r>
          </a:p>
          <a:p>
            <a:r>
              <a:rPr lang="en-US" dirty="0"/>
              <a:t>Filters - Pre/post processing of requests</a:t>
            </a:r>
          </a:p>
          <a:p>
            <a:r>
              <a:rPr lang="en-US" dirty="0"/>
              <a:t>Cookies - Client-server state management</a:t>
            </a:r>
          </a:p>
          <a:p>
            <a:r>
              <a:rPr lang="en-US" dirty="0"/>
              <a:t>Integration and System Testing </a:t>
            </a:r>
          </a:p>
          <a:p>
            <a:pPr lvl="1"/>
            <a:r>
              <a:rPr lang="en-US" dirty="0"/>
              <a:t>End-to-end testing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2786F6E-5D11-C631-F462-09EB756FE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B04BF-F3F9-9E4D-AB20-FC800FFEDCF9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6F2A00-A0E5-8464-7F9F-97301F79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A7B0B4-5E14-8918-6F38-B25837A3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634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4F831-A32E-78EF-0530-4F4AE0677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Routing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4AFC3-F285-7840-FB09-D0C2A1FC6E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Part of the Rails pipeline that maps:</a:t>
            </a:r>
          </a:p>
          <a:p>
            <a:pPr lvl="1"/>
            <a:r>
              <a:rPr lang="en-US" dirty="0"/>
              <a:t>URLs - The web addresses users visit</a:t>
            </a:r>
          </a:p>
          <a:p>
            <a:pPr lvl="1"/>
            <a:r>
              <a:rPr lang="en-US" dirty="0"/>
              <a:t>HTTP verbs - GET, POST, PATCH, DELETE, etc.</a:t>
            </a:r>
          </a:p>
          <a:p>
            <a:pPr lvl="1"/>
            <a:r>
              <a:rPr lang="en-US" dirty="0"/>
              <a:t>Controller methods - The code that handles requests</a:t>
            </a:r>
          </a:p>
          <a:p>
            <a:r>
              <a:rPr lang="en-US" dirty="0"/>
              <a:t>This mapping tells Rails which controller and action should handle each request.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85741F-6A87-D2F6-6117-F6CA0B8FC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B758C-239B-0D45-BED3-FCB5639D6592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479797-B011-70FA-181D-D08BABA96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A353F-0B8D-EEE4-ABB1-9682D9D53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18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C360E-D25C-FBA6-2C32-DAD555AE2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Viewing Routes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AC88A-91E8-8E57-D692-E1AAD181B6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Command Line: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rails routes</a:t>
            </a:r>
          </a:p>
          <a:p>
            <a:r>
              <a:rPr lang="en-US" dirty="0"/>
              <a:t>Development Server:</a:t>
            </a:r>
          </a:p>
          <a:p>
            <a:pPr lvl="1"/>
            <a:r>
              <a:rPr lang="en-US" dirty="0"/>
              <a:t>http://localhost:3000/rails/info/routes</a:t>
            </a:r>
          </a:p>
          <a:p>
            <a:r>
              <a:rPr lang="en-US" dirty="0"/>
              <a:t>Server Properties:</a:t>
            </a:r>
          </a:p>
          <a:p>
            <a:pPr lvl="1"/>
            <a:r>
              <a:rPr lang="en-US" dirty="0"/>
              <a:t>http://localhost:3000/rails/info/properties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339254-ECFA-7898-95ED-67065308A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7B860-2B13-0A4F-9325-E1D770F53373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36B337-9119-FF11-B41B-5EA2AD0CE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90446A-D57F-468A-9CAB-3611EE82B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427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F0C6-31C7-5875-2134-3BAD766BD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Route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EA283-859E-6848-913D-CC09000AF0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Prefix</a:t>
            </a:r>
          </a:p>
          <a:p>
            <a:pPr lvl="1"/>
            <a:r>
              <a:rPr lang="en-US" dirty="0"/>
              <a:t>Used in _</a:t>
            </a:r>
            <a:r>
              <a:rPr lang="en-US" dirty="0" err="1"/>
              <a:t>url</a:t>
            </a:r>
            <a:r>
              <a:rPr lang="en-US" dirty="0"/>
              <a:t> and _path helpers (e.g., </a:t>
            </a:r>
            <a:r>
              <a:rPr lang="en-US" dirty="0" err="1"/>
              <a:t>items_path</a:t>
            </a:r>
            <a:r>
              <a:rPr lang="en-US" dirty="0"/>
              <a:t>)</a:t>
            </a:r>
          </a:p>
          <a:p>
            <a:r>
              <a:rPr lang="en-US" dirty="0"/>
              <a:t>Verb</a:t>
            </a:r>
          </a:p>
          <a:p>
            <a:pPr lvl="1"/>
            <a:r>
              <a:rPr lang="en-US" dirty="0"/>
              <a:t>The HTTP method (GET, POST, PATCH, DELETE)</a:t>
            </a:r>
          </a:p>
          <a:p>
            <a:r>
              <a:rPr lang="en-US" dirty="0"/>
              <a:t>URI Pattern</a:t>
            </a:r>
          </a:p>
          <a:p>
            <a:pPr lvl="1"/>
            <a:r>
              <a:rPr lang="en-US" dirty="0"/>
              <a:t>The URL pattern to match</a:t>
            </a:r>
          </a:p>
          <a:p>
            <a:r>
              <a:rPr lang="en-US" dirty="0" err="1"/>
              <a:t>Controller#Action</a:t>
            </a:r>
            <a:endParaRPr lang="en-US" dirty="0"/>
          </a:p>
          <a:p>
            <a:pPr lvl="1"/>
            <a:r>
              <a:rPr lang="en-US" dirty="0"/>
              <a:t>Which controller method handles the request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BC54A7-92CA-8E7F-707C-6FF042D84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5AF9C-0568-E241-91A8-F8E9553BDC8B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DF41F4-1294-2AEC-4DA9-C770876FC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DBF32A-E89D-3B96-F7E1-87C5E3132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1255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947AA8-9912-04CD-0D22-F19E61C63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D21775-4D62-FB36-0DFB-27AC815BDC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sz="2400" dirty="0"/>
              <a:t>Prefix      Verb    URI Pattern         </a:t>
            </a:r>
            <a:r>
              <a:rPr lang="en-US" sz="2400" dirty="0" err="1"/>
              <a:t>Controller#Action</a:t>
            </a:r>
            <a:endParaRPr lang="en-US" sz="2400" dirty="0"/>
          </a:p>
          <a:p>
            <a:r>
              <a:rPr lang="en-US" sz="2400" dirty="0"/>
              <a:t>items       GET     /items(.:format)        </a:t>
            </a:r>
            <a:r>
              <a:rPr lang="en-US" sz="2400" dirty="0" err="1"/>
              <a:t>items#index</a:t>
            </a:r>
            <a:endParaRPr lang="en-US" sz="2400" dirty="0"/>
          </a:p>
          <a:p>
            <a:r>
              <a:rPr lang="en-US" sz="2400" dirty="0"/>
              <a:t>            POST    /items(.:format)        </a:t>
            </a:r>
            <a:r>
              <a:rPr lang="en-US" sz="2400" dirty="0" err="1"/>
              <a:t>items#create</a:t>
            </a:r>
            <a:endParaRPr lang="en-US" sz="2400" dirty="0"/>
          </a:p>
          <a:p>
            <a:r>
              <a:rPr lang="en-US" sz="2400" dirty="0" err="1"/>
              <a:t>new_item</a:t>
            </a:r>
            <a:r>
              <a:rPr lang="en-US" sz="2400" dirty="0"/>
              <a:t>    GET     /items/new(.:format)    </a:t>
            </a:r>
            <a:r>
              <a:rPr lang="en-US" sz="2400" dirty="0" err="1"/>
              <a:t>items#new</a:t>
            </a:r>
            <a:endParaRPr lang="en-US" sz="2400" dirty="0"/>
          </a:p>
          <a:p>
            <a:r>
              <a:rPr lang="en-US" sz="2400" dirty="0" err="1"/>
              <a:t>edit_item</a:t>
            </a:r>
            <a:r>
              <a:rPr lang="en-US" sz="2400" dirty="0"/>
              <a:t>   GET     /items/:id/edit(.:format) </a:t>
            </a:r>
            <a:r>
              <a:rPr lang="en-US" sz="2400" dirty="0" err="1"/>
              <a:t>items#edit</a:t>
            </a:r>
            <a:endParaRPr lang="en-US" sz="2400" dirty="0"/>
          </a:p>
          <a:p>
            <a:r>
              <a:rPr lang="en-US" sz="2400" dirty="0"/>
              <a:t>item        GET     /items/:id(.:format)    </a:t>
            </a:r>
            <a:r>
              <a:rPr lang="en-US" sz="2400" dirty="0" err="1"/>
              <a:t>items#show</a:t>
            </a:r>
            <a:endParaRPr lang="en-US" sz="2400" dirty="0"/>
          </a:p>
          <a:p>
            <a:r>
              <a:rPr lang="en-US" sz="2400" dirty="0"/>
              <a:t>            PATCH   /items/:id(.:format)    </a:t>
            </a:r>
            <a:r>
              <a:rPr lang="en-US" sz="2400" dirty="0" err="1"/>
              <a:t>items#update</a:t>
            </a:r>
            <a:endParaRPr lang="en-US" sz="2400" dirty="0"/>
          </a:p>
          <a:p>
            <a:r>
              <a:rPr lang="en-US" sz="2400" dirty="0"/>
              <a:t>            PUT     /items/:id(.:format)    </a:t>
            </a:r>
            <a:r>
              <a:rPr lang="en-US" sz="2400" dirty="0" err="1"/>
              <a:t>items#update</a:t>
            </a:r>
            <a:endParaRPr lang="en-US" sz="2400" dirty="0"/>
          </a:p>
          <a:p>
            <a:r>
              <a:rPr lang="en-US" sz="2400" dirty="0"/>
              <a:t>            DELETE  /items/:id(.:format)    </a:t>
            </a:r>
            <a:r>
              <a:rPr lang="en-US" sz="2400" dirty="0" err="1"/>
              <a:t>items#destroy</a:t>
            </a:r>
            <a:endParaRPr lang="en-US" sz="2400" dirty="0"/>
          </a:p>
          <a:p>
            <a:endParaRPr lang="en-US" sz="2400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9DCF3D-0B24-BA59-8A17-7C826E1A8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97DC8B-721D-7140-8043-EE2F30809416}" type="datetime1">
              <a:rPr lang="en-US" smtClean="0"/>
              <a:t>10/8/26</a:t>
            </a:fld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DC283BE-7866-0606-8401-BECA81792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904C7B-9B5F-6D5A-091D-6C450CB20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135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F64C564-5406-9F09-57A4-D652E2E41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Colon Notation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A2023F9-A74F-6274-734D-766381AE75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Words starting with : are variables:</a:t>
            </a:r>
          </a:p>
          <a:p>
            <a:pPr lvl="1"/>
            <a:r>
              <a:rPr lang="en-US" dirty="0"/>
              <a:t>:format - Allows .</a:t>
            </a:r>
            <a:r>
              <a:rPr lang="en-US" dirty="0" err="1"/>
              <a:t>json</a:t>
            </a:r>
            <a:r>
              <a:rPr lang="en-US" dirty="0"/>
              <a:t>, .html extensions</a:t>
            </a:r>
          </a:p>
          <a:p>
            <a:pPr lvl="1"/>
            <a:r>
              <a:rPr lang="en-US" dirty="0"/>
              <a:t>:id - Passed to controller as params[:id]</a:t>
            </a:r>
          </a:p>
          <a:p>
            <a:r>
              <a:rPr lang="en-US" dirty="0"/>
              <a:t>Example: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http://localhost:3000/items/17</a:t>
            </a:r>
          </a:p>
          <a:p>
            <a:r>
              <a:rPr lang="en-US" dirty="0"/>
              <a:t>Calls </a:t>
            </a:r>
            <a:r>
              <a:rPr lang="en-US" dirty="0" err="1"/>
              <a:t>items#show</a:t>
            </a:r>
            <a:r>
              <a:rPr lang="en-US" dirty="0"/>
              <a:t> with params[:id] = 17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442EC1-506A-5C81-53AB-CDDF75897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3B4BA-2F7D-EC4C-AB0C-6189E69FDCBB}" type="datetime1">
              <a:rPr lang="en-US" smtClean="0"/>
              <a:t>10/8/26</a:t>
            </a:fld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AE2EDA4-13C8-1C53-3FFB-F42DC701A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912FEF-F02F-1A27-4783-2F35173FC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606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69411-1516-27BB-D6B0-ACD990E98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Format </a:t>
            </a:r>
            <a:r>
              <a:rPr lang="en-US" dirty="0" err="1"/>
              <a:t>Paramater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D9EE60-89FE-21B5-9024-50214830C1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The .:format pattern allows multiple response types:</a:t>
            </a:r>
          </a:p>
          <a:p>
            <a:r>
              <a:rPr lang="en-US" dirty="0"/>
              <a:t>HTML response</a:t>
            </a:r>
          </a:p>
          <a:p>
            <a:pPr lvl="1"/>
            <a:r>
              <a:rPr lang="en-US" dirty="0"/>
              <a:t>http://localhost:3000/items</a:t>
            </a:r>
          </a:p>
          <a:p>
            <a:r>
              <a:rPr lang="en-US" dirty="0"/>
              <a:t>JSON Response:</a:t>
            </a:r>
          </a:p>
          <a:p>
            <a:pPr lvl="1"/>
            <a:r>
              <a:rPr lang="en-US" dirty="0"/>
              <a:t>http://localhost:3000/</a:t>
            </a:r>
            <a:r>
              <a:rPr lang="en-US" dirty="0" err="1"/>
              <a:t>items.json</a:t>
            </a:r>
            <a:endParaRPr lang="en-US" dirty="0"/>
          </a:p>
          <a:p>
            <a:r>
              <a:rPr lang="en-US" dirty="0"/>
              <a:t>Same controller method, different output format!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28BC95-BB95-F8DC-9A04-DF9EF20D2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31B75-FA65-D34E-8244-C6C031E3256D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1B3122-2BE3-076A-DEBA-635634874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AD984F-A2B9-DFB1-5B8F-01C396441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909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0F716-6C30-BAC8-3347-22F176FE2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RESTful Routes with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A7C3FA-F837-25D9-F5FF-208C980C1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All eight standard routes created with one line </a:t>
            </a:r>
          </a:p>
          <a:p>
            <a:pPr lvl="1"/>
            <a:r>
              <a:rPr lang="en-US" dirty="0"/>
              <a:t>resources :items</a:t>
            </a:r>
          </a:p>
          <a:p>
            <a:r>
              <a:rPr lang="en-US" dirty="0"/>
              <a:t>This single line in config/</a:t>
            </a:r>
            <a:r>
              <a:rPr lang="en-US" dirty="0" err="1"/>
              <a:t>routes.rb</a:t>
            </a:r>
            <a:r>
              <a:rPr lang="en-US" dirty="0"/>
              <a:t> generates all CRUD operations:</a:t>
            </a:r>
          </a:p>
          <a:p>
            <a:pPr lvl="1"/>
            <a:r>
              <a:rPr lang="en-US" dirty="0"/>
              <a:t>Index (list all)</a:t>
            </a:r>
          </a:p>
          <a:p>
            <a:pPr lvl="1"/>
            <a:r>
              <a:rPr lang="en-US" dirty="0"/>
              <a:t>Show (view one)</a:t>
            </a:r>
          </a:p>
          <a:p>
            <a:pPr lvl="1"/>
            <a:r>
              <a:rPr lang="en-US" dirty="0"/>
              <a:t>New (form for creating)</a:t>
            </a:r>
          </a:p>
          <a:p>
            <a:pPr lvl="1"/>
            <a:r>
              <a:rPr lang="en-US" dirty="0"/>
              <a:t>Create (save new)</a:t>
            </a:r>
          </a:p>
          <a:p>
            <a:pPr lvl="1"/>
            <a:r>
              <a:rPr lang="en-US" dirty="0"/>
              <a:t>Edit (form for updating)</a:t>
            </a:r>
          </a:p>
          <a:p>
            <a:pPr lvl="1"/>
            <a:r>
              <a:rPr lang="en-US" dirty="0"/>
              <a:t>Update (save changes)</a:t>
            </a:r>
          </a:p>
          <a:p>
            <a:pPr lvl="1"/>
            <a:r>
              <a:rPr lang="en-US" dirty="0"/>
              <a:t>Destroy (delete)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AD5AF3-5D43-2218-C335-70645B8ED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13A53-34EC-CF4B-9A2C-004EA74ECF4C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E4B210-1AB6-EA23-E8BB-B5267F6F1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823B2-FAA6-F26A-CE80-C456F9F7E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64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39ECC-548B-FA1D-15C1-CF2757C29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Controller Actions/Methods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CFAE3-3012-C16D-E799-2A8E47D5FC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Actions are methods in controllers that:</a:t>
            </a:r>
          </a:p>
          <a:p>
            <a:pPr lvl="1"/>
            <a:r>
              <a:rPr lang="en-US" dirty="0"/>
              <a:t>Accept data from the router</a:t>
            </a:r>
          </a:p>
          <a:p>
            <a:pPr lvl="1"/>
            <a:r>
              <a:rPr lang="en-US" dirty="0"/>
              <a:t>Perform operations on data and models</a:t>
            </a:r>
          </a:p>
          <a:p>
            <a:pPr lvl="1"/>
            <a:r>
              <a:rPr lang="en-US" dirty="0"/>
              <a:t>Interact with the database</a:t>
            </a:r>
          </a:p>
          <a:p>
            <a:pPr lvl="1"/>
            <a:r>
              <a:rPr lang="en-US" dirty="0"/>
              <a:t>Automatically render associated views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C8BACC-ADF6-012B-C59D-1C08EC214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BB9FB-7043-8E4F-BD56-6113A2396EE2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37FF65-703F-9DB7-B886-0EB4329216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19EDB4-90C1-23DC-744A-6D6666A96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4557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26535-2B54-17F1-ED7B-6FD16BCB4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Index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4DC66-2072-A758-1F42-53BFB4B84A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endParaRPr lang="en-US" dirty="0"/>
          </a:p>
          <a:p>
            <a:r>
              <a:rPr lang="en-US" dirty="0"/>
              <a:t>Lists all items of a resource: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index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@items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Item.all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  <a:p>
            <a:r>
              <a:rPr lang="en-US" dirty="0"/>
              <a:t>Default behavior:</a:t>
            </a:r>
          </a:p>
          <a:p>
            <a:pPr lvl="1"/>
            <a:r>
              <a:rPr lang="en-US" dirty="0"/>
              <a:t>Automatically renders app/views/items/</a:t>
            </a:r>
            <a:r>
              <a:rPr lang="en-US" dirty="0" err="1"/>
              <a:t>index.html.erb</a:t>
            </a:r>
            <a:endParaRPr lang="en-US" dirty="0"/>
          </a:p>
          <a:p>
            <a:pPr lvl="1"/>
            <a:r>
              <a:rPr lang="en-US" dirty="0"/>
              <a:t>Instance variables (@ variables) are passed to the view</a:t>
            </a:r>
          </a:p>
          <a:p>
            <a:pPr lvl="1"/>
            <a:r>
              <a:rPr lang="en-US" dirty="0"/>
              <a:t>View uses @items to display the list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B307C0-9B99-D6D5-8D58-B15031545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FBCA0-627E-324F-85B5-274DA2540CF0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C78637-8A69-C509-2346-31E734FB9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6B16D4-6EAD-FD8D-E007-A31A418F4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613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3FD18-DD0E-9D09-E059-E729A6609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Automatic View Rendering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978E41-A1A8-DDBB-716B-E9727A768D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Rails follows Convention over Configuration:</a:t>
            </a:r>
          </a:p>
          <a:p>
            <a:pPr lvl="1"/>
            <a:r>
              <a:rPr lang="en-US" dirty="0"/>
              <a:t>After a controller method completes, Rails searches for a view</a:t>
            </a:r>
          </a:p>
          <a:p>
            <a:pPr lvl="1"/>
            <a:r>
              <a:rPr lang="en-US" dirty="0"/>
              <a:t>Location: app/views/</a:t>
            </a:r>
            <a:r>
              <a:rPr lang="en-US" dirty="0" err="1"/>
              <a:t>controller_name</a:t>
            </a:r>
            <a:r>
              <a:rPr lang="en-US" dirty="0"/>
              <a:t>/</a:t>
            </a:r>
          </a:p>
          <a:p>
            <a:pPr lvl="1"/>
            <a:r>
              <a:rPr lang="en-US" dirty="0"/>
              <a:t>File name matches method name: </a:t>
            </a:r>
            <a:r>
              <a:rPr lang="en-US" dirty="0" err="1"/>
              <a:t>action_name.html.erb</a:t>
            </a:r>
            <a:endParaRPr lang="en-US" dirty="0"/>
          </a:p>
          <a:p>
            <a:pPr lvl="1"/>
            <a:r>
              <a:rPr lang="en-US" dirty="0"/>
              <a:t>Instance variables automatically available in views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B70907-3DB7-4B11-41AC-2C02DEF9B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F5E4A-072B-FC41-8AF0-F30D893308CA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81252D-71B2-CDD5-1C61-55D6B65FA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A615C3-25F8-C220-128E-D9EDFEB2D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735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1DDB4-9C61-3ECC-D846-4CE6664F0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Introduction to Filters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B29AA-BE9F-9E8A-1CEC-EF86A010C5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Filters allow methods to be called at specific times:</a:t>
            </a:r>
          </a:p>
          <a:p>
            <a:pPr lvl="1"/>
            <a:r>
              <a:rPr lang="en-US" dirty="0" err="1"/>
              <a:t>before_action</a:t>
            </a:r>
            <a:r>
              <a:rPr lang="en-US" dirty="0"/>
              <a:t> - Runs before controller methods</a:t>
            </a:r>
          </a:p>
          <a:p>
            <a:pPr lvl="1"/>
            <a:r>
              <a:rPr lang="en-US" dirty="0" err="1"/>
              <a:t>after_action</a:t>
            </a:r>
            <a:r>
              <a:rPr lang="en-US" dirty="0"/>
              <a:t> - Runs after controller methods</a:t>
            </a:r>
          </a:p>
          <a:p>
            <a:pPr lvl="1"/>
            <a:r>
              <a:rPr lang="en-US" dirty="0" err="1"/>
              <a:t>around_action</a:t>
            </a:r>
            <a:r>
              <a:rPr lang="en-US" dirty="0"/>
              <a:t> - Wraps controller methods</a:t>
            </a:r>
          </a:p>
          <a:p>
            <a:r>
              <a:rPr lang="en-US" dirty="0"/>
              <a:t>Used for: authentication, logging, data setup, and more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99CCC4-2C89-6DF4-9D93-D2B4783E2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F6F40-6780-AB4F-8F76-3A336C6AC81A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3B9BEB-8BCC-DE81-6323-48FE6B442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6AD722-555A-1516-4D7F-09C5244BC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507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A8047-9E70-C60F-712E-42EC1BF94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Before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03F1B0-11D4-D3DA-59E8-2F621F6DF0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before_action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set_item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only: %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[show edit update destroy]</a:t>
            </a:r>
          </a:p>
          <a:p>
            <a:r>
              <a:rPr lang="en-US" dirty="0"/>
              <a:t>This calls </a:t>
            </a:r>
            <a:r>
              <a:rPr lang="en-US" dirty="0" err="1"/>
              <a:t>set_item</a:t>
            </a:r>
            <a:r>
              <a:rPr lang="en-US" dirty="0"/>
              <a:t> before the specified actions.</a:t>
            </a:r>
          </a:p>
          <a:p>
            <a:r>
              <a:rPr lang="en-US" dirty="0"/>
              <a:t>These four actions all need to find a specific item by ID, so we can DRY up our code!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2C6EBD-10E5-28CA-795D-C44258BF4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8E8F9-CDCC-3342-BE50-EFDAE83A1C2D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5939F2-138B-45BD-EC79-7182ABD06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9955AB-1CD3-44E8-CC10-EFB2D222D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463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DC8E24-7F67-1F15-572F-6C035AD9A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Set Item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BD89B-65D6-542A-6789-5B2AE7325D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private</a:t>
            </a:r>
          </a:p>
          <a:p>
            <a:r>
              <a:rPr lang="en-US" dirty="0"/>
              <a:t>def </a:t>
            </a:r>
            <a:r>
              <a:rPr lang="en-US" dirty="0" err="1"/>
              <a:t>set_item</a:t>
            </a:r>
            <a:endParaRPr lang="en-US" dirty="0"/>
          </a:p>
          <a:p>
            <a:r>
              <a:rPr lang="en-US" dirty="0"/>
              <a:t>  @item = </a:t>
            </a:r>
            <a:r>
              <a:rPr lang="en-US" dirty="0" err="1"/>
              <a:t>Item.find</a:t>
            </a:r>
            <a:r>
              <a:rPr lang="en-US" dirty="0"/>
              <a:t>(params[:id])</a:t>
            </a:r>
          </a:p>
          <a:p>
            <a:r>
              <a:rPr lang="en-US" dirty="0"/>
              <a:t>end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23D832-EDC5-4FB6-FAB8-6131DFFB2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D4AED-74B9-D74C-92E6-947C4EA19F03}" type="datetime1">
              <a:rPr lang="en-US" smtClean="0"/>
              <a:t>10/8/26</a:t>
            </a:fld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54642EB-EB67-6C91-81B3-F009661B0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186AA4-6BCD-C8FC-0AF8-8817DF5C8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795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7FB6593-FC2D-ACBE-77BD-EE6C3E5EF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Benefits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456651-4DFF-6367-3676-E469BD703C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dirty="0"/>
              <a:t>Code written once, used multiple times</a:t>
            </a:r>
          </a:p>
          <a:p>
            <a:pPr lvl="1"/>
            <a:r>
              <a:rPr lang="en-US" dirty="0"/>
              <a:t>Makes maintenance easier</a:t>
            </a:r>
          </a:p>
          <a:p>
            <a:pPr lvl="1"/>
            <a:r>
              <a:rPr lang="en-US" dirty="0"/>
              <a:t>@item is available in the controller action and view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F56837-B258-792A-CEB8-E62291BDD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1F190-BBFE-CE4D-975E-DF9F5D2C62D5}" type="datetime1">
              <a:rPr lang="en-US" smtClean="0"/>
              <a:t>10/8/26</a:t>
            </a:fld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F3B5F0F-E1A4-494E-F5CB-4F75ABC07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69854A-FFC6-23F9-9CC5-D9670BB66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515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874F2-269E-7573-D20F-3613BBBEE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Strong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5FE06-618A-6168-5D8E-E5320437FB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endParaRPr lang="en-US" dirty="0"/>
          </a:p>
          <a:p>
            <a:r>
              <a:rPr lang="en-US" dirty="0"/>
              <a:t>Protects against mass assignment attacks: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item_params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params.require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(:item).permit(:what, :when)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#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8: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params.expect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(item: [:what, :when])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  <a:p>
            <a:r>
              <a:rPr lang="en-US" dirty="0"/>
              <a:t>require - Field must be present</a:t>
            </a:r>
          </a:p>
          <a:p>
            <a:r>
              <a:rPr lang="en-US" dirty="0"/>
              <a:t>permit - Only these fields are allowed</a:t>
            </a:r>
          </a:p>
          <a:p>
            <a:r>
              <a:rPr lang="en-US" dirty="0"/>
              <a:t>Prevents users from injecting unauthorized data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A6AC9A-74AC-F219-78E0-2A37C4B3F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18843-A572-4546-A1B8-368C08CE3ED2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C53DCD-91C5-79B1-4D99-26F98600E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CCA931-2599-3391-996D-5BB685350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236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F93E4-7F1C-07B6-BDA7-D9BBED46A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Security with Strong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953C5D-2B39-DE48-D8F9-94D99FB78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endParaRPr lang="en-US" dirty="0"/>
          </a:p>
          <a:p>
            <a:r>
              <a:rPr lang="en-US" dirty="0"/>
              <a:t>Users don't have to use your forms!</a:t>
            </a:r>
          </a:p>
          <a:p>
            <a:pPr lvl="1"/>
            <a:r>
              <a:rPr lang="en-US" dirty="0"/>
              <a:t>They can modify form data before submission</a:t>
            </a:r>
          </a:p>
          <a:p>
            <a:pPr lvl="1"/>
            <a:r>
              <a:rPr lang="en-US" dirty="0"/>
              <a:t>They can craft custom HTTP requests</a:t>
            </a:r>
          </a:p>
          <a:p>
            <a:pPr lvl="2"/>
            <a:r>
              <a:rPr lang="en-US" dirty="0"/>
              <a:t>Postman, curl, </a:t>
            </a:r>
            <a:r>
              <a:rPr lang="en-US" dirty="0" err="1"/>
              <a:t>wget</a:t>
            </a:r>
            <a:r>
              <a:rPr lang="en-US" dirty="0"/>
              <a:t>, etc.</a:t>
            </a:r>
          </a:p>
          <a:p>
            <a:pPr lvl="1"/>
            <a:r>
              <a:rPr lang="en-US" dirty="0"/>
              <a:t>They might try to set fields like </a:t>
            </a:r>
            <a:r>
              <a:rPr lang="en-US" dirty="0" err="1"/>
              <a:t>created_at</a:t>
            </a:r>
            <a:r>
              <a:rPr lang="en-US" dirty="0"/>
              <a:t> or </a:t>
            </a:r>
            <a:r>
              <a:rPr lang="en-US" dirty="0" err="1"/>
              <a:t>is_admin</a:t>
            </a:r>
            <a:endParaRPr lang="en-US" dirty="0"/>
          </a:p>
          <a:p>
            <a:r>
              <a:rPr lang="en-US" dirty="0"/>
              <a:t>Strong parameters ensure only permitted fields are processed.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605F09-4243-928F-9A9B-13814E52C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97F91F-F0A7-F94B-9C11-9BF827AED3AC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E3B76E-3282-64EA-4FF6-842F70AE1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32B237-606C-1367-6E10-95AB3BD68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582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C1D42-5C69-CE79-B366-B7B4E1050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New and Create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D94861-F5E8-2F26-3E0E-0506B4990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def new</a:t>
            </a:r>
          </a:p>
          <a:p>
            <a:r>
              <a:rPr lang="en-US" dirty="0"/>
              <a:t>  @item = </a:t>
            </a:r>
            <a:r>
              <a:rPr lang="en-US" dirty="0" err="1"/>
              <a:t>Item.new</a:t>
            </a:r>
            <a:endParaRPr lang="en-US" dirty="0"/>
          </a:p>
          <a:p>
            <a:r>
              <a:rPr lang="en-US" dirty="0"/>
              <a:t>end</a:t>
            </a:r>
          </a:p>
          <a:p>
            <a:r>
              <a:rPr lang="en-US" dirty="0"/>
              <a:t>def create</a:t>
            </a:r>
          </a:p>
          <a:p>
            <a:r>
              <a:rPr lang="en-US" dirty="0"/>
              <a:t>  @item = </a:t>
            </a:r>
            <a:r>
              <a:rPr lang="en-US" dirty="0" err="1"/>
              <a:t>Item.new</a:t>
            </a:r>
            <a:r>
              <a:rPr lang="en-US" dirty="0"/>
              <a:t>(</a:t>
            </a:r>
            <a:r>
              <a:rPr lang="en-US" dirty="0" err="1"/>
              <a:t>item_params</a:t>
            </a:r>
            <a:r>
              <a:rPr lang="en-US" dirty="0"/>
              <a:t>)</a:t>
            </a:r>
          </a:p>
          <a:p>
            <a:r>
              <a:rPr lang="en-US" dirty="0"/>
              <a:t>  if @</a:t>
            </a:r>
            <a:r>
              <a:rPr lang="en-US" dirty="0" err="1"/>
              <a:t>item.save</a:t>
            </a:r>
            <a:endParaRPr lang="en-US" dirty="0"/>
          </a:p>
          <a:p>
            <a:r>
              <a:rPr lang="en-US" dirty="0"/>
              <a:t>    # Success handling</a:t>
            </a:r>
          </a:p>
          <a:p>
            <a:r>
              <a:rPr lang="en-US" dirty="0"/>
              <a:t>  else</a:t>
            </a:r>
          </a:p>
          <a:p>
            <a:r>
              <a:rPr lang="en-US" dirty="0"/>
              <a:t>    # Error handling</a:t>
            </a:r>
          </a:p>
          <a:p>
            <a:r>
              <a:rPr lang="en-US" dirty="0"/>
              <a:t>  end</a:t>
            </a:r>
          </a:p>
          <a:p>
            <a:r>
              <a:rPr lang="en-US" dirty="0"/>
              <a:t>end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288CB2-8E29-B291-6529-E78A483A4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3AB1-B5A5-B843-B508-9EE26EF787BE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85CA17-693C-80EF-FCFD-365762639B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B6D990-6135-BB69-1815-6FB5EA5B4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370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2B53B-072B-0AE2-7A41-305AE08C5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Create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0DE7AC-41FD-91AA-0FB6-A36DD149D5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def create</a:t>
            </a:r>
          </a:p>
          <a:p>
            <a:r>
              <a:rPr lang="en-US" dirty="0"/>
              <a:t>  @item = </a:t>
            </a:r>
            <a:r>
              <a:rPr lang="en-US" dirty="0" err="1"/>
              <a:t>Item.new</a:t>
            </a:r>
            <a:r>
              <a:rPr lang="en-US" dirty="0"/>
              <a:t>(</a:t>
            </a:r>
            <a:r>
              <a:rPr lang="en-US" dirty="0" err="1"/>
              <a:t>item_params</a:t>
            </a:r>
            <a:r>
              <a:rPr lang="en-US" dirty="0"/>
              <a:t>)</a:t>
            </a:r>
          </a:p>
          <a:p>
            <a:r>
              <a:rPr lang="en-US" dirty="0"/>
              <a:t>  </a:t>
            </a:r>
            <a:r>
              <a:rPr lang="en-US" dirty="0" err="1"/>
              <a:t>respond_to</a:t>
            </a:r>
            <a:r>
              <a:rPr lang="en-US" dirty="0"/>
              <a:t> do |format|</a:t>
            </a:r>
          </a:p>
          <a:p>
            <a:r>
              <a:rPr lang="en-US" dirty="0"/>
              <a:t>    if @</a:t>
            </a:r>
            <a:r>
              <a:rPr lang="en-US" dirty="0" err="1"/>
              <a:t>item.save</a:t>
            </a:r>
            <a:endParaRPr lang="en-US" dirty="0"/>
          </a:p>
          <a:p>
            <a:r>
              <a:rPr lang="en-US" dirty="0"/>
              <a:t>      </a:t>
            </a:r>
            <a:r>
              <a:rPr lang="en-US" dirty="0" err="1"/>
              <a:t>format.html</a:t>
            </a:r>
            <a:r>
              <a:rPr lang="en-US" dirty="0"/>
              <a:t> { </a:t>
            </a:r>
            <a:r>
              <a:rPr lang="en-US" dirty="0" err="1"/>
              <a:t>redirect_to</a:t>
            </a:r>
            <a:r>
              <a:rPr lang="en-US" dirty="0"/>
              <a:t> </a:t>
            </a:r>
            <a:r>
              <a:rPr lang="en-US" dirty="0" err="1"/>
              <a:t>item_url</a:t>
            </a:r>
            <a:r>
              <a:rPr lang="en-US" dirty="0"/>
              <a:t>(@item),</a:t>
            </a:r>
          </a:p>
          <a:p>
            <a:r>
              <a:rPr lang="en-US" dirty="0"/>
              <a:t>                    notice: "Item was successfully created." }</a:t>
            </a:r>
          </a:p>
          <a:p>
            <a:r>
              <a:rPr lang="en-US" dirty="0"/>
              <a:t>      </a:t>
            </a:r>
            <a:r>
              <a:rPr lang="en-US" dirty="0" err="1"/>
              <a:t>format.json</a:t>
            </a:r>
            <a:r>
              <a:rPr lang="en-US" dirty="0"/>
              <a:t> { render :show, status: :created,</a:t>
            </a:r>
          </a:p>
          <a:p>
            <a:r>
              <a:rPr lang="en-US" dirty="0"/>
              <a:t>                    location: @item }</a:t>
            </a:r>
          </a:p>
          <a:p>
            <a:r>
              <a:rPr lang="en-US" dirty="0"/>
              <a:t>    else</a:t>
            </a:r>
          </a:p>
          <a:p>
            <a:r>
              <a:rPr lang="en-US" dirty="0"/>
              <a:t>      </a:t>
            </a:r>
            <a:r>
              <a:rPr lang="en-US" dirty="0" err="1"/>
              <a:t>format.html</a:t>
            </a:r>
            <a:r>
              <a:rPr lang="en-US" dirty="0"/>
              <a:t> { render :new,</a:t>
            </a:r>
          </a:p>
          <a:p>
            <a:r>
              <a:rPr lang="en-US" dirty="0"/>
              <a:t>                    status: :</a:t>
            </a:r>
            <a:r>
              <a:rPr lang="en-US" dirty="0" err="1"/>
              <a:t>unprocessable_entity</a:t>
            </a:r>
            <a:r>
              <a:rPr lang="en-US" dirty="0"/>
              <a:t> }</a:t>
            </a:r>
          </a:p>
          <a:p>
            <a:r>
              <a:rPr lang="en-US" dirty="0"/>
              <a:t>      </a:t>
            </a:r>
            <a:r>
              <a:rPr lang="en-US" dirty="0" err="1"/>
              <a:t>format.json</a:t>
            </a:r>
            <a:r>
              <a:rPr lang="en-US" dirty="0"/>
              <a:t> { render </a:t>
            </a:r>
            <a:r>
              <a:rPr lang="en-US" dirty="0" err="1"/>
              <a:t>json</a:t>
            </a:r>
            <a:r>
              <a:rPr lang="en-US" dirty="0"/>
              <a:t>: @</a:t>
            </a:r>
            <a:r>
              <a:rPr lang="en-US" dirty="0" err="1"/>
              <a:t>item.errors</a:t>
            </a:r>
            <a:r>
              <a:rPr lang="en-US" dirty="0"/>
              <a:t>,</a:t>
            </a:r>
          </a:p>
          <a:p>
            <a:r>
              <a:rPr lang="en-US" dirty="0"/>
              <a:t>                    status: :</a:t>
            </a:r>
            <a:r>
              <a:rPr lang="en-US" dirty="0" err="1"/>
              <a:t>unprocessable_entity</a:t>
            </a:r>
            <a:r>
              <a:rPr lang="en-US" dirty="0"/>
              <a:t> }</a:t>
            </a:r>
          </a:p>
          <a:p>
            <a:r>
              <a:rPr lang="en-US" dirty="0"/>
              <a:t>    end</a:t>
            </a:r>
          </a:p>
          <a:p>
            <a:r>
              <a:rPr lang="en-US" dirty="0"/>
              <a:t>  end</a:t>
            </a:r>
          </a:p>
          <a:p>
            <a:r>
              <a:rPr lang="en-US" dirty="0"/>
              <a:t>end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3FACD5-78E4-5A7A-D07A-AD0131671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3D33F-652C-A345-BF95-79EAE5B0F026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A00E45-5FDB-765B-DFF9-45FCA806B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872A28-ED66-E875-44EE-2F21B72AE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5204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F1D51-0C3B-3698-28D9-1535A2839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Understanding </a:t>
            </a:r>
            <a:r>
              <a:rPr lang="en-US" dirty="0" err="1"/>
              <a:t>respond_to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0C95D-7576-FD78-3087-9961FC44A2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endParaRPr lang="en-US" dirty="0"/>
          </a:p>
          <a:p>
            <a:r>
              <a:rPr lang="en-US" dirty="0"/>
              <a:t>Handles different response formats:</a:t>
            </a:r>
          </a:p>
          <a:p>
            <a:pPr lvl="1"/>
            <a:r>
              <a:rPr lang="en-US" dirty="0" err="1"/>
              <a:t>format.html</a:t>
            </a:r>
            <a:r>
              <a:rPr lang="en-US" dirty="0"/>
              <a:t> - Browser requests</a:t>
            </a:r>
          </a:p>
          <a:p>
            <a:pPr lvl="1"/>
            <a:r>
              <a:rPr lang="en-US" dirty="0" err="1"/>
              <a:t>format.json</a:t>
            </a:r>
            <a:r>
              <a:rPr lang="en-US" dirty="0"/>
              <a:t> - API requests</a:t>
            </a:r>
          </a:p>
          <a:p>
            <a:r>
              <a:rPr lang="en-US" dirty="0"/>
              <a:t>HTML success</a:t>
            </a:r>
          </a:p>
          <a:p>
            <a:pPr lvl="1"/>
            <a:r>
              <a:rPr lang="en-US" dirty="0"/>
              <a:t>Redirects to the new item with a success notice</a:t>
            </a:r>
          </a:p>
          <a:p>
            <a:r>
              <a:rPr lang="en-US" dirty="0"/>
              <a:t>JSON Success</a:t>
            </a:r>
          </a:p>
          <a:p>
            <a:pPr lvl="1"/>
            <a:r>
              <a:rPr lang="en-US" dirty="0"/>
              <a:t>Returns JSON with HTTP status 201 (Created)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AEDBE4-CB49-66B0-F4A7-934FF9751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3062B6-C5D1-9B48-901F-1EE17EF91249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609282-3569-5D2E-C51F-1A2583D37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29C2E4-1D5F-0D0E-B3C9-1A88FD31A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178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E9D74-AFB7-A4F0-2864-F26AC2498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HTTP Status Codes in Rails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6727B-F56F-A334-22C8-9F767F69C3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dirty="0"/>
          </a:p>
          <a:p>
            <a:r>
              <a:rPr lang="en-US" dirty="0"/>
              <a:t>Rails supports 59 different status codes, e.g.:</a:t>
            </a:r>
          </a:p>
          <a:p>
            <a:pPr lvl="1"/>
            <a:r>
              <a:rPr lang="en-US" dirty="0"/>
              <a:t>200 :success - Request succeeded</a:t>
            </a:r>
          </a:p>
          <a:p>
            <a:pPr lvl="1"/>
            <a:r>
              <a:rPr lang="en-US" dirty="0"/>
              <a:t>201 :created - Resource created</a:t>
            </a:r>
          </a:p>
          <a:p>
            <a:pPr lvl="1"/>
            <a:r>
              <a:rPr lang="en-US" dirty="0"/>
              <a:t>422 :</a:t>
            </a:r>
            <a:r>
              <a:rPr lang="en-US" dirty="0" err="1"/>
              <a:t>unprocessable_entity</a:t>
            </a:r>
            <a:r>
              <a:rPr lang="en-US" dirty="0"/>
              <a:t> - Validation failed</a:t>
            </a:r>
          </a:p>
          <a:p>
            <a:pPr lvl="1"/>
            <a:r>
              <a:rPr lang="en-US" dirty="0"/>
              <a:t>404 :</a:t>
            </a:r>
            <a:r>
              <a:rPr lang="en-US" dirty="0" err="1"/>
              <a:t>not_found</a:t>
            </a:r>
            <a:r>
              <a:rPr lang="en-US" dirty="0"/>
              <a:t> - Resource doesn't exist</a:t>
            </a:r>
          </a:p>
          <a:p>
            <a:pPr lvl="1"/>
            <a:r>
              <a:rPr lang="en-US" dirty="0"/>
              <a:t>500 :</a:t>
            </a:r>
            <a:r>
              <a:rPr lang="en-US" dirty="0" err="1"/>
              <a:t>internal_server_error</a:t>
            </a:r>
            <a:r>
              <a:rPr lang="en-US" dirty="0"/>
              <a:t> - Server error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618845-5D0E-2A77-A08A-20F6643D5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5F208-E81A-FC4A-B950-28251E820C5B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CC993D-FCD0-FA62-1E72-3E330C69E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8DB94D-DD1A-5A91-6C6E-8DD5FE2A3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620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71800-0A35-EA36-8693-CC4E99BED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render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548C9-CFD9-152A-2E2E-7E379B0D4B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Important: Can only be called once per action</a:t>
            </a:r>
          </a:p>
          <a:p>
            <a:pPr lvl="1"/>
            <a:r>
              <a:rPr lang="en-US" dirty="0"/>
              <a:t>Calling it twice causes a double render error</a:t>
            </a:r>
          </a:p>
          <a:p>
            <a:pPr lvl="1"/>
            <a:r>
              <a:rPr lang="en-US" dirty="0"/>
              <a:t>Use "render ... and return" idiom for early returns</a:t>
            </a:r>
          </a:p>
          <a:p>
            <a:pPr lvl="1"/>
            <a:r>
              <a:rPr lang="en-US" dirty="0"/>
              <a:t>Can render different views, JSON, or status codes</a:t>
            </a:r>
          </a:p>
          <a:p>
            <a:pPr marL="0" indent="0">
              <a:buNone/>
            </a:pP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render :new and return if @</a:t>
            </a:r>
            <a:r>
              <a:rPr lang="en-US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item.invalid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B0C9D4-EC9B-E6DE-C42B-712443BD0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370BD-894B-D644-B001-B82B3289C5C9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40343D-B93F-59EE-6C65-B699585BA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78C706-BB0D-4EF9-F3A0-A77EAA5AB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763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24C9B-57FA-90C9-F9DD-E68FDBAFD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Edit and Update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00FB4B-C069-C192-00F9-84A23CE091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endParaRPr lang="en-US" dirty="0"/>
          </a:p>
          <a:p>
            <a:r>
              <a:rPr lang="en-US" dirty="0"/>
              <a:t>Edit Action - Shows the form</a:t>
            </a:r>
          </a:p>
          <a:p>
            <a:pPr lvl="1"/>
            <a:r>
              <a:rPr lang="en-US" dirty="0"/>
              <a:t>Often doesn't need code due to </a:t>
            </a:r>
            <a:r>
              <a:rPr lang="en-US" dirty="0" err="1"/>
              <a:t>before_action</a:t>
            </a:r>
            <a:r>
              <a:rPr lang="en-US" dirty="0"/>
              <a:t> :</a:t>
            </a:r>
            <a:r>
              <a:rPr lang="en-US" dirty="0" err="1"/>
              <a:t>set_item</a:t>
            </a:r>
            <a:endParaRPr lang="en-US" dirty="0"/>
          </a:p>
          <a:p>
            <a:r>
              <a:rPr lang="en-US" dirty="0"/>
              <a:t>Update Action - Saves changes: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update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if @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item.update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item_params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redirect_to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@item, notice: 'Item updated.'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else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render :edit, status: 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unprocessable_entity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end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2C482D-D9B6-6683-A1FE-6F24E32CC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1FD3CA-25F6-F04E-A231-3D12A5312A47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E41998-4652-530B-5B2D-C0655CC58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306F90-B4B8-B279-43AD-BA0091FD3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2389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33C82-72FC-9F7B-4E2E-41739C460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Destroy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CEDEF2-ADA3-4EE7-E378-B3D95B423D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def destroy</a:t>
            </a:r>
          </a:p>
          <a:p>
            <a:r>
              <a:rPr lang="en-US" dirty="0"/>
              <a:t>  @</a:t>
            </a:r>
            <a:r>
              <a:rPr lang="en-US" dirty="0" err="1"/>
              <a:t>item.destroy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respond_to</a:t>
            </a:r>
            <a:r>
              <a:rPr lang="en-US" dirty="0"/>
              <a:t> do |format|</a:t>
            </a:r>
          </a:p>
          <a:p>
            <a:r>
              <a:rPr lang="en-US" dirty="0"/>
              <a:t>    </a:t>
            </a:r>
            <a:r>
              <a:rPr lang="en-US" dirty="0" err="1"/>
              <a:t>format.html</a:t>
            </a:r>
            <a:r>
              <a:rPr lang="en-US" dirty="0"/>
              <a:t> { </a:t>
            </a:r>
            <a:r>
              <a:rPr lang="en-US" dirty="0" err="1"/>
              <a:t>redirect_to</a:t>
            </a:r>
            <a:r>
              <a:rPr lang="en-US" dirty="0"/>
              <a:t> </a:t>
            </a:r>
            <a:r>
              <a:rPr lang="en-US" dirty="0" err="1"/>
              <a:t>items_url</a:t>
            </a:r>
            <a:r>
              <a:rPr lang="en-US" dirty="0"/>
              <a:t>,</a:t>
            </a:r>
          </a:p>
          <a:p>
            <a:r>
              <a:rPr lang="en-US" dirty="0"/>
              <a:t>                  notice: 'Item was deleted.' }</a:t>
            </a:r>
          </a:p>
          <a:p>
            <a:r>
              <a:rPr lang="en-US" dirty="0"/>
              <a:t>    </a:t>
            </a:r>
            <a:r>
              <a:rPr lang="en-US" dirty="0" err="1"/>
              <a:t>format.json</a:t>
            </a:r>
            <a:r>
              <a:rPr lang="en-US" dirty="0"/>
              <a:t> { head :</a:t>
            </a:r>
            <a:r>
              <a:rPr lang="en-US" dirty="0" err="1"/>
              <a:t>no_content</a:t>
            </a:r>
            <a:r>
              <a:rPr lang="en-US" dirty="0"/>
              <a:t> }</a:t>
            </a:r>
          </a:p>
          <a:p>
            <a:r>
              <a:rPr lang="en-US" dirty="0"/>
              <a:t>  end</a:t>
            </a:r>
          </a:p>
          <a:p>
            <a:r>
              <a:rPr lang="en-US" dirty="0"/>
              <a:t>end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9F02CAB-020F-0B59-92C5-42DAA5918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87787-E753-AE4D-85D6-A5746B912299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86C3C8-83C3-36F5-695C-B98267162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92F44B-91EC-32B0-3A41-501863759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27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68F097-50F8-932E-81DB-806C6AB58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Request Object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F477D06-7696-6E5B-610C-EEF566C6D9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Provides detailed information about the incoming request:</a:t>
            </a:r>
          </a:p>
          <a:p>
            <a:pPr lvl="1"/>
            <a:r>
              <a:rPr lang="en-US" dirty="0"/>
              <a:t>Hostname and domain</a:t>
            </a:r>
          </a:p>
          <a:p>
            <a:pPr lvl="1"/>
            <a:r>
              <a:rPr lang="en-US" dirty="0"/>
              <a:t>HTTP verb used</a:t>
            </a:r>
          </a:p>
          <a:p>
            <a:pPr lvl="1"/>
            <a:r>
              <a:rPr lang="en-US" dirty="0"/>
              <a:t>All request headers</a:t>
            </a:r>
          </a:p>
          <a:p>
            <a:pPr lvl="1"/>
            <a:r>
              <a:rPr lang="en-US" dirty="0"/>
              <a:t>Local port number</a:t>
            </a:r>
          </a:p>
          <a:p>
            <a:pPr lvl="1"/>
            <a:r>
              <a:rPr lang="en-US" dirty="0"/>
              <a:t>Remote machine's IP address</a:t>
            </a:r>
          </a:p>
          <a:p>
            <a:r>
              <a:rPr lang="en-US" dirty="0"/>
              <a:t>Access via the request object in controllers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29CF1E-5993-5F20-3D09-B7EF4F09B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79B2F-5ACF-514B-9D3C-A776CFD26C58}" type="datetime1">
              <a:rPr lang="en-US" smtClean="0"/>
              <a:t>10/8/26</a:t>
            </a:fld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C374433-891E-FEE5-55B8-8C92B13D2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DC87AB-5DB9-0368-2E6A-1C4D9CAD2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2621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64AF3-8C8C-407C-95E5-A9C4BCC3B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Response Object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287CE-38E2-8904-F166-CC21CCD0CC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Controls what gets sent back to the client:</a:t>
            </a:r>
          </a:p>
          <a:p>
            <a:pPr lvl="1"/>
            <a:r>
              <a:rPr lang="en-US" dirty="0"/>
              <a:t>body - The content to return</a:t>
            </a:r>
          </a:p>
          <a:p>
            <a:pPr lvl="1"/>
            <a:r>
              <a:rPr lang="en-US" dirty="0"/>
              <a:t>status - HTTP status code</a:t>
            </a:r>
          </a:p>
          <a:p>
            <a:pPr lvl="1"/>
            <a:r>
              <a:rPr lang="en-US" dirty="0" err="1"/>
              <a:t>content_type</a:t>
            </a:r>
            <a:r>
              <a:rPr lang="en-US" dirty="0"/>
              <a:t> - MIME type (HTML, JSON, etc.)</a:t>
            </a:r>
          </a:p>
          <a:p>
            <a:r>
              <a:rPr lang="en-US" dirty="0"/>
              <a:t>Provides flexibility for custom responses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36008-36C0-929D-6C7F-FF6778AAD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86965-3F28-E447-83A2-FC119462B108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FB144E-7112-E548-8C8A-7DF5CE307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F0D6BD-FCD8-A090-AE01-174C78572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537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5685D-24F5-381A-3886-C515049B1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Member Routes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C0CC6-911E-5A9C-93F6-18EE37939E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endParaRPr lang="en-US" dirty="0"/>
          </a:p>
          <a:p>
            <a:r>
              <a:rPr lang="en-US" dirty="0"/>
              <a:t>Add RESTful routes for individual resources:</a:t>
            </a:r>
          </a:p>
          <a:p>
            <a:pPr marL="609569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resources :items do</a:t>
            </a:r>
          </a:p>
          <a:p>
            <a:pPr marL="609569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member do</a:t>
            </a:r>
          </a:p>
          <a:p>
            <a:pPr marL="609569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get '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created_at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</a:p>
          <a:p>
            <a:pPr marL="609569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end</a:t>
            </a:r>
          </a:p>
          <a:p>
            <a:pPr marL="609569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  <a:p>
            <a:r>
              <a:rPr lang="en-US" dirty="0"/>
              <a:t>Creates route: GET /items/:id/</a:t>
            </a:r>
            <a:r>
              <a:rPr lang="en-US" dirty="0" err="1"/>
              <a:t>created_at</a:t>
            </a:r>
            <a:endParaRPr lang="en-US" dirty="0"/>
          </a:p>
          <a:p>
            <a:r>
              <a:rPr lang="en-US" dirty="0"/>
              <a:t>Use when operating on a single, specific item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9DB2ED-EF4C-17D0-D4A6-A20DE5722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CDE1A-8A3B-674C-9A4A-5882F3DB44E3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2C58F4-9DE9-AFD8-67A4-9CE1641D4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B2CEF8-97B9-D948-77D1-61077AF8B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476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913F2-23BB-DBD5-858A-AAE096EF7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Member Route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43B209-9D31-CC9A-4BBD-64CC450DE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### Controller:</a:t>
            </a:r>
          </a:p>
          <a:p>
            <a:r>
              <a:rPr lang="en-US" dirty="0"/>
              <a:t>def </a:t>
            </a:r>
            <a:r>
              <a:rPr lang="en-US" dirty="0" err="1"/>
              <a:t>created_at</a:t>
            </a:r>
            <a:endParaRPr lang="en-US" dirty="0"/>
          </a:p>
          <a:p>
            <a:r>
              <a:rPr lang="en-US" dirty="0"/>
              <a:t>  @</a:t>
            </a:r>
            <a:r>
              <a:rPr lang="en-US" dirty="0" err="1"/>
              <a:t>item.created_at</a:t>
            </a:r>
            <a:endParaRPr lang="en-US" dirty="0"/>
          </a:p>
          <a:p>
            <a:r>
              <a:rPr lang="en-US" dirty="0"/>
              <a:t>end</a:t>
            </a:r>
          </a:p>
          <a:p>
            <a:endParaRPr lang="en-US" dirty="0"/>
          </a:p>
          <a:p>
            <a:r>
              <a:rPr lang="en-US" dirty="0"/>
              <a:t>### View (</a:t>
            </a:r>
            <a:r>
              <a:rPr lang="en-US" dirty="0" err="1"/>
              <a:t>created_at.html.erb</a:t>
            </a:r>
            <a:r>
              <a:rPr lang="en-US" dirty="0"/>
              <a:t>):</a:t>
            </a:r>
          </a:p>
          <a:p>
            <a:r>
              <a:rPr lang="en-US" dirty="0"/>
              <a:t>&lt;div id="&lt;%= </a:t>
            </a:r>
            <a:r>
              <a:rPr lang="en-US" dirty="0" err="1"/>
              <a:t>dom_id</a:t>
            </a:r>
            <a:r>
              <a:rPr lang="en-US" dirty="0"/>
              <a:t> @item %&gt;"&gt;</a:t>
            </a:r>
          </a:p>
          <a:p>
            <a:r>
              <a:rPr lang="en-US" dirty="0"/>
              <a:t>  &lt;p&gt;&lt;strong&gt;When:&lt;/strong&gt; &lt;%= @</a:t>
            </a:r>
            <a:r>
              <a:rPr lang="en-US" dirty="0" err="1"/>
              <a:t>item.created_at</a:t>
            </a:r>
            <a:r>
              <a:rPr lang="en-US" dirty="0"/>
              <a:t> %&gt;&lt;/p&gt;</a:t>
            </a:r>
          </a:p>
          <a:p>
            <a:r>
              <a:rPr lang="en-US" dirty="0"/>
              <a:t>&lt;/div&gt;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C42419-6B60-D648-C599-087E801C0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C27FF-38C2-BD4A-AB14-9C11AA6666F7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6F4A12-7391-AAF0-7905-0C3D60FD4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A58149-04E5-4A2E-8BE2-62DEFD54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129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0289D-1EE3-F0DB-16E1-5C7003006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Collection Routes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DCD94-C8E4-7F3A-4901-4FA2C4842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Add routes for multiple resources:</a:t>
            </a:r>
          </a:p>
          <a:p>
            <a:pPr marL="609569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resources :items do</a:t>
            </a:r>
          </a:p>
          <a:p>
            <a:pPr marL="609569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  collection do</a:t>
            </a:r>
          </a:p>
          <a:p>
            <a:pPr marL="609569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    get 'search'</a:t>
            </a:r>
          </a:p>
          <a:p>
            <a:pPr marL="609569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  end</a:t>
            </a:r>
          </a:p>
          <a:p>
            <a:pPr marL="609569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  <a:p>
            <a:r>
              <a:rPr lang="en-US" dirty="0"/>
              <a:t>Creates route: GET /items/search</a:t>
            </a:r>
          </a:p>
          <a:p>
            <a:r>
              <a:rPr lang="en-US" dirty="0"/>
              <a:t>Use when operating on the entire collection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2BC279B-3A1C-A648-0A52-83471B003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FD4340-7E9F-4143-93D8-509AAF4CFDCE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AE1D42-FC66-DB4D-4246-2A5729AD5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221E05-9C4D-72FD-4F0E-C89C49CD0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1175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1E1A7-322F-0644-8F8F-A21960583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Search via Index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5BB6AD-3474-1E44-2E37-CED4C07909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def index</a:t>
            </a:r>
          </a:p>
          <a:p>
            <a:r>
              <a:rPr lang="en-US" sz="2000" dirty="0"/>
              <a:t>  if params[:</a:t>
            </a:r>
            <a:r>
              <a:rPr lang="en-US" sz="2000" dirty="0" err="1"/>
              <a:t>what_query</a:t>
            </a:r>
            <a:r>
              <a:rPr lang="en-US" sz="2000" dirty="0"/>
              <a:t>]</a:t>
            </a:r>
          </a:p>
          <a:p>
            <a:r>
              <a:rPr lang="en-US" sz="2000" dirty="0"/>
              <a:t>    @items = </a:t>
            </a:r>
            <a:r>
              <a:rPr lang="en-US" sz="2000" dirty="0" err="1"/>
              <a:t>Item.where</a:t>
            </a:r>
            <a:r>
              <a:rPr lang="en-US" sz="2000" dirty="0"/>
              <a:t>("what like ?”, "%#{params[:</a:t>
            </a:r>
            <a:r>
              <a:rPr lang="en-US" sz="2000" dirty="0" err="1"/>
              <a:t>what_query</a:t>
            </a:r>
            <a:r>
              <a:rPr lang="en-US" sz="2000" dirty="0"/>
              <a:t>]}%")</a:t>
            </a:r>
          </a:p>
          <a:p>
            <a:r>
              <a:rPr lang="en-US" sz="2000" dirty="0"/>
              <a:t>  </a:t>
            </a:r>
            <a:r>
              <a:rPr lang="en-US" sz="2000" dirty="0" err="1"/>
              <a:t>elsif</a:t>
            </a:r>
            <a:r>
              <a:rPr lang="en-US" sz="2000" dirty="0"/>
              <a:t> params[:</a:t>
            </a:r>
            <a:r>
              <a:rPr lang="en-US" sz="2000" dirty="0" err="1"/>
              <a:t>when_query</a:t>
            </a:r>
            <a:r>
              <a:rPr lang="en-US" sz="2000" dirty="0"/>
              <a:t>]</a:t>
            </a:r>
          </a:p>
          <a:p>
            <a:r>
              <a:rPr lang="en-US" sz="2000" dirty="0"/>
              <a:t>    @items = </a:t>
            </a:r>
            <a:r>
              <a:rPr lang="en-US" sz="2000" dirty="0" err="1"/>
              <a:t>Item.where</a:t>
            </a:r>
            <a:r>
              <a:rPr lang="en-US" sz="2000" dirty="0"/>
              <a:t>('"when" like ?’, "#{params[:</a:t>
            </a:r>
            <a:r>
              <a:rPr lang="en-US" sz="2000" dirty="0" err="1"/>
              <a:t>when_query</a:t>
            </a:r>
            <a:r>
              <a:rPr lang="en-US" sz="2000" dirty="0"/>
              <a:t>]}")</a:t>
            </a:r>
          </a:p>
          <a:p>
            <a:r>
              <a:rPr lang="en-US" sz="2000" dirty="0"/>
              <a:t>  else</a:t>
            </a:r>
          </a:p>
          <a:p>
            <a:r>
              <a:rPr lang="en-US" sz="2000" dirty="0"/>
              <a:t>    @items = </a:t>
            </a:r>
            <a:r>
              <a:rPr lang="en-US" sz="2000" dirty="0" err="1"/>
              <a:t>Item.all</a:t>
            </a:r>
            <a:endParaRPr lang="en-US" sz="2000" dirty="0"/>
          </a:p>
          <a:p>
            <a:r>
              <a:rPr lang="en-US" sz="2000" dirty="0"/>
              <a:t>  end</a:t>
            </a:r>
          </a:p>
          <a:p>
            <a:r>
              <a:rPr lang="en-US" sz="2000" dirty="0"/>
              <a:t>end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9E803D-1954-B8E9-96B1-F797DEC2F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41E43-D18A-0545-8266-F0C5B5D43165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421C7D-59D8-65FC-A051-7D58FD841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548191-F46E-D343-405A-4E9532C71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747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17AB0-C640-FFC8-3B87-EDF81EFD6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Adding a Search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A8A3F7-DC5C-F5C5-8ACB-77E3F5A22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&lt;%= </a:t>
            </a:r>
            <a:r>
              <a:rPr lang="en-US" dirty="0" err="1"/>
              <a:t>form_with</a:t>
            </a:r>
            <a:r>
              <a:rPr lang="en-US" dirty="0"/>
              <a:t> </a:t>
            </a:r>
            <a:r>
              <a:rPr lang="en-US" dirty="0" err="1"/>
              <a:t>url</a:t>
            </a:r>
            <a:r>
              <a:rPr lang="en-US" dirty="0"/>
              <a:t>: </a:t>
            </a:r>
            <a:r>
              <a:rPr lang="en-US" dirty="0" err="1"/>
              <a:t>items_url</a:t>
            </a:r>
            <a:r>
              <a:rPr lang="en-US" dirty="0"/>
              <a:t>, method: :get do |form| %&gt;</a:t>
            </a:r>
          </a:p>
          <a:p>
            <a:r>
              <a:rPr lang="en-US" dirty="0"/>
              <a:t>  &lt;%= </a:t>
            </a:r>
            <a:r>
              <a:rPr lang="en-US" dirty="0" err="1"/>
              <a:t>form.label</a:t>
            </a:r>
            <a:r>
              <a:rPr lang="en-US" dirty="0"/>
              <a:t> :</a:t>
            </a:r>
            <a:r>
              <a:rPr lang="en-US" dirty="0" err="1"/>
              <a:t>what_query</a:t>
            </a:r>
            <a:r>
              <a:rPr lang="en-US" dirty="0"/>
              <a:t>, "Search for what:" %&gt;</a:t>
            </a:r>
          </a:p>
          <a:p>
            <a:r>
              <a:rPr lang="en-US" dirty="0"/>
              <a:t>  &lt;%= </a:t>
            </a:r>
            <a:r>
              <a:rPr lang="en-US" dirty="0" err="1"/>
              <a:t>form.text_field</a:t>
            </a:r>
            <a:r>
              <a:rPr lang="en-US" dirty="0"/>
              <a:t> :</a:t>
            </a:r>
            <a:r>
              <a:rPr lang="en-US" dirty="0" err="1"/>
              <a:t>what_query</a:t>
            </a:r>
            <a:r>
              <a:rPr lang="en-US" dirty="0"/>
              <a:t> %&gt;</a:t>
            </a:r>
          </a:p>
          <a:p>
            <a:r>
              <a:rPr lang="en-US" dirty="0"/>
              <a:t>  &lt;%= </a:t>
            </a:r>
            <a:r>
              <a:rPr lang="en-US" dirty="0" err="1"/>
              <a:t>form.submit</a:t>
            </a:r>
            <a:r>
              <a:rPr lang="en-US" dirty="0"/>
              <a:t> "Search" %&gt;</a:t>
            </a:r>
          </a:p>
          <a:p>
            <a:r>
              <a:rPr lang="en-US" dirty="0"/>
              <a:t>&lt;% end %&gt;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&lt;%= </a:t>
            </a:r>
            <a:r>
              <a:rPr lang="en-US" dirty="0" err="1"/>
              <a:t>form_with</a:t>
            </a:r>
            <a:r>
              <a:rPr lang="en-US" dirty="0"/>
              <a:t> </a:t>
            </a:r>
            <a:r>
              <a:rPr lang="en-US" dirty="0" err="1"/>
              <a:t>url</a:t>
            </a:r>
            <a:r>
              <a:rPr lang="en-US" dirty="0"/>
              <a:t>: </a:t>
            </a:r>
            <a:r>
              <a:rPr lang="en-US" dirty="0" err="1"/>
              <a:t>items_url</a:t>
            </a:r>
            <a:r>
              <a:rPr lang="en-US" dirty="0"/>
              <a:t>, method: :get do |form| %&gt;</a:t>
            </a:r>
          </a:p>
          <a:p>
            <a:r>
              <a:rPr lang="en-US" dirty="0"/>
              <a:t>  &lt;%= </a:t>
            </a:r>
            <a:r>
              <a:rPr lang="en-US" dirty="0" err="1"/>
              <a:t>form.label</a:t>
            </a:r>
            <a:r>
              <a:rPr lang="en-US" dirty="0"/>
              <a:t> :</a:t>
            </a:r>
            <a:r>
              <a:rPr lang="en-US" dirty="0" err="1"/>
              <a:t>when_query</a:t>
            </a:r>
            <a:r>
              <a:rPr lang="en-US" dirty="0"/>
              <a:t>, "Search for when:" %&gt;</a:t>
            </a:r>
          </a:p>
          <a:p>
            <a:r>
              <a:rPr lang="en-US" dirty="0"/>
              <a:t>  &lt;%= </a:t>
            </a:r>
            <a:r>
              <a:rPr lang="en-US" dirty="0" err="1"/>
              <a:t>form.date_field</a:t>
            </a:r>
            <a:r>
              <a:rPr lang="en-US" dirty="0"/>
              <a:t> :</a:t>
            </a:r>
            <a:r>
              <a:rPr lang="en-US" dirty="0" err="1"/>
              <a:t>when_query</a:t>
            </a:r>
            <a:r>
              <a:rPr lang="en-US" dirty="0"/>
              <a:t> %&gt;</a:t>
            </a:r>
          </a:p>
          <a:p>
            <a:r>
              <a:rPr lang="en-US" dirty="0"/>
              <a:t>  &lt;%= </a:t>
            </a:r>
            <a:r>
              <a:rPr lang="en-US" dirty="0" err="1"/>
              <a:t>form.submit</a:t>
            </a:r>
            <a:r>
              <a:rPr lang="en-US" dirty="0"/>
              <a:t> "Search" %&gt;</a:t>
            </a:r>
          </a:p>
          <a:p>
            <a:r>
              <a:rPr lang="en-US" dirty="0"/>
              <a:t>&lt;% end %&gt;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5771D9-47D2-01F9-2EB5-957052661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FA139-9B5D-2840-BD4E-B212E9738747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129E55-9C0D-9F40-3D06-F8465BEDB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61A9B8-8319-0C19-8A08-FAA7BE0D6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360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9961B-672F-D33B-A07B-42FDC41D5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Turbo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5BDB95-8E28-15D2-78FC-D198AC21E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&lt;%# Replace contents of app/views/items/</a:t>
            </a:r>
            <a:r>
              <a:rPr lang="en-US" dirty="0" err="1"/>
              <a:t>index.html.erb</a:t>
            </a:r>
            <a:r>
              <a:rPr lang="en-US" dirty="0"/>
              <a:t> with the following %&gt;</a:t>
            </a:r>
          </a:p>
          <a:p>
            <a:r>
              <a:rPr lang="en-US" dirty="0"/>
              <a:t>&lt;%= </a:t>
            </a:r>
            <a:r>
              <a:rPr lang="en-US" dirty="0" err="1"/>
              <a:t>form_with</a:t>
            </a:r>
            <a:r>
              <a:rPr lang="en-US" dirty="0"/>
              <a:t>(</a:t>
            </a:r>
            <a:r>
              <a:rPr lang="en-US" dirty="0" err="1"/>
              <a:t>url</a:t>
            </a:r>
            <a:r>
              <a:rPr lang="en-US" dirty="0"/>
              <a:t>: </a:t>
            </a:r>
            <a:r>
              <a:rPr lang="en-US" dirty="0" err="1"/>
              <a:t>items_path</a:t>
            </a:r>
            <a:r>
              <a:rPr lang="en-US" dirty="0"/>
              <a:t>, method: :get,</a:t>
            </a:r>
          </a:p>
          <a:p>
            <a:r>
              <a:rPr lang="en-US" dirty="0"/>
              <a:t>  data: { </a:t>
            </a:r>
            <a:r>
              <a:rPr lang="en-US" dirty="0" err="1"/>
              <a:t>turbo_frame</a:t>
            </a:r>
            <a:r>
              <a:rPr lang="en-US" dirty="0"/>
              <a:t>: "results", </a:t>
            </a:r>
            <a:r>
              <a:rPr lang="en-US" dirty="0" err="1"/>
              <a:t>turbo_action</a:t>
            </a:r>
            <a:r>
              <a:rPr lang="en-US" dirty="0"/>
              <a:t>: "advance" }) do |f| %&gt;</a:t>
            </a:r>
          </a:p>
          <a:p>
            <a:r>
              <a:rPr lang="en-US" dirty="0"/>
              <a:t>  Search</a:t>
            </a:r>
          </a:p>
          <a:p>
            <a:r>
              <a:rPr lang="en-US" dirty="0"/>
              <a:t>  &lt;%= </a:t>
            </a:r>
            <a:r>
              <a:rPr lang="en-US" dirty="0" err="1"/>
              <a:t>f.search_field</a:t>
            </a:r>
            <a:r>
              <a:rPr lang="en-US" dirty="0"/>
              <a:t>(:query, value: params[:query],</a:t>
            </a:r>
          </a:p>
          <a:p>
            <a:r>
              <a:rPr lang="en-US" dirty="0"/>
              <a:t>    </a:t>
            </a:r>
            <a:r>
              <a:rPr lang="en-US" dirty="0" err="1"/>
              <a:t>oninput</a:t>
            </a:r>
            <a:r>
              <a:rPr lang="en-US" dirty="0"/>
              <a:t>: "</a:t>
            </a:r>
            <a:r>
              <a:rPr lang="en-US" dirty="0" err="1"/>
              <a:t>this.form.requestSubmit</a:t>
            </a:r>
            <a:r>
              <a:rPr lang="en-US" dirty="0"/>
              <a:t>()") %&gt;</a:t>
            </a:r>
          </a:p>
          <a:p>
            <a:r>
              <a:rPr lang="en-US" dirty="0"/>
              <a:t>&lt;% </a:t>
            </a:r>
            <a:r>
              <a:rPr lang="en-US"/>
              <a:t>end %&gt;</a:t>
            </a:r>
            <a:br>
              <a:rPr lang="en-US" dirty="0"/>
            </a:br>
            <a:endParaRPr lang="en-US" dirty="0"/>
          </a:p>
          <a:p>
            <a:r>
              <a:rPr lang="en-US" dirty="0"/>
              <a:t>&lt;%= </a:t>
            </a:r>
            <a:r>
              <a:rPr lang="en-US" dirty="0" err="1"/>
              <a:t>turbo_frame_tag</a:t>
            </a:r>
            <a:r>
              <a:rPr lang="en-US" dirty="0"/>
              <a:t> "results" do %&gt;</a:t>
            </a:r>
          </a:p>
          <a:p>
            <a:r>
              <a:rPr lang="en-US" dirty="0"/>
              <a:t>  &lt;div id="results"&gt;</a:t>
            </a:r>
          </a:p>
          <a:p>
            <a:r>
              <a:rPr lang="en-US" dirty="0"/>
              <a:t>  &lt;% @</a:t>
            </a:r>
            <a:r>
              <a:rPr lang="en-US" dirty="0" err="1"/>
              <a:t>items.each</a:t>
            </a:r>
            <a:r>
              <a:rPr lang="en-US" dirty="0"/>
              <a:t> do |item| %&gt;</a:t>
            </a:r>
          </a:p>
          <a:p>
            <a:r>
              <a:rPr lang="en-US" dirty="0"/>
              <a:t>    &lt;%= render item %&gt;</a:t>
            </a:r>
          </a:p>
          <a:p>
            <a:r>
              <a:rPr lang="en-US" dirty="0"/>
              <a:t>    &lt;p&gt;</a:t>
            </a:r>
          </a:p>
          <a:p>
            <a:r>
              <a:rPr lang="en-US" dirty="0"/>
              <a:t>      &lt;%= </a:t>
            </a:r>
            <a:r>
              <a:rPr lang="en-US" dirty="0" err="1"/>
              <a:t>link_to</a:t>
            </a:r>
            <a:r>
              <a:rPr lang="en-US" dirty="0"/>
              <a:t> "Show this item", item %&gt;</a:t>
            </a:r>
          </a:p>
          <a:p>
            <a:r>
              <a:rPr lang="en-US" dirty="0"/>
              <a:t>    &lt;/p&gt;</a:t>
            </a:r>
          </a:p>
          <a:p>
            <a:r>
              <a:rPr lang="en-US" dirty="0"/>
              <a:t>  &lt;% end %&gt;</a:t>
            </a:r>
          </a:p>
          <a:p>
            <a:r>
              <a:rPr lang="en-US" dirty="0"/>
              <a:t>&lt;% end %&gt;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2C0FA3E-1709-A1B2-0FC3-DBF4BCA431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E7CBD-36F0-8241-944B-0C0D4ED8A9DB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3679A4-2BD5-6979-0509-2C19DD25F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01B80F-CC00-91E1-B9D4-5ABECD331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576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7AE0D-03D6-CB68-754C-0676CF2E8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Dedicated Search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4B54E-09B4-EA04-D294-1B8BB6593D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resources :movies do</a:t>
            </a:r>
          </a:p>
          <a:p>
            <a:r>
              <a:rPr lang="en-US" dirty="0"/>
              <a:t>  collection do</a:t>
            </a:r>
          </a:p>
          <a:p>
            <a:r>
              <a:rPr lang="en-US" dirty="0"/>
              <a:t>    get 'search'</a:t>
            </a:r>
          </a:p>
          <a:p>
            <a:r>
              <a:rPr lang="en-US" dirty="0"/>
              <a:t>  end</a:t>
            </a:r>
          </a:p>
          <a:p>
            <a:r>
              <a:rPr lang="en-US" dirty="0"/>
              <a:t>end</a:t>
            </a:r>
          </a:p>
          <a:p>
            <a:endParaRPr lang="en-US" dirty="0"/>
          </a:p>
          <a:p>
            <a:r>
              <a:rPr lang="en-US" dirty="0"/>
              <a:t>### Controller:</a:t>
            </a:r>
          </a:p>
          <a:p>
            <a:r>
              <a:rPr lang="en-US" dirty="0"/>
              <a:t>def search</a:t>
            </a:r>
          </a:p>
          <a:p>
            <a:r>
              <a:rPr lang="en-US" dirty="0"/>
              <a:t>  @movies = if params[:query]</a:t>
            </a:r>
          </a:p>
          <a:p>
            <a:r>
              <a:rPr lang="en-US" dirty="0"/>
              <a:t>    </a:t>
            </a:r>
            <a:r>
              <a:rPr lang="en-US" dirty="0" err="1"/>
              <a:t>Movie.where</a:t>
            </a:r>
            <a:r>
              <a:rPr lang="en-US" dirty="0"/>
              <a:t>('title LIKE ?', "%#{params[:query]}%")</a:t>
            </a:r>
          </a:p>
          <a:p>
            <a:r>
              <a:rPr lang="en-US" dirty="0"/>
              <a:t>  else</a:t>
            </a:r>
          </a:p>
          <a:p>
            <a:r>
              <a:rPr lang="en-US" dirty="0"/>
              <a:t>    </a:t>
            </a:r>
            <a:r>
              <a:rPr lang="en-US" dirty="0" err="1"/>
              <a:t>Movie.all</a:t>
            </a:r>
            <a:endParaRPr lang="en-US" dirty="0"/>
          </a:p>
          <a:p>
            <a:r>
              <a:rPr lang="en-US" dirty="0"/>
              <a:t>  end</a:t>
            </a:r>
          </a:p>
          <a:p>
            <a:r>
              <a:rPr lang="en-US" dirty="0"/>
              <a:t>  render :index</a:t>
            </a:r>
          </a:p>
          <a:p>
            <a:r>
              <a:rPr lang="en-US" dirty="0"/>
              <a:t>end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CCAD5E-7D6D-C189-872E-48B9421A6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A31B8-98A2-A649-A6A8-92F3A139BC95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FBBE12-3005-871A-15B4-D0AD15AD4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245E59-A59D-0072-D29B-A452DD0C1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715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B42FF42-B7E8-FF0F-A1C4-942B8989E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GET vs POST for Searches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2959A4-8480-4188-1D00-FCDF8418E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Use GET for searches because:</a:t>
            </a:r>
          </a:p>
          <a:p>
            <a:pPr lvl="1"/>
            <a:r>
              <a:rPr lang="en-US" dirty="0"/>
              <a:t>Searches are cacheable</a:t>
            </a:r>
          </a:p>
          <a:p>
            <a:pPr lvl="1"/>
            <a:r>
              <a:rPr lang="en-US" dirty="0"/>
              <a:t>URLs can be bookmarked</a:t>
            </a:r>
          </a:p>
          <a:p>
            <a:pPr lvl="1"/>
            <a:r>
              <a:rPr lang="en-US" dirty="0"/>
              <a:t>Results can be shared via link</a:t>
            </a:r>
          </a:p>
          <a:p>
            <a:pPr lvl="1"/>
            <a:r>
              <a:rPr lang="en-US" dirty="0"/>
              <a:t>Browser history works properly</a:t>
            </a:r>
          </a:p>
          <a:p>
            <a:pPr lvl="1"/>
            <a:r>
              <a:rPr lang="en-US" dirty="0"/>
              <a:t>Follows REST conventions</a:t>
            </a:r>
          </a:p>
          <a:p>
            <a:r>
              <a:rPr lang="en-US" dirty="0"/>
              <a:t>Note: If data changes frequently, caching may not be appropriate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A7859A-7B1F-72FD-D6FE-FEB5C37B8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43D6B4-EB27-844B-BFBF-A55BAEB43916}" type="datetime1">
              <a:rPr lang="en-US" smtClean="0"/>
              <a:t>10/8/26</a:t>
            </a:fld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F51B20B-9884-9640-ED3C-8D2CF5CE3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720C9BE-1EFA-FF2A-F0F3-FD9BFFC8A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246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E449B-72A1-0DB5-0FE6-F03FA85E7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</a:t>
            </a:r>
            <a:r>
              <a:rPr lang="en-US" dirty="0" err="1"/>
              <a:t>send_file</a:t>
            </a:r>
            <a:r>
              <a:rPr lang="en-US" dirty="0"/>
              <a:t>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24CE5C-A8E3-82D9-9989-D099400AA9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Stream files from your server to browsers: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config/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routes.rb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get '/toby', to: '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kitties#toby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app/controllers/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kitties_controller.rb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class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KittiesController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ApplicationController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def toby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'public/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toby.png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', disposition: 'inline'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end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  <a:p>
            <a:r>
              <a:rPr lang="en-US" dirty="0"/>
              <a:t>disposition: 'inline' displays in browser instead of downloading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F21121-BA5C-AA70-13E0-B77D4BD71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A3B2D-34BD-2444-B755-3A7F88E34A59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8BA3C5-A5F9-E14D-E442-399110A8A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5F127A-C011-D22F-7BEA-F07783BDE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9621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B8444-7666-4DB3-B3ED-88F61D0D5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</a:t>
            </a:r>
            <a:r>
              <a:rPr lang="en-US" dirty="0" err="1"/>
              <a:t>send_data</a:t>
            </a:r>
            <a:r>
              <a:rPr lang="en-US" dirty="0"/>
              <a:t>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09775-5C55-85B5-1662-2CB90243D0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endParaRPr lang="en-US" dirty="0"/>
          </a:p>
          <a:p>
            <a:r>
              <a:rPr lang="en-US" dirty="0"/>
              <a:t>Send dynamically generated content to browsers:</a:t>
            </a:r>
          </a:p>
          <a:p>
            <a:pPr lvl="1"/>
            <a:r>
              <a:rPr lang="en-US" dirty="0"/>
              <a:t>Generated images</a:t>
            </a:r>
          </a:p>
          <a:p>
            <a:pPr lvl="1"/>
            <a:r>
              <a:rPr lang="en-US" dirty="0"/>
              <a:t>PDF documents created on-the-fly</a:t>
            </a:r>
          </a:p>
          <a:p>
            <a:pPr lvl="1"/>
            <a:r>
              <a:rPr lang="en-US" dirty="0"/>
              <a:t>CSV exports</a:t>
            </a:r>
          </a:p>
          <a:p>
            <a:pPr lvl="1"/>
            <a:r>
              <a:rPr lang="en-US" dirty="0"/>
              <a:t>Any binary or text data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export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csv_data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generate_csv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(@items)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send_data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csv_data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filename: '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items.csv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',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type: 'text/csv'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B9A90B-359E-7579-88A4-0CB0D0ACF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B8132-4B9A-574B-9694-EBE37CAEF249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45BBA0-A150-A4C4-4321-82FB77961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EB7E12-180D-BEB0-81E3-67B602E4E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836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B0C8B-9E3D-6697-2D0B-67D82E0C0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are Cookies?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3AA0C0-CD6D-EC48-42CA-BB46329A53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Cookies enable stateful communication over stateless HTTP:</a:t>
            </a:r>
          </a:p>
          <a:p>
            <a:pPr lvl="1"/>
            <a:r>
              <a:rPr lang="en-US" dirty="0"/>
              <a:t>Server sends: Set-Cookie: header</a:t>
            </a:r>
          </a:p>
          <a:p>
            <a:pPr lvl="1"/>
            <a:r>
              <a:rPr lang="en-US" dirty="0"/>
              <a:t>Browser responds with: Cookie: header</a:t>
            </a:r>
          </a:p>
          <a:p>
            <a:pPr lvl="1"/>
            <a:r>
              <a:rPr lang="en-US" dirty="0"/>
              <a:t>Maintains state between requests</a:t>
            </a:r>
          </a:p>
          <a:p>
            <a:pPr lvl="2"/>
            <a:r>
              <a:rPr lang="en-US" dirty="0"/>
              <a:t>Not RESTful</a:t>
            </a:r>
          </a:p>
          <a:p>
            <a:pPr lvl="1"/>
            <a:r>
              <a:rPr lang="en-US" dirty="0"/>
              <a:t>Essential for: sessions, shopping carts, preferences, etc.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FD991B-3CD0-897D-D9AF-2014786C8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4F7F-1067-7544-880C-3EB93C64AB89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4DF91B-776A-67C6-AD05-23CCFE15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55B635-98A4-EFDE-B3A4-0EAF14377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860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E1533-18D0-2D73-4FE8-CF38DB9F9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Rails Cookie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C8C16-875C-006D-C6F1-628B30DEEB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Rails automatically generates:</a:t>
            </a:r>
          </a:p>
          <a:p>
            <a:pPr lvl="1"/>
            <a:r>
              <a:rPr lang="en-US" dirty="0" err="1"/>
              <a:t>session_id</a:t>
            </a:r>
            <a:r>
              <a:rPr lang="en-US" dirty="0"/>
              <a:t> - Tracks client/server state</a:t>
            </a:r>
          </a:p>
          <a:p>
            <a:pPr lvl="1"/>
            <a:r>
              <a:rPr lang="en-US" dirty="0"/>
              <a:t>_</a:t>
            </a:r>
            <a:r>
              <a:rPr lang="en-US" dirty="0" err="1"/>
              <a:t>csrf_token</a:t>
            </a:r>
            <a:r>
              <a:rPr lang="en-US" dirty="0"/>
              <a:t> - Prevents Cross-Site Request Forgery attacks</a:t>
            </a:r>
          </a:p>
          <a:p>
            <a:r>
              <a:rPr lang="en-US" dirty="0"/>
              <a:t>Note: </a:t>
            </a:r>
            <a:r>
              <a:rPr lang="en-US" dirty="0" err="1"/>
              <a:t>session_id</a:t>
            </a:r>
            <a:r>
              <a:rPr lang="en-US" dirty="0"/>
              <a:t> is NOT an authenticated session by default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189E0A8-AABB-81B8-1C3E-5E44A3BAF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D3680-AC1A-0442-9D7D-9F30E0FEF342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15E149-FA05-0271-FCF8-6BFF3431E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8198EE-72EA-A401-4047-877387FFC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239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7CF7E-1DFD-A5D6-4AFB-A74F20FEB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Cookie Security Attributes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9E3F4-F16B-DB51-F6BF-3396D18701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path - Limits cookie to specific domain paths</a:t>
            </a:r>
          </a:p>
          <a:p>
            <a:r>
              <a:rPr lang="en-US" dirty="0" err="1"/>
              <a:t>HttpOnly</a:t>
            </a:r>
            <a:r>
              <a:rPr lang="en-US" dirty="0"/>
              <a:t> - Cookie only for HTTP (not FTP, etc.)</a:t>
            </a:r>
          </a:p>
          <a:p>
            <a:r>
              <a:rPr lang="en-US" dirty="0" err="1"/>
              <a:t>SameSite</a:t>
            </a:r>
            <a:r>
              <a:rPr lang="en-US" dirty="0"/>
              <a:t> - Controls cross-site cookie sending</a:t>
            </a:r>
          </a:p>
          <a:p>
            <a:r>
              <a:rPr lang="en-US" dirty="0"/>
              <a:t>Secure - Requires HTTPS (critical for production!)</a:t>
            </a:r>
          </a:p>
          <a:p>
            <a:r>
              <a:rPr lang="en-US" dirty="0"/>
              <a:t>Expires - Cookie expiration date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3940432-213E-12BE-6CC8-16E70F3C9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B1466-B4ED-734F-BDE1-F48246D9D423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A81AF8-5BD9-9D83-8BFE-A0B0EE468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900DBB-0915-36BB-A25C-39512180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17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A4A6F-1CF3-357A-FF1F-5DC85A9C3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SameSite</a:t>
            </a:r>
            <a:r>
              <a:rPr lang="en-US" dirty="0"/>
              <a:t> Cookie Settings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4611A3-7043-0261-FBA2-A4EF8BFF08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Lax (Default):</a:t>
            </a:r>
          </a:p>
          <a:p>
            <a:pPr lvl="1"/>
            <a:r>
              <a:rPr lang="en-US" dirty="0"/>
              <a:t>Always sent when navigating within the same site</a:t>
            </a:r>
          </a:p>
          <a:p>
            <a:pPr lvl="1"/>
            <a:r>
              <a:rPr lang="en-US" dirty="0"/>
              <a:t>NOT sent on requests TO different sites</a:t>
            </a:r>
          </a:p>
          <a:p>
            <a:pPr lvl="1"/>
            <a:r>
              <a:rPr lang="en-US" dirty="0"/>
              <a:t>IS sent when following links FROM other sites</a:t>
            </a:r>
          </a:p>
          <a:p>
            <a:r>
              <a:rPr lang="en-US" dirty="0"/>
              <a:t>Strict:</a:t>
            </a:r>
          </a:p>
          <a:p>
            <a:pPr lvl="1"/>
            <a:r>
              <a:rPr lang="en-US" dirty="0"/>
              <a:t>Never sent when coming from foreign sites</a:t>
            </a:r>
          </a:p>
          <a:p>
            <a:pPr lvl="1"/>
            <a:r>
              <a:rPr lang="en-US" dirty="0"/>
              <a:t>More secure but less convenient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A2B5A0-F700-1D48-5B81-97E3C0C70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5C31B3-591D-784C-8683-20B4D9AF854A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39B092-A838-8475-E663-CD203C91C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F1E6F3-BBF9-39AC-831A-9C3DA6CCA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224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7CF11-5E44-D768-7B3F-DEB92A68C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Session vs Persistent Cookies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62F8D-92A7-5658-99E1-62EC502E04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endParaRPr lang="en-US" dirty="0"/>
          </a:p>
          <a:p>
            <a:r>
              <a:rPr lang="en-US" dirty="0"/>
              <a:t>Session Cookies:</a:t>
            </a:r>
          </a:p>
          <a:p>
            <a:pPr lvl="1"/>
            <a:r>
              <a:rPr lang="en-US" dirty="0"/>
              <a:t>No expiration date specified</a:t>
            </a:r>
          </a:p>
          <a:p>
            <a:pPr lvl="1"/>
            <a:r>
              <a:rPr lang="en-US" dirty="0"/>
              <a:t>Expire when browser/window closes</a:t>
            </a:r>
          </a:p>
          <a:p>
            <a:pPr lvl="1"/>
            <a:r>
              <a:rPr lang="en-US" dirty="0"/>
              <a:t>Default behavior</a:t>
            </a:r>
          </a:p>
          <a:p>
            <a:r>
              <a:rPr lang="en-US" dirty="0"/>
              <a:t>Persistent Cookies:</a:t>
            </a:r>
          </a:p>
          <a:p>
            <a:pPr lvl="1"/>
            <a:r>
              <a:rPr lang="en-US" dirty="0"/>
              <a:t>Have a future expiration date</a:t>
            </a:r>
          </a:p>
          <a:p>
            <a:pPr lvl="1"/>
            <a:r>
              <a:rPr lang="en-US" dirty="0"/>
              <a:t>Survive browser restarts</a:t>
            </a:r>
          </a:p>
          <a:p>
            <a:pPr lvl="1"/>
            <a:r>
              <a:rPr lang="en-US" dirty="0"/>
              <a:t>Used for "Remember Me" functionality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50EA0CA-1F8B-B690-6172-9283139F6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C4652-05E1-4E43-B40D-B543A9723FE4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B0673F-D8BE-F759-C7BF-4C9E0094E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F2B884-2B11-4054-F40C-F01C2CEFD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781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FEEB1-846E-A5A8-F405-B99BDD924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Working with Sessions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27DDF2-209B-90CC-DA49-3EC7C18CD3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# Storing data</a:t>
            </a:r>
          </a:p>
          <a:p>
            <a:r>
              <a:rPr lang="en-US" dirty="0"/>
              <a:t>session[:</a:t>
            </a:r>
            <a:r>
              <a:rPr lang="en-US" dirty="0" err="1"/>
              <a:t>user_id</a:t>
            </a:r>
            <a:r>
              <a:rPr lang="en-US" dirty="0"/>
              <a:t>] = @</a:t>
            </a:r>
            <a:r>
              <a:rPr lang="en-US" dirty="0" err="1"/>
              <a:t>user.id</a:t>
            </a:r>
            <a:endParaRPr lang="en-US" dirty="0"/>
          </a:p>
          <a:p>
            <a:r>
              <a:rPr lang="en-US" dirty="0"/>
              <a:t>session[:</a:t>
            </a:r>
            <a:r>
              <a:rPr lang="en-US" dirty="0" err="1"/>
              <a:t>cart_items</a:t>
            </a:r>
            <a:r>
              <a:rPr lang="en-US" dirty="0"/>
              <a:t>] = @</a:t>
            </a:r>
            <a:r>
              <a:rPr lang="en-US" dirty="0" err="1"/>
              <a:t>cart.items</a:t>
            </a:r>
            <a:endParaRPr lang="en-US" dirty="0"/>
          </a:p>
          <a:p>
            <a:endParaRPr lang="en-US" dirty="0"/>
          </a:p>
          <a:p>
            <a:r>
              <a:rPr lang="en-US" dirty="0"/>
              <a:t># Retrieving data</a:t>
            </a:r>
          </a:p>
          <a:p>
            <a:r>
              <a:rPr lang="en-US" dirty="0" err="1"/>
              <a:t>current_user_id</a:t>
            </a:r>
            <a:r>
              <a:rPr lang="en-US" dirty="0"/>
              <a:t> = session[:</a:t>
            </a:r>
            <a:r>
              <a:rPr lang="en-US" dirty="0" err="1"/>
              <a:t>user_id</a:t>
            </a:r>
            <a:r>
              <a:rPr lang="en-US" dirty="0"/>
              <a:t>]</a:t>
            </a:r>
          </a:p>
          <a:p>
            <a:endParaRPr lang="en-US" dirty="0"/>
          </a:p>
          <a:p>
            <a:r>
              <a:rPr lang="en-US" dirty="0"/>
              <a:t># Iterating through session</a:t>
            </a:r>
          </a:p>
          <a:p>
            <a:r>
              <a:rPr lang="en-US" dirty="0" err="1"/>
              <a:t>session.each</a:t>
            </a:r>
            <a:r>
              <a:rPr lang="en-US" dirty="0"/>
              <a:t> do |key, value|</a:t>
            </a:r>
          </a:p>
          <a:p>
            <a:r>
              <a:rPr lang="en-US" dirty="0"/>
              <a:t>  puts "#{key}: #{value}"</a:t>
            </a:r>
          </a:p>
          <a:p>
            <a:r>
              <a:rPr lang="en-US" dirty="0"/>
              <a:t>end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4A0489-CEAA-248A-AE25-AFBF17BED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E8A92-C65E-1C49-B066-D4C456C5B286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A5C5FE-1E0D-AB4E-D5F3-ACAD1420C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F8AB82-24C9-CA5F-CC11-38DD892BE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717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6F191F-94F7-62B1-C3C4-004569BED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Flash Hash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8A4DA9C-D7AF-76D5-28CE-92D647CEDD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Temporary messages that last only one request:</a:t>
            </a:r>
          </a:p>
          <a:p>
            <a:pPr lvl="1"/>
            <a:r>
              <a:rPr lang="en-US" dirty="0"/>
              <a:t>NOT passed as cookies</a:t>
            </a:r>
          </a:p>
          <a:p>
            <a:pPr lvl="1"/>
            <a:r>
              <a:rPr lang="en-US" dirty="0"/>
              <a:t>Available in ERB templates</a:t>
            </a:r>
          </a:p>
          <a:p>
            <a:pPr lvl="1"/>
            <a:r>
              <a:rPr lang="en-US" dirty="0"/>
              <a:t>Perfect for notifications</a:t>
            </a:r>
          </a:p>
          <a:p>
            <a:pPr lvl="1"/>
            <a:r>
              <a:rPr lang="en-US" dirty="0"/>
              <a:t>Two defaults: notice and alert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901D72-B443-2660-CBD6-22396C37B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7C9AE-2253-9242-9D92-C90771F0B841}" type="datetime1">
              <a:rPr lang="en-US" smtClean="0"/>
              <a:t>10/8/26</a:t>
            </a:fld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581C33F-FD2D-CC75-3B65-2AEF8962D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AEF6E4-6AB0-DFBE-9C15-E423374FC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811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00E0E-C183-77A9-1A8A-06B92F90D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Creating Flash Messages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0766F3-B728-D0B7-F98D-F4DBB54440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### In redirect:</a:t>
            </a:r>
          </a:p>
          <a:p>
            <a:r>
              <a:rPr lang="en-US" dirty="0" err="1"/>
              <a:t>redirect_to</a:t>
            </a:r>
            <a:r>
              <a:rPr lang="en-US" dirty="0"/>
              <a:t> </a:t>
            </a:r>
            <a:r>
              <a:rPr lang="en-US" dirty="0" err="1"/>
              <a:t>todo_url</a:t>
            </a:r>
            <a:r>
              <a:rPr lang="en-US" dirty="0"/>
              <a:t>(@</a:t>
            </a:r>
            <a:r>
              <a:rPr lang="en-US" dirty="0" err="1"/>
              <a:t>todo</a:t>
            </a:r>
            <a:r>
              <a:rPr lang="en-US" dirty="0"/>
              <a:t>),</a:t>
            </a:r>
          </a:p>
          <a:p>
            <a:r>
              <a:rPr lang="en-US" dirty="0"/>
              <a:t>            notice: "Todo was successfully created."</a:t>
            </a:r>
          </a:p>
          <a:p>
            <a:endParaRPr lang="en-US" dirty="0"/>
          </a:p>
          <a:p>
            <a:r>
              <a:rPr lang="en-US" dirty="0"/>
              <a:t>### Directly in controller:</a:t>
            </a:r>
          </a:p>
          <a:p>
            <a:r>
              <a:rPr lang="en-US" dirty="0"/>
              <a:t>flash[:notice] = "Your message"</a:t>
            </a:r>
          </a:p>
          <a:p>
            <a:r>
              <a:rPr lang="en-US" dirty="0"/>
              <a:t>flash[:alert] = "Warning message"</a:t>
            </a:r>
          </a:p>
          <a:p>
            <a:endParaRPr lang="en-US" dirty="0"/>
          </a:p>
          <a:p>
            <a:r>
              <a:rPr lang="en-US" dirty="0"/>
              <a:t># Convenience methods:</a:t>
            </a:r>
          </a:p>
          <a:p>
            <a:r>
              <a:rPr lang="en-US" dirty="0" err="1"/>
              <a:t>flash.notice</a:t>
            </a:r>
            <a:r>
              <a:rPr lang="en-US" dirty="0"/>
              <a:t> = "Your message"</a:t>
            </a:r>
          </a:p>
          <a:p>
            <a:r>
              <a:rPr lang="en-US" dirty="0" err="1"/>
              <a:t>flash.alert</a:t>
            </a:r>
            <a:r>
              <a:rPr lang="en-US" dirty="0"/>
              <a:t> = "Warning message"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CECB07-7DD6-C769-09C8-A23A26771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0DA297-E892-9940-9559-D6EB772FC4F8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3C242B-5028-1454-22BA-69FF19DF3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C6C047-6E37-B5DA-194C-B4B777DC0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774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585C3-8C73-05D9-0268-A9B0F8B21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Showing Flash in Views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F26CB-B613-9ED6-E318-0160590013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# Scaffolds add flash to index and show views:</a:t>
            </a:r>
          </a:p>
          <a:p>
            <a:r>
              <a:rPr lang="en-US" dirty="0"/>
              <a:t>&lt;p style="color: green"&gt;&lt;%= notice %&gt;&lt;/p&gt;</a:t>
            </a:r>
          </a:p>
          <a:p>
            <a:endParaRPr lang="en-US" dirty="0"/>
          </a:p>
          <a:p>
            <a:r>
              <a:rPr lang="en-US" dirty="0"/>
              <a:t>### For all pages, add to </a:t>
            </a:r>
            <a:r>
              <a:rPr lang="en-US" dirty="0" err="1"/>
              <a:t>application.html.erb</a:t>
            </a:r>
            <a:r>
              <a:rPr lang="en-US" dirty="0"/>
              <a:t>:</a:t>
            </a:r>
          </a:p>
          <a:p>
            <a:r>
              <a:rPr lang="en-US" dirty="0"/>
              <a:t>&lt;% if notice %&gt;</a:t>
            </a:r>
          </a:p>
          <a:p>
            <a:r>
              <a:rPr lang="en-US" dirty="0"/>
              <a:t>  &lt;p class="notice"&gt;&lt;%= notice %&gt;&lt;/p&gt;</a:t>
            </a:r>
          </a:p>
          <a:p>
            <a:r>
              <a:rPr lang="en-US" dirty="0"/>
              <a:t>&lt;% end %&gt;</a:t>
            </a:r>
          </a:p>
          <a:p>
            <a:r>
              <a:rPr lang="en-US" dirty="0"/>
              <a:t>&lt;% if alert %&gt;</a:t>
            </a:r>
          </a:p>
          <a:p>
            <a:r>
              <a:rPr lang="en-US" dirty="0"/>
              <a:t>  &lt;p class="alert"&gt;&lt;%= alert %&gt;&lt;/p&gt;</a:t>
            </a:r>
          </a:p>
          <a:p>
            <a:r>
              <a:rPr lang="en-US" dirty="0"/>
              <a:t>&lt;% end %&gt;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2CDE1A-1A06-DA6A-1E9D-B16B59315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1B652-A788-C942-9914-5CA0F38A1C27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0B5E34-B816-4371-3758-4090E9248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9DE7B7-A9B6-F0D6-6158-D63F330C4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785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485E4-7690-A1AE-7334-C31BFC95E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Integration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4317F1-C5FE-C4B1-D368-9549D98DA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Scaffolds generate controller tests automatically:</a:t>
            </a:r>
          </a:p>
          <a:p>
            <a:pPr marL="533374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test "should show one" do</a:t>
            </a:r>
          </a:p>
          <a:p>
            <a:pPr marL="533374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get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todo_url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(@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todo.id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533374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assert_response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:success</a:t>
            </a:r>
          </a:p>
          <a:p>
            <a:pPr marL="533374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</a:p>
          <a:p>
            <a:r>
              <a:rPr lang="en-US" dirty="0"/>
              <a:t>Tests verify:</a:t>
            </a:r>
          </a:p>
          <a:p>
            <a:pPr lvl="1"/>
            <a:r>
              <a:rPr lang="en-US" dirty="0"/>
              <a:t>Correct routes work</a:t>
            </a:r>
          </a:p>
          <a:p>
            <a:pPr lvl="1"/>
            <a:r>
              <a:rPr lang="en-US" dirty="0"/>
              <a:t>Controller methods execute properly</a:t>
            </a:r>
          </a:p>
          <a:p>
            <a:pPr lvl="1"/>
            <a:r>
              <a:rPr lang="en-US" dirty="0"/>
              <a:t>Appropriate responses are returned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2471F0-E19B-D190-BE76-25140F613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EC6A5-94AB-D14E-B271-7EC62EAB14E1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D009F6-20D5-6889-E7E5-642E9C756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48CD21-FE62-157D-E901-F09C12C54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4560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7696C-9E2C-BD17-A78B-79DCB8474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Writing Tests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8A40D4-01B5-9E32-EFBA-D596BCC2A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Best practice: Write tests BEFORE implementation</a:t>
            </a:r>
          </a:p>
          <a:p>
            <a:pPr lvl="1"/>
            <a:r>
              <a:rPr lang="en-US" dirty="0"/>
              <a:t>Documents expected behavior</a:t>
            </a:r>
          </a:p>
          <a:p>
            <a:pPr lvl="1"/>
            <a:r>
              <a:rPr lang="en-US" dirty="0"/>
              <a:t>Enables regression testing</a:t>
            </a:r>
          </a:p>
          <a:p>
            <a:pPr lvl="1"/>
            <a:r>
              <a:rPr lang="en-US" dirty="0"/>
              <a:t>Facilitates refactoring</a:t>
            </a:r>
          </a:p>
          <a:p>
            <a:pPr lvl="1"/>
            <a:r>
              <a:rPr lang="en-US" dirty="0"/>
              <a:t>Catches bugs early</a:t>
            </a:r>
          </a:p>
          <a:p>
            <a:r>
              <a:rPr lang="en-US" dirty="0"/>
              <a:t>Even writing tests after implementation is better than no tests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61CE81-106D-E2D5-75DB-4BDAC6E21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7320A-5618-9348-9A26-17EB9A2A34D8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465729-BBAE-B781-0386-AFEDED357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1D2FFF-C543-BA13-D5F5-5E3833E70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867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1D9CE-0597-EFC3-B2F2-5F78C1E9D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Test Data with Fixtures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791B3-3FDA-EFFC-82A3-82954F1F35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endParaRPr lang="en-US" dirty="0"/>
          </a:p>
          <a:p>
            <a:r>
              <a:rPr lang="en-US" dirty="0"/>
              <a:t>Fixtures are YAML files in test/fixtures/:</a:t>
            </a:r>
          </a:p>
          <a:p>
            <a:pPr marL="609569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test/fixtures/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todos.yml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609569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one:</a:t>
            </a:r>
          </a:p>
          <a:p>
            <a:pPr marL="609569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item: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MyString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609569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due: 2022-07-28</a:t>
            </a:r>
          </a:p>
          <a:p>
            <a:pPr marL="609569" lvl="1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609569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two:</a:t>
            </a:r>
          </a:p>
          <a:p>
            <a:pPr marL="609569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item: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AnotherString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609569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due: 2022-07-29</a:t>
            </a:r>
          </a:p>
          <a:p>
            <a:r>
              <a:rPr lang="en-US" dirty="0"/>
              <a:t>Creates test database records for your tests to use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0CF3A09-AB8D-C7AE-77BB-72D2912FD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F8885-4390-DC44-8FBF-684C655AFB14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F55AEB-FAC8-A431-7156-F21B7D284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C5DB47-0B31-3903-07D9-C434926B5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437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877C3-34FC-9040-0A4A-95F3C08CF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Understanding YAML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E80B98-B388-DA58-AC2B-5EF7861BF9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10834"/>
            <a:ext cx="10972800" cy="45259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YAML </a:t>
            </a:r>
            <a:r>
              <a:rPr lang="en-US" dirty="0" err="1"/>
              <a:t>Ain't</a:t>
            </a:r>
            <a:r>
              <a:rPr lang="en-US" dirty="0"/>
              <a:t> Markup Language</a:t>
            </a:r>
          </a:p>
          <a:p>
            <a:pPr lvl="1"/>
            <a:r>
              <a:rPr lang="en-US" dirty="0"/>
              <a:t>Used for data serialization</a:t>
            </a:r>
          </a:p>
          <a:p>
            <a:pPr lvl="1"/>
            <a:r>
              <a:rPr lang="en-US" dirty="0"/>
              <a:t>Indentation (spaces, not tabs) shows structure</a:t>
            </a:r>
          </a:p>
          <a:p>
            <a:pPr lvl="1"/>
            <a:r>
              <a:rPr lang="en-US" dirty="0"/>
              <a:t># starts comments</a:t>
            </a:r>
          </a:p>
          <a:p>
            <a:pPr lvl="1"/>
            <a:r>
              <a:rPr lang="en-US" dirty="0"/>
              <a:t>- denotes list items</a:t>
            </a:r>
          </a:p>
          <a:p>
            <a:pPr lvl="1"/>
            <a:r>
              <a:rPr lang="en-US" dirty="0"/>
              <a:t>Strings can be quoted or unquoted</a:t>
            </a:r>
          </a:p>
          <a:p>
            <a:pPr lvl="1"/>
            <a:r>
              <a:rPr lang="en-US" dirty="0"/>
              <a:t>Human-readable format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6371A8-A358-D018-9D7E-958C6EB8D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841C2-5223-B442-A238-76F371160C7E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5D15E1-F737-3532-7F3F-720E6FEE0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403491-137E-15E5-25EA-A046940A7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08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6E67B-7F8A-34AD-72F4-76060E95D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Running Tests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C6FBD-0C04-39BA-72A0-C0AB1481FC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### Run all controller tests:</a:t>
            </a:r>
          </a:p>
          <a:p>
            <a:r>
              <a:rPr lang="en-US" dirty="0"/>
              <a:t>rails test</a:t>
            </a:r>
          </a:p>
          <a:p>
            <a:endParaRPr lang="en-US" dirty="0"/>
          </a:p>
          <a:p>
            <a:r>
              <a:rPr lang="en-US" dirty="0"/>
              <a:t>### Run system tests:</a:t>
            </a:r>
          </a:p>
          <a:p>
            <a:r>
              <a:rPr lang="en-US" dirty="0"/>
              <a:t>rails </a:t>
            </a:r>
            <a:r>
              <a:rPr lang="en-US" dirty="0" err="1"/>
              <a:t>test:system</a:t>
            </a:r>
            <a:endParaRPr lang="en-US" dirty="0"/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1D75AAC-DEAF-5E9D-41A3-8169834E46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0515D-0852-2343-865C-1BBDDA57E9EE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EDD956-E17C-54D6-AFEE-91D4C53B5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82B8C3-E608-655B-FFF6-211DF57AC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489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A01CD-FBDF-47C9-3B35-B095D6008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End-to-End System Tests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A7BBE-572F-D632-CB14-D13814496E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System tests simulate real user interactions:</a:t>
            </a:r>
          </a:p>
          <a:p>
            <a:pPr lvl="1"/>
            <a:r>
              <a:rPr lang="en-US" dirty="0"/>
              <a:t>Opens an actual browser</a:t>
            </a:r>
          </a:p>
          <a:p>
            <a:pPr lvl="1"/>
            <a:r>
              <a:rPr lang="en-US" dirty="0"/>
              <a:t>Fills out forms</a:t>
            </a:r>
          </a:p>
          <a:p>
            <a:pPr lvl="1"/>
            <a:r>
              <a:rPr lang="en-US" dirty="0"/>
              <a:t>Clicks links and buttons</a:t>
            </a:r>
          </a:p>
          <a:p>
            <a:pPr lvl="1"/>
            <a:r>
              <a:rPr lang="en-US" dirty="0"/>
              <a:t>Verifies page content</a:t>
            </a:r>
          </a:p>
          <a:p>
            <a:r>
              <a:rPr lang="en-US" dirty="0"/>
              <a:t>Uses Capybara and Selenium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B18922-DB0C-C055-BB7E-04EB3D2A3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91AC0-C730-C344-87B5-BCD22847DDDD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9496D9-4BCC-908A-C18B-BC7F1ACAF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4333F6-3F56-781C-B62E-AD6750B08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268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9B01D-47D5-5D73-DE5B-E067D164C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Headless Browser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5D16DF-36CF-0FDB-E3A6-FA8C144247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Run tests faster without visible browser:</a:t>
            </a:r>
          </a:p>
          <a:p>
            <a:pPr marL="609569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test/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application_system_test_case.rb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609569" lvl="1" indent="0"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driven_by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:selenium,</a:t>
            </a:r>
          </a:p>
          <a:p>
            <a:pPr marL="609569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using: 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headless_chrome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609569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screen_size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[1400, 1400]</a:t>
            </a:r>
          </a:p>
          <a:p>
            <a:r>
              <a:rPr lang="en-US" dirty="0"/>
              <a:t>Benefits:</a:t>
            </a:r>
          </a:p>
          <a:p>
            <a:pPr lvl="1"/>
            <a:r>
              <a:rPr lang="en-US" dirty="0"/>
              <a:t>Faster execution</a:t>
            </a:r>
          </a:p>
          <a:p>
            <a:pPr lvl="1"/>
            <a:r>
              <a:rPr lang="en-US" dirty="0"/>
              <a:t>Can run on servers without displays</a:t>
            </a:r>
          </a:p>
          <a:p>
            <a:pPr lvl="1"/>
            <a:r>
              <a:rPr lang="en-US" dirty="0"/>
              <a:t>Good for CI/CD pipelines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995DF1-6F24-0995-D599-D19C0F64A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E58D-EEF4-4841-AA53-85AD12D92497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AF9C23-85E4-1E8C-FB7D-CB3474908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D6B649-CA8A-FC9D-D384-A3D98F417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829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D1CE5-D7E8-079D-B3A0-7D2F50045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Verification and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FAB19-FC10-31C9-1457-BCB482E9D3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Verification:</a:t>
            </a:r>
          </a:p>
          <a:p>
            <a:pPr lvl="1"/>
            <a:r>
              <a:rPr lang="en-US" dirty="0"/>
              <a:t>"Are you building it correctly?"</a:t>
            </a:r>
          </a:p>
          <a:p>
            <a:pPr lvl="1"/>
            <a:r>
              <a:rPr lang="en-US" dirty="0"/>
              <a:t>Tests if app meets specifications</a:t>
            </a:r>
          </a:p>
          <a:p>
            <a:pPr lvl="1"/>
            <a:r>
              <a:rPr lang="en-US" dirty="0"/>
              <a:t>Technical correctness</a:t>
            </a:r>
          </a:p>
          <a:p>
            <a:r>
              <a:rPr lang="en-US" dirty="0"/>
              <a:t>Validation:</a:t>
            </a:r>
          </a:p>
          <a:p>
            <a:pPr lvl="1"/>
            <a:r>
              <a:rPr lang="en-US" dirty="0"/>
              <a:t>"Are you building the right thing?"</a:t>
            </a:r>
          </a:p>
          <a:p>
            <a:pPr lvl="1"/>
            <a:r>
              <a:rPr lang="en-US" dirty="0"/>
              <a:t>Tests if users will actually use it</a:t>
            </a:r>
          </a:p>
          <a:p>
            <a:pPr lvl="1"/>
            <a:r>
              <a:rPr lang="en-US" dirty="0"/>
              <a:t>Real-world usefulness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D9C4AE6-E858-D500-734F-D8A8EB53F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C157-C516-4C4D-B3D7-10438FA4EC06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F9B6FD-8D0B-EC80-08D0-35FD31CBF6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5FE7F8-E761-EF1A-EF5E-A29B5F13A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94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51103-466C-AD5F-E18C-544614EB0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System Tests as Acceptance Tests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C2563-D486-9FFB-B63D-BEC6F9D3A8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System tests can serve as acceptance criteria:</a:t>
            </a:r>
          </a:p>
          <a:p>
            <a:pPr lvl="1"/>
            <a:r>
              <a:rPr lang="en-US" dirty="0"/>
              <a:t>Verify functionality from user perspective</a:t>
            </a:r>
          </a:p>
          <a:p>
            <a:pPr lvl="1"/>
            <a:r>
              <a:rPr lang="en-US" dirty="0"/>
              <a:t>Ensure features work end-to-end</a:t>
            </a:r>
          </a:p>
          <a:p>
            <a:pPr lvl="1"/>
            <a:r>
              <a:rPr lang="en-US" dirty="0"/>
              <a:t>Validate that requirements are met</a:t>
            </a:r>
          </a:p>
          <a:p>
            <a:pPr lvl="1"/>
            <a:r>
              <a:rPr lang="en-US" dirty="0"/>
              <a:t>Can be reviewed by stakeholders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5067E5-2AA1-90BF-1796-F795E353F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94E7E-AA28-9845-8EEA-DE3CBCAAA38E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FA7BBA-243A-150E-7F10-A092F8187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0A5439-E41A-F0C8-1F68-5B239C7A6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530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C5C8F-AEB5-73E5-AEFE-D0DA453C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Making Your App Public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D004DB-D622-B354-E0F9-4E2028C0D0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Multiple deployment strategies:</a:t>
            </a:r>
          </a:p>
          <a:p>
            <a:pPr lvl="1"/>
            <a:r>
              <a:rPr lang="en-US" dirty="0"/>
              <a:t>File archives - JAR, EAR, WAR files</a:t>
            </a:r>
          </a:p>
          <a:p>
            <a:pPr lvl="1"/>
            <a:r>
              <a:rPr lang="en-US" dirty="0"/>
              <a:t>CI/CD pipelines - Automated deployments</a:t>
            </a:r>
          </a:p>
          <a:p>
            <a:pPr lvl="1"/>
            <a:r>
              <a:rPr lang="en-US" dirty="0"/>
              <a:t>Docker containers - Containerized applications</a:t>
            </a:r>
          </a:p>
          <a:p>
            <a:pPr lvl="1"/>
            <a:r>
              <a:rPr lang="en-US" dirty="0"/>
              <a:t>Kubernetes - Orchestrated, scalable deployments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8FA5AD-D3DE-62C5-2ACE-92E56E3FF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C85DD-CE4B-E742-9E11-1DB3E6A98387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783C2D-4A89-63EF-9583-23231822B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A1C510-00D2-FDED-091C-CFF4CD88D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643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5CF9F-D2B0-861F-C8B6-546DDC8B2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Deploying to Heroku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9456D-33A5-76DA-DAD6-F965423F1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Heroku provides easy Rails hosting:</a:t>
            </a:r>
          </a:p>
          <a:p>
            <a:pPr lvl="1"/>
            <a:r>
              <a:rPr lang="en-US" dirty="0"/>
              <a:t>Simple deployment process</a:t>
            </a:r>
          </a:p>
          <a:p>
            <a:pPr lvl="1"/>
            <a:r>
              <a:rPr lang="en-US" dirty="0"/>
              <a:t>Free and paid tiers</a:t>
            </a:r>
          </a:p>
          <a:p>
            <a:pPr lvl="1"/>
            <a:r>
              <a:rPr lang="en-US" dirty="0"/>
              <a:t>Handles infrastructure</a:t>
            </a:r>
          </a:p>
          <a:p>
            <a:pPr lvl="1"/>
            <a:r>
              <a:rPr lang="en-US" dirty="0"/>
              <a:t>Great for learning and prototypes</a:t>
            </a:r>
          </a:p>
          <a:p>
            <a:r>
              <a:rPr lang="en-US" dirty="0"/>
              <a:t>Must use PostgreSQL database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E739C7-E199-E3DB-C2F8-D4EEA2E18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11B3D-D130-8D47-9A5E-7C0DA8FC699C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70F2A8-4B83-7647-A7CB-C1BDE9CCE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75B6D7-DBB8-FBD5-1ECB-E7832BDCE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826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6BD6C-1868-2B0B-5D0E-F16BFA5A8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PostgreSQL Configuration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5860E-9291-028F-9BDF-91431CF23D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default: &amp;default</a:t>
            </a:r>
          </a:p>
          <a:p>
            <a:r>
              <a:rPr lang="en-US" dirty="0"/>
              <a:t>  adapter: </a:t>
            </a:r>
            <a:r>
              <a:rPr lang="en-US" dirty="0" err="1"/>
              <a:t>postgresql</a:t>
            </a:r>
            <a:endParaRPr lang="en-US" dirty="0"/>
          </a:p>
          <a:p>
            <a:r>
              <a:rPr lang="en-US" dirty="0"/>
              <a:t>  encoding: </a:t>
            </a:r>
            <a:r>
              <a:rPr lang="en-US" dirty="0" err="1"/>
              <a:t>unicode</a:t>
            </a:r>
            <a:endParaRPr lang="en-US" dirty="0"/>
          </a:p>
          <a:p>
            <a:r>
              <a:rPr lang="en-US" dirty="0"/>
              <a:t>  pool: &lt;%= </a:t>
            </a:r>
            <a:r>
              <a:rPr lang="en-US" dirty="0" err="1"/>
              <a:t>ENV.fetch</a:t>
            </a:r>
            <a:r>
              <a:rPr lang="en-US" dirty="0"/>
              <a:t>("RAILS_MAX_THREADS") { 5 } %&gt;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development:</a:t>
            </a:r>
          </a:p>
          <a:p>
            <a:r>
              <a:rPr lang="en-US" dirty="0"/>
              <a:t>  &lt;&lt;: *default</a:t>
            </a:r>
          </a:p>
          <a:p>
            <a:r>
              <a:rPr lang="en-US" dirty="0"/>
              <a:t>  database: </a:t>
            </a:r>
            <a:r>
              <a:rPr lang="en-US" dirty="0" err="1"/>
              <a:t>myapp_development</a:t>
            </a:r>
            <a:endParaRPr lang="en-US" dirty="0"/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production:</a:t>
            </a:r>
          </a:p>
          <a:p>
            <a:r>
              <a:rPr lang="en-US" dirty="0"/>
              <a:t>  &lt;&lt;: *default</a:t>
            </a:r>
          </a:p>
          <a:p>
            <a:r>
              <a:rPr lang="en-US" dirty="0"/>
              <a:t>  database: </a:t>
            </a:r>
            <a:r>
              <a:rPr lang="en-US" dirty="0" err="1"/>
              <a:t>myapp_production</a:t>
            </a:r>
            <a:endParaRPr lang="en-US" dirty="0"/>
          </a:p>
          <a:p>
            <a:r>
              <a:rPr lang="en-US" dirty="0"/>
              <a:t>  username: </a:t>
            </a:r>
            <a:r>
              <a:rPr lang="en-US" dirty="0" err="1"/>
              <a:t>myapp</a:t>
            </a:r>
            <a:endParaRPr lang="en-US" dirty="0"/>
          </a:p>
          <a:p>
            <a:r>
              <a:rPr lang="en-US" dirty="0"/>
              <a:t>  password: &lt;%= ENV['MYAPP_DATABASE_PASSWORD'] %&gt;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F0144E-7D3D-1E99-0CEB-BAC7FDA06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26976-964D-F44A-928E-2A1102E9AD76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3A6B57-B048-CDE5-581A-32DDD677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C3CDFF-09B9-F202-7B5A-E0D7FFFE2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137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D0F05-2491-386B-9DBC-C5581B6CD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Heroku Login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64AF6-AD04-6262-2F51-9EBF578602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Authentication</a:t>
            </a:r>
          </a:p>
          <a:p>
            <a:pPr marL="0" indent="0"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heroku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login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This opens a browser for authentication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4517F0-BE7A-2143-A7BF-0E618DFEC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7FF67-2432-4640-8C88-62D9A8B59A29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368ABB-2310-0721-B6BD-88F568D69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EA0B8E-E08D-2F80-D4C0-9A472FAED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1022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49ED3-1371-742A-77FC-12E36904D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Bundle Lock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D4C2D-0A8D-6C6A-CFA6-306671378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Platform Setup</a:t>
            </a:r>
          </a:p>
          <a:p>
            <a:pPr marL="609569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bundle lock --add-platform x86_64-linux --add-platform ruby</a:t>
            </a:r>
          </a:p>
          <a:p>
            <a:r>
              <a:rPr lang="en-US" dirty="0"/>
              <a:t>Ensures gems are compatible with Heroku's Linux environment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C35762-E85F-91F5-AF7A-B0B9EF58A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D58B9-D7C2-6443-BD1C-7D3A49F24371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C98FEF-0891-B52D-0274-EF7C9245D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1C1326-ECAC-7828-B1B8-DB6D7634A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149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A2821-4936-B3E1-CF69-65B08D0FD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Create Heroku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CC6FF-2714-E72A-A680-B0D68715C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App Container</a:t>
            </a:r>
          </a:p>
          <a:p>
            <a:pPr marL="609569" lvl="1" indent="0"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heroku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apps:create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Add PostgreSQL database</a:t>
            </a:r>
          </a:p>
          <a:p>
            <a:pPr marL="609569" lvl="1" indent="0"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heroku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addons:create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heroku-postgresql:essential-0</a:t>
            </a:r>
          </a:p>
          <a:p>
            <a:r>
              <a:rPr lang="en-US" dirty="0"/>
              <a:t>Provisions your application and database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0590F3-05DB-01B5-AB5B-80678EE46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52C6C-33B8-484E-8764-3A452BAE36B0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3E84D-BB1D-02D1-7147-C45A3D474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E9CECC-D407-C9A7-4BD5-7BCB603BC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9674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7C9F0-CEB6-7DFA-F3BC-BADCBD2BA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Link Repository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6043FF-9CF8-D439-7C74-B4B902083A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List your apps</a:t>
            </a:r>
          </a:p>
          <a:p>
            <a:pPr marL="609569" lvl="1" indent="0"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heroku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apps</a:t>
            </a:r>
          </a:p>
          <a:p>
            <a:r>
              <a:rPr lang="en-US" dirty="0"/>
              <a:t>Add the app as a git remote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heroku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git:remote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-a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your_app_name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Connects your local repo to Heroku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A2BDD8D-0A3D-3350-1BC9-537FB62B4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F1A81-6C87-C24F-AAE3-254D6C037B72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29CB6C-74D4-51ED-A4AD-F50F2A2164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A6D88F-39DB-60CB-7479-1DFD2D97C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385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58E75-76D4-E827-AC41-575FFBF0A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Push to Heroku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0A5971-D0FC-182A-A746-1DA350A924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Deploy your application</a:t>
            </a:r>
          </a:p>
          <a:p>
            <a:pPr marL="609569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git 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heroku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</a:t>
            </a:r>
          </a:p>
          <a:p>
            <a:r>
              <a:rPr lang="en-US" dirty="0"/>
              <a:t>Run database migrations</a:t>
            </a:r>
          </a:p>
          <a:p>
            <a:pPr marL="609569" lvl="1" indent="0"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heroku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run rake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db:migrate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Uploads and sets up your app on Heroku servers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63A576-230D-B785-D645-3219DF088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CA53B-5A02-FB43-A314-4D982FEAE67E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AF433D-0483-E4EC-6FEF-92E010FB7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8D55C2-4892-1072-8F57-29FD3EFA0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420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F1EC2-AFEA-EB82-0270-D672F4BF2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Start Your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E8520C-1843-933D-062B-23FA6CACAC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Use smallest container (free tier)</a:t>
            </a:r>
          </a:p>
          <a:p>
            <a:pPr marL="609569" lvl="1" indent="0"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heroku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ps:scale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web=1</a:t>
            </a:r>
          </a:p>
          <a:p>
            <a:r>
              <a:rPr lang="en-US" dirty="0"/>
              <a:t>Verify it's running</a:t>
            </a:r>
          </a:p>
          <a:p>
            <a:pPr marL="609569" lvl="1" indent="0"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heroku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Open in your browser</a:t>
            </a:r>
          </a:p>
          <a:p>
            <a:pPr marL="609569" lvl="1" indent="0"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heroku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open</a:t>
            </a:r>
          </a:p>
          <a:p>
            <a:r>
              <a:rPr lang="en-US" dirty="0"/>
              <a:t>Your app is now live on the internet!</a:t>
            </a:r>
          </a:p>
          <a:p>
            <a:pPr marL="609569" lvl="1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EBCD1E-ABBF-FAF0-77CA-D4648828A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8C427-EC5F-3947-90E9-8DFB70EE15C9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2EFF2F-B123-131A-2E11-1D8D9E48B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B9D1C4-9503-111E-4B9E-D0241A590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418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234DB-3CCA-1D2C-17C3-015B7E933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Cleaning Up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BED27-A2D2-ECAA-46C0-F60961DC0F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When you're done, remove the app to avoid charges</a:t>
            </a:r>
          </a:p>
          <a:p>
            <a:pPr marL="609569" lvl="1" indent="0"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heroku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apps:destroy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Always clean up resources you're not using to avoid unexpected costs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4DBCED5-000F-F32F-871D-B126E5638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4771F-1AE5-284B-9021-F06BE80AAE07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E817BB-C699-F356-81E7-D870B89F9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FDF273-0E43-1BF4-4AD7-D2D2B1AE0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455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D887C-F0C0-9DB3-1B5A-4ABA756B5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Controller 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41738-740E-15A0-3F95-D11AF5FB40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Keep controllers thin - move </a:t>
            </a:r>
            <a:r>
              <a:rPr lang="en-US" b="1" dirty="0"/>
              <a:t>data </a:t>
            </a:r>
            <a:r>
              <a:rPr lang="en-US" dirty="0"/>
              <a:t>logic to models</a:t>
            </a:r>
          </a:p>
          <a:p>
            <a:r>
              <a:rPr lang="en-US" dirty="0"/>
              <a:t>Use </a:t>
            </a:r>
            <a:r>
              <a:rPr lang="en-US" dirty="0" err="1"/>
              <a:t>before_action</a:t>
            </a:r>
            <a:r>
              <a:rPr lang="en-US" dirty="0"/>
              <a:t> to DRY up code</a:t>
            </a:r>
          </a:p>
          <a:p>
            <a:r>
              <a:rPr lang="en-US" dirty="0"/>
              <a:t>Always use strong parameters</a:t>
            </a:r>
          </a:p>
          <a:p>
            <a:r>
              <a:rPr lang="en-US" dirty="0"/>
              <a:t>Write tests for every controller method</a:t>
            </a:r>
          </a:p>
          <a:p>
            <a:r>
              <a:rPr lang="en-US" dirty="0"/>
              <a:t>Use appropriate HTTP status codes</a:t>
            </a:r>
          </a:p>
          <a:p>
            <a:r>
              <a:rPr lang="en-US" dirty="0"/>
              <a:t>Remember: render can only be called once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0E76AB-2E4C-44BB-30A9-D9D507F3D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430C1B-B1DF-7D42-8779-4E972A9D600D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04FCE7-C0A8-8636-657C-438DDD1BE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FCCA7-F60F-18DB-E81D-AB010BC50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307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CF854-2ECB-6954-6646-7D95AE717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Focus on What You can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145554-21F7-8EF3-E43F-A63229D708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clean, tested code</a:t>
            </a:r>
          </a:p>
          <a:p>
            <a:r>
              <a:rPr lang="en-US" dirty="0"/>
              <a:t>Following conventions</a:t>
            </a:r>
          </a:p>
          <a:p>
            <a:r>
              <a:rPr lang="en-US"/>
              <a:t>Continuous </a:t>
            </a:r>
            <a:r>
              <a:rPr lang="en-US" dirty="0"/>
              <a:t>learning and improvement</a:t>
            </a:r>
          </a:p>
          <a:p>
            <a:r>
              <a:rPr lang="en-US"/>
              <a:t>Building </a:t>
            </a:r>
            <a:r>
              <a:rPr lang="en-US" dirty="0"/>
              <a:t>applications that solve real problems</a:t>
            </a:r>
          </a:p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983D1B-873D-54C7-105F-3B9549D5C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22E3A-584A-6E40-86B4-91763235E360}" type="datetime1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489DD3-BB60-28D0-3F75-2FA5832D1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8C9761-2913-F78B-0B65-50570BA63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BAC88-EF5B-3148-888C-824478CD1B05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8486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MSU Denver 16x9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9DA9736E-330F-4D40-A0AF-1CC780C29072}" vid="{881790AE-4280-6941-9F6C-19A6C408C4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Master</Template>
  <TotalTime>6996</TotalTime>
  <Words>3997</Words>
  <Application>Microsoft Macintosh PowerPoint</Application>
  <PresentationFormat>Widescreen</PresentationFormat>
  <Paragraphs>790</Paragraphs>
  <Slides>70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6" baseType="lpstr">
      <vt:lpstr>Aptos</vt:lpstr>
      <vt:lpstr>Arial</vt:lpstr>
      <vt:lpstr>Calibri</vt:lpstr>
      <vt:lpstr>Courier New</vt:lpstr>
      <vt:lpstr>Menlo</vt:lpstr>
      <vt:lpstr>MSU Denver 16x9</vt:lpstr>
      <vt:lpstr>Chapter Five</vt:lpstr>
      <vt:lpstr>Epictetus</vt:lpstr>
      <vt:lpstr>Introduction</vt:lpstr>
      <vt:lpstr>Learning Outcomes</vt:lpstr>
      <vt:lpstr>Key Terms</vt:lpstr>
      <vt:lpstr>Routing</vt:lpstr>
      <vt:lpstr>Viewing Routes</vt:lpstr>
      <vt:lpstr>Route Components</vt:lpstr>
      <vt:lpstr>Example</vt:lpstr>
      <vt:lpstr>Colon Notation</vt:lpstr>
      <vt:lpstr>Format Paramater</vt:lpstr>
      <vt:lpstr>RESTful Routes with resources</vt:lpstr>
      <vt:lpstr>Controller Actions/Methods</vt:lpstr>
      <vt:lpstr>The Index Action</vt:lpstr>
      <vt:lpstr>Automatic View Rendering</vt:lpstr>
      <vt:lpstr>Introduction to Filters</vt:lpstr>
      <vt:lpstr>Before Action</vt:lpstr>
      <vt:lpstr>Set Item</vt:lpstr>
      <vt:lpstr>Benefits</vt:lpstr>
      <vt:lpstr>Strong Parameters</vt:lpstr>
      <vt:lpstr>Security with Strong Parameters</vt:lpstr>
      <vt:lpstr>New and Create</vt:lpstr>
      <vt:lpstr>Create</vt:lpstr>
      <vt:lpstr>Understanding respond_to</vt:lpstr>
      <vt:lpstr>HTTP Status Codes in Rails</vt:lpstr>
      <vt:lpstr>The render Method</vt:lpstr>
      <vt:lpstr>Edit and Update</vt:lpstr>
      <vt:lpstr>The Destroy Action</vt:lpstr>
      <vt:lpstr>The Request Object</vt:lpstr>
      <vt:lpstr>The Response Object</vt:lpstr>
      <vt:lpstr>Member Routes</vt:lpstr>
      <vt:lpstr>Member Route Implementation</vt:lpstr>
      <vt:lpstr>Collection Routes</vt:lpstr>
      <vt:lpstr>Search via Index Method</vt:lpstr>
      <vt:lpstr>Adding a Search Form</vt:lpstr>
      <vt:lpstr>Turbo Search</vt:lpstr>
      <vt:lpstr>Dedicated Search Action</vt:lpstr>
      <vt:lpstr>GET vs POST for Searches</vt:lpstr>
      <vt:lpstr>The send_file Method</vt:lpstr>
      <vt:lpstr>The send_data Method</vt:lpstr>
      <vt:lpstr>What are Cookies?</vt:lpstr>
      <vt:lpstr>Rails Cookie Components</vt:lpstr>
      <vt:lpstr>Cookie Security Attributes</vt:lpstr>
      <vt:lpstr>SameSite Cookie Settings</vt:lpstr>
      <vt:lpstr>Session vs Persistent Cookies</vt:lpstr>
      <vt:lpstr>Working with Sessions</vt:lpstr>
      <vt:lpstr>The Flash Hash</vt:lpstr>
      <vt:lpstr>Creating Flash Messages</vt:lpstr>
      <vt:lpstr>Showing Flash in Views</vt:lpstr>
      <vt:lpstr>Integration Testing</vt:lpstr>
      <vt:lpstr>Writing Tests</vt:lpstr>
      <vt:lpstr>Test Data with Fixtures</vt:lpstr>
      <vt:lpstr>Understanding YAML</vt:lpstr>
      <vt:lpstr>Running Tests</vt:lpstr>
      <vt:lpstr>End-to-End System Tests</vt:lpstr>
      <vt:lpstr>Headless Browser Testing</vt:lpstr>
      <vt:lpstr>Verification and Validation</vt:lpstr>
      <vt:lpstr>System Tests as Acceptance Tests</vt:lpstr>
      <vt:lpstr>Making Your App Public</vt:lpstr>
      <vt:lpstr>Deploying to Heroku</vt:lpstr>
      <vt:lpstr>PostgreSQL Configuration</vt:lpstr>
      <vt:lpstr>Heroku Login</vt:lpstr>
      <vt:lpstr>Bundle Lock</vt:lpstr>
      <vt:lpstr>Create Heroku App</vt:lpstr>
      <vt:lpstr>Link Repository</vt:lpstr>
      <vt:lpstr>Push to Heroku</vt:lpstr>
      <vt:lpstr>Start Your App</vt:lpstr>
      <vt:lpstr>Cleaning Up Resources</vt:lpstr>
      <vt:lpstr>Controller Best Practices</vt:lpstr>
      <vt:lpstr>Focus on What You can Control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 Beaty</dc:creator>
  <cp:lastModifiedBy>Steve Beaty</cp:lastModifiedBy>
  <cp:revision>48</cp:revision>
  <dcterms:created xsi:type="dcterms:W3CDTF">2025-10-22T19:42:39Z</dcterms:created>
  <dcterms:modified xsi:type="dcterms:W3CDTF">2026-10-08T20:06:09Z</dcterms:modified>
</cp:coreProperties>
</file>